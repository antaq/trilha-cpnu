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4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58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118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11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omments/comment8.xml" ContentType="application/vnd.openxmlformats-officedocument.presentationml.comments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197" r:id="rId1"/>
  </p:sldMasterIdLst>
  <p:notesMasterIdLst>
    <p:notesMasterId r:id="rId152"/>
  </p:notesMasterIdLst>
  <p:sldIdLst>
    <p:sldId id="272" r:id="rId2"/>
    <p:sldId id="264" r:id="rId3"/>
    <p:sldId id="5994" r:id="rId4"/>
    <p:sldId id="5974" r:id="rId5"/>
    <p:sldId id="5996" r:id="rId6"/>
    <p:sldId id="779" r:id="rId7"/>
    <p:sldId id="881" r:id="rId8"/>
    <p:sldId id="771" r:id="rId9"/>
    <p:sldId id="772" r:id="rId10"/>
    <p:sldId id="773" r:id="rId11"/>
    <p:sldId id="774" r:id="rId12"/>
    <p:sldId id="775" r:id="rId13"/>
    <p:sldId id="776" r:id="rId14"/>
    <p:sldId id="777" r:id="rId15"/>
    <p:sldId id="778" r:id="rId16"/>
    <p:sldId id="782" r:id="rId17"/>
    <p:sldId id="781" r:id="rId18"/>
    <p:sldId id="780" r:id="rId19"/>
    <p:sldId id="783" r:id="rId20"/>
    <p:sldId id="784" r:id="rId21"/>
    <p:sldId id="785" r:id="rId22"/>
    <p:sldId id="787" r:id="rId23"/>
    <p:sldId id="788" r:id="rId24"/>
    <p:sldId id="789" r:id="rId25"/>
    <p:sldId id="790" r:id="rId26"/>
    <p:sldId id="791" r:id="rId27"/>
    <p:sldId id="792" r:id="rId28"/>
    <p:sldId id="800" r:id="rId29"/>
    <p:sldId id="898" r:id="rId30"/>
    <p:sldId id="899" r:id="rId31"/>
    <p:sldId id="900" r:id="rId32"/>
    <p:sldId id="901" r:id="rId33"/>
    <p:sldId id="797" r:id="rId34"/>
    <p:sldId id="798" r:id="rId35"/>
    <p:sldId id="799" r:id="rId36"/>
    <p:sldId id="801" r:id="rId37"/>
    <p:sldId id="804" r:id="rId38"/>
    <p:sldId id="805" r:id="rId39"/>
    <p:sldId id="807" r:id="rId40"/>
    <p:sldId id="806" r:id="rId41"/>
    <p:sldId id="809" r:id="rId42"/>
    <p:sldId id="810" r:id="rId43"/>
    <p:sldId id="808" r:id="rId44"/>
    <p:sldId id="811" r:id="rId45"/>
    <p:sldId id="812" r:id="rId46"/>
    <p:sldId id="849" r:id="rId47"/>
    <p:sldId id="813" r:id="rId48"/>
    <p:sldId id="850" r:id="rId49"/>
    <p:sldId id="815" r:id="rId50"/>
    <p:sldId id="816" r:id="rId51"/>
    <p:sldId id="817" r:id="rId52"/>
    <p:sldId id="818" r:id="rId53"/>
    <p:sldId id="814" r:id="rId54"/>
    <p:sldId id="819" r:id="rId55"/>
    <p:sldId id="820" r:id="rId56"/>
    <p:sldId id="821" r:id="rId57"/>
    <p:sldId id="822" r:id="rId58"/>
    <p:sldId id="823" r:id="rId59"/>
    <p:sldId id="832" r:id="rId60"/>
    <p:sldId id="825" r:id="rId61"/>
    <p:sldId id="824" r:id="rId62"/>
    <p:sldId id="826" r:id="rId63"/>
    <p:sldId id="827" r:id="rId64"/>
    <p:sldId id="830" r:id="rId65"/>
    <p:sldId id="833" r:id="rId66"/>
    <p:sldId id="834" r:id="rId67"/>
    <p:sldId id="835" r:id="rId68"/>
    <p:sldId id="837" r:id="rId69"/>
    <p:sldId id="836" r:id="rId70"/>
    <p:sldId id="838" r:id="rId71"/>
    <p:sldId id="840" r:id="rId72"/>
    <p:sldId id="839" r:id="rId73"/>
    <p:sldId id="842" r:id="rId74"/>
    <p:sldId id="843" r:id="rId75"/>
    <p:sldId id="845" r:id="rId76"/>
    <p:sldId id="831" r:id="rId77"/>
    <p:sldId id="846" r:id="rId78"/>
    <p:sldId id="844" r:id="rId79"/>
    <p:sldId id="852" r:id="rId80"/>
    <p:sldId id="853" r:id="rId81"/>
    <p:sldId id="854" r:id="rId82"/>
    <p:sldId id="851" r:id="rId83"/>
    <p:sldId id="856" r:id="rId84"/>
    <p:sldId id="859" r:id="rId85"/>
    <p:sldId id="860" r:id="rId86"/>
    <p:sldId id="861" r:id="rId87"/>
    <p:sldId id="862" r:id="rId88"/>
    <p:sldId id="863" r:id="rId89"/>
    <p:sldId id="855" r:id="rId90"/>
    <p:sldId id="865" r:id="rId91"/>
    <p:sldId id="864" r:id="rId92"/>
    <p:sldId id="868" r:id="rId93"/>
    <p:sldId id="867" r:id="rId94"/>
    <p:sldId id="892" r:id="rId95"/>
    <p:sldId id="869" r:id="rId96"/>
    <p:sldId id="870" r:id="rId97"/>
    <p:sldId id="871" r:id="rId98"/>
    <p:sldId id="872" r:id="rId99"/>
    <p:sldId id="873" r:id="rId100"/>
    <p:sldId id="876" r:id="rId101"/>
    <p:sldId id="877" r:id="rId102"/>
    <p:sldId id="878" r:id="rId103"/>
    <p:sldId id="879" r:id="rId104"/>
    <p:sldId id="880" r:id="rId105"/>
    <p:sldId id="882" r:id="rId106"/>
    <p:sldId id="883" r:id="rId107"/>
    <p:sldId id="885" r:id="rId108"/>
    <p:sldId id="884" r:id="rId109"/>
    <p:sldId id="886" r:id="rId110"/>
    <p:sldId id="887" r:id="rId111"/>
    <p:sldId id="888" r:id="rId112"/>
    <p:sldId id="889" r:id="rId113"/>
    <p:sldId id="890" r:id="rId114"/>
    <p:sldId id="894" r:id="rId115"/>
    <p:sldId id="895" r:id="rId116"/>
    <p:sldId id="896" r:id="rId117"/>
    <p:sldId id="897" r:id="rId118"/>
    <p:sldId id="847" r:id="rId119"/>
    <p:sldId id="848" r:id="rId120"/>
    <p:sldId id="902" r:id="rId121"/>
    <p:sldId id="907" r:id="rId122"/>
    <p:sldId id="904" r:id="rId123"/>
    <p:sldId id="905" r:id="rId124"/>
    <p:sldId id="906" r:id="rId125"/>
    <p:sldId id="903" r:id="rId126"/>
    <p:sldId id="908" r:id="rId127"/>
    <p:sldId id="909" r:id="rId128"/>
    <p:sldId id="910" r:id="rId129"/>
    <p:sldId id="913" r:id="rId130"/>
    <p:sldId id="914" r:id="rId131"/>
    <p:sldId id="915" r:id="rId132"/>
    <p:sldId id="917" r:id="rId133"/>
    <p:sldId id="912" r:id="rId134"/>
    <p:sldId id="916" r:id="rId135"/>
    <p:sldId id="911" r:id="rId136"/>
    <p:sldId id="918" r:id="rId137"/>
    <p:sldId id="919" r:id="rId138"/>
    <p:sldId id="920" r:id="rId139"/>
    <p:sldId id="921" r:id="rId140"/>
    <p:sldId id="923" r:id="rId141"/>
    <p:sldId id="924" r:id="rId142"/>
    <p:sldId id="925" r:id="rId143"/>
    <p:sldId id="928" r:id="rId144"/>
    <p:sldId id="926" r:id="rId145"/>
    <p:sldId id="929" r:id="rId146"/>
    <p:sldId id="930" r:id="rId147"/>
    <p:sldId id="931" r:id="rId148"/>
    <p:sldId id="932" r:id="rId149"/>
    <p:sldId id="933" r:id="rId150"/>
    <p:sldId id="934" r:id="rId1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ildo Barros da Silva Junior" initials="RBdSJ" lastIdx="1" clrIdx="0">
    <p:extLst>
      <p:ext uri="{19B8F6BF-5375-455C-9EA6-DF929625EA0E}">
        <p15:presenceInfo xmlns:p15="http://schemas.microsoft.com/office/powerpoint/2012/main" userId="6e920e39888ebae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8C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5" autoAdjust="0"/>
    <p:restoredTop sz="96472" autoAdjust="0"/>
  </p:normalViewPr>
  <p:slideViewPr>
    <p:cSldViewPr snapToGrid="0">
      <p:cViewPr varScale="1">
        <p:scale>
          <a:sx n="60" d="100"/>
          <a:sy n="60" d="100"/>
        </p:scale>
        <p:origin x="106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8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customXml" Target="../customXml/item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customXml" Target="../customXml/item2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commentAuthors" Target="commentAuthor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ldo Barros da Silva Junior" userId="ae9b851f-bb3b-4fcd-9fed-6dbec9b18cee" providerId="ADAL" clId="{44D668AC-23A2-43A3-AC73-61D7927319FC}"/>
    <pc:docChg chg="modSld">
      <pc:chgData name="Renildo Barros da Silva Junior" userId="ae9b851f-bb3b-4fcd-9fed-6dbec9b18cee" providerId="ADAL" clId="{44D668AC-23A2-43A3-AC73-61D7927319FC}" dt="2026-03-08T04:29:15.899" v="3" actId="20577"/>
      <pc:docMkLst>
        <pc:docMk/>
      </pc:docMkLst>
      <pc:sldChg chg="modSp mod">
        <pc:chgData name="Renildo Barros da Silva Junior" userId="ae9b851f-bb3b-4fcd-9fed-6dbec9b18cee" providerId="ADAL" clId="{44D668AC-23A2-43A3-AC73-61D7927319FC}" dt="2026-03-08T04:29:15.899" v="3" actId="20577"/>
        <pc:sldMkLst>
          <pc:docMk/>
          <pc:sldMk cId="887433800" sldId="272"/>
        </pc:sldMkLst>
        <pc:spChg chg="mod">
          <ac:chgData name="Renildo Barros da Silva Junior" userId="ae9b851f-bb3b-4fcd-9fed-6dbec9b18cee" providerId="ADAL" clId="{44D668AC-23A2-43A3-AC73-61D7927319FC}" dt="2026-03-08T04:29:15.899" v="3" actId="20577"/>
          <ac:spMkLst>
            <pc:docMk/>
            <pc:sldMk cId="887433800" sldId="272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Planilha1!$D$4</c:f>
              <c:strCache>
                <c:ptCount val="1"/>
                <c:pt idx="0">
                  <c:v>Receitas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Planilha1!$E$4:$O$4</c:f>
              <c:numCache>
                <c:formatCode>#,##0_ ;\-#,##0\ </c:formatCode>
                <c:ptCount val="11"/>
                <c:pt idx="0">
                  <c:v>5000</c:v>
                </c:pt>
                <c:pt idx="1">
                  <c:v>5500</c:v>
                </c:pt>
                <c:pt idx="2">
                  <c:v>6050.0000000000009</c:v>
                </c:pt>
                <c:pt idx="3">
                  <c:v>6655.0000000000018</c:v>
                </c:pt>
                <c:pt idx="4">
                  <c:v>7320.5000000000027</c:v>
                </c:pt>
                <c:pt idx="5">
                  <c:v>8052.5500000000038</c:v>
                </c:pt>
                <c:pt idx="6">
                  <c:v>8857.8050000000057</c:v>
                </c:pt>
                <c:pt idx="7">
                  <c:v>9743.5855000000065</c:v>
                </c:pt>
                <c:pt idx="8">
                  <c:v>10717.944050000007</c:v>
                </c:pt>
                <c:pt idx="9">
                  <c:v>11789.73845500001</c:v>
                </c:pt>
                <c:pt idx="10">
                  <c:v>12968.712300500012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5-4E89-A15F-C76088A77A71}"/>
            </c:ext>
          </c:extLst>
        </c:ser>
        <c:ser>
          <c:idx val="1"/>
          <c:order val="1"/>
          <c:tx>
            <c:strRef>
              <c:f>Planilha1!$D$5</c:f>
              <c:strCache>
                <c:ptCount val="1"/>
                <c:pt idx="0">
                  <c:v>Despesas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Planilha1!$E$5:$O$5</c:f>
              <c:numCache>
                <c:formatCode>#,##0_ ;\-#,##0\ </c:formatCode>
                <c:ptCount val="11"/>
                <c:pt idx="0">
                  <c:v>3250</c:v>
                </c:pt>
                <c:pt idx="1">
                  <c:v>3575</c:v>
                </c:pt>
                <c:pt idx="2">
                  <c:v>3932.5000000000009</c:v>
                </c:pt>
                <c:pt idx="3">
                  <c:v>4325.7500000000009</c:v>
                </c:pt>
                <c:pt idx="4">
                  <c:v>4758.3250000000016</c:v>
                </c:pt>
                <c:pt idx="5">
                  <c:v>5234.157500000003</c:v>
                </c:pt>
                <c:pt idx="6">
                  <c:v>5757.573250000004</c:v>
                </c:pt>
                <c:pt idx="7">
                  <c:v>6333.3305750000045</c:v>
                </c:pt>
                <c:pt idx="8">
                  <c:v>6966.6636325000054</c:v>
                </c:pt>
                <c:pt idx="9">
                  <c:v>7663.3299957500067</c:v>
                </c:pt>
                <c:pt idx="10">
                  <c:v>8429.6629953250085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85-4E89-A15F-C76088A77A71}"/>
            </c:ext>
          </c:extLst>
        </c:ser>
        <c:ser>
          <c:idx val="2"/>
          <c:order val="2"/>
          <c:tx>
            <c:strRef>
              <c:f>Planilha1!$D$6</c:f>
              <c:strCache>
                <c:ptCount val="1"/>
                <c:pt idx="0">
                  <c:v>Investimentos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Planilha1!$E$6:$O$6</c:f>
              <c:numCache>
                <c:formatCode>#,##0_ ;\-#,##0\ </c:formatCode>
                <c:ptCount val="11"/>
                <c:pt idx="0">
                  <c:v>2000</c:v>
                </c:pt>
                <c:pt idx="1">
                  <c:v>3000</c:v>
                </c:pt>
                <c:pt idx="4">
                  <c:v>4000</c:v>
                </c:pt>
                <c:pt idx="7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85-4E89-A15F-C76088A77A71}"/>
            </c:ext>
          </c:extLst>
        </c:ser>
        <c:ser>
          <c:idx val="3"/>
          <c:order val="3"/>
          <c:tx>
            <c:strRef>
              <c:f>Planilha1!$D$7</c:f>
              <c:strCache>
                <c:ptCount val="1"/>
                <c:pt idx="0">
                  <c:v>Fluxo livre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Planilha1!$E$7:$O$7</c:f>
              <c:numCache>
                <c:formatCode>#,##0_ ;\-#,##0\ </c:formatCode>
                <c:ptCount val="11"/>
                <c:pt idx="0">
                  <c:v>-250</c:v>
                </c:pt>
                <c:pt idx="1">
                  <c:v>-1075</c:v>
                </c:pt>
                <c:pt idx="2">
                  <c:v>2117.5</c:v>
                </c:pt>
                <c:pt idx="3">
                  <c:v>2329.2500000000009</c:v>
                </c:pt>
                <c:pt idx="4">
                  <c:v>-1437.8249999999989</c:v>
                </c:pt>
                <c:pt idx="5">
                  <c:v>2818.3925000000008</c:v>
                </c:pt>
                <c:pt idx="6">
                  <c:v>3100.2317500000017</c:v>
                </c:pt>
                <c:pt idx="7">
                  <c:v>1410.254925000002</c:v>
                </c:pt>
                <c:pt idx="8">
                  <c:v>3751.2804175000019</c:v>
                </c:pt>
                <c:pt idx="9">
                  <c:v>4126.408459250003</c:v>
                </c:pt>
                <c:pt idx="10">
                  <c:v>4539.0493051750036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B85-4E89-A15F-C76088A77A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0983248"/>
        <c:axId val="990989904"/>
      </c:areaChart>
      <c:catAx>
        <c:axId val="990983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990989904"/>
        <c:crosses val="autoZero"/>
        <c:auto val="1"/>
        <c:lblAlgn val="ctr"/>
        <c:lblOffset val="100"/>
        <c:noMultiLvlLbl val="0"/>
      </c:catAx>
      <c:valAx>
        <c:axId val="990989904"/>
        <c:scaling>
          <c:orientation val="minMax"/>
        </c:scaling>
        <c:delete val="1"/>
        <c:axPos val="l"/>
        <c:numFmt formatCode="#,##0_ ;\-#,##0\ " sourceLinked="1"/>
        <c:majorTickMark val="none"/>
        <c:minorTickMark val="none"/>
        <c:tickLblPos val="nextTo"/>
        <c:crossAx val="990983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Planilha1!$D$4</c:f>
              <c:strCache>
                <c:ptCount val="1"/>
                <c:pt idx="0">
                  <c:v>Receitas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Planilha1!$E$4:$O$4</c:f>
              <c:numCache>
                <c:formatCode>#,##0_ ;\-#,##0\ </c:formatCode>
                <c:ptCount val="11"/>
                <c:pt idx="0">
                  <c:v>5000</c:v>
                </c:pt>
                <c:pt idx="1">
                  <c:v>5500</c:v>
                </c:pt>
                <c:pt idx="2">
                  <c:v>6050.0000000000009</c:v>
                </c:pt>
                <c:pt idx="3">
                  <c:v>6655.0000000000018</c:v>
                </c:pt>
                <c:pt idx="4">
                  <c:v>7320.5000000000027</c:v>
                </c:pt>
                <c:pt idx="5">
                  <c:v>8052.5500000000038</c:v>
                </c:pt>
                <c:pt idx="6">
                  <c:v>8857.8050000000057</c:v>
                </c:pt>
                <c:pt idx="7">
                  <c:v>9743.5855000000065</c:v>
                </c:pt>
                <c:pt idx="8">
                  <c:v>10717.944050000007</c:v>
                </c:pt>
                <c:pt idx="9">
                  <c:v>11789.73845500001</c:v>
                </c:pt>
                <c:pt idx="10">
                  <c:v>12968.712300500012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43-4C5E-B182-3867AD28F717}"/>
            </c:ext>
          </c:extLst>
        </c:ser>
        <c:ser>
          <c:idx val="1"/>
          <c:order val="1"/>
          <c:tx>
            <c:strRef>
              <c:f>Planilha1!$D$5</c:f>
              <c:strCache>
                <c:ptCount val="1"/>
                <c:pt idx="0">
                  <c:v>Despesas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Planilha1!$E$5:$O$5</c:f>
              <c:numCache>
                <c:formatCode>#,##0_ ;\-#,##0\ </c:formatCode>
                <c:ptCount val="11"/>
                <c:pt idx="0">
                  <c:v>3250</c:v>
                </c:pt>
                <c:pt idx="1">
                  <c:v>3575</c:v>
                </c:pt>
                <c:pt idx="2">
                  <c:v>3932.5000000000009</c:v>
                </c:pt>
                <c:pt idx="3">
                  <c:v>4325.7500000000009</c:v>
                </c:pt>
                <c:pt idx="4">
                  <c:v>4758.3250000000016</c:v>
                </c:pt>
                <c:pt idx="5">
                  <c:v>5234.157500000003</c:v>
                </c:pt>
                <c:pt idx="6">
                  <c:v>5757.573250000004</c:v>
                </c:pt>
                <c:pt idx="7">
                  <c:v>6333.3305750000045</c:v>
                </c:pt>
                <c:pt idx="8">
                  <c:v>6966.6636325000054</c:v>
                </c:pt>
                <c:pt idx="9">
                  <c:v>7663.3299957500067</c:v>
                </c:pt>
                <c:pt idx="10">
                  <c:v>8429.6629953250085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43-4C5E-B182-3867AD28F717}"/>
            </c:ext>
          </c:extLst>
        </c:ser>
        <c:ser>
          <c:idx val="2"/>
          <c:order val="2"/>
          <c:tx>
            <c:strRef>
              <c:f>Planilha1!$D$6</c:f>
              <c:strCache>
                <c:ptCount val="1"/>
                <c:pt idx="0">
                  <c:v>Investimentos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Planilha1!$E$6:$O$6</c:f>
              <c:numCache>
                <c:formatCode>#,##0_ ;\-#,##0\ </c:formatCode>
                <c:ptCount val="11"/>
                <c:pt idx="0">
                  <c:v>2000</c:v>
                </c:pt>
                <c:pt idx="1">
                  <c:v>3000</c:v>
                </c:pt>
                <c:pt idx="4">
                  <c:v>4000</c:v>
                </c:pt>
                <c:pt idx="7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43-4C5E-B182-3867AD28F717}"/>
            </c:ext>
          </c:extLst>
        </c:ser>
        <c:ser>
          <c:idx val="3"/>
          <c:order val="3"/>
          <c:tx>
            <c:strRef>
              <c:f>Planilha1!$D$7</c:f>
              <c:strCache>
                <c:ptCount val="1"/>
                <c:pt idx="0">
                  <c:v>Fluxo livre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Planilha1!$E$7:$O$7</c:f>
              <c:numCache>
                <c:formatCode>#,##0_ ;\-#,##0\ </c:formatCode>
                <c:ptCount val="11"/>
                <c:pt idx="0">
                  <c:v>-250</c:v>
                </c:pt>
                <c:pt idx="1">
                  <c:v>-1075</c:v>
                </c:pt>
                <c:pt idx="2">
                  <c:v>2117.5</c:v>
                </c:pt>
                <c:pt idx="3">
                  <c:v>2329.2500000000009</c:v>
                </c:pt>
                <c:pt idx="4">
                  <c:v>-1437.8249999999989</c:v>
                </c:pt>
                <c:pt idx="5">
                  <c:v>2818.3925000000008</c:v>
                </c:pt>
                <c:pt idx="6">
                  <c:v>3100.2317500000017</c:v>
                </c:pt>
                <c:pt idx="7">
                  <c:v>1410.254925000002</c:v>
                </c:pt>
                <c:pt idx="8">
                  <c:v>3751.2804175000019</c:v>
                </c:pt>
                <c:pt idx="9">
                  <c:v>4126.408459250003</c:v>
                </c:pt>
                <c:pt idx="10">
                  <c:v>4539.0493051750036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43-4C5E-B182-3867AD28F717}"/>
            </c:ext>
          </c:extLst>
        </c:ser>
        <c:ser>
          <c:idx val="4"/>
          <c:order val="4"/>
          <c:tx>
            <c:strRef>
              <c:f>Planilha1!$D$8</c:f>
              <c:strCache>
                <c:ptCount val="1"/>
                <c:pt idx="0">
                  <c:v>VP</c:v>
                </c:pt>
              </c:strCache>
            </c:strRef>
          </c:tx>
          <c:spPr>
            <a:solidFill>
              <a:schemeClr val="accent5"/>
            </a:solidFill>
            <a:ln w="25400"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Planilha1!$E$8:$O$8</c:f>
              <c:numCache>
                <c:formatCode>#,##0_ ;\-#,##0\ </c:formatCode>
                <c:ptCount val="11"/>
                <c:pt idx="0">
                  <c:v>-227.27272727272725</c:v>
                </c:pt>
                <c:pt idx="1">
                  <c:v>-888.42975206611561</c:v>
                </c:pt>
                <c:pt idx="2">
                  <c:v>1590.9090909090905</c:v>
                </c:pt>
                <c:pt idx="3">
                  <c:v>1590.909090909091</c:v>
                </c:pt>
                <c:pt idx="4">
                  <c:v>-892.77620132752884</c:v>
                </c:pt>
                <c:pt idx="5">
                  <c:v>1590.9090909090905</c:v>
                </c:pt>
                <c:pt idx="6">
                  <c:v>1590.9090909090908</c:v>
                </c:pt>
                <c:pt idx="7">
                  <c:v>657.89433048962462</c:v>
                </c:pt>
                <c:pt idx="8">
                  <c:v>1590.9090909090908</c:v>
                </c:pt>
                <c:pt idx="9">
                  <c:v>1590.909090909091</c:v>
                </c:pt>
                <c:pt idx="10">
                  <c:v>1590.9090909090908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43-4C5E-B182-3867AD28F7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0983248"/>
        <c:axId val="990989904"/>
      </c:areaChart>
      <c:catAx>
        <c:axId val="990983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990989904"/>
        <c:crosses val="autoZero"/>
        <c:auto val="1"/>
        <c:lblAlgn val="ctr"/>
        <c:lblOffset val="100"/>
        <c:noMultiLvlLbl val="0"/>
      </c:catAx>
      <c:valAx>
        <c:axId val="990989904"/>
        <c:scaling>
          <c:orientation val="minMax"/>
        </c:scaling>
        <c:delete val="1"/>
        <c:axPos val="l"/>
        <c:numFmt formatCode="#,##0_ ;\-#,##0\ " sourceLinked="1"/>
        <c:majorTickMark val="none"/>
        <c:minorTickMark val="none"/>
        <c:tickLblPos val="nextTo"/>
        <c:crossAx val="990983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Planilha6!$B$1</c:f>
              <c:strCache>
                <c:ptCount val="1"/>
                <c:pt idx="0">
                  <c:v>Valor Líquido do Fluxo de Caixa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Planilha6!$B$2:$B$14</c:f>
              <c:numCache>
                <c:formatCode>#,##0;[Red]#,##0</c:formatCode>
                <c:ptCount val="13"/>
                <c:pt idx="0">
                  <c:v>-2580652.0380402058</c:v>
                </c:pt>
                <c:pt idx="1">
                  <c:v>1639581.7385514085</c:v>
                </c:pt>
                <c:pt idx="2">
                  <c:v>2149922.0648165434</c:v>
                </c:pt>
                <c:pt idx="3">
                  <c:v>2685312.2886598594</c:v>
                </c:pt>
                <c:pt idx="4">
                  <c:v>-1686813.3390203635</c:v>
                </c:pt>
                <c:pt idx="5">
                  <c:v>2838001.3346146992</c:v>
                </c:pt>
                <c:pt idx="6">
                  <c:v>2838001.3346146992</c:v>
                </c:pt>
                <c:pt idx="7">
                  <c:v>2838001.3346146992</c:v>
                </c:pt>
                <c:pt idx="8">
                  <c:v>2838001.3346146992</c:v>
                </c:pt>
                <c:pt idx="9">
                  <c:v>2838001.3346146992</c:v>
                </c:pt>
                <c:pt idx="10">
                  <c:v>2838001.3346146992</c:v>
                </c:pt>
                <c:pt idx="11">
                  <c:v>2838001.3346146992</c:v>
                </c:pt>
                <c:pt idx="12">
                  <c:v>3744345.4704208057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79-4E15-868B-F7BA718F24BF}"/>
            </c:ext>
          </c:extLst>
        </c:ser>
        <c:ser>
          <c:idx val="2"/>
          <c:order val="1"/>
          <c:tx>
            <c:strRef>
              <c:f>Planilha6!$C$1</c:f>
              <c:strCache>
                <c:ptCount val="1"/>
                <c:pt idx="0">
                  <c:v>VP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Planilha6!$C$2:$C$14</c:f>
              <c:numCache>
                <c:formatCode>#,##0;[Red]#,##0</c:formatCode>
                <c:ptCount val="13"/>
                <c:pt idx="0">
                  <c:v>-2580652.0380402058</c:v>
                </c:pt>
                <c:pt idx="1">
                  <c:v>1490528.853228553</c:v>
                </c:pt>
                <c:pt idx="2">
                  <c:v>1776795.0948897051</c:v>
                </c:pt>
                <c:pt idx="3">
                  <c:v>2017514.8675130417</c:v>
                </c:pt>
                <c:pt idx="4">
                  <c:v>-1152116.2072401906</c:v>
                </c:pt>
                <c:pt idx="5">
                  <c:v>1762175.5435326067</c:v>
                </c:pt>
                <c:pt idx="6">
                  <c:v>1601977.766847824</c:v>
                </c:pt>
                <c:pt idx="7">
                  <c:v>1456343.4244071124</c:v>
                </c:pt>
                <c:pt idx="8">
                  <c:v>1323948.5676428296</c:v>
                </c:pt>
                <c:pt idx="9">
                  <c:v>1203589.6069480269</c:v>
                </c:pt>
                <c:pt idx="10">
                  <c:v>1094172.3699527516</c:v>
                </c:pt>
                <c:pt idx="11">
                  <c:v>994702.15450250125</c:v>
                </c:pt>
                <c:pt idx="12">
                  <c:v>1193063.8590302509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79-4E15-868B-F7BA718F24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8101936"/>
        <c:axId val="428106928"/>
      </c:lineChart>
      <c:catAx>
        <c:axId val="4281019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28106928"/>
        <c:crosses val="autoZero"/>
        <c:auto val="1"/>
        <c:lblAlgn val="ctr"/>
        <c:lblOffset val="100"/>
        <c:noMultiLvlLbl val="0"/>
      </c:catAx>
      <c:valAx>
        <c:axId val="428106928"/>
        <c:scaling>
          <c:orientation val="minMax"/>
        </c:scaling>
        <c:delete val="1"/>
        <c:axPos val="l"/>
        <c:numFmt formatCode="#,##0;[Red]#,##0" sourceLinked="1"/>
        <c:majorTickMark val="none"/>
        <c:minorTickMark val="none"/>
        <c:tickLblPos val="nextTo"/>
        <c:crossAx val="42810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Planilha1!$D$4</c:f>
              <c:strCache>
                <c:ptCount val="1"/>
                <c:pt idx="0">
                  <c:v>Receitas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Planilha1!$E$4:$O$4</c:f>
              <c:numCache>
                <c:formatCode>#,##0_ ;\-#,##0\ </c:formatCode>
                <c:ptCount val="11"/>
                <c:pt idx="0">
                  <c:v>5000</c:v>
                </c:pt>
                <c:pt idx="1">
                  <c:v>5500</c:v>
                </c:pt>
                <c:pt idx="2">
                  <c:v>6050.0000000000009</c:v>
                </c:pt>
                <c:pt idx="3">
                  <c:v>6655.0000000000018</c:v>
                </c:pt>
                <c:pt idx="4">
                  <c:v>7320.5000000000027</c:v>
                </c:pt>
                <c:pt idx="5">
                  <c:v>8052.5500000000038</c:v>
                </c:pt>
                <c:pt idx="6">
                  <c:v>8857.8050000000057</c:v>
                </c:pt>
                <c:pt idx="7">
                  <c:v>9743.5855000000065</c:v>
                </c:pt>
                <c:pt idx="8">
                  <c:v>10717.944050000007</c:v>
                </c:pt>
                <c:pt idx="9">
                  <c:v>11789.73845500001</c:v>
                </c:pt>
                <c:pt idx="10">
                  <c:v>12968.712300500012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43-4C5E-B182-3867AD28F717}"/>
            </c:ext>
          </c:extLst>
        </c:ser>
        <c:ser>
          <c:idx val="1"/>
          <c:order val="1"/>
          <c:tx>
            <c:strRef>
              <c:f>Planilha1!$D$5</c:f>
              <c:strCache>
                <c:ptCount val="1"/>
                <c:pt idx="0">
                  <c:v>Despesas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Planilha1!$E$5:$O$5</c:f>
              <c:numCache>
                <c:formatCode>#,##0_ ;\-#,##0\ </c:formatCode>
                <c:ptCount val="11"/>
                <c:pt idx="0">
                  <c:v>3250</c:v>
                </c:pt>
                <c:pt idx="1">
                  <c:v>3575</c:v>
                </c:pt>
                <c:pt idx="2">
                  <c:v>3932.5000000000009</c:v>
                </c:pt>
                <c:pt idx="3">
                  <c:v>4325.7500000000009</c:v>
                </c:pt>
                <c:pt idx="4">
                  <c:v>4758.3250000000016</c:v>
                </c:pt>
                <c:pt idx="5">
                  <c:v>5234.157500000003</c:v>
                </c:pt>
                <c:pt idx="6">
                  <c:v>5757.573250000004</c:v>
                </c:pt>
                <c:pt idx="7">
                  <c:v>6333.3305750000045</c:v>
                </c:pt>
                <c:pt idx="8">
                  <c:v>6966.6636325000054</c:v>
                </c:pt>
                <c:pt idx="9">
                  <c:v>7663.3299957500067</c:v>
                </c:pt>
                <c:pt idx="10">
                  <c:v>8429.6629953250085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43-4C5E-B182-3867AD28F717}"/>
            </c:ext>
          </c:extLst>
        </c:ser>
        <c:ser>
          <c:idx val="2"/>
          <c:order val="2"/>
          <c:tx>
            <c:strRef>
              <c:f>Planilha1!$D$6</c:f>
              <c:strCache>
                <c:ptCount val="1"/>
                <c:pt idx="0">
                  <c:v>Investimentos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Planilha1!$E$6:$O$6</c:f>
              <c:numCache>
                <c:formatCode>#,##0_ ;\-#,##0\ </c:formatCode>
                <c:ptCount val="11"/>
                <c:pt idx="0">
                  <c:v>2000</c:v>
                </c:pt>
                <c:pt idx="1">
                  <c:v>3000</c:v>
                </c:pt>
                <c:pt idx="4">
                  <c:v>4000</c:v>
                </c:pt>
                <c:pt idx="7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43-4C5E-B182-3867AD28F717}"/>
            </c:ext>
          </c:extLst>
        </c:ser>
        <c:ser>
          <c:idx val="3"/>
          <c:order val="3"/>
          <c:tx>
            <c:strRef>
              <c:f>Planilha1!$D$7</c:f>
              <c:strCache>
                <c:ptCount val="1"/>
                <c:pt idx="0">
                  <c:v>Fluxo livre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Planilha1!$E$7:$O$7</c:f>
              <c:numCache>
                <c:formatCode>#,##0_ ;\-#,##0\ </c:formatCode>
                <c:ptCount val="11"/>
                <c:pt idx="0">
                  <c:v>-250</c:v>
                </c:pt>
                <c:pt idx="1">
                  <c:v>-1075</c:v>
                </c:pt>
                <c:pt idx="2">
                  <c:v>2117.5</c:v>
                </c:pt>
                <c:pt idx="3">
                  <c:v>2329.2500000000009</c:v>
                </c:pt>
                <c:pt idx="4">
                  <c:v>-1437.8249999999989</c:v>
                </c:pt>
                <c:pt idx="5">
                  <c:v>2818.3925000000008</c:v>
                </c:pt>
                <c:pt idx="6">
                  <c:v>3100.2317500000017</c:v>
                </c:pt>
                <c:pt idx="7">
                  <c:v>1410.254925000002</c:v>
                </c:pt>
                <c:pt idx="8">
                  <c:v>3751.2804175000019</c:v>
                </c:pt>
                <c:pt idx="9">
                  <c:v>4126.408459250003</c:v>
                </c:pt>
                <c:pt idx="10">
                  <c:v>4539.0493051750036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43-4C5E-B182-3867AD28F717}"/>
            </c:ext>
          </c:extLst>
        </c:ser>
        <c:ser>
          <c:idx val="4"/>
          <c:order val="4"/>
          <c:tx>
            <c:strRef>
              <c:f>Planilha1!$D$8</c:f>
              <c:strCache>
                <c:ptCount val="1"/>
                <c:pt idx="0">
                  <c:v>VP</c:v>
                </c:pt>
              </c:strCache>
            </c:strRef>
          </c:tx>
          <c:spPr>
            <a:solidFill>
              <a:schemeClr val="accent5"/>
            </a:solidFill>
            <a:ln w="25400">
              <a:noFill/>
            </a:ln>
            <a:effectLst/>
          </c:spPr>
          <c:cat>
            <c:numRef>
              <c:f>Planilha1!$E$3:$O$3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Planilha1!$E$8:$O$8</c:f>
              <c:numCache>
                <c:formatCode>#,##0_ ;\-#,##0\ </c:formatCode>
                <c:ptCount val="11"/>
                <c:pt idx="0">
                  <c:v>-227.27272727272725</c:v>
                </c:pt>
                <c:pt idx="1">
                  <c:v>-888.42975206611561</c:v>
                </c:pt>
                <c:pt idx="2">
                  <c:v>1590.9090909090905</c:v>
                </c:pt>
                <c:pt idx="3">
                  <c:v>1590.909090909091</c:v>
                </c:pt>
                <c:pt idx="4">
                  <c:v>-892.77620132752884</c:v>
                </c:pt>
                <c:pt idx="5">
                  <c:v>1590.9090909090905</c:v>
                </c:pt>
                <c:pt idx="6">
                  <c:v>1590.9090909090908</c:v>
                </c:pt>
                <c:pt idx="7">
                  <c:v>657.89433048962462</c:v>
                </c:pt>
                <c:pt idx="8">
                  <c:v>1590.9090909090908</c:v>
                </c:pt>
                <c:pt idx="9">
                  <c:v>1590.909090909091</c:v>
                </c:pt>
                <c:pt idx="10">
                  <c:v>1590.9090909090908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43-4C5E-B182-3867AD28F7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0983248"/>
        <c:axId val="990989904"/>
      </c:areaChart>
      <c:catAx>
        <c:axId val="990983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990989904"/>
        <c:crosses val="autoZero"/>
        <c:auto val="1"/>
        <c:lblAlgn val="ctr"/>
        <c:lblOffset val="100"/>
        <c:noMultiLvlLbl val="0"/>
      </c:catAx>
      <c:valAx>
        <c:axId val="990989904"/>
        <c:scaling>
          <c:orientation val="minMax"/>
        </c:scaling>
        <c:delete val="1"/>
        <c:axPos val="l"/>
        <c:numFmt formatCode="#,##0_ ;\-#,##0\ " sourceLinked="1"/>
        <c:majorTickMark val="none"/>
        <c:minorTickMark val="none"/>
        <c:tickLblPos val="nextTo"/>
        <c:crossAx val="990983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Planilha10!$E$4</c:f>
              <c:strCache>
                <c:ptCount val="1"/>
                <c:pt idx="0">
                  <c:v>Ibovespa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Planilha10!$E$5:$E$10</c:f>
              <c:numCache>
                <c:formatCode>0%</c:formatCode>
                <c:ptCount val="6"/>
                <c:pt idx="0">
                  <c:v>0.1</c:v>
                </c:pt>
                <c:pt idx="1">
                  <c:v>-0.1</c:v>
                </c:pt>
                <c:pt idx="2">
                  <c:v>0.1</c:v>
                </c:pt>
                <c:pt idx="3">
                  <c:v>-0.1</c:v>
                </c:pt>
                <c:pt idx="4">
                  <c:v>0.1</c:v>
                </c:pt>
                <c:pt idx="5">
                  <c:v>-0.1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AD-479A-9AFB-54B924C5E514}"/>
            </c:ext>
          </c:extLst>
        </c:ser>
        <c:ser>
          <c:idx val="1"/>
          <c:order val="1"/>
          <c:tx>
            <c:strRef>
              <c:f>Planilha10!$F$4</c:f>
              <c:strCache>
                <c:ptCount val="1"/>
                <c:pt idx="0">
                  <c:v>Ativo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Planilha10!$F$5:$F$10</c:f>
              <c:numCache>
                <c:formatCode>0%</c:formatCode>
                <c:ptCount val="6"/>
                <c:pt idx="0">
                  <c:v>0.15</c:v>
                </c:pt>
                <c:pt idx="1">
                  <c:v>-0.15</c:v>
                </c:pt>
                <c:pt idx="2">
                  <c:v>0.1</c:v>
                </c:pt>
                <c:pt idx="3">
                  <c:v>-0.1</c:v>
                </c:pt>
                <c:pt idx="4">
                  <c:v>0.05</c:v>
                </c:pt>
                <c:pt idx="5">
                  <c:v>-0.05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AD-479A-9AFB-54B924C5E51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84612128"/>
        <c:axId val="384607552"/>
      </c:barChart>
      <c:catAx>
        <c:axId val="3846121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84607552"/>
        <c:crosses val="autoZero"/>
        <c:auto val="1"/>
        <c:lblAlgn val="ctr"/>
        <c:lblOffset val="100"/>
        <c:noMultiLvlLbl val="0"/>
      </c:catAx>
      <c:valAx>
        <c:axId val="38460755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61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pt-B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2980179568380345E-2"/>
          <c:y val="5.1011411263985453E-3"/>
          <c:w val="0.9470198204316197"/>
          <c:h val="0.90628328008519698"/>
        </c:manualLayout>
      </c:layout>
      <c:lineChart>
        <c:grouping val="standard"/>
        <c:varyColors val="0"/>
        <c:ser>
          <c:idx val="1"/>
          <c:order val="0"/>
          <c:tx>
            <c:strRef>
              <c:f>'Planilha6 (2)'!$B$1</c:f>
              <c:strCache>
                <c:ptCount val="1"/>
                <c:pt idx="0">
                  <c:v>Valor Líquido do Fluxo de Caixa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'Planilha6 (2)'!$B$2:$B$14</c:f>
              <c:numCache>
                <c:formatCode>#,##0;[Red]#,##0</c:formatCode>
                <c:ptCount val="13"/>
                <c:pt idx="0">
                  <c:v>-2580652.0380402058</c:v>
                </c:pt>
                <c:pt idx="1">
                  <c:v>1639581.7385514085</c:v>
                </c:pt>
                <c:pt idx="2">
                  <c:v>2149922.0648165434</c:v>
                </c:pt>
                <c:pt idx="3">
                  <c:v>2685312.2886598594</c:v>
                </c:pt>
                <c:pt idx="4">
                  <c:v>-1686813.3390203635</c:v>
                </c:pt>
                <c:pt idx="5">
                  <c:v>2838001.3346146992</c:v>
                </c:pt>
                <c:pt idx="6">
                  <c:v>2838001.3346146992</c:v>
                </c:pt>
                <c:pt idx="7">
                  <c:v>2838001.3346146992</c:v>
                </c:pt>
                <c:pt idx="8">
                  <c:v>2838001.3346146992</c:v>
                </c:pt>
                <c:pt idx="9">
                  <c:v>2838001.3346146992</c:v>
                </c:pt>
                <c:pt idx="10">
                  <c:v>2838001.3346146992</c:v>
                </c:pt>
                <c:pt idx="11">
                  <c:v>2838001.3346146992</c:v>
                </c:pt>
                <c:pt idx="12">
                  <c:v>3744345.4704208057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08-46CC-99DA-5BB53A60CA1E}"/>
            </c:ext>
          </c:extLst>
        </c:ser>
        <c:ser>
          <c:idx val="2"/>
          <c:order val="1"/>
          <c:tx>
            <c:strRef>
              <c:f>'Planilha6 (2)'!$D$1</c:f>
              <c:strCache>
                <c:ptCount val="1"/>
                <c:pt idx="0">
                  <c:v>VP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'Planilha6 (2)'!$D$2:$D$14</c:f>
              <c:numCache>
                <c:formatCode>#,##0;[Red]#,##0</c:formatCode>
                <c:ptCount val="13"/>
                <c:pt idx="0">
                  <c:v>-2580652.0380402058</c:v>
                </c:pt>
                <c:pt idx="1">
                  <c:v>1490528.853228553</c:v>
                </c:pt>
                <c:pt idx="2">
                  <c:v>1776795.0948897051</c:v>
                </c:pt>
                <c:pt idx="3">
                  <c:v>2017514.8675130417</c:v>
                </c:pt>
                <c:pt idx="4">
                  <c:v>-1152116.2072401906</c:v>
                </c:pt>
                <c:pt idx="5">
                  <c:v>1762175.5435326067</c:v>
                </c:pt>
                <c:pt idx="6">
                  <c:v>1601977.766847824</c:v>
                </c:pt>
                <c:pt idx="7">
                  <c:v>1456343.4244071124</c:v>
                </c:pt>
                <c:pt idx="8">
                  <c:v>1323948.5676428296</c:v>
                </c:pt>
                <c:pt idx="9">
                  <c:v>1203589.6069480269</c:v>
                </c:pt>
                <c:pt idx="10">
                  <c:v>1094172.3699527516</c:v>
                </c:pt>
                <c:pt idx="11">
                  <c:v>994702.15450250125</c:v>
                </c:pt>
                <c:pt idx="12">
                  <c:v>1193063.8590302509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08-46CC-99DA-5BB53A60CA1E}"/>
            </c:ext>
          </c:extLst>
        </c:ser>
        <c:ser>
          <c:idx val="0"/>
          <c:order val="2"/>
          <c:tx>
            <c:strRef>
              <c:f>'Planilha6 (2)'!$E$1</c:f>
              <c:strCache>
                <c:ptCount val="1"/>
                <c:pt idx="0">
                  <c:v>Payback descontado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'Planilha6 (2)'!$E$2:$E$14</c:f>
              <c:numCache>
                <c:formatCode>#,##0;[Red]#,##0</c:formatCode>
                <c:ptCount val="13"/>
                <c:pt idx="0">
                  <c:v>-2580652.0380402058</c:v>
                </c:pt>
                <c:pt idx="1">
                  <c:v>-1090123.1848116529</c:v>
                </c:pt>
                <c:pt idx="2">
                  <c:v>686671.9100780522</c:v>
                </c:pt>
                <c:pt idx="3">
                  <c:v>2704186.7775910939</c:v>
                </c:pt>
                <c:pt idx="4">
                  <c:v>1552070.5703509033</c:v>
                </c:pt>
                <c:pt idx="5">
                  <c:v>3314246.1138835102</c:v>
                </c:pt>
                <c:pt idx="6">
                  <c:v>4916223.880731334</c:v>
                </c:pt>
                <c:pt idx="7">
                  <c:v>6372567.3051384464</c:v>
                </c:pt>
                <c:pt idx="8">
                  <c:v>7696515.8727812758</c:v>
                </c:pt>
                <c:pt idx="9">
                  <c:v>8900105.4797293022</c:v>
                </c:pt>
                <c:pt idx="10">
                  <c:v>9994277.8496820536</c:v>
                </c:pt>
                <c:pt idx="11">
                  <c:v>10988980.004184555</c:v>
                </c:pt>
                <c:pt idx="12">
                  <c:v>12182043.863214806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08-46CC-99DA-5BB53A60C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8101936"/>
        <c:axId val="428106928"/>
      </c:lineChart>
      <c:catAx>
        <c:axId val="428101936"/>
        <c:scaling>
          <c:orientation val="minMax"/>
        </c:scaling>
        <c:delete val="1"/>
        <c:axPos val="b"/>
        <c:majorTickMark val="none"/>
        <c:minorTickMark val="none"/>
        <c:tickLblPos val="nextTo"/>
        <c:crossAx val="428106928"/>
        <c:crosses val="autoZero"/>
        <c:auto val="1"/>
        <c:lblAlgn val="ctr"/>
        <c:lblOffset val="100"/>
        <c:noMultiLvlLbl val="0"/>
      </c:catAx>
      <c:valAx>
        <c:axId val="428106928"/>
        <c:scaling>
          <c:orientation val="minMax"/>
        </c:scaling>
        <c:delete val="1"/>
        <c:axPos val="l"/>
        <c:numFmt formatCode="#,##0;[Red]#,##0" sourceLinked="1"/>
        <c:majorTickMark val="none"/>
        <c:minorTickMark val="none"/>
        <c:tickLblPos val="nextTo"/>
        <c:crossAx val="428101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15:20:32.060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15:20:32.060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15:20:32.060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15:20:32.060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15:20:32.060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15:20:32.060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15:20:32.060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15:20:32.060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5AE9C6-6106-4F2F-B1B4-20BA695D0B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3608198-82A7-490E-84EE-99A38C99619B}">
      <dgm:prSet/>
      <dgm:spPr/>
      <dgm:t>
        <a:bodyPr/>
        <a:lstStyle/>
        <a:p>
          <a:r>
            <a:rPr lang="pt-BR" dirty="0"/>
            <a:t>Data-base</a:t>
          </a:r>
        </a:p>
      </dgm:t>
    </dgm:pt>
    <dgm:pt modelId="{05D3A882-2AD3-46F5-8ACB-54214056E27D}" type="parTrans" cxnId="{D252602C-7D9C-4091-A7FA-63CC1F888620}">
      <dgm:prSet/>
      <dgm:spPr/>
      <dgm:t>
        <a:bodyPr/>
        <a:lstStyle/>
        <a:p>
          <a:endParaRPr lang="pt-BR"/>
        </a:p>
      </dgm:t>
    </dgm:pt>
    <dgm:pt modelId="{C1E81F5B-E8FB-4056-9685-028E6D092D4D}" type="sibTrans" cxnId="{D252602C-7D9C-4091-A7FA-63CC1F888620}">
      <dgm:prSet/>
      <dgm:spPr/>
      <dgm:t>
        <a:bodyPr/>
        <a:lstStyle/>
        <a:p>
          <a:endParaRPr lang="pt-BR"/>
        </a:p>
      </dgm:t>
    </dgm:pt>
    <dgm:pt modelId="{44D1A11C-63FB-412D-B28B-08B3727297C0}">
      <dgm:prSet custT="1"/>
      <dgm:spPr/>
      <dgm:t>
        <a:bodyPr/>
        <a:lstStyle/>
        <a:p>
          <a:pPr algn="just"/>
          <a:r>
            <a:rPr lang="pt-BR" sz="2400" dirty="0">
              <a:solidFill>
                <a:schemeClr val="tx1"/>
              </a:solidFill>
            </a:rPr>
            <a:t>Referência dos valores do EVTEA para fins de atualização monetária, realizada por meio da aplicação do índice de reajuste especificado no contrato (IGP-M ou IPCA, por exemplo)</a:t>
          </a:r>
        </a:p>
      </dgm:t>
    </dgm:pt>
    <dgm:pt modelId="{22047DF8-A233-41E7-8E61-456CBD962250}" type="parTrans" cxnId="{FF5F391F-A132-442F-897C-11D8080782BF}">
      <dgm:prSet/>
      <dgm:spPr/>
      <dgm:t>
        <a:bodyPr/>
        <a:lstStyle/>
        <a:p>
          <a:endParaRPr lang="pt-BR"/>
        </a:p>
      </dgm:t>
    </dgm:pt>
    <dgm:pt modelId="{04E8A2B6-BE20-4AC7-AE0C-5E49674A7E57}" type="sibTrans" cxnId="{FF5F391F-A132-442F-897C-11D8080782BF}">
      <dgm:prSet/>
      <dgm:spPr/>
      <dgm:t>
        <a:bodyPr/>
        <a:lstStyle/>
        <a:p>
          <a:endParaRPr lang="pt-BR"/>
        </a:p>
      </dgm:t>
    </dgm:pt>
    <dgm:pt modelId="{FD3C53DA-8A17-4F21-BE25-81D197DC2668}" type="pres">
      <dgm:prSet presAssocID="{535AE9C6-6106-4F2F-B1B4-20BA695D0BE8}" presName="linear" presStyleCnt="0">
        <dgm:presLayoutVars>
          <dgm:dir/>
          <dgm:animLvl val="lvl"/>
          <dgm:resizeHandles val="exact"/>
        </dgm:presLayoutVars>
      </dgm:prSet>
      <dgm:spPr/>
    </dgm:pt>
    <dgm:pt modelId="{AAE03072-D5D9-4692-B81E-62F587E11B44}" type="pres">
      <dgm:prSet presAssocID="{B3608198-82A7-490E-84EE-99A38C99619B}" presName="parentLin" presStyleCnt="0"/>
      <dgm:spPr/>
    </dgm:pt>
    <dgm:pt modelId="{8922817C-1678-43B8-8DE2-34C43376BCE0}" type="pres">
      <dgm:prSet presAssocID="{B3608198-82A7-490E-84EE-99A38C99619B}" presName="parentLeftMargin" presStyleLbl="node1" presStyleIdx="0" presStyleCnt="1"/>
      <dgm:spPr/>
    </dgm:pt>
    <dgm:pt modelId="{40DD6816-ECA4-447F-BA0E-9A1CA0255A7A}" type="pres">
      <dgm:prSet presAssocID="{B3608198-82A7-490E-84EE-99A38C99619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B8F0283-17C5-40A8-BB00-8E1F95C9CFC7}" type="pres">
      <dgm:prSet presAssocID="{B3608198-82A7-490E-84EE-99A38C99619B}" presName="negativeSpace" presStyleCnt="0"/>
      <dgm:spPr/>
    </dgm:pt>
    <dgm:pt modelId="{DEDA15AF-A5ED-4BFF-9A22-4B2B12079547}" type="pres">
      <dgm:prSet presAssocID="{B3608198-82A7-490E-84EE-99A38C99619B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EEC5705-390B-4947-86E6-CC9C889B8344}" type="presOf" srcId="{535AE9C6-6106-4F2F-B1B4-20BA695D0BE8}" destId="{FD3C53DA-8A17-4F21-BE25-81D197DC2668}" srcOrd="0" destOrd="0" presId="urn:microsoft.com/office/officeart/2005/8/layout/list1"/>
    <dgm:cxn modelId="{FF5F391F-A132-442F-897C-11D8080782BF}" srcId="{B3608198-82A7-490E-84EE-99A38C99619B}" destId="{44D1A11C-63FB-412D-B28B-08B3727297C0}" srcOrd="0" destOrd="0" parTransId="{22047DF8-A233-41E7-8E61-456CBD962250}" sibTransId="{04E8A2B6-BE20-4AC7-AE0C-5E49674A7E57}"/>
    <dgm:cxn modelId="{B820D920-D4F1-4250-A3C3-C4C92678A4F3}" type="presOf" srcId="{B3608198-82A7-490E-84EE-99A38C99619B}" destId="{8922817C-1678-43B8-8DE2-34C43376BCE0}" srcOrd="0" destOrd="0" presId="urn:microsoft.com/office/officeart/2005/8/layout/list1"/>
    <dgm:cxn modelId="{D252602C-7D9C-4091-A7FA-63CC1F888620}" srcId="{535AE9C6-6106-4F2F-B1B4-20BA695D0BE8}" destId="{B3608198-82A7-490E-84EE-99A38C99619B}" srcOrd="0" destOrd="0" parTransId="{05D3A882-2AD3-46F5-8ACB-54214056E27D}" sibTransId="{C1E81F5B-E8FB-4056-9685-028E6D092D4D}"/>
    <dgm:cxn modelId="{0389F642-03F1-476B-AB84-9A8032B28E2C}" type="presOf" srcId="{44D1A11C-63FB-412D-B28B-08B3727297C0}" destId="{DEDA15AF-A5ED-4BFF-9A22-4B2B12079547}" srcOrd="0" destOrd="0" presId="urn:microsoft.com/office/officeart/2005/8/layout/list1"/>
    <dgm:cxn modelId="{56A6BD84-6724-495A-A539-B941094C9E52}" type="presOf" srcId="{B3608198-82A7-490E-84EE-99A38C99619B}" destId="{40DD6816-ECA4-447F-BA0E-9A1CA0255A7A}" srcOrd="1" destOrd="0" presId="urn:microsoft.com/office/officeart/2005/8/layout/list1"/>
    <dgm:cxn modelId="{68B8AE2C-E414-4F62-9A06-31006D036F84}" type="presParOf" srcId="{FD3C53DA-8A17-4F21-BE25-81D197DC2668}" destId="{AAE03072-D5D9-4692-B81E-62F587E11B44}" srcOrd="0" destOrd="0" presId="urn:microsoft.com/office/officeart/2005/8/layout/list1"/>
    <dgm:cxn modelId="{F4CA09E6-5B6D-411F-A291-BF5259A5EB47}" type="presParOf" srcId="{AAE03072-D5D9-4692-B81E-62F587E11B44}" destId="{8922817C-1678-43B8-8DE2-34C43376BCE0}" srcOrd="0" destOrd="0" presId="urn:microsoft.com/office/officeart/2005/8/layout/list1"/>
    <dgm:cxn modelId="{7998203A-849B-4C87-8FD0-CDF8CC7EAD77}" type="presParOf" srcId="{AAE03072-D5D9-4692-B81E-62F587E11B44}" destId="{40DD6816-ECA4-447F-BA0E-9A1CA0255A7A}" srcOrd="1" destOrd="0" presId="urn:microsoft.com/office/officeart/2005/8/layout/list1"/>
    <dgm:cxn modelId="{CF1317A5-C032-41F8-8713-DB369800BC60}" type="presParOf" srcId="{FD3C53DA-8A17-4F21-BE25-81D197DC2668}" destId="{BB8F0283-17C5-40A8-BB00-8E1F95C9CFC7}" srcOrd="1" destOrd="0" presId="urn:microsoft.com/office/officeart/2005/8/layout/list1"/>
    <dgm:cxn modelId="{FC51BA77-EF9D-40C4-8F67-A12FBA57CAB3}" type="presParOf" srcId="{FD3C53DA-8A17-4F21-BE25-81D197DC2668}" destId="{DEDA15AF-A5ED-4BFF-9A22-4B2B1207954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5AE9C6-6106-4F2F-B1B4-20BA695D0B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0DFBD3E-6DA9-4D1F-B12C-EE29B685DBE7}">
      <dgm:prSet custT="1"/>
      <dgm:spPr/>
      <dgm:t>
        <a:bodyPr/>
        <a:lstStyle/>
        <a:p>
          <a:pPr algn="just"/>
          <a:r>
            <a:rPr lang="pt-BR" sz="2400" dirty="0">
              <a:solidFill>
                <a:schemeClr val="tx1"/>
              </a:solidFill>
            </a:rPr>
            <a:t>Referência escolhida conforme os propósitos da análise (ocorrência do evento, fim do período contratual), observando a </a:t>
          </a:r>
          <a:r>
            <a:rPr lang="pt-BR" sz="2400" b="1" dirty="0">
              <a:solidFill>
                <a:schemeClr val="tx1"/>
              </a:solidFill>
            </a:rPr>
            <a:t>equivalência dos valores </a:t>
          </a:r>
          <a:r>
            <a:rPr lang="pt-BR" sz="2400" dirty="0">
              <a:solidFill>
                <a:schemeClr val="tx1"/>
              </a:solidFill>
            </a:rPr>
            <a:t>com a utilização da taxa de desconto do fluxo (WACC, por exemplo)</a:t>
          </a:r>
        </a:p>
      </dgm:t>
    </dgm:pt>
    <dgm:pt modelId="{AE6EEA71-45FE-475F-AD28-1871E0FBFA77}" type="parTrans" cxnId="{ED7B183E-9DB0-4FA6-864B-A792653E98CF}">
      <dgm:prSet/>
      <dgm:spPr/>
      <dgm:t>
        <a:bodyPr/>
        <a:lstStyle/>
        <a:p>
          <a:endParaRPr lang="pt-BR"/>
        </a:p>
      </dgm:t>
    </dgm:pt>
    <dgm:pt modelId="{2A993FF6-D0C3-41FB-A213-0801F5F404F9}" type="sibTrans" cxnId="{ED7B183E-9DB0-4FA6-864B-A792653E98CF}">
      <dgm:prSet/>
      <dgm:spPr/>
      <dgm:t>
        <a:bodyPr/>
        <a:lstStyle/>
        <a:p>
          <a:endParaRPr lang="pt-BR"/>
        </a:p>
      </dgm:t>
    </dgm:pt>
    <dgm:pt modelId="{983F92EA-3BAA-4D74-B53D-8083C73830E7}">
      <dgm:prSet phldrT="[Texto]"/>
      <dgm:spPr/>
      <dgm:t>
        <a:bodyPr/>
        <a:lstStyle/>
        <a:p>
          <a:r>
            <a:rPr lang="pt-BR" dirty="0"/>
            <a:t>Data-focal</a:t>
          </a:r>
        </a:p>
      </dgm:t>
    </dgm:pt>
    <dgm:pt modelId="{F3ADB279-5C6E-4735-940D-7A5A7C63C749}" type="sibTrans" cxnId="{EC000B67-A3CE-46A3-83E3-77EFA69728E0}">
      <dgm:prSet/>
      <dgm:spPr/>
      <dgm:t>
        <a:bodyPr/>
        <a:lstStyle/>
        <a:p>
          <a:endParaRPr lang="pt-BR"/>
        </a:p>
      </dgm:t>
    </dgm:pt>
    <dgm:pt modelId="{87002AEC-CD43-4119-BB39-05A4D92AA187}" type="parTrans" cxnId="{EC000B67-A3CE-46A3-83E3-77EFA69728E0}">
      <dgm:prSet/>
      <dgm:spPr/>
      <dgm:t>
        <a:bodyPr/>
        <a:lstStyle/>
        <a:p>
          <a:endParaRPr lang="pt-BR"/>
        </a:p>
      </dgm:t>
    </dgm:pt>
    <dgm:pt modelId="{FD3C53DA-8A17-4F21-BE25-81D197DC2668}" type="pres">
      <dgm:prSet presAssocID="{535AE9C6-6106-4F2F-B1B4-20BA695D0BE8}" presName="linear" presStyleCnt="0">
        <dgm:presLayoutVars>
          <dgm:dir/>
          <dgm:animLvl val="lvl"/>
          <dgm:resizeHandles val="exact"/>
        </dgm:presLayoutVars>
      </dgm:prSet>
      <dgm:spPr/>
    </dgm:pt>
    <dgm:pt modelId="{33D1CAAD-40FC-4421-857E-D3AB21485D2B}" type="pres">
      <dgm:prSet presAssocID="{983F92EA-3BAA-4D74-B53D-8083C73830E7}" presName="parentLin" presStyleCnt="0"/>
      <dgm:spPr/>
    </dgm:pt>
    <dgm:pt modelId="{3F01F4D3-CF66-4CE4-B011-84254D1FEA3C}" type="pres">
      <dgm:prSet presAssocID="{983F92EA-3BAA-4D74-B53D-8083C73830E7}" presName="parentLeftMargin" presStyleLbl="node1" presStyleIdx="0" presStyleCnt="1"/>
      <dgm:spPr/>
    </dgm:pt>
    <dgm:pt modelId="{FCA977CD-BB94-4476-9F76-10832DB0AA3C}" type="pres">
      <dgm:prSet presAssocID="{983F92EA-3BAA-4D74-B53D-8083C73830E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9F4CBB2-EAF6-4F77-B295-59414D69D998}" type="pres">
      <dgm:prSet presAssocID="{983F92EA-3BAA-4D74-B53D-8083C73830E7}" presName="negativeSpace" presStyleCnt="0"/>
      <dgm:spPr/>
    </dgm:pt>
    <dgm:pt modelId="{CCF582E8-D982-400C-A3F3-C424095CBEF6}" type="pres">
      <dgm:prSet presAssocID="{983F92EA-3BAA-4D74-B53D-8083C73830E7}" presName="childText" presStyleLbl="conFgAcc1" presStyleIdx="0" presStyleCnt="1" custLinFactNeighborX="-1516" custLinFactNeighborY="3703">
        <dgm:presLayoutVars>
          <dgm:bulletEnabled val="1"/>
        </dgm:presLayoutVars>
      </dgm:prSet>
      <dgm:spPr/>
    </dgm:pt>
  </dgm:ptLst>
  <dgm:cxnLst>
    <dgm:cxn modelId="{2EEC5705-390B-4947-86E6-CC9C889B8344}" type="presOf" srcId="{535AE9C6-6106-4F2F-B1B4-20BA695D0BE8}" destId="{FD3C53DA-8A17-4F21-BE25-81D197DC2668}" srcOrd="0" destOrd="0" presId="urn:microsoft.com/office/officeart/2005/8/layout/list1"/>
    <dgm:cxn modelId="{ED7B183E-9DB0-4FA6-864B-A792653E98CF}" srcId="{983F92EA-3BAA-4D74-B53D-8083C73830E7}" destId="{E0DFBD3E-6DA9-4D1F-B12C-EE29B685DBE7}" srcOrd="0" destOrd="0" parTransId="{AE6EEA71-45FE-475F-AD28-1871E0FBFA77}" sibTransId="{2A993FF6-D0C3-41FB-A213-0801F5F404F9}"/>
    <dgm:cxn modelId="{EC000B67-A3CE-46A3-83E3-77EFA69728E0}" srcId="{535AE9C6-6106-4F2F-B1B4-20BA695D0BE8}" destId="{983F92EA-3BAA-4D74-B53D-8083C73830E7}" srcOrd="0" destOrd="0" parTransId="{87002AEC-CD43-4119-BB39-05A4D92AA187}" sibTransId="{F3ADB279-5C6E-4735-940D-7A5A7C63C749}"/>
    <dgm:cxn modelId="{690220BA-5485-472B-9DC7-439BDC323827}" type="presOf" srcId="{983F92EA-3BAA-4D74-B53D-8083C73830E7}" destId="{3F01F4D3-CF66-4CE4-B011-84254D1FEA3C}" srcOrd="0" destOrd="0" presId="urn:microsoft.com/office/officeart/2005/8/layout/list1"/>
    <dgm:cxn modelId="{24B11AC6-8EB3-46FB-9F26-EE03238489DF}" type="presOf" srcId="{983F92EA-3BAA-4D74-B53D-8083C73830E7}" destId="{FCA977CD-BB94-4476-9F76-10832DB0AA3C}" srcOrd="1" destOrd="0" presId="urn:microsoft.com/office/officeart/2005/8/layout/list1"/>
    <dgm:cxn modelId="{AB64C9F4-61F6-433A-97F4-28F5C78A8C2C}" type="presOf" srcId="{E0DFBD3E-6DA9-4D1F-B12C-EE29B685DBE7}" destId="{CCF582E8-D982-400C-A3F3-C424095CBEF6}" srcOrd="0" destOrd="0" presId="urn:microsoft.com/office/officeart/2005/8/layout/list1"/>
    <dgm:cxn modelId="{1AF11542-C7B8-47E6-BC71-ABFFC2E8717B}" type="presParOf" srcId="{FD3C53DA-8A17-4F21-BE25-81D197DC2668}" destId="{33D1CAAD-40FC-4421-857E-D3AB21485D2B}" srcOrd="0" destOrd="0" presId="urn:microsoft.com/office/officeart/2005/8/layout/list1"/>
    <dgm:cxn modelId="{8E205FE7-93FF-4A59-8FF6-EAA765510DB6}" type="presParOf" srcId="{33D1CAAD-40FC-4421-857E-D3AB21485D2B}" destId="{3F01F4D3-CF66-4CE4-B011-84254D1FEA3C}" srcOrd="0" destOrd="0" presId="urn:microsoft.com/office/officeart/2005/8/layout/list1"/>
    <dgm:cxn modelId="{6128FB0C-2966-4F8A-A253-D1322F1E2C3B}" type="presParOf" srcId="{33D1CAAD-40FC-4421-857E-D3AB21485D2B}" destId="{FCA977CD-BB94-4476-9F76-10832DB0AA3C}" srcOrd="1" destOrd="0" presId="urn:microsoft.com/office/officeart/2005/8/layout/list1"/>
    <dgm:cxn modelId="{36C626E3-0C0B-43D6-9668-5D3C2AB61029}" type="presParOf" srcId="{FD3C53DA-8A17-4F21-BE25-81D197DC2668}" destId="{39F4CBB2-EAF6-4F77-B295-59414D69D998}" srcOrd="1" destOrd="0" presId="urn:microsoft.com/office/officeart/2005/8/layout/list1"/>
    <dgm:cxn modelId="{72BD673F-C694-4E4C-A605-111D3F2C2A16}" type="presParOf" srcId="{FD3C53DA-8A17-4F21-BE25-81D197DC2668}" destId="{CCF582E8-D982-400C-A3F3-C424095CBEF6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DA15AF-A5ED-4BFF-9A22-4B2B12079547}">
      <dsp:nvSpPr>
        <dsp:cNvPr id="0" name=""/>
        <dsp:cNvSpPr/>
      </dsp:nvSpPr>
      <dsp:spPr>
        <a:xfrm>
          <a:off x="0" y="246741"/>
          <a:ext cx="7167255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59" tIns="333248" rIns="556259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>
              <a:solidFill>
                <a:schemeClr val="tx1"/>
              </a:solidFill>
            </a:rPr>
            <a:t>Referência dos valores do EVTEA para fins de atualização monetária, realizada por meio da aplicação do índice de reajuste especificado no contrato (IGP-M ou IPCA, por exemplo)</a:t>
          </a:r>
        </a:p>
      </dsp:txBody>
      <dsp:txXfrm>
        <a:off x="0" y="246741"/>
        <a:ext cx="7167255" cy="1713600"/>
      </dsp:txXfrm>
    </dsp:sp>
    <dsp:sp modelId="{40DD6816-ECA4-447F-BA0E-9A1CA0255A7A}">
      <dsp:nvSpPr>
        <dsp:cNvPr id="0" name=""/>
        <dsp:cNvSpPr/>
      </dsp:nvSpPr>
      <dsp:spPr>
        <a:xfrm>
          <a:off x="358362" y="10581"/>
          <a:ext cx="501707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634" tIns="0" rIns="1896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Data-base</a:t>
          </a:r>
        </a:p>
      </dsp:txBody>
      <dsp:txXfrm>
        <a:off x="381419" y="33638"/>
        <a:ext cx="4970964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582E8-D982-400C-A3F3-C424095CBEF6}">
      <dsp:nvSpPr>
        <dsp:cNvPr id="0" name=""/>
        <dsp:cNvSpPr/>
      </dsp:nvSpPr>
      <dsp:spPr>
        <a:xfrm>
          <a:off x="0" y="562898"/>
          <a:ext cx="5357444" cy="3088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5797" tIns="770636" rIns="415797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>
              <a:solidFill>
                <a:schemeClr val="tx1"/>
              </a:solidFill>
            </a:rPr>
            <a:t>Referência escolhida conforme os propósitos da análise (ocorrência do evento, fim do período contratual), observando a </a:t>
          </a:r>
          <a:r>
            <a:rPr lang="pt-BR" sz="2400" b="1" kern="1200" dirty="0">
              <a:solidFill>
                <a:schemeClr val="tx1"/>
              </a:solidFill>
            </a:rPr>
            <a:t>equivalência dos valores </a:t>
          </a:r>
          <a:r>
            <a:rPr lang="pt-BR" sz="2400" kern="1200" dirty="0">
              <a:solidFill>
                <a:schemeClr val="tx1"/>
              </a:solidFill>
            </a:rPr>
            <a:t>com a utilização da taxa de desconto do fluxo (WACC, por exemplo)</a:t>
          </a:r>
        </a:p>
      </dsp:txBody>
      <dsp:txXfrm>
        <a:off x="0" y="562898"/>
        <a:ext cx="5357444" cy="3088575"/>
      </dsp:txXfrm>
    </dsp:sp>
    <dsp:sp modelId="{FCA977CD-BB94-4476-9F76-10832DB0AA3C}">
      <dsp:nvSpPr>
        <dsp:cNvPr id="0" name=""/>
        <dsp:cNvSpPr/>
      </dsp:nvSpPr>
      <dsp:spPr>
        <a:xfrm>
          <a:off x="267872" y="8389"/>
          <a:ext cx="3750210" cy="1092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749" tIns="0" rIns="141749" bIns="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Data-focal</a:t>
          </a:r>
        </a:p>
      </dsp:txBody>
      <dsp:txXfrm>
        <a:off x="321191" y="61708"/>
        <a:ext cx="3643572" cy="9856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C984E-47AC-4CB8-8A60-D9DB2F317871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0E4F8-026E-4C1F-AAFB-043A844935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94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372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4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064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227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535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488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4758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68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656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42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041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8294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2466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276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4619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553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9003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2461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8015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5530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5218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7360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700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7495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20091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7687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0968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7869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6141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9765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2270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831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21196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7093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5655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2465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4641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7961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6234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20242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38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7997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1504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5692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3787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0700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423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2205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4177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4382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59550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5204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548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85602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26040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47557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5722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19153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5569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40118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3225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9414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2209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69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9752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66245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1313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94140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76198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29599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80029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69442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8980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87851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79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8301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326021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119585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24540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08965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22263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63052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73165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06507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4325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89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36625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74753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50256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12209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40464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88859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8127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10570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47445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908702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99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54839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695729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34320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65079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18304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99274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03971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06641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583266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16638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109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06719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92599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99642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949218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27804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428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34765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16016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19469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74272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39587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2685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054277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2345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188218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27816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36624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629094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12232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700194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766052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42101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42762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06612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5145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19532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04066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89581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0921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25325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34233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675272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49608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87922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696047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154842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10695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90889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70652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3928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414997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C0E4F8-026E-4C1F-AAFB-043A84493516}" type="slidenum">
              <a:rPr lang="pt-BR" smtClean="0"/>
              <a:t>150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099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33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10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97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724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866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85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48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3761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71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08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09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AD460BD-33B6-496B-AF0C-0136C5EB15B9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601B585-CB1B-4A92-8193-9232D1CE803F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52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://web.antaq.gov.br/Sistemas/WebServiceLeilao/DocumentoUpload/Audiencia%2044/Nota_Tecnica_WACC.pdf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planalto.gov.br/ccivil_03/leis/l8987cons.htm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direitodoestado.com.br/colunistas/egon-bockmann-moreira/crescimento-economico-discricionariedade-e-o-principio-da-deferencia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1.xml"/><Relationship Id="rId5" Type="http://schemas.openxmlformats.org/officeDocument/2006/relationships/hyperlink" Target="http://www.portaldecontabilidade.com.br/tematicas/" TargetMode="External"/><Relationship Id="rId4" Type="http://schemas.openxmlformats.org/officeDocument/2006/relationships/image" Target="../media/image9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4.xml"/><Relationship Id="rId4" Type="http://schemas.openxmlformats.org/officeDocument/2006/relationships/hyperlink" Target="http://www.cpc.org.br/CPC/Documentos-Emitidos/Pronunciamentos/Pronunciamento?Id=57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7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1.jpeg"/></Relationships>
</file>

<file path=ppt/slides/_rels/slide7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22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capitalresearch.com.br/blog/investimentos/taxa-minima-de-atratividade-o-que-e-e-como-calcular-nos-investimentos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5.xml"/><Relationship Id="rId5" Type="http://schemas.openxmlformats.org/officeDocument/2006/relationships/hyperlink" Target="http://www.portaldecontabilidade.com.br/tematicas/" TargetMode="External"/><Relationship Id="rId4" Type="http://schemas.openxmlformats.org/officeDocument/2006/relationships/image" Target="../media/image9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cpc.org.br/CPC/Documentos-Emitidos/Pronunciamentos/Pronunciamento?Id=57" TargetMode="Externa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9.jpe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9.jpe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b3.com.br/pt_br/market-data-e-indices/indices/indices-amplos/indice-ibovespa-ibovespa-estatisticas-historicas.htm" TargetMode="External"/><Relationship Id="rId3" Type="http://schemas.openxmlformats.org/officeDocument/2006/relationships/image" Target="../media/image44.png"/><Relationship Id="rId7" Type="http://schemas.openxmlformats.org/officeDocument/2006/relationships/hyperlink" Target="http://ri.santosbrasil.com.br/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hyperlink" Target="https://www.bndes.gov.br/wps/portal/site/home/financiamento/guia/taxa-de-juros" TargetMode="External"/><Relationship Id="rId4" Type="http://schemas.openxmlformats.org/officeDocument/2006/relationships/image" Target="../media/image9.jpeg"/><Relationship Id="rId9" Type="http://schemas.openxmlformats.org/officeDocument/2006/relationships/hyperlink" Target="https://www3.bcb.gov.br/sgspub/localizarseries/localizarSeries.do?method=prepararTelaLocalizarSeries" TargetMode="Externa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9.jpe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9.jpeg"/><Relationship Id="rId9" Type="http://schemas.openxmlformats.org/officeDocument/2006/relationships/image" Target="../media/image5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6.xml"/><Relationship Id="rId4" Type="http://schemas.openxmlformats.org/officeDocument/2006/relationships/hyperlink" Target="http://web.antaq.gov.br/portalv3/pdf/NotasTecnicas/NotaTecnica072014.pdf" TargetMode="Externa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7.xml"/><Relationship Id="rId5" Type="http://schemas.openxmlformats.org/officeDocument/2006/relationships/image" Target="../media/image38.png"/><Relationship Id="rId4" Type="http://schemas.openxmlformats.org/officeDocument/2006/relationships/hyperlink" Target="http://web.antaq.gov.br/portalv3/pdf/NotasTecnicas/NotaTecnica072014.pdf" TargetMode="Externa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8.xml"/><Relationship Id="rId5" Type="http://schemas.openxmlformats.org/officeDocument/2006/relationships/chart" Target="../charts/chart6.xml"/><Relationship Id="rId4" Type="http://schemas.openxmlformats.org/officeDocument/2006/relationships/hyperlink" Target="http://web.antaq.gov.br/portalv3/pdf/NotasTecnicas/NotaTecnica072014.pdf" TargetMode="Externa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eb.antaq.gov.br/portalv3/pdf/NotasTecnicas/NotaTecnica072014.pdf" TargetMode="External"/><Relationship Id="rId4" Type="http://schemas.openxmlformats.org/officeDocument/2006/relationships/image" Target="../media/image9.jpe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eb.antaq.gov.br/portalv3/pdf/NotasTecnicas/NotaTecnica072014.pdf" TargetMode="Externa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eb.antaq.gov.br/portalv3/pdf/NotasTecnicas/NotaTecnica072014.pdf" TargetMode="Externa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eb.antaq.gov.br/portalv3/pdf/NotasTecnicas/NotaTecnica072014.pdf" TargetMode="Externa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eb.antaq.gov.br/portalv3/pdf/NotasTecnicas/NotaTecnica072014.pdf" TargetMode="Externa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eb.antaq.gov.br/portalv3/pdf/NotasTecnicas/NotaTecnica072014.pdf" TargetMode="Externa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normas.receita.fazenda.gov.br/sijut2consulta/anexoOutros.action?idArquivoBinario=36085" TargetMode="Externa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eb.antaq.gov.br/portalv3/pdf/NotasTecnicas/NotaTecnica072014.pdf" TargetMode="Externa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emf"/><Relationship Id="rId4" Type="http://schemas.openxmlformats.org/officeDocument/2006/relationships/oleObject" Target="../embeddings/oleObject1.bin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57.emf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jpe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Passo a passo para você encontrar o equilíbrio financei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11" y="264805"/>
            <a:ext cx="10788030" cy="6223863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8113853" y="1742453"/>
            <a:ext cx="341838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Capacitação para o desenvolvimento e gerenciamento de projetos, incluindo a elaboração de estudos de viabilidade técnica, econômica e ambiental.</a:t>
            </a:r>
            <a:endParaRPr lang="pt-BR" sz="3600" b="1" dirty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744210" y="5615701"/>
            <a:ext cx="5502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Brasília</a:t>
            </a:r>
            <a:r>
              <a:rPr lang="pt-BR" sz="2400" b="1">
                <a:solidFill>
                  <a:schemeClr val="bg1"/>
                </a:solidFill>
              </a:rPr>
              <a:t>, 2026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44212" y="4711958"/>
            <a:ext cx="59000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Modelagem econômico-financeiro </a:t>
            </a:r>
          </a:p>
          <a:p>
            <a:pPr algn="ctr"/>
            <a:r>
              <a:rPr lang="pt-B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de contratos de arrendamento	</a:t>
            </a:r>
          </a:p>
        </p:txBody>
      </p:sp>
      <p:sp>
        <p:nvSpPr>
          <p:cNvPr id="5" name="Retângulo 4"/>
          <p:cNvSpPr/>
          <p:nvPr/>
        </p:nvSpPr>
        <p:spPr>
          <a:xfrm>
            <a:off x="0" y="6657120"/>
            <a:ext cx="23903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https://blog.cibleseguros.com.br/equilibrio-financeiro/</a:t>
            </a:r>
          </a:p>
        </p:txBody>
      </p:sp>
      <p:sp>
        <p:nvSpPr>
          <p:cNvPr id="9" name="Retângulo 8"/>
          <p:cNvSpPr/>
          <p:nvPr/>
        </p:nvSpPr>
        <p:spPr>
          <a:xfrm>
            <a:off x="9245600" y="6077366"/>
            <a:ext cx="2286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2400" b="1" dirty="0">
                <a:solidFill>
                  <a:schemeClr val="bg2">
                    <a:lumMod val="50000"/>
                  </a:schemeClr>
                </a:solidFill>
              </a:rPr>
              <a:t>Renildo Barros</a:t>
            </a:r>
          </a:p>
        </p:txBody>
      </p:sp>
    </p:spTree>
    <p:extLst>
      <p:ext uri="{BB962C8B-B14F-4D97-AF65-F5344CB8AC3E}">
        <p14:creationId xmlns:p14="http://schemas.microsoft.com/office/powerpoint/2010/main" val="88743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9"/>
          <p:cNvGraphicFramePr/>
          <p:nvPr>
            <p:extLst>
              <p:ext uri="{D42A27DB-BD31-4B8C-83A1-F6EECF244321}">
                <p14:modId xmlns:p14="http://schemas.microsoft.com/office/powerpoint/2010/main" val="3894993995"/>
              </p:ext>
            </p:extLst>
          </p:nvPr>
        </p:nvGraphicFramePr>
        <p:xfrm>
          <a:off x="526774" y="1268988"/>
          <a:ext cx="11002619" cy="50721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5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8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8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8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7025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Modelo Portuário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Conhecido como: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Regulamentação e Supervisão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Gestão de Áreas Comuns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Gestão de Áreas de Uso Restrito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Operação Portuária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1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Público 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port</a:t>
                      </a:r>
                      <a:endParaRPr sz="1800" i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22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Quase-Púbico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 port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 dirty="0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Público-Privado</a:t>
                      </a:r>
                      <a:endParaRPr sz="1600" u="none" strike="noStrike" cap="none" dirty="0">
                        <a:highlight>
                          <a:srgbClr val="FF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Landlord</a:t>
                      </a:r>
                      <a:r>
                        <a:rPr lang="pt-BR" sz="1800" u="none" strike="noStrike" cap="none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Público</a:t>
                      </a:r>
                      <a:endParaRPr sz="1600" u="none" strike="noStrike" cap="none" dirty="0">
                        <a:highlight>
                          <a:srgbClr val="FF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 dirty="0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 dirty="0">
                        <a:highlight>
                          <a:srgbClr val="FF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 dirty="0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 dirty="0">
                        <a:highlight>
                          <a:srgbClr val="FF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 dirty="0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 dirty="0">
                        <a:highlight>
                          <a:srgbClr val="FF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 dirty="0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 dirty="0">
                        <a:highlight>
                          <a:srgbClr val="FF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Quase-Privado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Landlord Privado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Pública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8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Privado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port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Privada</a:t>
                      </a: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193;p8">
            <a:extLst>
              <a:ext uri="{FF2B5EF4-FFF2-40B4-BE49-F238E27FC236}">
                <a16:creationId xmlns:a16="http://schemas.microsoft.com/office/drawing/2014/main" id="{11AB583F-8E41-B3D3-AA79-9728ADF5EAAB}"/>
              </a:ext>
            </a:extLst>
          </p:cNvPr>
          <p:cNvSpPr/>
          <p:nvPr/>
        </p:nvSpPr>
        <p:spPr>
          <a:xfrm>
            <a:off x="0" y="188640"/>
            <a:ext cx="12192000" cy="455019"/>
          </a:xfrm>
          <a:prstGeom prst="rect">
            <a:avLst/>
          </a:prstGeom>
          <a:solidFill>
            <a:srgbClr val="0070C0">
              <a:alpha val="0"/>
            </a:srgbClr>
          </a:solidFill>
          <a:ln>
            <a:noFill/>
          </a:ln>
        </p:spPr>
        <p:txBody>
          <a:bodyPr spcFirstLastPara="1" wrap="square" lIns="81600" tIns="42425" rIns="81600" bIns="42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Modelo de gestão dos portos</a:t>
            </a:r>
            <a:endParaRPr sz="1633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3E606EC-F07D-BE31-302B-30AD4B6AAFFF}"/>
              </a:ext>
            </a:extLst>
          </p:cNvPr>
          <p:cNvGraphicFramePr>
            <a:graphicFrameLocks noGrp="1"/>
          </p:cNvGraphicFramePr>
          <p:nvPr/>
        </p:nvGraphicFramePr>
        <p:xfrm>
          <a:off x="122208" y="743890"/>
          <a:ext cx="8141898" cy="5370220"/>
        </p:xfrm>
        <a:graphic>
          <a:graphicData uri="http://schemas.openxmlformats.org/drawingml/2006/table">
            <a:tbl>
              <a:tblPr/>
              <a:tblGrid>
                <a:gridCol w="1434809">
                  <a:extLst>
                    <a:ext uri="{9D8B030D-6E8A-4147-A177-3AD203B41FA5}">
                      <a16:colId xmlns:a16="http://schemas.microsoft.com/office/drawing/2014/main" val="1199082837"/>
                    </a:ext>
                  </a:extLst>
                </a:gridCol>
                <a:gridCol w="6707089">
                  <a:extLst>
                    <a:ext uri="{9D8B030D-6E8A-4147-A177-3AD203B41FA5}">
                      <a16:colId xmlns:a16="http://schemas.microsoft.com/office/drawing/2014/main" val="2114436920"/>
                    </a:ext>
                  </a:extLst>
                </a:gridCol>
              </a:tblGrid>
              <a:tr h="208743">
                <a:tc>
                  <a:txBody>
                    <a:bodyPr/>
                    <a:lstStyle/>
                    <a:p>
                      <a:r>
                        <a:rPr lang="pt-BR" sz="1400" b="1" dirty="0"/>
                        <a:t>Categoria</a:t>
                      </a:r>
                      <a:endParaRPr lang="pt-BR" sz="14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/>
                        <a:t>Exemplos</a:t>
                      </a:r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113674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r>
                        <a:rPr lang="pt-BR" sz="1400" b="1" dirty="0"/>
                        <a:t>Infraestrutura</a:t>
                      </a:r>
                      <a:endParaRPr lang="pt-BR" sz="14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Canais de Acesso</a:t>
                      </a:r>
                      <a:r>
                        <a:rPr lang="pt-BR" sz="1400" dirty="0"/>
                        <a:t> - Drenagem e dragagem para acesso de navios.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038975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Bacias de Evolução</a:t>
                      </a:r>
                      <a:r>
                        <a:rPr lang="pt-BR" sz="1400" dirty="0"/>
                        <a:t> - Áreas para manobras de navios.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75806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Berços de Atracação</a:t>
                      </a:r>
                      <a:r>
                        <a:rPr lang="pt-BR" sz="1400" dirty="0"/>
                        <a:t> - Locais para operações de carga e descarga.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468508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Cais e Píeres</a:t>
                      </a:r>
                      <a:r>
                        <a:rPr lang="pt-BR" sz="1400" dirty="0"/>
                        <a:t> - Estruturas para acesso dos navios às instalações.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349600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Estradas e Ferrovias Internas</a:t>
                      </a:r>
                      <a:r>
                        <a:rPr lang="pt-BR" sz="1400" dirty="0"/>
                        <a:t> - Conexão terrestre dentro do porto.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073573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Redes de Energia e Abastecimento</a:t>
                      </a:r>
                      <a:r>
                        <a:rPr lang="pt-BR" sz="1400" dirty="0"/>
                        <a:t> - Linhas de energia e sistemas de água.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781066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/>
                        <a:t>Sistemas de Drenagem e Controle Ambiental</a:t>
                      </a:r>
                      <a:r>
                        <a:rPr lang="pt-BR" sz="1400"/>
                        <a:t> - Esgoto e controle de resíduos.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291210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r>
                        <a:rPr lang="pt-BR" sz="1400" b="1"/>
                        <a:t>Superestrutura</a:t>
                      </a:r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Armazéns e Silos</a:t>
                      </a:r>
                      <a:r>
                        <a:rPr lang="pt-BR" sz="1400" dirty="0"/>
                        <a:t> - Para armazenamento de cargas gerais ou específicas.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013536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Guindastes e Equipamentos de Movimentação</a:t>
                      </a:r>
                      <a:r>
                        <a:rPr lang="pt-BR" sz="1400" dirty="0"/>
                        <a:t> - Guindastes, RTGs, </a:t>
                      </a:r>
                      <a:r>
                        <a:rPr lang="pt-BR" sz="1400" dirty="0" err="1"/>
                        <a:t>MHCs</a:t>
                      </a:r>
                      <a:r>
                        <a:rPr lang="pt-BR" sz="1400" dirty="0"/>
                        <a:t>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20914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Esteiras e Correias Transportadoras</a:t>
                      </a:r>
                      <a:r>
                        <a:rPr lang="pt-BR" sz="1400" dirty="0"/>
                        <a:t> - Transporte de granéis sólidos.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813470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Portêineres</a:t>
                      </a:r>
                      <a:r>
                        <a:rPr lang="pt-BR" sz="1400" dirty="0"/>
                        <a:t> - Guindastes especializados para contêineres.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842586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Pátios de Contêineres e Veículos</a:t>
                      </a:r>
                      <a:r>
                        <a:rPr lang="pt-BR" sz="1400" dirty="0"/>
                        <a:t> - Áreas de armazenagem temporária.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7674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Instalações de Abastecimento</a:t>
                      </a:r>
                      <a:r>
                        <a:rPr lang="pt-BR" sz="1400" dirty="0"/>
                        <a:t> - Tanques e bombas para combustível.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279448"/>
                  </a:ext>
                </a:extLst>
              </a:tr>
              <a:tr h="365300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Sistemas de TI e Controle Operacional</a:t>
                      </a:r>
                      <a:r>
                        <a:rPr lang="pt-BR" sz="1400" dirty="0"/>
                        <a:t> - Gestão portuária e automação.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488917"/>
                  </a:ext>
                </a:extLst>
              </a:tr>
            </a:tbl>
          </a:graphicData>
        </a:graphic>
      </p:graphicFrame>
      <p:pic>
        <p:nvPicPr>
          <p:cNvPr id="5" name="Imagem 4" descr="Ponte e prédios ao fundo&#10;&#10;Descrição gerada automaticamente">
            <a:extLst>
              <a:ext uri="{FF2B5EF4-FFF2-40B4-BE49-F238E27FC236}">
                <a16:creationId xmlns:a16="http://schemas.microsoft.com/office/drawing/2014/main" id="{1C3C78E1-1F66-322F-5CFD-87D1014A8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143" y="0"/>
            <a:ext cx="3918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9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C758-02DE-33F4-804A-C699B436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ço Reservado para Imagem 12" descr="Vista aérea de cidade com prédios e água ao fundo&#10;&#10;Descrição gerada automaticamente">
            <a:extLst>
              <a:ext uri="{FF2B5EF4-FFF2-40B4-BE49-F238E27FC236}">
                <a16:creationId xmlns:a16="http://schemas.microsoft.com/office/drawing/2014/main" id="{1F9B627A-8F22-9892-11E9-4AEE2A0A99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C0CA09-D180-F3CC-0D8D-C7D23875D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0" y="319484"/>
            <a:ext cx="5960084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Lei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nº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8.630/1993 – 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Arrendamentos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ao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Setor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Privado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ES" altLang="es-ES" b="1" dirty="0" err="1">
                <a:latin typeface="Arial" panose="020B0604020202020204" pitchFamily="34" charset="0"/>
              </a:rPr>
              <a:t>Arrendamentos</a:t>
            </a:r>
            <a:r>
              <a:rPr lang="es-ES" altLang="es-ES" b="1" dirty="0">
                <a:latin typeface="Arial" panose="020B0604020202020204" pitchFamily="34" charset="0"/>
              </a:rPr>
              <a:t> em Portos Organizados: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concessão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arrendamento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áreas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portuárias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setor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privado.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arrendamentos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realizados por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licitação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pública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Competências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diretrizes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regula os contratos de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arrendamento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Estabelece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obrigações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prazos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os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arrendatários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Fomento à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Modernização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Visa modernizar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portuária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atrair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investimentos privados.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Transferência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operação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manutenção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os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arrendatários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Supervisão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Regulação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Fiscalização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pelas Autoridades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Portuárias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posteriormente pela ANTAQ.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Incentivo à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Competitividade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Promove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concorrência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eficiência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serviços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portuários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09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F83F-5E8C-F1C7-E61C-F55EBA05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asso a passo para você encontrar o equilíbrio financeiro">
            <a:extLst>
              <a:ext uri="{FF2B5EF4-FFF2-40B4-BE49-F238E27FC236}">
                <a16:creationId xmlns:a16="http://schemas.microsoft.com/office/drawing/2014/main" id="{DBC976DC-DEA3-854F-65AD-7A6D4440F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459" y="1203267"/>
            <a:ext cx="7589969" cy="437882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95DF015-6404-1207-5B19-65598F2BF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28" y="153155"/>
            <a:ext cx="3916392" cy="680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Lei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nº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12.815/2013 – 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Principais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Novidades</a:t>
            </a:r>
            <a:endParaRPr kumimoji="0" lang="es-ES" altLang="es-ES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ES" altLang="es-ES" sz="2000" b="1" dirty="0" err="1">
                <a:latin typeface="Arial" panose="020B0604020202020204" pitchFamily="34" charset="0"/>
              </a:rPr>
              <a:t>Centralização</a:t>
            </a:r>
            <a:r>
              <a:rPr lang="es-ES" altLang="es-ES" sz="2000" b="1" dirty="0">
                <a:latin typeface="Arial" panose="020B0604020202020204" pitchFamily="34" charset="0"/>
              </a:rPr>
              <a:t>: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Poder Executivo Federal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responsável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pela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outorga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arrendamentos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Licitações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Simplificadas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Flexibilidade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prévia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atrair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investimentos.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Eficiência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Competitividade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Critérios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priorizam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maior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movimentação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uso eficiente.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Arrendamentos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Regulamenta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arrendamentos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facilita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terminais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privados.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Papel da ANTAQ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Fiscalização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supervisão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reforçadas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Extensão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Contratual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Permite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prorrogação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contratos, inclusive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antecipadas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em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benefício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interesse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público.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ângulo Arredondado 41"/>
          <p:cNvSpPr/>
          <p:nvPr/>
        </p:nvSpPr>
        <p:spPr>
          <a:xfrm>
            <a:off x="8195328" y="5287396"/>
            <a:ext cx="3309631" cy="62354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195328" y="5244338"/>
            <a:ext cx="33874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Estudos de caso</a:t>
            </a:r>
          </a:p>
        </p:txBody>
      </p:sp>
      <p:sp>
        <p:nvSpPr>
          <p:cNvPr id="40" name="Retângulo Arredondado 39"/>
          <p:cNvSpPr/>
          <p:nvPr/>
        </p:nvSpPr>
        <p:spPr>
          <a:xfrm>
            <a:off x="8313470" y="3473427"/>
            <a:ext cx="3061668" cy="129169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313469" y="3398201"/>
            <a:ext cx="31511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O modelo do </a:t>
            </a:r>
          </a:p>
          <a:p>
            <a:r>
              <a:rPr lang="pt-BR" sz="4000" dirty="0">
                <a:solidFill>
                  <a:schemeClr val="bg1"/>
                </a:solidFill>
              </a:rPr>
              <a:t>fluxo de caixa</a:t>
            </a:r>
          </a:p>
        </p:txBody>
      </p:sp>
      <p:sp>
        <p:nvSpPr>
          <p:cNvPr id="41" name="Retângulo Arredondado 40"/>
          <p:cNvSpPr/>
          <p:nvPr/>
        </p:nvSpPr>
        <p:spPr>
          <a:xfrm>
            <a:off x="4178795" y="4415364"/>
            <a:ext cx="3542262" cy="20041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127953" y="4401961"/>
            <a:ext cx="36439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Metodologia do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cálculo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do equilíbrio</a:t>
            </a:r>
          </a:p>
        </p:txBody>
      </p:sp>
      <p:sp>
        <p:nvSpPr>
          <p:cNvPr id="38" name="Retângulo Arredondado 37"/>
          <p:cNvSpPr/>
          <p:nvPr/>
        </p:nvSpPr>
        <p:spPr>
          <a:xfrm>
            <a:off x="7240239" y="2205547"/>
            <a:ext cx="4780590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7240239" y="2157236"/>
            <a:ext cx="4883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O contexto institucional</a:t>
            </a:r>
          </a:p>
        </p:txBody>
      </p:sp>
      <p:sp>
        <p:nvSpPr>
          <p:cNvPr id="39" name="Retângulo Arredondado 38"/>
          <p:cNvSpPr/>
          <p:nvPr/>
        </p:nvSpPr>
        <p:spPr>
          <a:xfrm>
            <a:off x="4423734" y="2789131"/>
            <a:ext cx="2778034" cy="124910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4423733" y="2714794"/>
            <a:ext cx="28216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Fatores de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desequilíbrio</a:t>
            </a:r>
          </a:p>
        </p:txBody>
      </p:sp>
      <p:sp>
        <p:nvSpPr>
          <p:cNvPr id="37" name="Retângulo Arredondado 36"/>
          <p:cNvSpPr/>
          <p:nvPr/>
        </p:nvSpPr>
        <p:spPr>
          <a:xfrm>
            <a:off x="5353179" y="1150178"/>
            <a:ext cx="4402167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5353178" y="1089289"/>
            <a:ext cx="4402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do equilíbrio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303122"/>
            <a:ext cx="29597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Programa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4241" y="2970043"/>
            <a:ext cx="31655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dirty="0">
                <a:solidFill>
                  <a:srgbClr val="FFC000"/>
                </a:solidFill>
              </a:rPr>
              <a:t>Trabalho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71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486" y="761972"/>
            <a:ext cx="3211186" cy="2862262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9224" y="2320760"/>
            <a:ext cx="2781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Principais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4241" y="3179593"/>
            <a:ext cx="33443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Referências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486" y="4260850"/>
            <a:ext cx="3259014" cy="1759205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4342809" y="3453337"/>
            <a:ext cx="31057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/>
              <a:t>https://sophia.antaq.gov.br/Terminal/Busca/Download?codigoArquivo=40797&amp;tipoMidia=0</a:t>
            </a:r>
          </a:p>
        </p:txBody>
      </p:sp>
      <p:sp>
        <p:nvSpPr>
          <p:cNvPr id="9" name="Retângulo 8"/>
          <p:cNvSpPr/>
          <p:nvPr/>
        </p:nvSpPr>
        <p:spPr>
          <a:xfrm>
            <a:off x="4270845" y="6020055"/>
            <a:ext cx="32496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hlinkClick r:id="rId5"/>
              </a:rPr>
              <a:t>http://web.antaq.gov.br/Sistemas/WebServiceLeilao/DocumentoUpload/Audiencia%2044/Nota_Tecnica_WACC.pdf</a:t>
            </a:r>
            <a:endParaRPr lang="pt-BR" sz="1400" dirty="0"/>
          </a:p>
        </p:txBody>
      </p:sp>
      <p:sp>
        <p:nvSpPr>
          <p:cNvPr id="11" name="Retângulo 10"/>
          <p:cNvSpPr/>
          <p:nvPr/>
        </p:nvSpPr>
        <p:spPr>
          <a:xfrm>
            <a:off x="7996030" y="4362993"/>
            <a:ext cx="30503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/>
              <a:t>https://juris.antaq.gov.br/index.php/2022/08/22/85-2022/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F59773-0B6D-1352-A48C-070462346D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7577" y="3282345"/>
            <a:ext cx="3182471" cy="108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61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Arredondado 36"/>
          <p:cNvSpPr/>
          <p:nvPr/>
        </p:nvSpPr>
        <p:spPr>
          <a:xfrm>
            <a:off x="5392509" y="1342089"/>
            <a:ext cx="5710113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5757186" y="1277533"/>
            <a:ext cx="488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caso do pão francês</a:t>
            </a:r>
          </a:p>
        </p:txBody>
      </p:sp>
      <p:pic>
        <p:nvPicPr>
          <p:cNvPr id="5122" name="Picture 2" descr="Supermercado Online Delivery - Padaria Nossa Padaria Pão Francês Unida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155" y="3687783"/>
            <a:ext cx="2235239" cy="223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4256774" y="2220155"/>
            <a:ext cx="78901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Contrato: 001/2002</a:t>
            </a:r>
          </a:p>
          <a:p>
            <a:r>
              <a:rPr lang="pt-BR" sz="4000" dirty="0"/>
              <a:t>Objeto: fornecimento de pão francês </a:t>
            </a:r>
          </a:p>
          <a:p>
            <a:r>
              <a:rPr lang="pt-BR" sz="4000" dirty="0"/>
              <a:t>Prazo: 5 anos</a:t>
            </a:r>
          </a:p>
          <a:p>
            <a:r>
              <a:rPr lang="pt-BR" sz="4000" dirty="0">
                <a:solidFill>
                  <a:srgbClr val="7030A0"/>
                </a:solidFill>
              </a:rPr>
              <a:t>Valor unitário: R$ 1,00</a:t>
            </a:r>
          </a:p>
          <a:p>
            <a:r>
              <a:rPr lang="pt-BR" sz="4000" dirty="0"/>
              <a:t>Reajuste: IGP-M, 1x </a:t>
            </a:r>
            <a:r>
              <a:rPr lang="pt-BR" sz="4000" dirty="0" err="1"/>
              <a:t>a.a</a:t>
            </a:r>
            <a:endParaRPr lang="pt-BR" sz="4000" dirty="0"/>
          </a:p>
          <a:p>
            <a:r>
              <a:rPr lang="pt-BR" sz="4000" dirty="0"/>
              <a:t>Volume mínimo: 1.000 </a:t>
            </a:r>
            <a:r>
              <a:rPr lang="pt-BR" sz="4000" dirty="0" err="1"/>
              <a:t>a.a</a:t>
            </a:r>
            <a:endParaRPr lang="pt-BR" sz="4000" dirty="0"/>
          </a:p>
          <a:p>
            <a:r>
              <a:rPr lang="pt-BR" sz="4000" dirty="0">
                <a:solidFill>
                  <a:srgbClr val="7030A0"/>
                </a:solidFill>
              </a:rPr>
              <a:t>Tempo: T = 0</a:t>
            </a:r>
          </a:p>
          <a:p>
            <a:endParaRPr lang="pt-BR" sz="4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1974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Vamos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28520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Esquentar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0" y="6657120"/>
            <a:ext cx="36808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https://www.redeultramercado.com.br/padaria/nossa-padaria/pao-frances-unidade.html</a:t>
            </a:r>
          </a:p>
        </p:txBody>
      </p:sp>
    </p:spTree>
    <p:extLst>
      <p:ext uri="{BB962C8B-B14F-4D97-AF65-F5344CB8AC3E}">
        <p14:creationId xmlns:p14="http://schemas.microsoft.com/office/powerpoint/2010/main" val="192431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upermercado Online Delivery - Padaria Nossa Padaria Pão Francês Unida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155" y="3687783"/>
            <a:ext cx="2235239" cy="223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4239842" y="2220155"/>
            <a:ext cx="78901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Contrato: 001/2002</a:t>
            </a:r>
          </a:p>
          <a:p>
            <a:r>
              <a:rPr lang="pt-BR" sz="4000" dirty="0"/>
              <a:t>Objeto: fornecimento de pão francês </a:t>
            </a:r>
          </a:p>
          <a:p>
            <a:r>
              <a:rPr lang="pt-BR" sz="4000" dirty="0"/>
              <a:t>Prazo: 5 anos</a:t>
            </a:r>
          </a:p>
          <a:p>
            <a:r>
              <a:rPr lang="pt-BR" sz="4000" dirty="0">
                <a:solidFill>
                  <a:srgbClr val="7030A0"/>
                </a:solidFill>
              </a:rPr>
              <a:t>Valor unitário: R$ 2,00, 100% </a:t>
            </a:r>
          </a:p>
          <a:p>
            <a:r>
              <a:rPr lang="pt-BR" sz="4000" dirty="0"/>
              <a:t>Reajuste: IGP-M = 100%</a:t>
            </a:r>
          </a:p>
          <a:p>
            <a:r>
              <a:rPr lang="pt-BR" sz="4000" dirty="0">
                <a:solidFill>
                  <a:srgbClr val="FF0000"/>
                </a:solidFill>
              </a:rPr>
              <a:t>Volume entregue: 2.000</a:t>
            </a:r>
          </a:p>
          <a:p>
            <a:r>
              <a:rPr lang="pt-BR" sz="4000" dirty="0">
                <a:solidFill>
                  <a:srgbClr val="7030A0"/>
                </a:solidFill>
              </a:rPr>
              <a:t>Tempo: T = 1</a:t>
            </a:r>
          </a:p>
          <a:p>
            <a:endParaRPr lang="pt-BR" sz="4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1974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Vamos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31502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solidFill>
                  <a:srgbClr val="FFC000"/>
                </a:solidFill>
              </a:rPr>
              <a:t>Esquentar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6808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https://www.redeultramercado.com.br/padaria/nossa-padaria/pao-frances-unidade.html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5392509" y="1342089"/>
            <a:ext cx="5710113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757186" y="1277533"/>
            <a:ext cx="488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caso do pão francês</a:t>
            </a:r>
          </a:p>
        </p:txBody>
      </p:sp>
    </p:spTree>
    <p:extLst>
      <p:ext uri="{BB962C8B-B14F-4D97-AF65-F5344CB8AC3E}">
        <p14:creationId xmlns:p14="http://schemas.microsoft.com/office/powerpoint/2010/main" val="3003342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upermercado Online Delivery - Padaria Nossa Padaria Pão Francês Unida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155" y="3687783"/>
            <a:ext cx="2235239" cy="223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4256774" y="2220155"/>
            <a:ext cx="78901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Contrato: 001/2002</a:t>
            </a:r>
          </a:p>
          <a:p>
            <a:r>
              <a:rPr lang="pt-BR" sz="4000" dirty="0"/>
              <a:t>Objeto: fornecimento de pão francês </a:t>
            </a:r>
          </a:p>
          <a:p>
            <a:r>
              <a:rPr lang="pt-BR" sz="4000" dirty="0"/>
              <a:t>Prazo: 5 anos</a:t>
            </a:r>
          </a:p>
          <a:p>
            <a:r>
              <a:rPr lang="pt-BR" sz="4000" dirty="0">
                <a:solidFill>
                  <a:srgbClr val="7030A0"/>
                </a:solidFill>
              </a:rPr>
              <a:t>Valor unitário: R$ 3,00, 50%</a:t>
            </a:r>
          </a:p>
          <a:p>
            <a:r>
              <a:rPr lang="pt-BR" sz="4000" dirty="0"/>
              <a:t>Reajuste: IGP-M = 50%</a:t>
            </a:r>
          </a:p>
          <a:p>
            <a:r>
              <a:rPr lang="pt-BR" sz="4000" dirty="0">
                <a:solidFill>
                  <a:srgbClr val="FF0000"/>
                </a:solidFill>
              </a:rPr>
              <a:t>Volume entregue: 900</a:t>
            </a:r>
          </a:p>
          <a:p>
            <a:r>
              <a:rPr lang="pt-BR" sz="4000" dirty="0">
                <a:solidFill>
                  <a:srgbClr val="7030A0"/>
                </a:solidFill>
              </a:rPr>
              <a:t>Tempo: T = 2</a:t>
            </a:r>
          </a:p>
          <a:p>
            <a:endParaRPr lang="pt-BR" sz="4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1974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Vamos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3198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solidFill>
                  <a:srgbClr val="FFC000"/>
                </a:solidFill>
              </a:rPr>
              <a:t>Esquentar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6808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https://www.redeultramercado.com.br/padaria/nossa-padaria/pao-frances-unidade.html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5392509" y="1342089"/>
            <a:ext cx="5710113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757186" y="1277533"/>
            <a:ext cx="488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caso do pão francês</a:t>
            </a:r>
          </a:p>
        </p:txBody>
      </p:sp>
    </p:spTree>
    <p:extLst>
      <p:ext uri="{BB962C8B-B14F-4D97-AF65-F5344CB8AC3E}">
        <p14:creationId xmlns:p14="http://schemas.microsoft.com/office/powerpoint/2010/main" val="460259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upermercado Online Delivery - Padaria Nossa Padaria Pão Francês Unida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155" y="3687783"/>
            <a:ext cx="2235239" cy="223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4256774" y="2220155"/>
            <a:ext cx="78901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Contrato: 001/2002</a:t>
            </a:r>
          </a:p>
          <a:p>
            <a:r>
              <a:rPr lang="pt-BR" sz="4000" dirty="0"/>
              <a:t>Objeto: fornecimento de pão francês </a:t>
            </a:r>
          </a:p>
          <a:p>
            <a:r>
              <a:rPr lang="pt-BR" sz="4000" dirty="0"/>
              <a:t>Prazo: 5 anos</a:t>
            </a:r>
          </a:p>
          <a:p>
            <a:r>
              <a:rPr lang="pt-BR" sz="4000" dirty="0">
                <a:solidFill>
                  <a:srgbClr val="7030A0"/>
                </a:solidFill>
              </a:rPr>
              <a:t>Valor unitário: R$ 4,50, 50%</a:t>
            </a:r>
          </a:p>
          <a:p>
            <a:r>
              <a:rPr lang="pt-BR" sz="4000" dirty="0"/>
              <a:t>Reajuste: IGP-M = 100%</a:t>
            </a:r>
          </a:p>
          <a:p>
            <a:r>
              <a:rPr lang="pt-BR" sz="4000" dirty="0">
                <a:solidFill>
                  <a:srgbClr val="FF0000"/>
                </a:solidFill>
              </a:rPr>
              <a:t>Volume entregue: 1.100</a:t>
            </a:r>
          </a:p>
          <a:p>
            <a:r>
              <a:rPr lang="pt-BR" sz="4000" dirty="0">
                <a:solidFill>
                  <a:srgbClr val="7030A0"/>
                </a:solidFill>
              </a:rPr>
              <a:t>Tempo: T = 3</a:t>
            </a:r>
          </a:p>
          <a:p>
            <a:endParaRPr lang="pt-BR" sz="4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1974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Vamos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3198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solidFill>
                  <a:srgbClr val="FFC000"/>
                </a:solidFill>
              </a:rPr>
              <a:t>Esquentar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6808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https://www.redeultramercado.com.br/padaria/nossa-padaria/pao-frances-unidade.html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5392509" y="1342089"/>
            <a:ext cx="5710113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757186" y="1277533"/>
            <a:ext cx="488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caso do pão francês</a:t>
            </a:r>
          </a:p>
        </p:txBody>
      </p:sp>
    </p:spTree>
    <p:extLst>
      <p:ext uri="{BB962C8B-B14F-4D97-AF65-F5344CB8AC3E}">
        <p14:creationId xmlns:p14="http://schemas.microsoft.com/office/powerpoint/2010/main" val="2095550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upermercado Online Delivery - Padaria Nossa Padaria Pão Francês Unida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155" y="3687783"/>
            <a:ext cx="2235239" cy="223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4256774" y="2220155"/>
            <a:ext cx="78901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Contrato: 001/2002</a:t>
            </a:r>
          </a:p>
          <a:p>
            <a:r>
              <a:rPr lang="pt-BR" sz="4000" dirty="0"/>
              <a:t>Objeto: fornecimento de pão francês </a:t>
            </a:r>
          </a:p>
          <a:p>
            <a:r>
              <a:rPr lang="pt-BR" sz="4000" dirty="0"/>
              <a:t>Prazo: 5 anos</a:t>
            </a:r>
          </a:p>
          <a:p>
            <a:r>
              <a:rPr lang="pt-BR" sz="4000" dirty="0">
                <a:solidFill>
                  <a:srgbClr val="7030A0"/>
                </a:solidFill>
              </a:rPr>
              <a:t>Valor unitário: R$ 4,95, 10%</a:t>
            </a:r>
          </a:p>
          <a:p>
            <a:r>
              <a:rPr lang="pt-BR" sz="4000" dirty="0"/>
              <a:t>Reajuste: IGP-M = 0%</a:t>
            </a:r>
          </a:p>
          <a:p>
            <a:r>
              <a:rPr lang="pt-BR" sz="4000" dirty="0">
                <a:solidFill>
                  <a:srgbClr val="FF0000"/>
                </a:solidFill>
              </a:rPr>
              <a:t>Volume entregue: 500</a:t>
            </a:r>
          </a:p>
          <a:p>
            <a:r>
              <a:rPr lang="pt-BR" sz="4000" dirty="0">
                <a:solidFill>
                  <a:srgbClr val="7030A0"/>
                </a:solidFill>
              </a:rPr>
              <a:t>Tempo: T = 4</a:t>
            </a:r>
          </a:p>
          <a:p>
            <a:endParaRPr lang="pt-BR" sz="4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1974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Vamos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3198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solidFill>
                  <a:srgbClr val="FFC000"/>
                </a:solidFill>
              </a:rPr>
              <a:t>Esquentar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6808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https://www.redeultramercado.com.br/padaria/nossa-padaria/pao-frances-unidade.html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5392509" y="1342089"/>
            <a:ext cx="5710113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757186" y="1277533"/>
            <a:ext cx="488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caso do pão francês</a:t>
            </a:r>
          </a:p>
        </p:txBody>
      </p:sp>
    </p:spTree>
    <p:extLst>
      <p:ext uri="{BB962C8B-B14F-4D97-AF65-F5344CB8AC3E}">
        <p14:creationId xmlns:p14="http://schemas.microsoft.com/office/powerpoint/2010/main" val="98879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upermercado Online Delivery - Padaria Nossa Padaria Pão Francês Unida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155" y="3687783"/>
            <a:ext cx="2235239" cy="223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4256774" y="2220155"/>
            <a:ext cx="78901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Contrato: 001/2002</a:t>
            </a:r>
          </a:p>
          <a:p>
            <a:r>
              <a:rPr lang="pt-BR" sz="4000" dirty="0"/>
              <a:t>Objeto: fornecimento de pão francês </a:t>
            </a:r>
          </a:p>
          <a:p>
            <a:r>
              <a:rPr lang="pt-BR" sz="4000" dirty="0"/>
              <a:t>Prazo: 5 anos</a:t>
            </a:r>
          </a:p>
          <a:p>
            <a:r>
              <a:rPr lang="pt-BR" sz="4000" dirty="0">
                <a:solidFill>
                  <a:srgbClr val="7030A0"/>
                </a:solidFill>
              </a:rPr>
              <a:t>Valor unitário: R$ 8,42, 70%</a:t>
            </a:r>
          </a:p>
          <a:p>
            <a:r>
              <a:rPr lang="pt-BR" sz="4000" dirty="0"/>
              <a:t>Reajuste: IGP-M = 20%</a:t>
            </a:r>
          </a:p>
          <a:p>
            <a:r>
              <a:rPr lang="pt-BR" sz="4000" dirty="0">
                <a:solidFill>
                  <a:srgbClr val="FF0000"/>
                </a:solidFill>
              </a:rPr>
              <a:t>Volume entregue: 1.500</a:t>
            </a:r>
          </a:p>
          <a:p>
            <a:r>
              <a:rPr lang="pt-BR" sz="4000" dirty="0">
                <a:solidFill>
                  <a:srgbClr val="7030A0"/>
                </a:solidFill>
              </a:rPr>
              <a:t>Tempo: T = 5</a:t>
            </a:r>
          </a:p>
          <a:p>
            <a:endParaRPr lang="pt-BR" sz="4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1974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Vamos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3198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solidFill>
                  <a:srgbClr val="FFC000"/>
                </a:solidFill>
              </a:rPr>
              <a:t>Esquentar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6808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https://www.redeultramercado.com.br/padaria/nossa-padaria/pao-frances-unidade.html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5392509" y="1342089"/>
            <a:ext cx="5710113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757186" y="1277533"/>
            <a:ext cx="488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caso do pão francês</a:t>
            </a:r>
          </a:p>
        </p:txBody>
      </p:sp>
    </p:spTree>
    <p:extLst>
      <p:ext uri="{BB962C8B-B14F-4D97-AF65-F5344CB8AC3E}">
        <p14:creationId xmlns:p14="http://schemas.microsoft.com/office/powerpoint/2010/main" val="162540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373641"/>
              </p:ext>
            </p:extLst>
          </p:nvPr>
        </p:nvGraphicFramePr>
        <p:xfrm>
          <a:off x="4157566" y="2274653"/>
          <a:ext cx="7732887" cy="420878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1682804">
                  <a:extLst>
                    <a:ext uri="{9D8B030D-6E8A-4147-A177-3AD203B41FA5}">
                      <a16:colId xmlns:a16="http://schemas.microsoft.com/office/drawing/2014/main" val="4082562754"/>
                    </a:ext>
                  </a:extLst>
                </a:gridCol>
                <a:gridCol w="741235">
                  <a:extLst>
                    <a:ext uri="{9D8B030D-6E8A-4147-A177-3AD203B41FA5}">
                      <a16:colId xmlns:a16="http://schemas.microsoft.com/office/drawing/2014/main" val="1277698248"/>
                    </a:ext>
                  </a:extLst>
                </a:gridCol>
                <a:gridCol w="1041736">
                  <a:extLst>
                    <a:ext uri="{9D8B030D-6E8A-4147-A177-3AD203B41FA5}">
                      <a16:colId xmlns:a16="http://schemas.microsoft.com/office/drawing/2014/main" val="3279622287"/>
                    </a:ext>
                  </a:extLst>
                </a:gridCol>
                <a:gridCol w="1041736">
                  <a:extLst>
                    <a:ext uri="{9D8B030D-6E8A-4147-A177-3AD203B41FA5}">
                      <a16:colId xmlns:a16="http://schemas.microsoft.com/office/drawing/2014/main" val="1168743425"/>
                    </a:ext>
                  </a:extLst>
                </a:gridCol>
                <a:gridCol w="953485">
                  <a:extLst>
                    <a:ext uri="{9D8B030D-6E8A-4147-A177-3AD203B41FA5}">
                      <a16:colId xmlns:a16="http://schemas.microsoft.com/office/drawing/2014/main" val="404816546"/>
                    </a:ext>
                  </a:extLst>
                </a:gridCol>
                <a:gridCol w="1129987">
                  <a:extLst>
                    <a:ext uri="{9D8B030D-6E8A-4147-A177-3AD203B41FA5}">
                      <a16:colId xmlns:a16="http://schemas.microsoft.com/office/drawing/2014/main" val="4229880696"/>
                    </a:ext>
                  </a:extLst>
                </a:gridCol>
                <a:gridCol w="1141904">
                  <a:extLst>
                    <a:ext uri="{9D8B030D-6E8A-4147-A177-3AD203B41FA5}">
                      <a16:colId xmlns:a16="http://schemas.microsoft.com/office/drawing/2014/main" val="355598854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Rubrica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T = 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T = 1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T = 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T = 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T = 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T = 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45685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dirty="0">
                          <a:effectLst/>
                        </a:rPr>
                        <a:t>IGP-M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100%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50%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100%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0%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20%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61204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Valor devido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1,00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2,00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3,00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6,00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6,00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  7,20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4099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dirty="0">
                          <a:effectLst/>
                        </a:rPr>
                        <a:t>Valor pago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2,00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3,00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4,50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4,95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  8,42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033527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dirty="0">
                          <a:effectLst/>
                        </a:rPr>
                        <a:t>Volume</a:t>
                      </a:r>
                      <a:r>
                        <a:rPr lang="pt-BR" sz="1800" u="none" strike="noStrike" baseline="0" dirty="0">
                          <a:effectLst/>
                        </a:rPr>
                        <a:t> mínimo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>
                          <a:effectLst/>
                        </a:rPr>
                        <a:t>  1.000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1.000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1.000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1.000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>
                          <a:effectLst/>
                        </a:rPr>
                        <a:t>        1.000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1.000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43109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Volume entregue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>
                          <a:effectLst/>
                        </a:rPr>
                        <a:t>        2.000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 900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>
                          <a:effectLst/>
                        </a:rPr>
                        <a:t>        1.100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 500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1.500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189620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Receita devida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4.000,00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3.000,00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>
                          <a:effectLst/>
                        </a:rPr>
                        <a:t>6.600,00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6.000,00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10.800,00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54557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Receita paga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4.000,00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2.700,00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4.950,00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>
                          <a:effectLst/>
                        </a:rPr>
                        <a:t>2.475,00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12.622,50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255419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dirty="0">
                          <a:effectLst/>
                        </a:rPr>
                        <a:t>Desequilíbrio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>
                          <a:effectLst/>
                        </a:rPr>
                        <a:t>300,00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1.650,00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3.525,00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-1.822,50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82319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dirty="0">
                          <a:effectLst/>
                        </a:rPr>
                        <a:t>Desequilíbrio</a:t>
                      </a:r>
                      <a:r>
                        <a:rPr lang="pt-BR" sz="1800" u="none" strike="noStrike" baseline="0" dirty="0">
                          <a:effectLst/>
                        </a:rPr>
                        <a:t> a</a:t>
                      </a:r>
                      <a:r>
                        <a:rPr lang="pt-BR" sz="1800" u="none" strike="noStrike" dirty="0">
                          <a:effectLst/>
                        </a:rPr>
                        <a:t>cumulado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          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    300,00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1.950,00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  5.475,00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 </a:t>
                      </a:r>
                      <a:r>
                        <a:rPr lang="pt-BR" sz="20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3.652,50</a:t>
                      </a:r>
                      <a:r>
                        <a:rPr lang="pt-BR" sz="18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endParaRPr lang="pt-BR" sz="18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99657551"/>
                  </a:ext>
                </a:extLst>
              </a:tr>
            </a:tbl>
          </a:graphicData>
        </a:graphic>
      </p:graphicFrame>
      <p:pic>
        <p:nvPicPr>
          <p:cNvPr id="5122" name="Picture 2" descr="Supermercado Online Delivery - Padaria Nossa Padaria Pão Francês Unida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88" y="4139338"/>
            <a:ext cx="2235239" cy="223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69224" y="2416010"/>
            <a:ext cx="1974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Vamos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3198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solidFill>
                  <a:srgbClr val="FFC000"/>
                </a:solidFill>
              </a:rPr>
              <a:t>Esquentar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6808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https://www.redeultramercado.com.br/padaria/nossa-padaria/pao-frances-unidade.html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5392509" y="1342089"/>
            <a:ext cx="5710113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757186" y="1277533"/>
            <a:ext cx="488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caso do pão francês</a:t>
            </a:r>
          </a:p>
        </p:txBody>
      </p:sp>
    </p:spTree>
    <p:extLst>
      <p:ext uri="{BB962C8B-B14F-4D97-AF65-F5344CB8AC3E}">
        <p14:creationId xmlns:p14="http://schemas.microsoft.com/office/powerpoint/2010/main" val="1840788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Pilar de Sustentação | 3D Warehous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7" r="45150"/>
          <a:stretch/>
        </p:blipFill>
        <p:spPr bwMode="auto">
          <a:xfrm>
            <a:off x="9523714" y="1291614"/>
            <a:ext cx="840255" cy="492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69224" y="2416010"/>
            <a:ext cx="20249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Pilares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124167"/>
            <a:ext cx="23968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solidFill>
                  <a:srgbClr val="FFC000"/>
                </a:solidFill>
              </a:rPr>
              <a:t>Básicos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lar de Sustentação | 3D Warehous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7" r="45150"/>
          <a:stretch/>
        </p:blipFill>
        <p:spPr bwMode="auto">
          <a:xfrm>
            <a:off x="4784021" y="1273674"/>
            <a:ext cx="840255" cy="492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 rot="16200000">
            <a:off x="2515916" y="3428795"/>
            <a:ext cx="3739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Segurança jurídica</a:t>
            </a:r>
          </a:p>
        </p:txBody>
      </p:sp>
      <p:sp>
        <p:nvSpPr>
          <p:cNvPr id="16" name="CaixaDeTexto 15"/>
          <p:cNvSpPr txBox="1"/>
          <p:nvPr/>
        </p:nvSpPr>
        <p:spPr>
          <a:xfrm rot="16200000">
            <a:off x="4874070" y="3513430"/>
            <a:ext cx="214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Data-base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5705495" y="3432035"/>
            <a:ext cx="3629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Justa remuneração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0" y="6657120"/>
            <a:ext cx="515076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https://3dwarehouse.sketchup.com/model/29735c29cd4d6d6d7098fe9e235fa1/Pilar-de-Sustenta%C3%A7%C3%A3o?hl=pt-br</a:t>
            </a:r>
          </a:p>
        </p:txBody>
      </p:sp>
      <p:sp>
        <p:nvSpPr>
          <p:cNvPr id="21" name="CaixaDeTexto 20"/>
          <p:cNvSpPr txBox="1"/>
          <p:nvPr/>
        </p:nvSpPr>
        <p:spPr>
          <a:xfrm rot="16200000">
            <a:off x="7091003" y="3359346"/>
            <a:ext cx="4136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Solução “</a:t>
            </a:r>
            <a:r>
              <a:rPr lang="pt-BR" sz="3600" i="1" dirty="0" err="1"/>
              <a:t>tailor</a:t>
            </a:r>
            <a:r>
              <a:rPr lang="pt-BR" sz="3600" i="1" dirty="0"/>
              <a:t> </a:t>
            </a:r>
            <a:r>
              <a:rPr lang="pt-BR" sz="3600" i="1" dirty="0" err="1"/>
              <a:t>made</a:t>
            </a:r>
            <a:r>
              <a:rPr lang="pt-BR" sz="3600" dirty="0"/>
              <a:t>”</a:t>
            </a:r>
          </a:p>
        </p:txBody>
      </p:sp>
      <p:pic>
        <p:nvPicPr>
          <p:cNvPr id="22" name="Picture 2" descr="Pilar de Sustentação | 3D Warehous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7" r="45150"/>
          <a:stretch/>
        </p:blipFill>
        <p:spPr bwMode="auto">
          <a:xfrm>
            <a:off x="6246084" y="1273674"/>
            <a:ext cx="840255" cy="492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Pilar de Sustentação | 3D Warehous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7" r="45150"/>
          <a:stretch/>
        </p:blipFill>
        <p:spPr bwMode="auto">
          <a:xfrm>
            <a:off x="7884899" y="1273674"/>
            <a:ext cx="840255" cy="492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Pilar de Sustentação | 3D Warehous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7" r="45150"/>
          <a:stretch/>
        </p:blipFill>
        <p:spPr bwMode="auto">
          <a:xfrm>
            <a:off x="11093322" y="1273674"/>
            <a:ext cx="840255" cy="492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ixaDeTexto 28"/>
          <p:cNvSpPr txBox="1"/>
          <p:nvPr/>
        </p:nvSpPr>
        <p:spPr>
          <a:xfrm rot="16200000">
            <a:off x="9351635" y="3341406"/>
            <a:ext cx="2754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Transparência</a:t>
            </a:r>
          </a:p>
        </p:txBody>
      </p:sp>
    </p:spTree>
    <p:extLst>
      <p:ext uri="{BB962C8B-B14F-4D97-AF65-F5344CB8AC3E}">
        <p14:creationId xmlns:p14="http://schemas.microsoft.com/office/powerpoint/2010/main" val="969630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Arredondado 8"/>
          <p:cNvSpPr/>
          <p:nvPr/>
        </p:nvSpPr>
        <p:spPr>
          <a:xfrm>
            <a:off x="6089567" y="3046286"/>
            <a:ext cx="4402167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6092780" y="2985397"/>
            <a:ext cx="4395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Vinculação ao edital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2060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Pilares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124167"/>
            <a:ext cx="4665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C000"/>
                </a:solidFill>
              </a:rPr>
              <a:t>Segurança jurídica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9"/>
          <p:cNvSpPr/>
          <p:nvPr/>
        </p:nvSpPr>
        <p:spPr>
          <a:xfrm>
            <a:off x="0" y="6657120"/>
            <a:ext cx="115435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http://www.conteudojuridico.com.br/consulta/Artigos/22475/principio-da-seguranca-juridica#:~:text=O%20Princ%C3%ADpio%20da%20Seguran%C3%A7a%20Jur%C3%ADdica%20n%C3%A3o%20est%C3%A1%20na%20nossa%20Constitui%C3%A7%C3%A3o,fala%20a%20respeito%20do%20ato</a:t>
            </a:r>
          </a:p>
        </p:txBody>
      </p:sp>
      <p:sp>
        <p:nvSpPr>
          <p:cNvPr id="2" name="Retângulo 1"/>
          <p:cNvSpPr/>
          <p:nvPr/>
        </p:nvSpPr>
        <p:spPr>
          <a:xfrm>
            <a:off x="4855009" y="1123349"/>
            <a:ext cx="70651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/>
            <a:r>
              <a:rPr lang="pt-BR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princípio da Segurança Jurídica tem o intuito de trazer estabilidade para as relações jurídicas.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4713741" y="3922528"/>
            <a:ext cx="70651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/>
            <a:r>
              <a:rPr lang="pt-BR" sz="3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“A segurança jurídica advém da certeza da mudança”</a:t>
            </a:r>
          </a:p>
          <a:p>
            <a:pPr indent="449580"/>
            <a:r>
              <a:rPr lang="pt-BR" sz="1200" dirty="0">
                <a:ln w="0"/>
              </a:rPr>
              <a:t>Professor </a:t>
            </a:r>
            <a:r>
              <a:rPr lang="pt-BR" sz="1200" dirty="0" err="1">
                <a:ln w="0"/>
              </a:rPr>
              <a:t>Egon</a:t>
            </a:r>
            <a:r>
              <a:rPr lang="pt-BR" sz="1200" dirty="0">
                <a:ln w="0"/>
              </a:rPr>
              <a:t> </a:t>
            </a:r>
            <a:r>
              <a:rPr lang="pt-BR" sz="1200" dirty="0" err="1">
                <a:ln w="0"/>
              </a:rPr>
              <a:t>Bockmann</a:t>
            </a:r>
            <a:r>
              <a:rPr lang="pt-BR" sz="1200" dirty="0">
                <a:ln w="0"/>
              </a:rPr>
              <a:t>, UFPR</a:t>
            </a:r>
          </a:p>
        </p:txBody>
      </p:sp>
    </p:spTree>
    <p:extLst>
      <p:ext uri="{BB962C8B-B14F-4D97-AF65-F5344CB8AC3E}">
        <p14:creationId xmlns:p14="http://schemas.microsoft.com/office/powerpoint/2010/main" val="1655611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9224" y="2416010"/>
            <a:ext cx="2060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Pilares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124167"/>
            <a:ext cx="23679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FFC000"/>
                </a:solidFill>
              </a:rPr>
              <a:t>Data-base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5270340" y="136742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/>
            <a:r>
              <a:rPr lang="pt-BR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Referência dos valores do EVTEA para fins de verificação de preços, custos, despesas, projeção de demanda. </a:t>
            </a:r>
          </a:p>
        </p:txBody>
      </p:sp>
      <p:sp>
        <p:nvSpPr>
          <p:cNvPr id="11" name="Retângulo Arredondado 10"/>
          <p:cNvSpPr/>
          <p:nvPr/>
        </p:nvSpPr>
        <p:spPr>
          <a:xfrm>
            <a:off x="6232855" y="4412389"/>
            <a:ext cx="4402167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6289059" y="4351500"/>
            <a:ext cx="4289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i="1" dirty="0">
                <a:solidFill>
                  <a:schemeClr val="bg1"/>
                </a:solidFill>
              </a:rPr>
              <a:t>“tempus </a:t>
            </a:r>
            <a:r>
              <a:rPr lang="pt-BR" sz="4000" i="1" dirty="0" err="1">
                <a:solidFill>
                  <a:schemeClr val="bg1"/>
                </a:solidFill>
              </a:rPr>
              <a:t>regit</a:t>
            </a:r>
            <a:r>
              <a:rPr lang="pt-BR" sz="4000" i="1" dirty="0">
                <a:solidFill>
                  <a:schemeClr val="bg1"/>
                </a:solidFill>
              </a:rPr>
              <a:t> </a:t>
            </a:r>
            <a:r>
              <a:rPr lang="pt-BR" sz="4000" i="1" dirty="0" err="1">
                <a:solidFill>
                  <a:schemeClr val="bg1"/>
                </a:solidFill>
              </a:rPr>
              <a:t>actum</a:t>
            </a:r>
            <a:r>
              <a:rPr lang="pt-BR" sz="4000" i="1" dirty="0">
                <a:solidFill>
                  <a:schemeClr val="bg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5755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Arredondado 9"/>
          <p:cNvSpPr/>
          <p:nvPr/>
        </p:nvSpPr>
        <p:spPr>
          <a:xfrm>
            <a:off x="4781631" y="4334716"/>
            <a:ext cx="6987036" cy="98399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2060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Pilares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124167"/>
            <a:ext cx="4250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C000"/>
                </a:solidFill>
              </a:rPr>
              <a:t>Justa remuneração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781631" y="1416624"/>
            <a:ext cx="706518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/>
            <a:r>
              <a:rPr 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É o equilíbrio entre os encargos do contrato e a retribuição da administração, devendo ser mantidas suas condições originais. </a:t>
            </a:r>
          </a:p>
        </p:txBody>
      </p:sp>
      <p:sp>
        <p:nvSpPr>
          <p:cNvPr id="3" name="Retângulo 2"/>
          <p:cNvSpPr/>
          <p:nvPr/>
        </p:nvSpPr>
        <p:spPr>
          <a:xfrm>
            <a:off x="4837244" y="4395380"/>
            <a:ext cx="68523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solidFill>
                  <a:schemeClr val="bg1"/>
                </a:solidFill>
                <a:latin typeface="Merriweather"/>
              </a:rPr>
              <a:t>Lei 8.987/1995 - Art. 10º. Sempre que forem atendidas as condições do contrato, considera-se mantido seu equilíbrio econômico-financeiro.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0" y="6657120"/>
            <a:ext cx="230223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Lei 8.666/93, art. 65, d) c/c Lei 8.987/95, art. 10º.</a:t>
            </a:r>
          </a:p>
        </p:txBody>
      </p:sp>
    </p:spTree>
    <p:extLst>
      <p:ext uri="{BB962C8B-B14F-4D97-AF65-F5344CB8AC3E}">
        <p14:creationId xmlns:p14="http://schemas.microsoft.com/office/powerpoint/2010/main" val="1095752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Arredondado 9"/>
          <p:cNvSpPr/>
          <p:nvPr/>
        </p:nvSpPr>
        <p:spPr>
          <a:xfrm>
            <a:off x="5356578" y="4879725"/>
            <a:ext cx="6028267" cy="98399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2060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Pilares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124167"/>
            <a:ext cx="29450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FFC000"/>
                </a:solidFill>
              </a:rPr>
              <a:t>Solução </a:t>
            </a:r>
          </a:p>
          <a:p>
            <a:r>
              <a:rPr lang="pt-BR" sz="4000" i="1" dirty="0">
                <a:solidFill>
                  <a:srgbClr val="FFC000"/>
                </a:solidFill>
              </a:rPr>
              <a:t>“</a:t>
            </a:r>
            <a:r>
              <a:rPr lang="pt-BR" sz="4000" i="1" dirty="0" err="1">
                <a:solidFill>
                  <a:srgbClr val="FFC000"/>
                </a:solidFill>
              </a:rPr>
              <a:t>taylor</a:t>
            </a:r>
            <a:r>
              <a:rPr lang="pt-BR" sz="4000" i="1" dirty="0">
                <a:solidFill>
                  <a:srgbClr val="FFC000"/>
                </a:solidFill>
              </a:rPr>
              <a:t> </a:t>
            </a:r>
            <a:r>
              <a:rPr lang="pt-BR" sz="4000" i="1" dirty="0" err="1">
                <a:solidFill>
                  <a:srgbClr val="FFC000"/>
                </a:solidFill>
              </a:rPr>
              <a:t>made</a:t>
            </a:r>
            <a:r>
              <a:rPr lang="pt-BR" sz="4000" i="1" dirty="0">
                <a:solidFill>
                  <a:srgbClr val="FFC000"/>
                </a:solidFill>
              </a:rPr>
              <a:t>”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944490" y="4746846"/>
            <a:ext cx="70651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/>
            <a:r>
              <a:rPr lang="pt-BR" sz="3200" b="1" dirty="0">
                <a:solidFill>
                  <a:schemeClr val="bg1"/>
                </a:solidFill>
                <a:latin typeface="Merriweather"/>
              </a:rPr>
              <a:t>Aquilo que é feito sob medida</a:t>
            </a:r>
            <a:r>
              <a:rPr lang="pt-BR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4" name="Retângulo 3"/>
          <p:cNvSpPr/>
          <p:nvPr/>
        </p:nvSpPr>
        <p:spPr>
          <a:xfrm>
            <a:off x="4758219" y="1157891"/>
            <a:ext cx="709511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É necessário fazer incursão no contrato de arrendamento e/ ou edital de licitação, em cada caso, para se aferir o real impacto do evento na matriz financeira pactuada.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0" y="6657120"/>
            <a:ext cx="274145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Nota n. 00149/2020/NCA/PFANTAQ/PGF/AGU, de 12/8/20</a:t>
            </a:r>
          </a:p>
        </p:txBody>
      </p:sp>
    </p:spTree>
    <p:extLst>
      <p:ext uri="{BB962C8B-B14F-4D97-AF65-F5344CB8AC3E}">
        <p14:creationId xmlns:p14="http://schemas.microsoft.com/office/powerpoint/2010/main" val="4126521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9224" y="2416010"/>
            <a:ext cx="2060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Pilares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124167"/>
            <a:ext cx="30427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FFC000"/>
                </a:solidFill>
              </a:rPr>
              <a:t>Transparência</a:t>
            </a:r>
            <a:endParaRPr lang="pt-BR" sz="4000" i="1" dirty="0">
              <a:solidFill>
                <a:srgbClr val="FFC000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4823154" y="1203566"/>
            <a:ext cx="70951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transparência visa objetivar e legitimar as ações praticadas pela Administração Pública.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0" y="6657120"/>
            <a:ext cx="1007198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https://ralmeidasgc.jusbrasil.com.br/artigos/113024627/principio-da-transparencia-na-administracao-publica#:~:text=Dessa%20forma%2C%20dar%20transpar%C3%AAncia%20%C3%A9,atos%2C%20salvo%20as%20exce%C3%A7%C3%B5es%20normativas.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5035994" y="4028633"/>
            <a:ext cx="6028267" cy="98399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6839088" y="4228241"/>
            <a:ext cx="2365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/>
            <a:r>
              <a:rPr lang="pt-BR" sz="3200" b="1" dirty="0">
                <a:solidFill>
                  <a:schemeClr val="bg1"/>
                </a:solidFill>
                <a:latin typeface="Merriweather"/>
              </a:rPr>
              <a:t>Diálogo</a:t>
            </a:r>
            <a:endParaRPr lang="pt-BR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8659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Arredondado 36"/>
          <p:cNvSpPr/>
          <p:nvPr/>
        </p:nvSpPr>
        <p:spPr>
          <a:xfrm>
            <a:off x="4474587" y="1062010"/>
            <a:ext cx="6750541" cy="107392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455870" y="946771"/>
            <a:ext cx="6787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caso do pão francês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com queijo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256774" y="2220155"/>
            <a:ext cx="6558206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Contrato: 001/2002-</a:t>
            </a:r>
            <a:r>
              <a:rPr lang="pt-BR" sz="4000" dirty="0">
                <a:solidFill>
                  <a:srgbClr val="FF0000"/>
                </a:solidFill>
              </a:rPr>
              <a:t>TA01</a:t>
            </a:r>
          </a:p>
          <a:p>
            <a:r>
              <a:rPr lang="pt-BR" sz="4000" dirty="0"/>
              <a:t>Objeto: fornecimento de queijo</a:t>
            </a:r>
          </a:p>
          <a:p>
            <a:r>
              <a:rPr lang="pt-BR" sz="4000" dirty="0"/>
              <a:t>Prazo: 5 anos</a:t>
            </a:r>
          </a:p>
          <a:p>
            <a:r>
              <a:rPr lang="pt-BR" sz="4000" dirty="0">
                <a:solidFill>
                  <a:srgbClr val="7030A0"/>
                </a:solidFill>
              </a:rPr>
              <a:t>Valor unitário: R$ 0,25</a:t>
            </a:r>
          </a:p>
          <a:p>
            <a:r>
              <a:rPr lang="pt-BR" sz="4000" dirty="0"/>
              <a:t>Reajuste: IGP-M, 1x </a:t>
            </a:r>
            <a:r>
              <a:rPr lang="pt-BR" sz="4000" dirty="0" err="1"/>
              <a:t>a.a</a:t>
            </a:r>
            <a:endParaRPr lang="pt-BR" sz="4000" dirty="0"/>
          </a:p>
          <a:p>
            <a:r>
              <a:rPr lang="pt-BR" sz="4000" dirty="0"/>
              <a:t>Volume mínimo: = 25 g/ pão</a:t>
            </a:r>
          </a:p>
          <a:p>
            <a:r>
              <a:rPr lang="pt-BR" sz="4000" dirty="0">
                <a:solidFill>
                  <a:srgbClr val="7030A0"/>
                </a:solidFill>
              </a:rPr>
              <a:t>Tempo: T = 0</a:t>
            </a:r>
          </a:p>
          <a:p>
            <a:endParaRPr lang="pt-BR" sz="4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1483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Mais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22044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Quente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6808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https://www.casafiesta.com.br/produto/queijo-mussarela-tirolez-light-pedaco-kg-85456</a:t>
            </a:r>
          </a:p>
        </p:txBody>
      </p:sp>
      <p:pic>
        <p:nvPicPr>
          <p:cNvPr id="3076" name="Picture 4" descr="Queijo Mussarela TIROLEZ Light Pedaço Kg - Casa Fiesta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0" t="21310" r="11205" b="20246"/>
          <a:stretch/>
        </p:blipFill>
        <p:spPr bwMode="auto">
          <a:xfrm>
            <a:off x="9380324" y="3615950"/>
            <a:ext cx="2664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271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Arredondado 36"/>
          <p:cNvSpPr/>
          <p:nvPr/>
        </p:nvSpPr>
        <p:spPr>
          <a:xfrm>
            <a:off x="4719585" y="3014274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4" name="Retângulo Arredondado 13"/>
          <p:cNvSpPr/>
          <p:nvPr/>
        </p:nvSpPr>
        <p:spPr>
          <a:xfrm>
            <a:off x="4719585" y="4666752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719585" y="2991669"/>
            <a:ext cx="6787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Reequilíbrio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Fluxo de caixa contratual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8708" y="4638749"/>
            <a:ext cx="7416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Novo equilíbrio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Fluxo de caixa marginal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1483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Mais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22044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Quente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Arredondado 14"/>
          <p:cNvSpPr/>
          <p:nvPr/>
        </p:nvSpPr>
        <p:spPr>
          <a:xfrm>
            <a:off x="4719585" y="1307767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719585" y="1561721"/>
            <a:ext cx="6787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do equilíbrio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719585" y="2283404"/>
            <a:ext cx="6769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≠</a:t>
            </a:r>
            <a:endParaRPr lang="pt-BR" sz="11500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4713943" y="3999312"/>
            <a:ext cx="6769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≠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1561724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Arredondado 16"/>
          <p:cNvSpPr/>
          <p:nvPr/>
        </p:nvSpPr>
        <p:spPr>
          <a:xfrm>
            <a:off x="4700870" y="5071315"/>
            <a:ext cx="6750541" cy="67988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4700869" y="5043312"/>
            <a:ext cx="6769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Lei 8.987/95 x Lei 12.815/13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4738302" y="4055313"/>
            <a:ext cx="6750541" cy="67988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4738301" y="4027310"/>
            <a:ext cx="6769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Preço livre x tarifa regulada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27093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Momento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9224" y="3129814"/>
            <a:ext cx="26392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Reflexão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53511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</a:t>
            </a:r>
            <a:r>
              <a:rPr lang="pt-BR" sz="700" dirty="0">
                <a:hlinkClick r:id="rId4"/>
              </a:rPr>
              <a:t>http://www.planalto.gov.br/ccivil_03/leis/l8987cons.htm</a:t>
            </a:r>
            <a:r>
              <a:rPr lang="pt-BR" sz="700" dirty="0"/>
              <a:t>  http://www.planalto.gov.br/ccivil_03/_ato2011-2014/2013/lei/l12815.htm</a:t>
            </a:r>
          </a:p>
        </p:txBody>
      </p:sp>
      <p:sp>
        <p:nvSpPr>
          <p:cNvPr id="9" name="Retângulo Arredondado 8"/>
          <p:cNvSpPr/>
          <p:nvPr/>
        </p:nvSpPr>
        <p:spPr>
          <a:xfrm>
            <a:off x="4719585" y="3014274"/>
            <a:ext cx="6750541" cy="71328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719585" y="2991669"/>
            <a:ext cx="6787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Concessão</a:t>
            </a:r>
          </a:p>
        </p:txBody>
      </p:sp>
      <p:sp>
        <p:nvSpPr>
          <p:cNvPr id="14" name="Retângulo Arredondado 13"/>
          <p:cNvSpPr/>
          <p:nvPr/>
        </p:nvSpPr>
        <p:spPr>
          <a:xfrm>
            <a:off x="4719585" y="1307766"/>
            <a:ext cx="6750541" cy="89921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4700868" y="1344589"/>
            <a:ext cx="6787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Arrendamento portuário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719585" y="2080204"/>
            <a:ext cx="6769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≠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2151541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608114" y="814516"/>
            <a:ext cx="1944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NORMAS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67157" y="814516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GERAIS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8681156" y="1416624"/>
            <a:ext cx="33343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19189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http://www.planalto.gov.br/ccivil_03/constituicao/constituicaocompilado.htm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19423" y="1528083"/>
            <a:ext cx="114718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/>
              <a:t>Constituição Federal 1988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Artigo 37, inciso XXI: Ressalvados os casos especificados na legislação, as obras, serviços, compras e alienações serão contratados mediante processo de licitação pública que assegure igualdade de condições a todos os concorrentes, com cláusulas que estabeleçam obrigações de pagamento, </a:t>
            </a:r>
            <a:r>
              <a:rPr lang="pt-BR" sz="2800" b="1" dirty="0"/>
              <a:t>mantidas as condições efetivas da proposta</a:t>
            </a:r>
            <a:r>
              <a:rPr lang="pt-BR" sz="2800" dirty="0"/>
              <a:t>, nos termos da lei, o qual somente permitirá as exigências de qualificação técnica e econômica indispensáveis à garantia do cumprimento das obrigações</a:t>
            </a:r>
          </a:p>
        </p:txBody>
      </p:sp>
    </p:spTree>
    <p:extLst>
      <p:ext uri="{BB962C8B-B14F-4D97-AF65-F5344CB8AC3E}">
        <p14:creationId xmlns:p14="http://schemas.microsoft.com/office/powerpoint/2010/main" val="1009779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608114" y="814516"/>
            <a:ext cx="1944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NORMAS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67157" y="814516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GERAIS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8681156" y="1416624"/>
            <a:ext cx="33343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248818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http://www.planalto.gov.br/ccivil_03/leis/l8987cons.htm</a:t>
            </a:r>
          </a:p>
        </p:txBody>
      </p:sp>
      <p:sp>
        <p:nvSpPr>
          <p:cNvPr id="9" name="Retângulo 8"/>
          <p:cNvSpPr/>
          <p:nvPr/>
        </p:nvSpPr>
        <p:spPr>
          <a:xfrm>
            <a:off x="203200" y="1811627"/>
            <a:ext cx="1165013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b="1" dirty="0"/>
              <a:t>Lei nº 8.987/95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Artigo 9º, § 4º: Em havendo alteração unilateral do contrato que </a:t>
            </a:r>
            <a:r>
              <a:rPr lang="pt-BR" sz="2800" b="1" dirty="0"/>
              <a:t>afete o seu inicial equilíbrio econômico-financeiro</a:t>
            </a:r>
            <a:r>
              <a:rPr lang="pt-BR" sz="2800" dirty="0"/>
              <a:t>, o poder concedente deverá restabelecê-lo, concomitantemente à alteração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Artigo 10: Sempre que forem </a:t>
            </a:r>
            <a:r>
              <a:rPr lang="pt-BR" sz="2800" b="1" dirty="0"/>
              <a:t>atendidas as condições do contrato</a:t>
            </a:r>
            <a:r>
              <a:rPr lang="pt-BR" sz="2800" dirty="0"/>
              <a:t>, considera-se mantido seu equilíbrio econômico-financeiro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844560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/>
          <p:cNvSpPr txBox="1"/>
          <p:nvPr/>
        </p:nvSpPr>
        <p:spPr>
          <a:xfrm>
            <a:off x="268319" y="1350003"/>
            <a:ext cx="1174716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/>
              <a:t>Lei nº 12.815/13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Artigo 5º, </a:t>
            </a:r>
            <a:r>
              <a:rPr lang="pt-BR" sz="2000" i="1" dirty="0"/>
              <a:t>Caput</a:t>
            </a:r>
            <a:r>
              <a:rPr lang="pt-BR" sz="2000" dirty="0"/>
              <a:t>: São essenciais aos contratos de concessão e arrendamento as cláusulas relativas:</a:t>
            </a:r>
          </a:p>
          <a:p>
            <a:pPr lvl="1" algn="just"/>
            <a:r>
              <a:rPr lang="pt-BR" sz="2000" dirty="0"/>
              <a:t>(...)</a:t>
            </a:r>
          </a:p>
          <a:p>
            <a:pPr lvl="1" algn="just"/>
            <a:r>
              <a:rPr lang="pt-BR" sz="2000" dirty="0"/>
              <a:t>V - ao valor do contrato, às tarifas praticadas e aos critérios e procedimentos de </a:t>
            </a:r>
            <a:r>
              <a:rPr lang="pt-BR" sz="2000" b="1" dirty="0"/>
              <a:t>revisão e reajuste</a:t>
            </a:r>
            <a:r>
              <a:rPr lang="pt-BR" sz="2000" dirty="0"/>
              <a:t>;</a:t>
            </a:r>
          </a:p>
          <a:p>
            <a:pPr lvl="1" algn="just"/>
            <a:r>
              <a:rPr lang="pt-BR" sz="2000" dirty="0"/>
              <a:t>V - aos investimentos de responsabilidade do contratado;</a:t>
            </a:r>
          </a:p>
          <a:p>
            <a:pPr lvl="1" algn="just"/>
            <a:r>
              <a:rPr lang="pt-BR" sz="2000" dirty="0"/>
              <a:t>(...)</a:t>
            </a:r>
          </a:p>
          <a:p>
            <a:pPr lvl="1" algn="just"/>
            <a:r>
              <a:rPr lang="pt-BR" sz="2000" dirty="0"/>
              <a:t>VII - às </a:t>
            </a:r>
            <a:r>
              <a:rPr lang="pt-BR" sz="2000" b="1" dirty="0"/>
              <a:t>responsabilidades das partes</a:t>
            </a:r>
            <a:r>
              <a:rPr lang="pt-BR" sz="2000" dirty="0"/>
              <a:t>;</a:t>
            </a:r>
          </a:p>
          <a:p>
            <a:pPr lvl="1" algn="just"/>
            <a:r>
              <a:rPr lang="pt-BR" sz="2000" dirty="0"/>
              <a:t>VIII - à reversão de bens;</a:t>
            </a:r>
          </a:p>
          <a:p>
            <a:pPr lvl="1" algn="just"/>
            <a:r>
              <a:rPr lang="pt-BR" sz="2000" dirty="0"/>
              <a:t>IX - aos </a:t>
            </a:r>
            <a:r>
              <a:rPr lang="pt-BR" sz="2000" b="1" dirty="0"/>
              <a:t>direitos, garantias e obrigações do contratante e do contratado</a:t>
            </a:r>
            <a:r>
              <a:rPr lang="pt-BR" sz="2000" dirty="0"/>
              <a:t>, inclusive os relacionados a necessidades futuras de suplementação, alteração e expansão da atividade e consequente modernização, aperfeiçoamento e ampliação das instalações;</a:t>
            </a:r>
          </a:p>
          <a:p>
            <a:pPr lvl="1" algn="just"/>
            <a:r>
              <a:rPr lang="pt-BR" sz="2000" dirty="0"/>
              <a:t>(...)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Artigo 5º, § 2º: Findo o prazo dos contratos, os bens vinculados à concessão ou ao arrendamento reverterão ao patrimônio da União, </a:t>
            </a:r>
            <a:r>
              <a:rPr lang="pt-BR" sz="2000" b="1" dirty="0"/>
              <a:t>na forma prevista no contrato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9449134" y="814515"/>
            <a:ext cx="1358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Marco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699589" y="814516"/>
            <a:ext cx="1194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Legal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9582149" y="1416624"/>
            <a:ext cx="22773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236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http://www.planalto.gov.br/ccivil_03/_ato2011-2014/2013/lei/l12815.htm</a:t>
            </a:r>
          </a:p>
        </p:txBody>
      </p:sp>
    </p:spTree>
    <p:extLst>
      <p:ext uri="{BB962C8B-B14F-4D97-AF65-F5344CB8AC3E}">
        <p14:creationId xmlns:p14="http://schemas.microsoft.com/office/powerpoint/2010/main" val="3982633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285698" y="770292"/>
            <a:ext cx="2541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Regulamento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699589" y="814516"/>
            <a:ext cx="1305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8.033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8455374" y="1416624"/>
            <a:ext cx="33343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40830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http://www.planalto.gov.br/ccivil_03/_ato2011-2014/2013/decreto/d8033.htm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24666" y="1416624"/>
            <a:ext cx="1189235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Decreto nº 8.033/13</a:t>
            </a:r>
            <a:r>
              <a:rPr lang="pt-BR" sz="2400" dirty="0"/>
              <a:t> </a:t>
            </a:r>
            <a:r>
              <a:rPr lang="pt-BR" sz="2000" dirty="0"/>
              <a:t>(com redação dada pelo Decreto nº 9.048/17)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algn="just"/>
            <a:r>
              <a:rPr lang="pt-BR" sz="2400" dirty="0"/>
              <a:t>Artigo 19, caput: Os contratos de concessão e de arrendamento terão prazo determinado de até trinta e cinco anos, prorrogável por sucessivas vezes, a critério do poder concedente, até o limite máximo de setenta anos, incluídos o prazo de vigência original e todas as prorrogações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Artigo 19, § 2º: Os prazos de que trata o caput serão fixados de modo a </a:t>
            </a:r>
            <a:r>
              <a:rPr lang="pt-BR" sz="2400" b="1" dirty="0"/>
              <a:t>permitir a amortização e a remuneração adequada dos investimentos previstos no contrato</a:t>
            </a:r>
            <a:r>
              <a:rPr lang="pt-BR" sz="2400" dirty="0"/>
              <a:t>, </a:t>
            </a:r>
            <a:r>
              <a:rPr lang="pt-BR" sz="2400" u="sng" dirty="0"/>
              <a:t>quando houver</a:t>
            </a:r>
            <a:r>
              <a:rPr lang="pt-BR" sz="2400" dirty="0"/>
              <a:t>, conforme indicado no estudo de viabilidade a que se refere o art. 6º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Artigo 6º: A realização dos estudos prévios de viabilidade técnica, econômica e ambiental do objeto do arrendamento ou da concessão observará as diretrizes do planejamento do setor portuário, de forma a considerar o uso racional da infraestrutura de acesso </a:t>
            </a:r>
            <a:r>
              <a:rPr lang="pt-BR" sz="2400" dirty="0" err="1"/>
              <a:t>aquaviário</a:t>
            </a:r>
            <a:r>
              <a:rPr lang="pt-BR" sz="2400" dirty="0"/>
              <a:t> e terrestre e as características de cada empreendimento</a:t>
            </a:r>
          </a:p>
        </p:txBody>
      </p:sp>
    </p:spTree>
    <p:extLst>
      <p:ext uri="{BB962C8B-B14F-4D97-AF65-F5344CB8AC3E}">
        <p14:creationId xmlns:p14="http://schemas.microsoft.com/office/powerpoint/2010/main" val="193055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Arredondado 24"/>
          <p:cNvSpPr/>
          <p:nvPr/>
        </p:nvSpPr>
        <p:spPr>
          <a:xfrm>
            <a:off x="608646" y="4887509"/>
            <a:ext cx="4806453" cy="82591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595356" y="4946521"/>
            <a:ext cx="4806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Fato da administração</a:t>
            </a:r>
          </a:p>
        </p:txBody>
      </p:sp>
      <p:sp>
        <p:nvSpPr>
          <p:cNvPr id="16" name="Retângulo Arredondado 15"/>
          <p:cNvSpPr/>
          <p:nvPr/>
        </p:nvSpPr>
        <p:spPr>
          <a:xfrm>
            <a:off x="627363" y="1832623"/>
            <a:ext cx="4806453" cy="190126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608646" y="1869446"/>
            <a:ext cx="48197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Teoria das áleas</a:t>
            </a:r>
          </a:p>
          <a:p>
            <a:r>
              <a:rPr lang="pt-BR" sz="3600" dirty="0">
                <a:solidFill>
                  <a:schemeClr val="bg1"/>
                </a:solidFill>
              </a:rPr>
              <a:t>- Ordinária</a:t>
            </a:r>
          </a:p>
          <a:p>
            <a:r>
              <a:rPr lang="pt-BR" sz="3600" dirty="0">
                <a:solidFill>
                  <a:schemeClr val="bg1"/>
                </a:solidFill>
              </a:rPr>
              <a:t>- Extraordinária</a:t>
            </a:r>
          </a:p>
        </p:txBody>
      </p:sp>
      <p:sp>
        <p:nvSpPr>
          <p:cNvPr id="21" name="Retângulo Arredondado 20"/>
          <p:cNvSpPr/>
          <p:nvPr/>
        </p:nvSpPr>
        <p:spPr>
          <a:xfrm>
            <a:off x="6747942" y="2194448"/>
            <a:ext cx="4806453" cy="310883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2" name="Retângulo Arredondado 21"/>
          <p:cNvSpPr/>
          <p:nvPr/>
        </p:nvSpPr>
        <p:spPr>
          <a:xfrm>
            <a:off x="608646" y="3897744"/>
            <a:ext cx="4806453" cy="82591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574256" y="3897744"/>
            <a:ext cx="4806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Fato do príncipe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747942" y="2579726"/>
            <a:ext cx="4819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</a:rPr>
              <a:t>Matriz </a:t>
            </a:r>
          </a:p>
          <a:p>
            <a:pPr algn="ctr"/>
            <a:r>
              <a:rPr lang="pt-BR" sz="7200" dirty="0">
                <a:solidFill>
                  <a:schemeClr val="bg1"/>
                </a:solidFill>
              </a:rPr>
              <a:t>de riscos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918237" y="823903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Riscos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049143" y="836040"/>
            <a:ext cx="1867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Alocados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9039825" y="1416624"/>
            <a:ext cx="27556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348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9019832" y="816408"/>
            <a:ext cx="1353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ÁLEAS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330647" y="824393"/>
            <a:ext cx="1555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TEORIA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9079341" y="1416624"/>
            <a:ext cx="27556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04799" y="1524824"/>
            <a:ext cx="11571112" cy="51694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/>
          <p:cNvSpPr/>
          <p:nvPr/>
        </p:nvSpPr>
        <p:spPr>
          <a:xfrm>
            <a:off x="728133" y="1947333"/>
            <a:ext cx="4320000" cy="4320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1246467" y="3122513"/>
            <a:ext cx="3190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Álea</a:t>
            </a:r>
          </a:p>
          <a:p>
            <a:pPr algn="ctr"/>
            <a:r>
              <a:rPr lang="pt-BR" sz="5400" dirty="0">
                <a:solidFill>
                  <a:schemeClr val="bg1"/>
                </a:solidFill>
              </a:rPr>
              <a:t> ordinária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252397" y="2981402"/>
            <a:ext cx="47655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0000"/>
                </a:solidFill>
              </a:rPr>
              <a:t>Álea</a:t>
            </a:r>
          </a:p>
          <a:p>
            <a:pPr algn="ctr"/>
            <a:r>
              <a:rPr lang="pt-BR" sz="5400" dirty="0">
                <a:solidFill>
                  <a:srgbClr val="FF0000"/>
                </a:solidFill>
              </a:rPr>
              <a:t> </a:t>
            </a:r>
            <a:r>
              <a:rPr lang="pt-BR" sz="5400" dirty="0" err="1">
                <a:solidFill>
                  <a:srgbClr val="FF0000"/>
                </a:solidFill>
              </a:rPr>
              <a:t>EXTRAordinária</a:t>
            </a:r>
            <a:endParaRPr lang="pt-BR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633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980322" y="816408"/>
            <a:ext cx="1561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MATRIZ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83045" y="824393"/>
            <a:ext cx="13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RISCO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9039831" y="1416624"/>
            <a:ext cx="27556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04799" y="1524824"/>
            <a:ext cx="11571112" cy="51694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/>
          <p:cNvSpPr/>
          <p:nvPr/>
        </p:nvSpPr>
        <p:spPr>
          <a:xfrm>
            <a:off x="728133" y="1608671"/>
            <a:ext cx="4320000" cy="4320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1246467" y="2783851"/>
            <a:ext cx="3190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Risco do</a:t>
            </a:r>
          </a:p>
          <a:p>
            <a:pPr algn="ctr"/>
            <a:r>
              <a:rPr lang="pt-BR" sz="5400" dirty="0">
                <a:solidFill>
                  <a:schemeClr val="bg1"/>
                </a:solidFill>
              </a:rPr>
              <a:t>particular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6919341" y="1591736"/>
            <a:ext cx="4320000" cy="4320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7301715" y="2459074"/>
            <a:ext cx="35552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Risco do</a:t>
            </a:r>
          </a:p>
          <a:p>
            <a:pPr algn="ctr"/>
            <a:r>
              <a:rPr lang="pt-BR" sz="5400" dirty="0">
                <a:solidFill>
                  <a:schemeClr val="bg1"/>
                </a:solidFill>
              </a:rPr>
              <a:t>Poder Concedente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520486" y="4913403"/>
            <a:ext cx="47655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/>
              <a:t>Risco extraordinário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517634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Arredondado 29"/>
          <p:cNvSpPr/>
          <p:nvPr/>
        </p:nvSpPr>
        <p:spPr>
          <a:xfrm>
            <a:off x="360417" y="3849510"/>
            <a:ext cx="6621763" cy="177800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9" name="Retângulo Arredondado 28"/>
          <p:cNvSpPr/>
          <p:nvPr/>
        </p:nvSpPr>
        <p:spPr>
          <a:xfrm>
            <a:off x="345140" y="1790843"/>
            <a:ext cx="6670904" cy="190126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8037703" y="816408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RISCOS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9569365" y="816408"/>
            <a:ext cx="2416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ALOCADOS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8149148" y="1416624"/>
            <a:ext cx="36677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95110" y="2074771"/>
            <a:ext cx="624041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Do que eu falo quando falo de corrida</a:t>
            </a:r>
          </a:p>
          <a:p>
            <a:r>
              <a:rPr lang="pt-BR" i="1" dirty="0" err="1"/>
              <a:t>Haruki</a:t>
            </a:r>
            <a:r>
              <a:rPr lang="pt-BR" i="1" dirty="0"/>
              <a:t> Murakami</a:t>
            </a:r>
            <a:endParaRPr lang="pt-BR" sz="4000" i="1" dirty="0">
              <a:solidFill>
                <a:schemeClr val="bg1"/>
              </a:solidFill>
            </a:endParaRPr>
          </a:p>
        </p:txBody>
      </p:sp>
      <p:pic>
        <p:nvPicPr>
          <p:cNvPr id="49154" name="Picture 2" descr="Haruki Murakami, Wild Sheep Chase, Escritor png transparente grátis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756" y="1974634"/>
            <a:ext cx="2135364" cy="142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8" name="Picture 6" descr="Crescimento econômico, discricionariedade e o princípio da deferência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EDEDED"/>
              </a:clrFrom>
              <a:clrTo>
                <a:srgbClr val="EDED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2576" y="3692108"/>
            <a:ext cx="1532706" cy="153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tângulo 25"/>
          <p:cNvSpPr/>
          <p:nvPr/>
        </p:nvSpPr>
        <p:spPr>
          <a:xfrm>
            <a:off x="423334" y="4024484"/>
            <a:ext cx="655884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Do que eu falo quando falo de equilíbrio econômico-financeiro</a:t>
            </a:r>
          </a:p>
          <a:p>
            <a:r>
              <a:rPr lang="pt-BR" i="1" dirty="0" err="1"/>
              <a:t>Egon</a:t>
            </a:r>
            <a:r>
              <a:rPr lang="pt-BR" i="1" dirty="0"/>
              <a:t> </a:t>
            </a:r>
            <a:r>
              <a:rPr lang="pt-BR" i="1" dirty="0" err="1"/>
              <a:t>Bockmann</a:t>
            </a:r>
            <a:r>
              <a:rPr lang="pt-BR" i="1" dirty="0"/>
              <a:t> Moreira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0" y="6657120"/>
            <a:ext cx="86276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</a:t>
            </a:r>
            <a:r>
              <a:rPr lang="pt-BR" sz="800" dirty="0">
                <a:solidFill>
                  <a:srgbClr val="323A46"/>
                </a:solidFill>
                <a:latin typeface="Roboto"/>
                <a:hlinkClick r:id="rId6"/>
              </a:rPr>
              <a:t>http://www.direitodoestado.com.br/colunistas/egon-bockmann-moreira/crescimento-economico-discricionariedade-e-o-principio-da-deferencia</a:t>
            </a:r>
            <a:r>
              <a:rPr lang="pt-BR" sz="800" dirty="0">
                <a:solidFill>
                  <a:srgbClr val="323A46"/>
                </a:solidFill>
                <a:latin typeface="Roboto"/>
              </a:rPr>
              <a:t> e </a:t>
            </a:r>
            <a:r>
              <a:rPr lang="pt-BR" sz="800" dirty="0"/>
              <a:t>https://www.gratispng.com/png-hof7kf</a:t>
            </a:r>
            <a:r>
              <a:rPr lang="pt-BR" sz="800" dirty="0">
                <a:solidFill>
                  <a:srgbClr val="323A46"/>
                </a:solidFill>
                <a:latin typeface="Roboto"/>
              </a:rPr>
              <a:t> </a:t>
            </a:r>
            <a:endParaRPr lang="pt-BR" sz="700" dirty="0"/>
          </a:p>
        </p:txBody>
      </p:sp>
      <p:sp>
        <p:nvSpPr>
          <p:cNvPr id="31" name="Seta para a Direita 30"/>
          <p:cNvSpPr/>
          <p:nvPr/>
        </p:nvSpPr>
        <p:spPr>
          <a:xfrm>
            <a:off x="7115151" y="2777086"/>
            <a:ext cx="1921605" cy="12370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eta para a Direita 32"/>
          <p:cNvSpPr/>
          <p:nvPr/>
        </p:nvSpPr>
        <p:spPr>
          <a:xfrm>
            <a:off x="7079114" y="4655248"/>
            <a:ext cx="1921605" cy="12370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996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037703" y="816408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RISCOS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9569365" y="816408"/>
            <a:ext cx="2416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ALOCADOS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8149148" y="1416624"/>
            <a:ext cx="36677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lipse 15"/>
          <p:cNvSpPr/>
          <p:nvPr/>
        </p:nvSpPr>
        <p:spPr>
          <a:xfrm>
            <a:off x="1298222" y="2146031"/>
            <a:ext cx="3060000" cy="306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1194373" y="2860957"/>
            <a:ext cx="3190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Fluxo de caixa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4566355" y="2146031"/>
            <a:ext cx="3060000" cy="306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4540477" y="2841278"/>
            <a:ext cx="3190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Retorno financeiro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20" name="Elipse 19"/>
          <p:cNvSpPr/>
          <p:nvPr/>
        </p:nvSpPr>
        <p:spPr>
          <a:xfrm>
            <a:off x="7860366" y="2208120"/>
            <a:ext cx="3060000" cy="3060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7834488" y="2903367"/>
            <a:ext cx="3190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Riscos alocados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183467" y="2146031"/>
            <a:ext cx="492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/>
              <a:t>x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519334" y="2208120"/>
            <a:ext cx="492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/>
              <a:t>x</a:t>
            </a:r>
          </a:p>
        </p:txBody>
      </p:sp>
      <p:pic>
        <p:nvPicPr>
          <p:cNvPr id="50180" name="Picture 4" descr="Check Vetores e Ilustrações de Stock - iStock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228" y="2292940"/>
            <a:ext cx="1085777" cy="97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357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Arredondado 13"/>
          <p:cNvSpPr/>
          <p:nvPr/>
        </p:nvSpPr>
        <p:spPr>
          <a:xfrm>
            <a:off x="4887135" y="1099735"/>
            <a:ext cx="6750541" cy="9703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4778107" y="1009332"/>
            <a:ext cx="67879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O caso do IPTU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27093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Momento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9224" y="3129814"/>
            <a:ext cx="26392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Reflexão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887135" y="2322339"/>
            <a:ext cx="6750541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u="sng" dirty="0">
                <a:solidFill>
                  <a:srgbClr val="000000"/>
                </a:solidFill>
                <a:latin typeface="Calibri" panose="020F0502020204030204" pitchFamily="34" charset="0"/>
              </a:rPr>
              <a:t>Contrato </a:t>
            </a:r>
            <a:r>
              <a:rPr lang="pt-BR" u="sng" dirty="0" err="1">
                <a:solidFill>
                  <a:srgbClr val="000000"/>
                </a:solidFill>
                <a:latin typeface="Calibri" panose="020F0502020204030204" pitchFamily="34" charset="0"/>
              </a:rPr>
              <a:t>xx</a:t>
            </a:r>
            <a:r>
              <a:rPr lang="pt-BR" u="sng" dirty="0">
                <a:solidFill>
                  <a:srgbClr val="000000"/>
                </a:solidFill>
                <a:latin typeface="Calibri" panose="020F0502020204030204" pitchFamily="34" charset="0"/>
              </a:rPr>
              <a:t>/01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Todas e quaisquer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obrigações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fiscais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, seja no âmbito federal, estadual ou </a:t>
            </a: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municipal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, que </a:t>
            </a:r>
            <a:r>
              <a:rPr lang="pt-BR" b="1" u="sng" dirty="0">
                <a:solidFill>
                  <a:srgbClr val="000000"/>
                </a:solidFill>
                <a:latin typeface="Calibri" panose="020F0502020204030204" pitchFamily="34" charset="0"/>
              </a:rPr>
              <a:t>incidam ou venham a incidir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 sobre este Contrato, </a:t>
            </a: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constituem ônus </a:t>
            </a:r>
            <a:r>
              <a:rPr lang="pt-BR" b="1" u="sng" dirty="0">
                <a:solidFill>
                  <a:srgbClr val="000000"/>
                </a:solidFill>
                <a:latin typeface="Calibri" panose="020F0502020204030204" pitchFamily="34" charset="0"/>
              </a:rPr>
              <a:t>exclusivo</a:t>
            </a: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 da arrendatária</a:t>
            </a:r>
            <a:endParaRPr lang="pt-BR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887135" y="3893022"/>
            <a:ext cx="6702478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u="sng" dirty="0">
                <a:solidFill>
                  <a:srgbClr val="000000"/>
                </a:solidFill>
                <a:latin typeface="Calibri" panose="020F0502020204030204" pitchFamily="34" charset="0"/>
              </a:rPr>
              <a:t>Contrato </a:t>
            </a:r>
            <a:r>
              <a:rPr lang="pt-BR" u="sng" dirty="0" err="1">
                <a:solidFill>
                  <a:srgbClr val="000000"/>
                </a:solidFill>
                <a:latin typeface="Calibri" panose="020F0502020204030204" pitchFamily="34" charset="0"/>
              </a:rPr>
              <a:t>xx</a:t>
            </a:r>
            <a:r>
              <a:rPr lang="pt-BR" u="sng" dirty="0">
                <a:solidFill>
                  <a:srgbClr val="000000"/>
                </a:solidFill>
                <a:latin typeface="Calibri" panose="020F0502020204030204" pitchFamily="34" charset="0"/>
              </a:rPr>
              <a:t>/02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Correrão por conta da ARRENDATÁRIA, os impostos, </a:t>
            </a: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inclusive IPTU 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e taxas incidentes sobre o imóvel arrendado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4887135" y="5100933"/>
            <a:ext cx="6702478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u="sng" dirty="0">
                <a:solidFill>
                  <a:srgbClr val="000000"/>
                </a:solidFill>
                <a:latin typeface="Calibri" panose="020F0502020204030204" pitchFamily="34" charset="0"/>
              </a:rPr>
              <a:t>Contrato </a:t>
            </a:r>
            <a:r>
              <a:rPr lang="pt-BR" u="sng" dirty="0" err="1">
                <a:solidFill>
                  <a:srgbClr val="000000"/>
                </a:solidFill>
                <a:latin typeface="Calibri" panose="020F0502020204030204" pitchFamily="34" charset="0"/>
              </a:rPr>
              <a:t>xx</a:t>
            </a:r>
            <a:r>
              <a:rPr lang="pt-BR" u="sng" dirty="0">
                <a:solidFill>
                  <a:srgbClr val="000000"/>
                </a:solidFill>
                <a:latin typeface="Calibri" panose="020F0502020204030204" pitchFamily="34" charset="0"/>
              </a:rPr>
              <a:t>/03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Correrão por conta da ARRENDATÁRIA, os impostos, </a:t>
            </a: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inclusive IPTU 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e taxas incidentes sobre o imóvel arrendado, </a:t>
            </a: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</a:rPr>
              <a:t>devendo ser ressarcidos pela administração do Porto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737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Arredondado 13"/>
          <p:cNvSpPr/>
          <p:nvPr/>
        </p:nvSpPr>
        <p:spPr>
          <a:xfrm>
            <a:off x="4887135" y="1099735"/>
            <a:ext cx="6750541" cy="9703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4887135" y="1009332"/>
            <a:ext cx="6750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Vendaval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27093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Momento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9224" y="3129814"/>
            <a:ext cx="26392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Reflexão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887135" y="2169941"/>
            <a:ext cx="675054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u="sng" dirty="0">
                <a:solidFill>
                  <a:srgbClr val="000000"/>
                </a:solidFill>
                <a:latin typeface="Calibri" panose="020F0502020204030204" pitchFamily="34" charset="0"/>
              </a:rPr>
              <a:t>Contrato </a:t>
            </a:r>
            <a:r>
              <a:rPr lang="pt-BR" u="sng" dirty="0" err="1">
                <a:solidFill>
                  <a:srgbClr val="000000"/>
                </a:solidFill>
                <a:latin typeface="Calibri" panose="020F0502020204030204" pitchFamily="34" charset="0"/>
              </a:rPr>
              <a:t>xx</a:t>
            </a:r>
            <a:r>
              <a:rPr lang="pt-BR" u="sng" dirty="0">
                <a:solidFill>
                  <a:srgbClr val="000000"/>
                </a:solidFill>
                <a:latin typeface="Calibri" panose="020F0502020204030204" pitchFamily="34" charset="0"/>
              </a:rPr>
              <a:t>/05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DAS OBRIGAÇÕES DA ARRENDATÁRIA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dirty="0"/>
              <a:t>e) assumir a responsabilidade da administração da área arrendada, sendo seu o ônus pelo custeio de todos os recursos materiais e humanos empregados em sua atividade, inclusive os relativos a limpeza, conservação, e </a:t>
            </a:r>
            <a:r>
              <a:rPr lang="pt-BR" b="1" dirty="0"/>
              <a:t>de seguro dos bens móveis, imóveis e das cargas operadas e/ou armazenadas na área arrendada</a:t>
            </a:r>
            <a:r>
              <a:rPr lang="pt-BR" dirty="0"/>
              <a:t>;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pt-BR" b="1" dirty="0"/>
              <a:t>A AP não assume nem assumira qualquer responsabilidade</a:t>
            </a:r>
            <a:r>
              <a:rPr lang="pt-BR" dirty="0"/>
              <a:t> sobre as construções, instalações e mercadorias da ARRENDATÁRIA, dentro dos limites da área arrendada, </a:t>
            </a:r>
            <a:r>
              <a:rPr lang="pt-BR" b="1" dirty="0"/>
              <a:t>cabendo a ARRENDATÁARIA a integral responsabilidade pela segurança das instalações, obrigando-se a realizar o seguro respectivo por sua conta</a:t>
            </a:r>
            <a:r>
              <a:rPr lang="pt-BR" dirty="0"/>
              <a:t>, e, ainda, respondendo pelos danos ou avarias que venham a ocorrer, cujas causas venham a ser atribuídas à ARRENDATARIA. </a:t>
            </a:r>
            <a:endParaRPr lang="pt-BR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756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713941" y="1065446"/>
            <a:ext cx="7218415" cy="66196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Retângulo Arredondado 19"/>
          <p:cNvSpPr/>
          <p:nvPr/>
        </p:nvSpPr>
        <p:spPr>
          <a:xfrm>
            <a:off x="4713941" y="1825300"/>
            <a:ext cx="7218415" cy="66196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5" name="Retângulo Arredondado 24"/>
          <p:cNvSpPr/>
          <p:nvPr/>
        </p:nvSpPr>
        <p:spPr>
          <a:xfrm>
            <a:off x="4713941" y="2579110"/>
            <a:ext cx="7218415" cy="127147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7" name="Retângulo Arredondado 26"/>
          <p:cNvSpPr/>
          <p:nvPr/>
        </p:nvSpPr>
        <p:spPr>
          <a:xfrm>
            <a:off x="4713941" y="3942429"/>
            <a:ext cx="7218415" cy="122716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0" name="Retângulo Arredondado 29"/>
          <p:cNvSpPr/>
          <p:nvPr/>
        </p:nvSpPr>
        <p:spPr>
          <a:xfrm>
            <a:off x="4713941" y="5265868"/>
            <a:ext cx="7218415" cy="122716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4713941" y="5213900"/>
            <a:ext cx="7218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É preciso evitar os “oportunistas” e interferência do judiciário</a:t>
            </a:r>
            <a:endParaRPr lang="pt-BR" sz="4000" i="1" dirty="0">
              <a:solidFill>
                <a:schemeClr val="bg1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713941" y="3890461"/>
            <a:ext cx="7218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 má elaboração da matriz gera riscos</a:t>
            </a:r>
            <a:endParaRPr lang="pt-BR" sz="4000" i="1" dirty="0">
              <a:solidFill>
                <a:schemeClr val="bg1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4713941" y="2527142"/>
            <a:ext cx="7218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 teoria das áleas não é suficiente</a:t>
            </a:r>
            <a:endParaRPr lang="pt-BR" sz="4000" i="1" dirty="0">
              <a:solidFill>
                <a:schemeClr val="bg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4713941" y="1773332"/>
            <a:ext cx="7218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Alocação </a:t>
            </a:r>
            <a:r>
              <a:rPr lang="pt-BR" sz="4000" i="1" dirty="0" err="1">
                <a:solidFill>
                  <a:schemeClr val="bg1"/>
                </a:solidFill>
              </a:rPr>
              <a:t>ex</a:t>
            </a:r>
            <a:r>
              <a:rPr lang="pt-BR" sz="4000" i="1" dirty="0">
                <a:solidFill>
                  <a:schemeClr val="bg1"/>
                </a:solidFill>
              </a:rPr>
              <a:t> ante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713941" y="1013478"/>
            <a:ext cx="7218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Alocação eficiente de riscos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27093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Questões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3093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Relevantes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795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934482" y="816407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Riscos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009630" y="816408"/>
            <a:ext cx="1902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Exemplos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9017250" y="1416624"/>
            <a:ext cx="27556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43109" y="1346143"/>
            <a:ext cx="622087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Do arrendatário</a:t>
            </a:r>
          </a:p>
          <a:p>
            <a:pPr algn="ctr"/>
            <a:endParaRPr lang="pt-BR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Demanda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Inadimplência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Custos e despesas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Tecnologia empregada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Riscos de projeto, engenharia e construção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Mudanças no custo de capital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Inflação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Variação das taxas de câmbio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Modificações tributárias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Obtenção de licenças, permissões e autorizações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Atraso no cumprimento dos cronogramas previstos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Danos causados aos Bens do Arrendamento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Greves (não superiores a certo período)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Caso fortuito e força maior que sejam “seguráveis”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Danos ambientais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110420" y="1462739"/>
            <a:ext cx="56481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Do Poder Concedente</a:t>
            </a:r>
          </a:p>
          <a:p>
            <a:pPr algn="ctr"/>
            <a:endParaRPr lang="pt-BR" sz="2000" b="1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000" dirty="0"/>
              <a:t>Descumprimento de obrigações contratuais atribuídas ao Poder Concedente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pt-BR" sz="20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000" dirty="0"/>
              <a:t>Custos diretos e indiretos decorrentes da recuperação, remediação, monitoramento  e gerenciamento do Passivo Ambiental existente dentro da área  do Arrendamento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pt-BR" sz="20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000" dirty="0"/>
              <a:t>Atraso na disponibilização da área do arrendamento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680936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822278" y="793350"/>
            <a:ext cx="1300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Novos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9987051" y="816407"/>
            <a:ext cx="1935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Contratos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8851243" y="1416624"/>
            <a:ext cx="30312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53996A4-D57F-BA4A-A269-B048B23C6AA3}"/>
              </a:ext>
            </a:extLst>
          </p:cNvPr>
          <p:cNvSpPr txBox="1"/>
          <p:nvPr/>
        </p:nvSpPr>
        <p:spPr>
          <a:xfrm>
            <a:off x="321733" y="1675797"/>
            <a:ext cx="113961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sz="2000" i="1" dirty="0"/>
              <a:t>13.5  A Arrendatária não fará jus à recomposição do equilíbrio econômico-financeiro caso quaisquer dos riscos por ela assumidos no Contrato venham a se materializar.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sz="2000" i="1" dirty="0"/>
              <a:t>...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sz="2000" i="1" dirty="0"/>
              <a:t>14.1 Sempre que atendidas as condições do Contrato e mantida a alocação de riscos  nele estabelecida, considera-se mantido seu equilíbrio econômico-financeiro.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sz="2000" i="1" dirty="0"/>
              <a:t>14.1.1 A Arrendatária poderá solicitar a recomposição do equilíbrio econômico-financeiro nos casos em que, após a celebração deste Contrato, vier a se materializar quaisquer dos riscos expressamente assumidos pelo Poder Concedente nos termos deste Contrato, </a:t>
            </a:r>
            <a:r>
              <a:rPr lang="pt-BR" sz="2000" b="1" i="1" dirty="0"/>
              <a:t>com reflexos econômico-financeiros negativos</a:t>
            </a:r>
            <a:r>
              <a:rPr lang="pt-BR" sz="2000" i="1" dirty="0"/>
              <a:t> para a Arrendatária.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sz="2000" i="1" dirty="0"/>
              <a:t>14.1.2 O Poder Concedente instaurará, de ofício, o procedimento de recomposição do equilíbrio econômico-financeiro do Contrato nos casos em que, após a celebração deste Contrato, vier a se materializar quaisquer dos riscos expressamente assumidos pelo Poder Concedente, nos termos deste Contrato, </a:t>
            </a:r>
            <a:r>
              <a:rPr lang="pt-BR" sz="2000" b="1" i="1" dirty="0"/>
              <a:t>com reflexos econômico-financeiros positivos </a:t>
            </a:r>
            <a:r>
              <a:rPr lang="pt-BR" sz="2000" i="1" dirty="0"/>
              <a:t>para a Arrendatária. </a:t>
            </a:r>
            <a:endParaRPr lang="pt-B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173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Arredondado 9"/>
          <p:cNvSpPr/>
          <p:nvPr/>
        </p:nvSpPr>
        <p:spPr>
          <a:xfrm>
            <a:off x="267824" y="1629683"/>
            <a:ext cx="11549084" cy="133302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Retângulo Arredondado 11"/>
          <p:cNvSpPr/>
          <p:nvPr/>
        </p:nvSpPr>
        <p:spPr>
          <a:xfrm>
            <a:off x="267824" y="3240826"/>
            <a:ext cx="11549084" cy="133302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Retângulo Arredondado 14"/>
          <p:cNvSpPr/>
          <p:nvPr/>
        </p:nvSpPr>
        <p:spPr>
          <a:xfrm>
            <a:off x="267824" y="4851970"/>
            <a:ext cx="11549084" cy="133302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67824" y="4800002"/>
            <a:ext cx="115490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>
                    <a:lumMod val="95000"/>
                  </a:schemeClr>
                </a:solidFill>
              </a:rPr>
              <a:t>Mesmo para outros eventos de desequilíbrio, que não possam ser previstos ou quantificados antes de sua ocorrência, é importante que haja atuação tempestiva da </a:t>
            </a:r>
            <a:r>
              <a:rPr lang="pt-BR" sz="2800" dirty="0" err="1">
                <a:solidFill>
                  <a:schemeClr val="bg1">
                    <a:lumMod val="95000"/>
                  </a:schemeClr>
                </a:solidFill>
              </a:rPr>
              <a:t>Antaq</a:t>
            </a:r>
            <a:r>
              <a:rPr lang="pt-BR" sz="2800" dirty="0">
                <a:solidFill>
                  <a:schemeClr val="bg1">
                    <a:lumMod val="95000"/>
                  </a:schemeClr>
                </a:solidFill>
              </a:rPr>
              <a:t> e Poder Concedente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267824" y="3188858"/>
            <a:ext cx="115490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>
                    <a:lumMod val="95000"/>
                  </a:schemeClr>
                </a:solidFill>
              </a:rPr>
              <a:t>Para novos investimentos e prorrogações, os novos parâmetros são estabelecidos antes mesmo do termo aditivo a ser celebrado, visando previsibilidade e segurança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267824" y="1577715"/>
            <a:ext cx="115490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>
                    <a:lumMod val="95000"/>
                  </a:schemeClr>
                </a:solidFill>
              </a:rPr>
              <a:t>É recomendado que o procedimento de recomposição do equilíbrio econômico-financeiro seja realizado tempestivamente, assegurando que eventuais efeitos positivos ou negativos sejam diluídos ao longo de sua vigência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994462" y="772326"/>
            <a:ext cx="1867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Questões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9693121" y="783383"/>
            <a:ext cx="2123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Relevantes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8143804" y="1416624"/>
            <a:ext cx="34875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102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9224" y="2416010"/>
            <a:ext cx="33495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Parâmetros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22569"/>
            <a:ext cx="3093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Relevantes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6"/>
          <p:cNvSpPr txBox="1"/>
          <p:nvPr/>
        </p:nvSpPr>
        <p:spPr>
          <a:xfrm>
            <a:off x="4513261" y="1598345"/>
            <a:ext cx="7182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Direitos e obrigações constituem um mapa da alocação prevista no início da relação contratual: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Critérios para pagamentos (parcela fixa, arrendamento fixo e variável, movimentação mínima, sítio padrão)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Capacidade e desempenho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Investimentos (mínimos, taxativos)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Indenizações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Parâmetros de reajuste e revisão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Previsão de prorrogação</a:t>
            </a:r>
            <a:endParaRPr lang="pt-B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622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Arredondado 13"/>
          <p:cNvSpPr/>
          <p:nvPr/>
        </p:nvSpPr>
        <p:spPr>
          <a:xfrm>
            <a:off x="3460358" y="1200475"/>
            <a:ext cx="4137065" cy="91242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11" name="Retângulo Arredondado 10"/>
          <p:cNvSpPr/>
          <p:nvPr/>
        </p:nvSpPr>
        <p:spPr>
          <a:xfrm>
            <a:off x="7896890" y="1183830"/>
            <a:ext cx="4137065" cy="91242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16" name="Retângulo Arredondado 15"/>
          <p:cNvSpPr/>
          <p:nvPr/>
        </p:nvSpPr>
        <p:spPr>
          <a:xfrm>
            <a:off x="3460358" y="2236881"/>
            <a:ext cx="8573597" cy="91242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947693" y="1142147"/>
            <a:ext cx="4069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Os contratos SEMPRE serão incompletos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476704" y="1184897"/>
            <a:ext cx="4069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A projeção de contratos de longo prazo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476704" y="2221303"/>
            <a:ext cx="84344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A previsibilidade nunca é absoluta </a:t>
            </a: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(imprevisão na previsão)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16010"/>
            <a:ext cx="27093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Momento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9224" y="3129814"/>
            <a:ext cx="26392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rgbClr val="FFC000"/>
                </a:solidFill>
              </a:rPr>
              <a:t>Reflexão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49129" y="3216596"/>
            <a:ext cx="31941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476703" y="3426122"/>
            <a:ext cx="85409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600" dirty="0"/>
              <a:t>Devem as partes suportar integralmente os riscos assumidos quando eles se tornam extremamente custosos em razão de abruptas mudanças de cenário?</a:t>
            </a:r>
          </a:p>
        </p:txBody>
      </p:sp>
    </p:spTree>
    <p:extLst>
      <p:ext uri="{BB962C8B-B14F-4D97-AF65-F5344CB8AC3E}">
        <p14:creationId xmlns:p14="http://schemas.microsoft.com/office/powerpoint/2010/main" val="11841093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/>
          <p:cNvSpPr txBox="1"/>
          <p:nvPr/>
        </p:nvSpPr>
        <p:spPr>
          <a:xfrm>
            <a:off x="43109" y="1123939"/>
            <a:ext cx="1148595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lvl="1" algn="just"/>
            <a:r>
              <a:rPr lang="pt-BR" sz="1600" dirty="0"/>
              <a:t>Resolução nº 1.568-ANTAQ, de 11/12/2009</a:t>
            </a:r>
          </a:p>
          <a:p>
            <a:pPr lvl="2" algn="just"/>
            <a:r>
              <a:rPr lang="pt-BR" sz="1600" dirty="0"/>
              <a:t>Art. 3º Determinar que a CODESP </a:t>
            </a:r>
            <a:r>
              <a:rPr lang="pt-BR" sz="1600" u="sng" dirty="0"/>
              <a:t>faça a repactuação</a:t>
            </a:r>
            <a:r>
              <a:rPr lang="pt-BR" sz="1600" dirty="0"/>
              <a:t> do contrato em exame, de modo a assegurar a </a:t>
            </a:r>
            <a:r>
              <a:rPr lang="pt-BR" sz="1600" u="sng" dirty="0"/>
              <a:t>preservação do seu equilíbrio</a:t>
            </a:r>
            <a:r>
              <a:rPr lang="pt-BR" sz="1600" dirty="0"/>
              <a:t> econômico-financeiro, promovendo, inclusive, eventuais alterações nos respectivos valores de outorga, decorrentes das novas projeções de receitas, investimentos e respectivos custos operacionais, a partir da incorporação da área em discussão, submetendo-os à aprovação desta Agência</a:t>
            </a:r>
          </a:p>
          <a:p>
            <a:pPr lvl="1" algn="just"/>
            <a:endParaRPr lang="pt-BR" sz="1600" dirty="0"/>
          </a:p>
          <a:p>
            <a:pPr lvl="1" algn="just"/>
            <a:r>
              <a:rPr lang="pt-BR" sz="1600" dirty="0"/>
              <a:t>Resolução nº 2.097-ANTAQ, de 08/06/2011</a:t>
            </a:r>
          </a:p>
          <a:p>
            <a:pPr lvl="2" algn="just"/>
            <a:r>
              <a:rPr lang="pt-BR" sz="1600" dirty="0"/>
              <a:t>Art. 3º Determinar à CODESP para que </a:t>
            </a:r>
            <a:r>
              <a:rPr lang="pt-BR" sz="1600" u="sng" dirty="0"/>
              <a:t>proceda o reequilíbrio</a:t>
            </a:r>
            <a:r>
              <a:rPr lang="pt-BR" sz="1600" dirty="0"/>
              <a:t> econômico-financeiro do referido contrato PRES/031.98, computando os resultados efetivamente obtidos até o presente e as novas projeções de receitas, investimentos, custos e despesas até o final do referido instrumento</a:t>
            </a:r>
          </a:p>
          <a:p>
            <a:pPr lvl="2" algn="just"/>
            <a:endParaRPr lang="pt-BR" sz="1600" dirty="0"/>
          </a:p>
          <a:p>
            <a:pPr lvl="1" algn="just"/>
            <a:r>
              <a:rPr lang="pt-BR" sz="1600" dirty="0"/>
              <a:t>Resolução nº 2.698-ANTAQ, de 22/11/2012</a:t>
            </a:r>
          </a:p>
          <a:p>
            <a:pPr lvl="2" algn="just"/>
            <a:r>
              <a:rPr lang="pt-BR" sz="1600" dirty="0"/>
              <a:t>Art. 2º Reconhecer que o 3º Termo Aditivo ao contrato C-DEPJUR nº 54/97 </a:t>
            </a:r>
            <a:r>
              <a:rPr lang="pt-BR" sz="1600" u="sng" dirty="0"/>
              <a:t>promoveu o reequilíbrio</a:t>
            </a:r>
            <a:r>
              <a:rPr lang="pt-BR" sz="1600" dirty="0"/>
              <a:t> econômico-financeiro contratual com o uso de parâmetros satisfatórios aplicados à espécie, </a:t>
            </a:r>
            <a:r>
              <a:rPr lang="pt-BR" sz="1600" b="1" dirty="0"/>
              <a:t>a época do ajuste</a:t>
            </a:r>
          </a:p>
          <a:p>
            <a:pPr lvl="2" algn="just"/>
            <a:endParaRPr lang="pt-BR" sz="1600" b="1" dirty="0"/>
          </a:p>
          <a:p>
            <a:pPr lvl="1" algn="just"/>
            <a:r>
              <a:rPr lang="pt-BR" sz="1600" dirty="0"/>
              <a:t>Resolução nº 2.075-ANTAQ, de 18/05/2011</a:t>
            </a:r>
          </a:p>
          <a:p>
            <a:pPr lvl="2" algn="just"/>
            <a:r>
              <a:rPr lang="pt-BR" sz="1600" dirty="0"/>
              <a:t>Art. 2º Determinar que a CODESP promova o reequilíbrio econômico-financeiro do contrato PRES 26/96 no prazo de 180 (cento e oitenta) dias – </a:t>
            </a:r>
            <a:r>
              <a:rPr lang="pt-BR" sz="1600" b="1" dirty="0"/>
              <a:t>ou comprove que já o fez </a:t>
            </a:r>
            <a:r>
              <a:rPr lang="pt-BR" sz="1600" dirty="0"/>
              <a:t>– tendo por base a exploração conjunta das áreas arrendadas, encaminhando à ANTAQ cópia do correspondente termo aditivo</a:t>
            </a:r>
          </a:p>
          <a:p>
            <a:pPr lvl="2" algn="just"/>
            <a:endParaRPr lang="pt-BR" sz="1600" b="1" dirty="0"/>
          </a:p>
          <a:p>
            <a:pPr lvl="2" algn="just"/>
            <a:endParaRPr lang="pt-BR" sz="1600" dirty="0"/>
          </a:p>
          <a:p>
            <a:pPr lvl="1" algn="just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9166960" y="816407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/>
              <a:t>Pré</a:t>
            </a:r>
            <a:endParaRPr lang="pt-BR" sz="3600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9829002" y="816408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3.220/14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to 16"/>
          <p:cNvCxnSpPr/>
          <p:nvPr/>
        </p:nvCxnSpPr>
        <p:spPr>
          <a:xfrm>
            <a:off x="9130609" y="1416624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250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9150022" y="826237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/>
              <a:t>Pré</a:t>
            </a:r>
            <a:endParaRPr lang="pt-BR" sz="3600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9829002" y="816408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3.220/14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/>
          <p:cNvSpPr txBox="1"/>
          <p:nvPr/>
        </p:nvSpPr>
        <p:spPr>
          <a:xfrm>
            <a:off x="776544" y="1535708"/>
            <a:ext cx="1007533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800" dirty="0"/>
          </a:p>
          <a:p>
            <a:pPr lvl="1" algn="just"/>
            <a:r>
              <a:rPr lang="pt-BR" sz="2400" dirty="0"/>
              <a:t>Resolução nº 2.852-ANTAQ, de 04/04/2013</a:t>
            </a:r>
          </a:p>
          <a:p>
            <a:pPr lvl="2" algn="just"/>
            <a:r>
              <a:rPr lang="pt-BR" sz="2400" dirty="0"/>
              <a:t>Art. 3º Para que a Superintendência de Portos - SPO desta Agência articule com as partes envolvidas (SEP, APPA e TCP) a promoção do reequilíbrio econômico-financeiro do contrato, </a:t>
            </a:r>
            <a:r>
              <a:rPr lang="pt-BR" sz="2400" b="1" dirty="0"/>
              <a:t>tão logo o correspondente diploma normativo seja publicado por esta Agência</a:t>
            </a:r>
            <a:r>
              <a:rPr lang="pt-BR" sz="2400" dirty="0"/>
              <a:t>, adequando também o parâmetro de Movimentação Mínima Contratual - MMC, ajustando-o aos ganhos de performance a serem auferidos pelo arrendatário com o incremento da área</a:t>
            </a:r>
            <a:endParaRPr lang="pt-BR" sz="2400" b="1" dirty="0"/>
          </a:p>
          <a:p>
            <a:pPr lvl="2" algn="just"/>
            <a:endParaRPr lang="pt-BR" sz="2400" dirty="0"/>
          </a:p>
          <a:p>
            <a:pPr lvl="1" algn="just"/>
            <a:endParaRPr lang="pt-BR" sz="2800" dirty="0"/>
          </a:p>
        </p:txBody>
      </p:sp>
      <p:cxnSp>
        <p:nvCxnSpPr>
          <p:cNvPr id="8" name="Conector reto 7"/>
          <p:cNvCxnSpPr/>
          <p:nvPr/>
        </p:nvCxnSpPr>
        <p:spPr>
          <a:xfrm>
            <a:off x="9289221" y="1416624"/>
            <a:ext cx="23820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480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Arredondado 13"/>
          <p:cNvSpPr/>
          <p:nvPr/>
        </p:nvSpPr>
        <p:spPr>
          <a:xfrm>
            <a:off x="4719585" y="4666752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7" name="Retângulo Arredondado 36"/>
          <p:cNvSpPr/>
          <p:nvPr/>
        </p:nvSpPr>
        <p:spPr>
          <a:xfrm>
            <a:off x="4719585" y="3014274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4478708" y="4638749"/>
            <a:ext cx="7416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Novo equilíbrio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Fluxo de caixa marginal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719585" y="2991669"/>
            <a:ext cx="6787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Reequilíbrio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Fluxo de caixa contratual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66809"/>
            <a:ext cx="31222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Requentando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Arredondado 14"/>
          <p:cNvSpPr/>
          <p:nvPr/>
        </p:nvSpPr>
        <p:spPr>
          <a:xfrm>
            <a:off x="4719585" y="1307767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719585" y="1561721"/>
            <a:ext cx="6787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do equilíbrio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719585" y="2283404"/>
            <a:ext cx="6769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≠</a:t>
            </a:r>
            <a:endParaRPr lang="pt-BR" sz="11500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4713943" y="3999312"/>
            <a:ext cx="6769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≠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4164022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Arredondado 36"/>
          <p:cNvSpPr/>
          <p:nvPr/>
        </p:nvSpPr>
        <p:spPr>
          <a:xfrm>
            <a:off x="4759096" y="3595371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749737" y="3817347"/>
            <a:ext cx="6787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Momento pós 3.220/14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466809"/>
            <a:ext cx="23022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Indo mais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798" y="3073368"/>
            <a:ext cx="19559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A fundo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Arredondado 14"/>
          <p:cNvSpPr/>
          <p:nvPr/>
        </p:nvSpPr>
        <p:spPr>
          <a:xfrm>
            <a:off x="4759096" y="1888864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759096" y="2142818"/>
            <a:ext cx="6787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Momento </a:t>
            </a:r>
            <a:r>
              <a:rPr lang="pt-BR" sz="4000" dirty="0" err="1">
                <a:solidFill>
                  <a:schemeClr val="bg1"/>
                </a:solidFill>
              </a:rPr>
              <a:t>pré</a:t>
            </a:r>
            <a:r>
              <a:rPr lang="pt-BR" sz="4000" dirty="0">
                <a:solidFill>
                  <a:schemeClr val="bg1"/>
                </a:solidFill>
              </a:rPr>
              <a:t> 3.220/14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759096" y="2864501"/>
            <a:ext cx="6769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≠</a:t>
            </a:r>
            <a:endParaRPr lang="pt-BR" sz="11500" dirty="0"/>
          </a:p>
        </p:txBody>
      </p:sp>
      <p:sp>
        <p:nvSpPr>
          <p:cNvPr id="19" name="Retângulo 18"/>
          <p:cNvSpPr/>
          <p:nvPr/>
        </p:nvSpPr>
        <p:spPr>
          <a:xfrm>
            <a:off x="0" y="6657120"/>
            <a:ext cx="33794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https://www.abtp.org.br/upfiles/legislacao/Resolucao-Antaq-3220-de-2014.pdf</a:t>
            </a:r>
          </a:p>
        </p:txBody>
      </p:sp>
    </p:spTree>
    <p:extLst>
      <p:ext uri="{BB962C8B-B14F-4D97-AF65-F5344CB8AC3E}">
        <p14:creationId xmlns:p14="http://schemas.microsoft.com/office/powerpoint/2010/main" val="11833018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980693" y="826237"/>
            <a:ext cx="882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Res.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9829002" y="816408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3.220/14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to 7"/>
          <p:cNvCxnSpPr/>
          <p:nvPr/>
        </p:nvCxnSpPr>
        <p:spPr>
          <a:xfrm>
            <a:off x="9068521" y="1416624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524934" y="1482397"/>
            <a:ext cx="106336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Instituição do modelo de </a:t>
            </a:r>
            <a:r>
              <a:rPr lang="pt-BR" sz="2400" b="1" dirty="0"/>
              <a:t>fluxo de caixa descontado </a:t>
            </a:r>
            <a:r>
              <a:rPr lang="pt-BR" sz="2400" dirty="0"/>
              <a:t>para processo de reequilíbrio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algn="just"/>
            <a:r>
              <a:rPr lang="pt-BR" sz="2400" dirty="0"/>
              <a:t>O processo de recomposição do equilíbrio econômico-financeiro deverá: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400" b="1" u="sng" dirty="0"/>
              <a:t>neutralizar os impactos negativos ou positivos</a:t>
            </a:r>
            <a:r>
              <a:rPr lang="pt-BR" sz="2400" dirty="0"/>
              <a:t> gerados especificamente pelo evento que ensejou a recomposição ou </a:t>
            </a:r>
            <a:r>
              <a:rPr lang="pt-BR" sz="2400" b="1" u="sng" dirty="0"/>
              <a:t>tornar nulo o Valor Presente Líquido – VPL do fluxo de caixa marginal</a:t>
            </a:r>
            <a:r>
              <a:rPr lang="pt-BR" sz="2400" dirty="0"/>
              <a:t> projetado;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400" dirty="0"/>
              <a:t>considerar os dispêndios e receitas </a:t>
            </a:r>
            <a:r>
              <a:rPr lang="pt-BR" sz="2400" b="1" u="sng" dirty="0"/>
              <a:t>marginais</a:t>
            </a:r>
            <a:r>
              <a:rPr lang="pt-BR" sz="2400" dirty="0"/>
              <a:t>; 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400" dirty="0"/>
              <a:t>aplicar a </a:t>
            </a:r>
            <a:r>
              <a:rPr lang="pt-BR" sz="2400" b="1" u="sng" dirty="0"/>
              <a:t>taxa de desconto</a:t>
            </a:r>
            <a:r>
              <a:rPr lang="pt-BR" sz="2400" dirty="0"/>
              <a:t> definida pela </a:t>
            </a:r>
            <a:r>
              <a:rPr lang="pt-BR" sz="2400" dirty="0" err="1"/>
              <a:t>Antaq</a:t>
            </a:r>
            <a:r>
              <a:rPr lang="pt-BR" sz="2400" dirty="0"/>
              <a:t> – se outra não houver sido definida no contrato de arrendamento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0" y="6657120"/>
            <a:ext cx="33794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https://www.abtp.org.br/upfiles/legislacao/Resolucao-Antaq-3220-de-2014.pdf</a:t>
            </a:r>
          </a:p>
        </p:txBody>
      </p:sp>
    </p:spTree>
    <p:extLst>
      <p:ext uri="{BB962C8B-B14F-4D97-AF65-F5344CB8AC3E}">
        <p14:creationId xmlns:p14="http://schemas.microsoft.com/office/powerpoint/2010/main" val="11561290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9205963" y="755384"/>
            <a:ext cx="1676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Portaria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827284" y="785203"/>
            <a:ext cx="9492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530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to 7"/>
          <p:cNvCxnSpPr/>
          <p:nvPr/>
        </p:nvCxnSpPr>
        <p:spPr>
          <a:xfrm>
            <a:off x="9257473" y="1372174"/>
            <a:ext cx="23820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4298950" y="1416624"/>
            <a:ext cx="770255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/>
              <a:t>Art. 6º São consideradas alterações contratuais passíveis de serem incorporadas aos contratos de arrendamento portuário, entre outras:</a:t>
            </a:r>
          </a:p>
          <a:p>
            <a:r>
              <a:rPr lang="pt-BR" sz="3000" dirty="0"/>
              <a:t>I - obrigação de realização de novos investimentos;</a:t>
            </a:r>
          </a:p>
          <a:p>
            <a:r>
              <a:rPr lang="pt-BR" sz="3000" dirty="0"/>
              <a:t>II - alteração do tipo de carga movimentada;</a:t>
            </a:r>
          </a:p>
          <a:p>
            <a:r>
              <a:rPr lang="pt-BR" sz="3000" dirty="0"/>
              <a:t>III - expansão ou redução da área arrendada;</a:t>
            </a:r>
          </a:p>
          <a:p>
            <a:r>
              <a:rPr lang="pt-BR" sz="3000" dirty="0"/>
              <a:t>IV - substituição da área arrendada;</a:t>
            </a:r>
          </a:p>
          <a:p>
            <a:r>
              <a:rPr lang="pt-BR" sz="3000" dirty="0"/>
              <a:t>V - unificação de contratos;</a:t>
            </a:r>
          </a:p>
          <a:p>
            <a:r>
              <a:rPr lang="pt-BR" sz="3000" dirty="0"/>
              <a:t>VI - revisão do cronograma de investimentos; e</a:t>
            </a:r>
          </a:p>
          <a:p>
            <a:r>
              <a:rPr lang="pt-BR" sz="3000" dirty="0"/>
              <a:t>VII - prorrogação do prazo de vigência.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0" y="6657120"/>
            <a:ext cx="387157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https://www.in.gov.br/en/web/dou/-/portaria-n-530-de-13-de-agosto-de-2019-210511731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9224" y="2466809"/>
            <a:ext cx="13589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Fatos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44798" y="3073368"/>
            <a:ext cx="26445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Geradores</a:t>
            </a:r>
          </a:p>
        </p:txBody>
      </p:sp>
      <p:cxnSp>
        <p:nvCxnSpPr>
          <p:cNvPr id="13" name="Conector reto 12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0696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edondar Retângulo em um Canto Diagonal 1"/>
          <p:cNvSpPr/>
          <p:nvPr/>
        </p:nvSpPr>
        <p:spPr>
          <a:xfrm>
            <a:off x="5325815" y="2899992"/>
            <a:ext cx="5343597" cy="3033023"/>
          </a:xfrm>
          <a:prstGeom prst="round2Diag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4062461" y="1066834"/>
            <a:ext cx="76765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É o fluxo de caixa projetado em razão do </a:t>
            </a:r>
            <a:r>
              <a:rPr lang="pt-BR" sz="2400" u="sng" dirty="0"/>
              <a:t>evento que ensejou a recomposição do equilíbrio</a:t>
            </a:r>
            <a:r>
              <a:rPr lang="pt-BR" sz="2400" dirty="0"/>
              <a:t> econômico-financeiro do contrato do arrendamento, considerando os fluxos dos dispêndios e receitas </a:t>
            </a:r>
            <a:r>
              <a:rPr lang="pt-BR" sz="2400" u="sng" dirty="0"/>
              <a:t>marginais</a:t>
            </a:r>
            <a:r>
              <a:rPr lang="pt-BR" sz="2400" dirty="0"/>
              <a:t>, conforme modelo: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70583"/>
              </p:ext>
            </p:extLst>
          </p:nvPr>
        </p:nvGraphicFramePr>
        <p:xfrm>
          <a:off x="5633157" y="3058937"/>
          <a:ext cx="4891310" cy="2209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15243">
                  <a:extLst>
                    <a:ext uri="{9D8B030D-6E8A-4147-A177-3AD203B41FA5}">
                      <a16:colId xmlns:a16="http://schemas.microsoft.com/office/drawing/2014/main" val="1305713776"/>
                    </a:ext>
                  </a:extLst>
                </a:gridCol>
                <a:gridCol w="4276067">
                  <a:extLst>
                    <a:ext uri="{9D8B030D-6E8A-4147-A177-3AD203B41FA5}">
                      <a16:colId xmlns:a16="http://schemas.microsoft.com/office/drawing/2014/main" val="2608591371"/>
                    </a:ext>
                  </a:extLst>
                </a:gridCol>
              </a:tblGrid>
              <a:tr h="33337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Lucro Operacional (EBIT)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52454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+ 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Depreciações e Amortizações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354407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Impostos (IR e CSLL)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945146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+/- 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Variações de Capital de Giro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212856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Investimentos no empreendimento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7082615"/>
                  </a:ext>
                </a:extLst>
              </a:tr>
              <a:tr h="3333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(Nota Técnica nº 7/2014/GRP/SPO/ANTAQ/SEP)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just" rtl="0" fontAlgn="ctr"/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5647696"/>
                  </a:ext>
                </a:extLst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69224" y="2466809"/>
            <a:ext cx="28216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 err="1"/>
              <a:t>FCMarginal</a:t>
            </a:r>
            <a:endParaRPr lang="pt-BR" sz="4400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24561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3.220/14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33794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https://www.abtp.org.br/upfiles/legislacao/Resolucao-Antaq-3220-de-2014.pdf</a:t>
            </a:r>
          </a:p>
        </p:txBody>
      </p:sp>
    </p:spTree>
    <p:extLst>
      <p:ext uri="{BB962C8B-B14F-4D97-AF65-F5344CB8AC3E}">
        <p14:creationId xmlns:p14="http://schemas.microsoft.com/office/powerpoint/2010/main" val="37340172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1489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Pausa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25520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Parênteses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46778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https://acesuzano.com.br/ace-suzano-e-sebrae-aqui-abrem-inscricoes-para-oficina-ganhe-mercado/boneco-confuso/</a:t>
            </a:r>
          </a:p>
        </p:txBody>
      </p:sp>
      <p:pic>
        <p:nvPicPr>
          <p:cNvPr id="35842" name="Picture 2" descr="boneco-confuso - Ace Suza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74" y="1203566"/>
            <a:ext cx="3908425" cy="49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8980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Arredondado 18"/>
          <p:cNvSpPr/>
          <p:nvPr/>
        </p:nvSpPr>
        <p:spPr>
          <a:xfrm>
            <a:off x="3703621" y="1216205"/>
            <a:ext cx="7924549" cy="67897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697111" y="1203566"/>
            <a:ext cx="7968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i="1" dirty="0" err="1">
                <a:solidFill>
                  <a:schemeClr val="bg1"/>
                </a:solidFill>
              </a:rPr>
              <a:t>Valuation</a:t>
            </a:r>
            <a:endParaRPr lang="pt-BR" sz="4000" i="1" dirty="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168187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https://fia.com.br/blog/valuation/</a:t>
            </a:r>
          </a:p>
        </p:txBody>
      </p:sp>
      <p:sp>
        <p:nvSpPr>
          <p:cNvPr id="2" name="Retângulo 1"/>
          <p:cNvSpPr/>
          <p:nvPr/>
        </p:nvSpPr>
        <p:spPr>
          <a:xfrm>
            <a:off x="3697111" y="2201520"/>
            <a:ext cx="793105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pt-BR" sz="2800" dirty="0"/>
              <a:t>É um termo em inglês que significa “Avaliação de  empresas”, “Valoração de Empresas” ou “Arbitragem de Valor”. Se destina a avaliar o valor de determinado ativo e pode ser aplicada para determinar o valor de um imóvel, ação, ou de uma dívida, como uma debênture; e, ainda, o </a:t>
            </a:r>
            <a:r>
              <a:rPr lang="pt-BR" sz="2800" b="1" dirty="0"/>
              <a:t>valor global de uma empresa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50979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3734543" y="2116853"/>
            <a:ext cx="7931059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pt-BR" sz="3400" dirty="0"/>
              <a:t>Determinar o valor do empreendimento;</a:t>
            </a:r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pt-BR" sz="3400" b="1" dirty="0"/>
              <a:t>Valorar a disponibilidade da área</a:t>
            </a:r>
            <a:r>
              <a:rPr lang="pt-BR" sz="3400" dirty="0"/>
              <a:t>;</a:t>
            </a:r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pt-BR" sz="3400" dirty="0"/>
              <a:t>Limitar os ganhos do arrendatário;</a:t>
            </a:r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pt-BR" sz="3400" dirty="0"/>
              <a:t>Determinar valor do arrendamento.</a:t>
            </a:r>
          </a:p>
        </p:txBody>
      </p:sp>
      <p:sp>
        <p:nvSpPr>
          <p:cNvPr id="10" name="Retângulo Arredondado 9"/>
          <p:cNvSpPr/>
          <p:nvPr/>
        </p:nvSpPr>
        <p:spPr>
          <a:xfrm>
            <a:off x="3703621" y="1216205"/>
            <a:ext cx="7924549" cy="67897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3697111" y="1203566"/>
            <a:ext cx="7968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i="1" dirty="0" err="1">
                <a:solidFill>
                  <a:schemeClr val="bg1"/>
                </a:solidFill>
              </a:rPr>
              <a:t>Valuation</a:t>
            </a:r>
            <a:endParaRPr lang="pt-BR" sz="40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710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Arredondado 18"/>
          <p:cNvSpPr/>
          <p:nvPr/>
        </p:nvSpPr>
        <p:spPr>
          <a:xfrm>
            <a:off x="3703621" y="1216205"/>
            <a:ext cx="7924549" cy="67897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697111" y="1203566"/>
            <a:ext cx="7968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“Futurologia”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7" name="Gráfico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8146514"/>
              </p:ext>
            </p:extLst>
          </p:nvPr>
        </p:nvGraphicFramePr>
        <p:xfrm>
          <a:off x="3666189" y="1895181"/>
          <a:ext cx="7917467" cy="4422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31123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tângulo Arredondado 18"/>
          <p:cNvSpPr/>
          <p:nvPr/>
        </p:nvSpPr>
        <p:spPr>
          <a:xfrm>
            <a:off x="3703621" y="1216205"/>
            <a:ext cx="7924549" cy="67897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697112" y="1203566"/>
            <a:ext cx="7931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“Futurologia” a valor presente</a:t>
            </a:r>
          </a:p>
        </p:txBody>
      </p:sp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909774"/>
              </p:ext>
            </p:extLst>
          </p:nvPr>
        </p:nvGraphicFramePr>
        <p:xfrm>
          <a:off x="3759200" y="2080052"/>
          <a:ext cx="7868970" cy="4399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916161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Arredondado 16"/>
          <p:cNvSpPr/>
          <p:nvPr/>
        </p:nvSpPr>
        <p:spPr>
          <a:xfrm>
            <a:off x="4836188" y="4941231"/>
            <a:ext cx="6750541" cy="187457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9" name="Retângulo Arredondado 18"/>
          <p:cNvSpPr/>
          <p:nvPr/>
        </p:nvSpPr>
        <p:spPr>
          <a:xfrm>
            <a:off x="4877629" y="1216205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2" name="Retângulo Arredondado 21"/>
          <p:cNvSpPr/>
          <p:nvPr/>
        </p:nvSpPr>
        <p:spPr>
          <a:xfrm>
            <a:off x="4877629" y="2643699"/>
            <a:ext cx="675054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4877629" y="1203566"/>
            <a:ext cx="67505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Princípios de contabilidade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(BP/DRE/caixa x competência)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877629" y="2650018"/>
            <a:ext cx="6787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Matemática financeira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(valor do $ no tempo)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877630" y="4934912"/>
            <a:ext cx="67091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(TMA/TIR/VPL/WACC/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ROA/ROE, </a:t>
            </a:r>
            <a:r>
              <a:rPr lang="pt-BR" sz="4000" i="1" dirty="0" err="1">
                <a:solidFill>
                  <a:schemeClr val="bg1"/>
                </a:solidFill>
              </a:rPr>
              <a:t>payback</a:t>
            </a:r>
            <a:r>
              <a:rPr lang="pt-BR" sz="40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pt-BR" sz="4000" i="1" dirty="0" err="1">
                <a:solidFill>
                  <a:schemeClr val="bg1"/>
                </a:solidFill>
              </a:rPr>
              <a:t>Payback</a:t>
            </a:r>
            <a:r>
              <a:rPr lang="pt-BR" sz="4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tângulo Arredondado 24"/>
          <p:cNvSpPr/>
          <p:nvPr/>
        </p:nvSpPr>
        <p:spPr>
          <a:xfrm>
            <a:off x="4840197" y="4064874"/>
            <a:ext cx="6750541" cy="75966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4840197" y="4071193"/>
            <a:ext cx="6787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Data-base x data focal</a:t>
            </a:r>
          </a:p>
        </p:txBody>
      </p:sp>
    </p:spTree>
    <p:extLst>
      <p:ext uri="{BB962C8B-B14F-4D97-AF65-F5344CB8AC3E}">
        <p14:creationId xmlns:p14="http://schemas.microsoft.com/office/powerpoint/2010/main" val="3818019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Arredondado 18"/>
          <p:cNvSpPr/>
          <p:nvPr/>
        </p:nvSpPr>
        <p:spPr>
          <a:xfrm>
            <a:off x="3361209" y="1216205"/>
            <a:ext cx="826696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52801" y="1203566"/>
            <a:ext cx="8312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Princípios de contabilidade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(Lei 6.404/76)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308833" y="2705129"/>
            <a:ext cx="829491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22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latin typeface="+mn-lt"/>
              </a:rPr>
              <a:t>Art. 176. Ao fim de cada exercício social, a diretoria fará elaborar, com base na escrituração mercantil da companhia, as seguintes demonstrações financeiras, que deverão exprimir com clareza a situação do patrimônio da companhia e as mutações ocorridas no exercício:</a:t>
            </a:r>
          </a:p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latin typeface="+mn-lt"/>
              </a:rPr>
              <a:t>I - </a:t>
            </a:r>
            <a:r>
              <a:rPr lang="pt-BR" altLang="pt-BR" sz="2000" b="1" dirty="0">
                <a:latin typeface="+mn-lt"/>
              </a:rPr>
              <a:t>balanço patrimonial</a:t>
            </a:r>
            <a:r>
              <a:rPr lang="pt-BR" altLang="pt-BR" sz="2000" dirty="0">
                <a:latin typeface="+mn-lt"/>
              </a:rPr>
              <a:t>;</a:t>
            </a:r>
          </a:p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latin typeface="+mn-lt"/>
              </a:rPr>
              <a:t>II - demonstração dos lucros ou prejuízos acumulados;</a:t>
            </a:r>
          </a:p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latin typeface="+mn-lt"/>
              </a:rPr>
              <a:t>III - </a:t>
            </a:r>
            <a:r>
              <a:rPr lang="pt-BR" altLang="pt-BR" sz="2000" b="1" dirty="0">
                <a:latin typeface="+mn-lt"/>
              </a:rPr>
              <a:t>demonstração do resultado do exercício</a:t>
            </a:r>
            <a:r>
              <a:rPr lang="pt-BR" altLang="pt-BR" sz="2000" dirty="0">
                <a:latin typeface="+mn-lt"/>
              </a:rPr>
              <a:t>; e</a:t>
            </a:r>
          </a:p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latin typeface="+mn-lt"/>
              </a:rPr>
              <a:t>IV - </a:t>
            </a:r>
            <a:r>
              <a:rPr lang="pt-BR" altLang="pt-BR" sz="2000" strike="sngStrike" dirty="0">
                <a:latin typeface="+mn-lt"/>
              </a:rPr>
              <a:t>demonstração das origens e aplicações de recursos</a:t>
            </a:r>
            <a:r>
              <a:rPr lang="pt-BR" altLang="pt-BR" sz="2000" dirty="0">
                <a:latin typeface="+mn-lt"/>
              </a:rPr>
              <a:t>.</a:t>
            </a:r>
          </a:p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latin typeface="+mn-lt"/>
              </a:rPr>
              <a:t>IV – demonstração dos fluxos de caixa; e</a:t>
            </a:r>
          </a:p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latin typeface="+mn-lt"/>
              </a:rPr>
              <a:t>V – se companhia aberta, demonstração do valor adicionado.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0" y="6657120"/>
            <a:ext cx="255230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http://www.planalto.gov.br/ccivil_03/leis/l6404consol.htm</a:t>
            </a:r>
          </a:p>
        </p:txBody>
      </p:sp>
    </p:spTree>
    <p:extLst>
      <p:ext uri="{BB962C8B-B14F-4D97-AF65-F5344CB8AC3E}">
        <p14:creationId xmlns:p14="http://schemas.microsoft.com/office/powerpoint/2010/main" val="16761205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tângulo Arredondado 18"/>
          <p:cNvSpPr/>
          <p:nvPr/>
        </p:nvSpPr>
        <p:spPr>
          <a:xfrm>
            <a:off x="3390435" y="1216205"/>
            <a:ext cx="826696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52801" y="1203566"/>
            <a:ext cx="83045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Princípios de contabilidade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(Balanço patrimonial)</a:t>
            </a:r>
          </a:p>
        </p:txBody>
      </p:sp>
      <p:pic>
        <p:nvPicPr>
          <p:cNvPr id="9218" name="Picture 2" descr="O Balanço Patrimonial e sua utilidade | GeCompan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814" y="2734672"/>
            <a:ext cx="8264582" cy="392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6657120"/>
            <a:ext cx="347723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http://www.gecompany.com.br/educacional/o-balanco-patrimonial-e-sua-utilidade/</a:t>
            </a:r>
          </a:p>
        </p:txBody>
      </p:sp>
    </p:spTree>
    <p:extLst>
      <p:ext uri="{BB962C8B-B14F-4D97-AF65-F5344CB8AC3E}">
        <p14:creationId xmlns:p14="http://schemas.microsoft.com/office/powerpoint/2010/main" val="12423227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tângulo Arredondado 18"/>
          <p:cNvSpPr/>
          <p:nvPr/>
        </p:nvSpPr>
        <p:spPr>
          <a:xfrm>
            <a:off x="3361209" y="1216205"/>
            <a:ext cx="826696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52801" y="1203566"/>
            <a:ext cx="8312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Princípios de contabilidade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(Balanço patrimonial, CPC 00)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0" y="6657120"/>
            <a:ext cx="370806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http://www.cpc.org.br/CPC/Documentos-Emitidos/Pronunciamentos/Pronunciamento?Id=80</a:t>
            </a:r>
          </a:p>
        </p:txBody>
      </p:sp>
      <p:sp>
        <p:nvSpPr>
          <p:cNvPr id="2" name="Retângulo 1"/>
          <p:cNvSpPr/>
          <p:nvPr/>
        </p:nvSpPr>
        <p:spPr>
          <a:xfrm>
            <a:off x="3430247" y="2774975"/>
            <a:ext cx="823535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/>
              <a:t>Ativo é um </a:t>
            </a:r>
            <a:r>
              <a:rPr lang="pt-BR" sz="2400" b="1" dirty="0"/>
              <a:t>recurso econômico presente</a:t>
            </a:r>
            <a:r>
              <a:rPr lang="pt-BR" sz="2400" dirty="0"/>
              <a:t> controlado pela entidade como resultado de eventos passados;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/>
              <a:t>Passivo é uma </a:t>
            </a:r>
            <a:r>
              <a:rPr lang="pt-BR" sz="2400" b="1" dirty="0"/>
              <a:t>obrigação presente </a:t>
            </a:r>
            <a:r>
              <a:rPr lang="pt-BR" sz="2400" dirty="0"/>
              <a:t>da entidade de transferir um recurso econômico como resultado de eventos passados;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/>
              <a:t>Patrimônio líquido é a </a:t>
            </a:r>
            <a:r>
              <a:rPr lang="pt-BR" sz="2400" b="1" dirty="0"/>
              <a:t>participação residual </a:t>
            </a:r>
            <a:r>
              <a:rPr lang="pt-BR" sz="2400" dirty="0"/>
              <a:t>nos ativos da entidade após a dedução de todos os seus passivos.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270059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tângulo Arredondado 18"/>
          <p:cNvSpPr/>
          <p:nvPr/>
        </p:nvSpPr>
        <p:spPr>
          <a:xfrm>
            <a:off x="3361209" y="1216205"/>
            <a:ext cx="826696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52801" y="1203566"/>
            <a:ext cx="8275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Princípios de contabilidade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(Balanço patrimonial)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0" y="6657120"/>
            <a:ext cx="289534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https://pt.slideshare.net/325900/modulo-1-contabilidade-gerencial</a:t>
            </a:r>
          </a:p>
        </p:txBody>
      </p:sp>
      <p:pic>
        <p:nvPicPr>
          <p:cNvPr id="15" name="Picture 2" descr="Módulo 1 Contabilidade Gerencia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196" y="2624584"/>
            <a:ext cx="6044607" cy="453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109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O Balanço Patrimonial e sua utilidade | GeCompan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814" y="2734672"/>
            <a:ext cx="8264582" cy="392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ixaDeTexto 21"/>
          <p:cNvSpPr txBox="1"/>
          <p:nvPr/>
        </p:nvSpPr>
        <p:spPr>
          <a:xfrm>
            <a:off x="7337088" y="3316029"/>
            <a:ext cx="18181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rgbClr val="FFFF00"/>
                </a:solidFill>
              </a:rPr>
              <a:t>Circulante (curto prazo)</a:t>
            </a:r>
          </a:p>
          <a:p>
            <a:endParaRPr lang="pt-BR" dirty="0">
              <a:solidFill>
                <a:srgbClr val="FFFF00"/>
              </a:solidFill>
            </a:endParaRPr>
          </a:p>
          <a:p>
            <a:pPr algn="ctr"/>
            <a:endParaRPr lang="pt-BR" sz="800" dirty="0">
              <a:solidFill>
                <a:srgbClr val="FFFF00"/>
              </a:solidFill>
            </a:endParaRPr>
          </a:p>
          <a:p>
            <a:pPr algn="ctr"/>
            <a:r>
              <a:rPr lang="pt-BR" sz="1200" dirty="0">
                <a:solidFill>
                  <a:srgbClr val="FFFF00"/>
                </a:solidFill>
              </a:rPr>
              <a:t>Não circulante</a:t>
            </a:r>
          </a:p>
          <a:p>
            <a:pPr algn="ctr"/>
            <a:r>
              <a:rPr lang="pt-BR" sz="1200" dirty="0">
                <a:solidFill>
                  <a:srgbClr val="FFFF00"/>
                </a:solidFill>
              </a:rPr>
              <a:t>(longo prazo)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tângulo Arredondado 18"/>
          <p:cNvSpPr/>
          <p:nvPr/>
        </p:nvSpPr>
        <p:spPr>
          <a:xfrm>
            <a:off x="3361209" y="1216205"/>
            <a:ext cx="826696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52801" y="1203566"/>
            <a:ext cx="8275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Princípios de contabilidade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(Balanço patrimonial)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0" y="6657120"/>
            <a:ext cx="546175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</a:t>
            </a:r>
            <a:r>
              <a:rPr lang="pt-BR" sz="700" dirty="0">
                <a:hlinkClick r:id="rId5"/>
              </a:rPr>
              <a:t>http://www.portaldecontabilidade.com.br/tematicas/</a:t>
            </a:r>
            <a:r>
              <a:rPr lang="pt-BR" sz="700" dirty="0"/>
              <a:t> e http://www.gecompany.com.br/educacional/o-balanco-patrimonial-e-sua-utilidade</a:t>
            </a:r>
          </a:p>
        </p:txBody>
      </p:sp>
      <p:sp>
        <p:nvSpPr>
          <p:cNvPr id="2" name="Retângulo 1"/>
          <p:cNvSpPr/>
          <p:nvPr/>
        </p:nvSpPr>
        <p:spPr>
          <a:xfrm>
            <a:off x="5508978" y="3341511"/>
            <a:ext cx="1744133" cy="745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5508977" y="4086578"/>
            <a:ext cx="1744133" cy="1580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5508977" y="3366995"/>
            <a:ext cx="1744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Circulante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(caixa)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pPr algn="ctr"/>
            <a:r>
              <a:rPr lang="pt-BR" dirty="0">
                <a:solidFill>
                  <a:srgbClr val="FF0000"/>
                </a:solidFill>
              </a:rPr>
              <a:t>Não circulante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(imobilizado)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7337092" y="3341512"/>
            <a:ext cx="1818198" cy="33302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7337089" y="3666152"/>
            <a:ext cx="1818198" cy="71170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3032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2653290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http://clubedefinancas.com.br/materias/balanco-patrimonial/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9291831" y="786966"/>
            <a:ext cx="1959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EXEMPLO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30501" y="78696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BP</a:t>
            </a:r>
          </a:p>
        </p:txBody>
      </p:sp>
      <p:cxnSp>
        <p:nvCxnSpPr>
          <p:cNvPr id="30" name="Conector reto 29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434" name="Picture 2" descr="http://clubedefinancas.com.br/wp-content/uploads/2020/11/Screen-Shot-2020-11-27-at-14.22.08-1-1024x67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598" y="1449363"/>
            <a:ext cx="7583651" cy="496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1906698" y="2470150"/>
            <a:ext cx="3725752" cy="184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1906698" y="2715947"/>
            <a:ext cx="3725752" cy="184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1906698" y="2972960"/>
            <a:ext cx="3725752" cy="184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888148" y="2470150"/>
            <a:ext cx="3725752" cy="184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1906698" y="5206463"/>
            <a:ext cx="3725752" cy="184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42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Arredondado 18"/>
          <p:cNvSpPr/>
          <p:nvPr/>
        </p:nvSpPr>
        <p:spPr>
          <a:xfrm>
            <a:off x="3361209" y="1216205"/>
            <a:ext cx="826696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52800" y="1203566"/>
            <a:ext cx="8275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Princípios de contabilidade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(caixa x competência)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0" y="6657120"/>
            <a:ext cx="332975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https://www.blbbrasil.com.br/blog/regime-de-caixa-e-regime-de-competencia/</a:t>
            </a:r>
          </a:p>
        </p:txBody>
      </p:sp>
      <p:sp>
        <p:nvSpPr>
          <p:cNvPr id="3" name="Retângulo 2"/>
          <p:cNvSpPr/>
          <p:nvPr/>
        </p:nvSpPr>
        <p:spPr>
          <a:xfrm>
            <a:off x="3352801" y="2705836"/>
            <a:ext cx="82353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No </a:t>
            </a:r>
            <a:r>
              <a:rPr lang="pt-BR" sz="2400" b="1" dirty="0"/>
              <a:t>regime de caixa </a:t>
            </a:r>
            <a:r>
              <a:rPr lang="pt-BR" sz="2400" dirty="0"/>
              <a:t>o registro do evento se dá no momento em que ocorre a transação financeira, ou seja, é considerada a data de pagamento ou recebimento como se fosse uma conta bancária;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No </a:t>
            </a:r>
            <a:r>
              <a:rPr lang="pt-BR" sz="2400" b="1" dirty="0"/>
              <a:t>regime de competência</a:t>
            </a:r>
            <a:r>
              <a:rPr lang="pt-BR" sz="2400" dirty="0"/>
              <a:t>, as receitas e despesas são contabilizadas assim que ocorrem, considerando a data do fato gerador, independentemente se haverá pagamentos ou recebimentos. </a:t>
            </a:r>
          </a:p>
        </p:txBody>
      </p:sp>
    </p:spTree>
    <p:extLst>
      <p:ext uri="{BB962C8B-B14F-4D97-AF65-F5344CB8AC3E}">
        <p14:creationId xmlns:p14="http://schemas.microsoft.com/office/powerpoint/2010/main" val="1554452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rredondar Retângulo em um Canto Diagonal 22"/>
          <p:cNvSpPr/>
          <p:nvPr/>
        </p:nvSpPr>
        <p:spPr>
          <a:xfrm>
            <a:off x="4622800" y="5080002"/>
            <a:ext cx="5864578" cy="829724"/>
          </a:xfrm>
          <a:prstGeom prst="round2Diag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tângulo Arredondado 18"/>
          <p:cNvSpPr/>
          <p:nvPr/>
        </p:nvSpPr>
        <p:spPr>
          <a:xfrm>
            <a:off x="3361209" y="1216205"/>
            <a:ext cx="826696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52801" y="1203566"/>
            <a:ext cx="8275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Princípios de contabilidade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(DRE – Demonstração do resultado)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0" y="6657120"/>
            <a:ext cx="629050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https://www.sebrae.com.br/sites/PortalSebrae/ufs/ap/artigos/como-fazer-um-demonstrativo-de-resultados,48f3ace85e4ef510VgnVCM1000004c00210aRCRD</a:t>
            </a:r>
          </a:p>
        </p:txBody>
      </p:sp>
      <p:sp>
        <p:nvSpPr>
          <p:cNvPr id="3" name="Retângulo 2"/>
          <p:cNvSpPr/>
          <p:nvPr/>
        </p:nvSpPr>
        <p:spPr>
          <a:xfrm>
            <a:off x="3392815" y="2914680"/>
            <a:ext cx="82353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Demonstração do Resultado do Exercício, também conhecida como DRE, tem por objetivo detalhar a formação do resultado líquido de um exercício pela </a:t>
            </a:r>
            <a:r>
              <a:rPr lang="pt-BR" sz="2400" b="1" dirty="0"/>
              <a:t>confrontação das receitas e despesas </a:t>
            </a:r>
            <a:r>
              <a:rPr lang="pt-BR" sz="2400" dirty="0"/>
              <a:t>de, apuradas segundo o princípio contábil do </a:t>
            </a:r>
            <a:r>
              <a:rPr lang="pt-BR" sz="2400" b="1" dirty="0"/>
              <a:t>regime de competência.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690533" y="5047510"/>
            <a:ext cx="576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receitas</a:t>
            </a:r>
            <a:r>
              <a:rPr lang="pt-BR" sz="4000" dirty="0"/>
              <a:t> – </a:t>
            </a:r>
            <a:r>
              <a:rPr lang="pt-BR" sz="4000" dirty="0">
                <a:solidFill>
                  <a:srgbClr val="FF0000"/>
                </a:solidFill>
              </a:rPr>
              <a:t>despesas</a:t>
            </a:r>
            <a:r>
              <a:rPr lang="pt-BR" sz="4000" dirty="0"/>
              <a:t> = lucro</a:t>
            </a:r>
          </a:p>
        </p:txBody>
      </p:sp>
    </p:spTree>
    <p:extLst>
      <p:ext uri="{BB962C8B-B14F-4D97-AF65-F5344CB8AC3E}">
        <p14:creationId xmlns:p14="http://schemas.microsoft.com/office/powerpoint/2010/main" val="4798589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tângulo 17"/>
          <p:cNvSpPr/>
          <p:nvPr/>
        </p:nvSpPr>
        <p:spPr>
          <a:xfrm>
            <a:off x="0" y="6657120"/>
            <a:ext cx="667843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http://www.cpc.org.br/CPC/Documentos-Emitidos/Pronunciamentos/Pronunciamento?Id=57</a:t>
            </a:r>
            <a:r>
              <a:rPr lang="pt-BR" sz="700" dirty="0"/>
              <a:t> e http://web.antaq.gov.br/portalv3/pdf/NotasTecnicas/NotaTecnica072014.pdf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734192"/>
              </p:ext>
            </p:extLst>
          </p:nvPr>
        </p:nvGraphicFramePr>
        <p:xfrm>
          <a:off x="4216998" y="1005299"/>
          <a:ext cx="3235996" cy="5487966"/>
        </p:xfrm>
        <a:graphic>
          <a:graphicData uri="http://schemas.openxmlformats.org/drawingml/2006/table">
            <a:tbl>
              <a:tblPr/>
              <a:tblGrid>
                <a:gridCol w="3235996">
                  <a:extLst>
                    <a:ext uri="{9D8B030D-6E8A-4147-A177-3AD203B41FA5}">
                      <a16:colId xmlns:a16="http://schemas.microsoft.com/office/drawing/2014/main" val="1278663431"/>
                    </a:ext>
                  </a:extLst>
                </a:gridCol>
              </a:tblGrid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RECEITA OPERACIONAL BRUTA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0977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mercadorias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0399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produtos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09476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71115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5891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Devoluções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36322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Abatimentos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48568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sobre vendas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1579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92163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OPERACIONAIS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625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56781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0095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FINANCEIRAS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1265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financeiras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54676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Receitas financeiras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7844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5882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595481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473721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02257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06965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54434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61272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48433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21495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LUCRO ANTES DAS PARTICIPAÇÕES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126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Debêntures, participações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106621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68391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702028"/>
              </p:ext>
            </p:extLst>
          </p:nvPr>
        </p:nvGraphicFramePr>
        <p:xfrm>
          <a:off x="8652478" y="1005299"/>
          <a:ext cx="3241072" cy="5487966"/>
        </p:xfrm>
        <a:graphic>
          <a:graphicData uri="http://schemas.openxmlformats.org/drawingml/2006/table">
            <a:tbl>
              <a:tblPr/>
              <a:tblGrid>
                <a:gridCol w="3241072">
                  <a:extLst>
                    <a:ext uri="{9D8B030D-6E8A-4147-A177-3AD203B41FA5}">
                      <a16:colId xmlns:a16="http://schemas.microsoft.com/office/drawing/2014/main" val="978675626"/>
                    </a:ext>
                  </a:extLst>
                </a:gridCol>
              </a:tblGrid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RECEITA OPERACIONAL BRUTA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98139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791454"/>
                  </a:ext>
                </a:extLst>
              </a:tr>
              <a:tr h="132958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03131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72687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36110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07202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47776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sobre vendas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37857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0390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OPERACIONAIS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90309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34892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54295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82105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45709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06621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97353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51238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09912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8411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23491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76157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7248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12745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61930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6081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9400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550515"/>
                  </a:ext>
                </a:extLst>
              </a:tr>
            </a:tbl>
          </a:graphicData>
        </a:graphic>
      </p:graphicFrame>
      <p:sp>
        <p:nvSpPr>
          <p:cNvPr id="26" name="Retângulo Arredondado 25"/>
          <p:cNvSpPr/>
          <p:nvPr/>
        </p:nvSpPr>
        <p:spPr>
          <a:xfrm>
            <a:off x="3501633" y="1005299"/>
            <a:ext cx="670955" cy="548796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501633" y="2081939"/>
            <a:ext cx="6709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P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8" name="Retângulo Arredondado 27"/>
          <p:cNvSpPr/>
          <p:nvPr/>
        </p:nvSpPr>
        <p:spPr>
          <a:xfrm>
            <a:off x="7877623" y="1005299"/>
            <a:ext cx="670955" cy="548796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7877622" y="2234339"/>
            <a:ext cx="6709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NT07</a:t>
            </a:r>
          </a:p>
        </p:txBody>
      </p:sp>
    </p:spTree>
    <p:extLst>
      <p:ext uri="{BB962C8B-B14F-4D97-AF65-F5344CB8AC3E}">
        <p14:creationId xmlns:p14="http://schemas.microsoft.com/office/powerpoint/2010/main" val="40002935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19383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Processo </a:t>
            </a:r>
            <a:r>
              <a:rPr lang="pt-BR" sz="700" dirty="0" err="1"/>
              <a:t>Antaq</a:t>
            </a:r>
            <a:r>
              <a:rPr lang="pt-BR" sz="700" dirty="0"/>
              <a:t> 50300.000414/2016-06 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9438799" y="770293"/>
            <a:ext cx="1748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Exemplo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035251" y="786966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07" y="1663028"/>
            <a:ext cx="11725943" cy="4629821"/>
          </a:xfrm>
          <a:prstGeom prst="rect">
            <a:avLst/>
          </a:prstGeom>
        </p:spPr>
      </p:pic>
      <p:cxnSp>
        <p:nvCxnSpPr>
          <p:cNvPr id="30" name="Conector reto 29"/>
          <p:cNvCxnSpPr/>
          <p:nvPr/>
        </p:nvCxnSpPr>
        <p:spPr>
          <a:xfrm>
            <a:off x="9587038" y="1394623"/>
            <a:ext cx="2165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tângulo 24"/>
          <p:cNvSpPr/>
          <p:nvPr/>
        </p:nvSpPr>
        <p:spPr>
          <a:xfrm>
            <a:off x="133350" y="6096000"/>
            <a:ext cx="11798300" cy="2413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58099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Arredondado 18"/>
          <p:cNvSpPr/>
          <p:nvPr/>
        </p:nvSpPr>
        <p:spPr>
          <a:xfrm>
            <a:off x="3361209" y="1216205"/>
            <a:ext cx="8266961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52801" y="1203566"/>
            <a:ext cx="8275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Matemática financeira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(valor do $ no tempo)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0" y="6657120"/>
            <a:ext cx="88056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https://blog.keruak.com.br/valor-do-dinheiro-no-tempo/#:~:text=4%20min%20read-,O%20valor%20do%20dinheiro%20no%20tempo%20%C3%A9%20um%20conceito%20financeiro,maior%20de%20dinheiro%20no%20futuro.</a:t>
            </a:r>
          </a:p>
        </p:txBody>
      </p:sp>
      <p:sp>
        <p:nvSpPr>
          <p:cNvPr id="3" name="Retângulo 2"/>
          <p:cNvSpPr/>
          <p:nvPr/>
        </p:nvSpPr>
        <p:spPr>
          <a:xfrm>
            <a:off x="3392814" y="2779136"/>
            <a:ext cx="818323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O valor do dinheiro no tempo é um conceito financeiro básico que sustenta que </a:t>
            </a:r>
            <a:r>
              <a:rPr lang="pt-BR" sz="3200" b="1" dirty="0"/>
              <a:t>o dinheiro no presente vale mais do que a mesma soma de dinheiro a ser recebida no futuro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34938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de seta reta 2"/>
          <p:cNvCxnSpPr/>
          <p:nvPr/>
        </p:nvCxnSpPr>
        <p:spPr>
          <a:xfrm>
            <a:off x="4968793" y="4001807"/>
            <a:ext cx="63405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reto 36"/>
          <p:cNvCxnSpPr/>
          <p:nvPr/>
        </p:nvCxnSpPr>
        <p:spPr>
          <a:xfrm>
            <a:off x="4968793" y="1837606"/>
            <a:ext cx="0" cy="42195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25"/>
          <p:cNvCxnSpPr>
            <a:endCxn id="50" idx="2"/>
          </p:cNvCxnSpPr>
          <p:nvPr/>
        </p:nvCxnSpPr>
        <p:spPr>
          <a:xfrm flipV="1">
            <a:off x="6757926" y="2300877"/>
            <a:ext cx="0" cy="1696802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26"/>
          <p:cNvCxnSpPr/>
          <p:nvPr/>
        </p:nvCxnSpPr>
        <p:spPr>
          <a:xfrm flipV="1">
            <a:off x="7527972" y="2461090"/>
            <a:ext cx="0" cy="1540717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27"/>
          <p:cNvCxnSpPr/>
          <p:nvPr/>
        </p:nvCxnSpPr>
        <p:spPr>
          <a:xfrm flipV="1">
            <a:off x="8208530" y="2717168"/>
            <a:ext cx="0" cy="1278231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28"/>
          <p:cNvCxnSpPr/>
          <p:nvPr/>
        </p:nvCxnSpPr>
        <p:spPr>
          <a:xfrm flipV="1">
            <a:off x="8901221" y="2942759"/>
            <a:ext cx="0" cy="1052640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600419" y="172024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45" name="Conector reto 44"/>
          <p:cNvCxnSpPr/>
          <p:nvPr/>
        </p:nvCxnSpPr>
        <p:spPr>
          <a:xfrm>
            <a:off x="10556759" y="2369481"/>
            <a:ext cx="0" cy="39052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4313479" y="36466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6329934" y="1839212"/>
            <a:ext cx="85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909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10477962" y="3681538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de seta reta 28"/>
          <p:cNvCxnSpPr/>
          <p:nvPr/>
        </p:nvCxnSpPr>
        <p:spPr>
          <a:xfrm flipV="1">
            <a:off x="9726805" y="3323727"/>
            <a:ext cx="0" cy="692237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/>
          <p:cNvSpPr txBox="1"/>
          <p:nvPr/>
        </p:nvSpPr>
        <p:spPr>
          <a:xfrm>
            <a:off x="7089316" y="2033304"/>
            <a:ext cx="85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826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7754330" y="2254363"/>
            <a:ext cx="85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751</a:t>
            </a:r>
          </a:p>
        </p:txBody>
      </p:sp>
      <p:sp>
        <p:nvSpPr>
          <p:cNvPr id="69" name="CaixaDeTexto 68"/>
          <p:cNvSpPr txBox="1"/>
          <p:nvPr/>
        </p:nvSpPr>
        <p:spPr>
          <a:xfrm>
            <a:off x="8434095" y="2504743"/>
            <a:ext cx="85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683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9290079" y="2853334"/>
            <a:ext cx="85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621</a:t>
            </a:r>
          </a:p>
        </p:txBody>
      </p:sp>
      <p:cxnSp>
        <p:nvCxnSpPr>
          <p:cNvPr id="72" name="Conector de seta reta 25"/>
          <p:cNvCxnSpPr>
            <a:endCxn id="73" idx="2"/>
          </p:cNvCxnSpPr>
          <p:nvPr/>
        </p:nvCxnSpPr>
        <p:spPr>
          <a:xfrm flipV="1">
            <a:off x="5826104" y="1901943"/>
            <a:ext cx="0" cy="2093456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/>
          <p:cNvSpPr txBox="1"/>
          <p:nvPr/>
        </p:nvSpPr>
        <p:spPr>
          <a:xfrm>
            <a:off x="5398112" y="1440278"/>
            <a:ext cx="85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20404176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de seta reta 2"/>
          <p:cNvCxnSpPr/>
          <p:nvPr/>
        </p:nvCxnSpPr>
        <p:spPr>
          <a:xfrm>
            <a:off x="4797343" y="3747320"/>
            <a:ext cx="63405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reto 36"/>
          <p:cNvCxnSpPr/>
          <p:nvPr/>
        </p:nvCxnSpPr>
        <p:spPr>
          <a:xfrm>
            <a:off x="4797343" y="1583119"/>
            <a:ext cx="0" cy="42195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25"/>
          <p:cNvCxnSpPr/>
          <p:nvPr/>
        </p:nvCxnSpPr>
        <p:spPr>
          <a:xfrm>
            <a:off x="6586476" y="3743192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26"/>
          <p:cNvCxnSpPr/>
          <p:nvPr/>
        </p:nvCxnSpPr>
        <p:spPr>
          <a:xfrm>
            <a:off x="7356522" y="3747321"/>
            <a:ext cx="0" cy="215182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27"/>
          <p:cNvCxnSpPr/>
          <p:nvPr/>
        </p:nvCxnSpPr>
        <p:spPr>
          <a:xfrm>
            <a:off x="8037080" y="3740913"/>
            <a:ext cx="0" cy="246938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28"/>
          <p:cNvCxnSpPr/>
          <p:nvPr/>
        </p:nvCxnSpPr>
        <p:spPr>
          <a:xfrm>
            <a:off x="8729771" y="3740912"/>
            <a:ext cx="0" cy="267893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428969" y="146576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45" name="Conector reto 44"/>
          <p:cNvCxnSpPr/>
          <p:nvPr/>
        </p:nvCxnSpPr>
        <p:spPr>
          <a:xfrm>
            <a:off x="10385309" y="2114994"/>
            <a:ext cx="0" cy="39052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4142029" y="339214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10306512" y="3427051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de seta reta 28"/>
          <p:cNvCxnSpPr/>
          <p:nvPr/>
        </p:nvCxnSpPr>
        <p:spPr>
          <a:xfrm>
            <a:off x="9555355" y="3761478"/>
            <a:ext cx="0" cy="295682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25"/>
          <p:cNvCxnSpPr/>
          <p:nvPr/>
        </p:nvCxnSpPr>
        <p:spPr>
          <a:xfrm>
            <a:off x="5654654" y="3740912"/>
            <a:ext cx="0" cy="13517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/>
          <p:cNvSpPr txBox="1"/>
          <p:nvPr/>
        </p:nvSpPr>
        <p:spPr>
          <a:xfrm>
            <a:off x="5211852" y="3115792"/>
            <a:ext cx="5443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1000   1100 1210 1331 1464 1611</a:t>
            </a:r>
          </a:p>
        </p:txBody>
      </p:sp>
    </p:spTree>
    <p:extLst>
      <p:ext uri="{BB962C8B-B14F-4D97-AF65-F5344CB8AC3E}">
        <p14:creationId xmlns:p14="http://schemas.microsoft.com/office/powerpoint/2010/main" val="26235666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506" name="Picture 2" descr="Miniatura Batmóvel c/ Batman Arkham DC 1:24 Jada Toys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9" y="3346624"/>
            <a:ext cx="3432175" cy="343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tângulo 24"/>
          <p:cNvSpPr/>
          <p:nvPr/>
        </p:nvSpPr>
        <p:spPr>
          <a:xfrm>
            <a:off x="0" y="6657120"/>
            <a:ext cx="517321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https://www.minimundi.com.br/miniatura-carro-batmovel-c-figura-batman-arkham-knight-dc-metals-die-cast-1-24-jada-toys-98037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27070"/>
              </p:ext>
            </p:extLst>
          </p:nvPr>
        </p:nvGraphicFramePr>
        <p:xfrm>
          <a:off x="3944328" y="2146875"/>
          <a:ext cx="7784123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92018">
                  <a:extLst>
                    <a:ext uri="{9D8B030D-6E8A-4147-A177-3AD203B41FA5}">
                      <a16:colId xmlns:a16="http://schemas.microsoft.com/office/drawing/2014/main" val="3206494340"/>
                    </a:ext>
                  </a:extLst>
                </a:gridCol>
                <a:gridCol w="1964227">
                  <a:extLst>
                    <a:ext uri="{9D8B030D-6E8A-4147-A177-3AD203B41FA5}">
                      <a16:colId xmlns:a16="http://schemas.microsoft.com/office/drawing/2014/main" val="815078519"/>
                    </a:ext>
                  </a:extLst>
                </a:gridCol>
                <a:gridCol w="2006146">
                  <a:extLst>
                    <a:ext uri="{9D8B030D-6E8A-4147-A177-3AD203B41FA5}">
                      <a16:colId xmlns:a16="http://schemas.microsoft.com/office/drawing/2014/main" val="2796512410"/>
                    </a:ext>
                  </a:extLst>
                </a:gridCol>
                <a:gridCol w="2221732">
                  <a:extLst>
                    <a:ext uri="{9D8B030D-6E8A-4147-A177-3AD203B41FA5}">
                      <a16:colId xmlns:a16="http://schemas.microsoft.com/office/drawing/2014/main" val="1676049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600" dirty="0"/>
                        <a:t>À</a:t>
                      </a:r>
                      <a:r>
                        <a:rPr lang="pt-BR" sz="3600" baseline="0" dirty="0"/>
                        <a:t> vista</a:t>
                      </a:r>
                      <a:endParaRPr lang="pt-BR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/>
                        <a:t>Parcelas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/>
                        <a:t>Valor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86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dirty="0"/>
                        <a:t>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50.000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266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dirty="0"/>
                        <a:t>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7.914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59.569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81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dirty="0"/>
                        <a:t>10.000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6.514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75.098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41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dirty="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5.043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252.147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897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7250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506" name="Picture 2" descr="Miniatura Batmóvel c/ Batman Arkham DC 1:24 Jada Toys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9" y="3346624"/>
            <a:ext cx="3432175" cy="343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tângulo 24"/>
          <p:cNvSpPr/>
          <p:nvPr/>
        </p:nvSpPr>
        <p:spPr>
          <a:xfrm>
            <a:off x="0" y="6657120"/>
            <a:ext cx="517321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https://www.minimundi.com.br/miniatura-carro-batmovel-c-figura-batman-arkham-knight-dc-metals-die-cast-1-24-jada-toys-98037</a:t>
            </a:r>
          </a:p>
        </p:txBody>
      </p:sp>
      <p:cxnSp>
        <p:nvCxnSpPr>
          <p:cNvPr id="15" name="Conector reto 14"/>
          <p:cNvCxnSpPr/>
          <p:nvPr/>
        </p:nvCxnSpPr>
        <p:spPr>
          <a:xfrm>
            <a:off x="5184693" y="1559382"/>
            <a:ext cx="0" cy="42195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25"/>
          <p:cNvCxnSpPr/>
          <p:nvPr/>
        </p:nvCxnSpPr>
        <p:spPr>
          <a:xfrm>
            <a:off x="6973826" y="3719455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16319" y="144202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21" name="Conector reto 20"/>
          <p:cNvCxnSpPr/>
          <p:nvPr/>
        </p:nvCxnSpPr>
        <p:spPr>
          <a:xfrm>
            <a:off x="10772659" y="2091257"/>
            <a:ext cx="0" cy="39052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4529379" y="33684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693862" y="3403314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cxnSp>
        <p:nvCxnSpPr>
          <p:cNvPr id="27" name="Conector de seta reta 25"/>
          <p:cNvCxnSpPr/>
          <p:nvPr/>
        </p:nvCxnSpPr>
        <p:spPr>
          <a:xfrm>
            <a:off x="6042004" y="3717175"/>
            <a:ext cx="0" cy="27106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5517634" y="3092055"/>
            <a:ext cx="5525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20       7,9    7,9   7,9    7,9     7,9</a:t>
            </a:r>
          </a:p>
        </p:txBody>
      </p:sp>
      <p:cxnSp>
        <p:nvCxnSpPr>
          <p:cNvPr id="29" name="Conector de seta reta 2"/>
          <p:cNvCxnSpPr/>
          <p:nvPr/>
        </p:nvCxnSpPr>
        <p:spPr>
          <a:xfrm>
            <a:off x="5184693" y="3723583"/>
            <a:ext cx="63405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5"/>
          <p:cNvCxnSpPr/>
          <p:nvPr/>
        </p:nvCxnSpPr>
        <p:spPr>
          <a:xfrm>
            <a:off x="7716776" y="3717175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25"/>
          <p:cNvCxnSpPr/>
          <p:nvPr/>
        </p:nvCxnSpPr>
        <p:spPr>
          <a:xfrm>
            <a:off x="8370826" y="3717175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25"/>
          <p:cNvCxnSpPr/>
          <p:nvPr/>
        </p:nvCxnSpPr>
        <p:spPr>
          <a:xfrm>
            <a:off x="9075676" y="3717175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25"/>
          <p:cNvCxnSpPr/>
          <p:nvPr/>
        </p:nvCxnSpPr>
        <p:spPr>
          <a:xfrm>
            <a:off x="9901176" y="3717175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0042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506" name="Picture 2" descr="Miniatura Batmóvel c/ Batman Arkham DC 1:24 Jada Toys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9" y="3346624"/>
            <a:ext cx="3432175" cy="343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tângulo 24"/>
          <p:cNvSpPr/>
          <p:nvPr/>
        </p:nvSpPr>
        <p:spPr>
          <a:xfrm>
            <a:off x="0" y="6657120"/>
            <a:ext cx="517321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https://www.minimundi.com.br/miniatura-carro-batmovel-c-figura-batman-arkham-knight-dc-metals-die-cast-1-24-jada-toys-98037</a:t>
            </a:r>
          </a:p>
        </p:txBody>
      </p:sp>
      <p:cxnSp>
        <p:nvCxnSpPr>
          <p:cNvPr id="15" name="Conector reto 14"/>
          <p:cNvCxnSpPr/>
          <p:nvPr/>
        </p:nvCxnSpPr>
        <p:spPr>
          <a:xfrm>
            <a:off x="4797343" y="1583119"/>
            <a:ext cx="0" cy="42195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25"/>
          <p:cNvCxnSpPr/>
          <p:nvPr/>
        </p:nvCxnSpPr>
        <p:spPr>
          <a:xfrm>
            <a:off x="6586476" y="3743192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26"/>
          <p:cNvCxnSpPr/>
          <p:nvPr/>
        </p:nvCxnSpPr>
        <p:spPr>
          <a:xfrm>
            <a:off x="7356522" y="3747321"/>
            <a:ext cx="0" cy="153587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27"/>
          <p:cNvCxnSpPr/>
          <p:nvPr/>
        </p:nvCxnSpPr>
        <p:spPr>
          <a:xfrm>
            <a:off x="8037080" y="3740913"/>
            <a:ext cx="0" cy="121208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28"/>
          <p:cNvCxnSpPr/>
          <p:nvPr/>
        </p:nvCxnSpPr>
        <p:spPr>
          <a:xfrm>
            <a:off x="8729771" y="3740912"/>
            <a:ext cx="0" cy="85013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428969" y="146576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21" name="Conector reto 20"/>
          <p:cNvCxnSpPr/>
          <p:nvPr/>
        </p:nvCxnSpPr>
        <p:spPr>
          <a:xfrm>
            <a:off x="10385309" y="2114994"/>
            <a:ext cx="0" cy="39052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4142029" y="339214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306512" y="3427051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cxnSp>
        <p:nvCxnSpPr>
          <p:cNvPr id="26" name="Conector de seta reta 28"/>
          <p:cNvCxnSpPr/>
          <p:nvPr/>
        </p:nvCxnSpPr>
        <p:spPr>
          <a:xfrm>
            <a:off x="9555355" y="3761478"/>
            <a:ext cx="0" cy="44222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5"/>
          <p:cNvCxnSpPr/>
          <p:nvPr/>
        </p:nvCxnSpPr>
        <p:spPr>
          <a:xfrm>
            <a:off x="5654654" y="3740912"/>
            <a:ext cx="0" cy="27106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5130284" y="3115792"/>
            <a:ext cx="5525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20       7,2    6,5   5,9    5,4     4,9</a:t>
            </a:r>
          </a:p>
        </p:txBody>
      </p:sp>
      <p:cxnSp>
        <p:nvCxnSpPr>
          <p:cNvPr id="29" name="Conector de seta reta 2"/>
          <p:cNvCxnSpPr/>
          <p:nvPr/>
        </p:nvCxnSpPr>
        <p:spPr>
          <a:xfrm>
            <a:off x="4797343" y="3747320"/>
            <a:ext cx="63405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eta em Curva para Baixo 9"/>
          <p:cNvSpPr/>
          <p:nvPr/>
        </p:nvSpPr>
        <p:spPr>
          <a:xfrm flipH="1">
            <a:off x="5505448" y="2425788"/>
            <a:ext cx="1200151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5" name="Seta em Curva para Baixo 34"/>
          <p:cNvSpPr/>
          <p:nvPr/>
        </p:nvSpPr>
        <p:spPr>
          <a:xfrm flipH="1">
            <a:off x="5505447" y="2454723"/>
            <a:ext cx="1908255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Seta em Curva para Baixo 35"/>
          <p:cNvSpPr/>
          <p:nvPr/>
        </p:nvSpPr>
        <p:spPr>
          <a:xfrm flipH="1">
            <a:off x="5517727" y="2468254"/>
            <a:ext cx="2581971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7" name="Seta em Curva para Baixo 36"/>
          <p:cNvSpPr/>
          <p:nvPr/>
        </p:nvSpPr>
        <p:spPr>
          <a:xfrm flipH="1">
            <a:off x="5505446" y="2478554"/>
            <a:ext cx="3278038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8" name="Seta em Curva para Baixo 37"/>
          <p:cNvSpPr/>
          <p:nvPr/>
        </p:nvSpPr>
        <p:spPr>
          <a:xfrm flipH="1">
            <a:off x="5505445" y="2462726"/>
            <a:ext cx="4128476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4919919" y="2583077"/>
            <a:ext cx="1434799" cy="1434799"/>
          </a:xfrm>
          <a:prstGeom prst="ellipse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48440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 Arredondado 38"/>
          <p:cNvSpPr/>
          <p:nvPr/>
        </p:nvSpPr>
        <p:spPr>
          <a:xfrm>
            <a:off x="4324350" y="1581077"/>
            <a:ext cx="7080250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4324350" y="1725217"/>
            <a:ext cx="708025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latin typeface="Helvetica" panose="020B0604020202020204" pitchFamily="34" charset="0"/>
              </a:rPr>
              <a:t>VF = VP . (1 + i)</a:t>
            </a:r>
            <a:r>
              <a:rPr lang="pt-BR" sz="6600" baseline="30000" dirty="0">
                <a:solidFill>
                  <a:schemeClr val="bg1"/>
                </a:solidFill>
                <a:latin typeface="Helvetica" panose="020B0604020202020204" pitchFamily="34" charset="0"/>
              </a:rPr>
              <a:t>n</a:t>
            </a:r>
            <a:endParaRPr lang="pt-BR" sz="6600" dirty="0">
              <a:solidFill>
                <a:schemeClr val="bg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06173" y="2891877"/>
            <a:ext cx="675377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VF = 50.(1 + 10%)</a:t>
            </a:r>
            <a:r>
              <a:rPr lang="pt-BR" sz="6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2</a:t>
            </a:r>
            <a:endParaRPr lang="pt-BR" sz="6000" baseline="30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4606173" y="3721223"/>
            <a:ext cx="497924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VF = 50.(1,1)</a:t>
            </a:r>
            <a:r>
              <a:rPr lang="pt-BR" sz="6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2</a:t>
            </a:r>
            <a:endParaRPr lang="pt-BR" sz="6000" baseline="30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Retângulo 40"/>
          <p:cNvSpPr/>
          <p:nvPr/>
        </p:nvSpPr>
        <p:spPr>
          <a:xfrm>
            <a:off x="4606173" y="4504088"/>
            <a:ext cx="460895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VF = 50.1,21</a:t>
            </a:r>
            <a:endParaRPr lang="pt-BR" sz="6000" baseline="30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4606173" y="5259738"/>
            <a:ext cx="353975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VF = 60,5</a:t>
            </a:r>
            <a:endParaRPr lang="pt-BR" sz="6000" baseline="30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eta em Curva para a Direita 3"/>
          <p:cNvSpPr/>
          <p:nvPr/>
        </p:nvSpPr>
        <p:spPr>
          <a:xfrm>
            <a:off x="4120544" y="3234733"/>
            <a:ext cx="407612" cy="121615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3" name="Seta em Curva para a Direita 42"/>
          <p:cNvSpPr/>
          <p:nvPr/>
        </p:nvSpPr>
        <p:spPr>
          <a:xfrm>
            <a:off x="4159553" y="4128810"/>
            <a:ext cx="407612" cy="100199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Seta em Curva para a Direita 43"/>
          <p:cNvSpPr/>
          <p:nvPr/>
        </p:nvSpPr>
        <p:spPr>
          <a:xfrm>
            <a:off x="4159553" y="4872668"/>
            <a:ext cx="407612" cy="100199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2694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 Arredondado 38"/>
          <p:cNvSpPr/>
          <p:nvPr/>
        </p:nvSpPr>
        <p:spPr>
          <a:xfrm>
            <a:off x="4324350" y="1581077"/>
            <a:ext cx="7080250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4324350" y="1725217"/>
            <a:ext cx="708025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latin typeface="Helvetica" panose="020B0604020202020204" pitchFamily="34" charset="0"/>
              </a:rPr>
              <a:t>VP = VF / (1 + i)</a:t>
            </a:r>
            <a:r>
              <a:rPr lang="pt-BR" sz="6600" baseline="30000" dirty="0">
                <a:solidFill>
                  <a:schemeClr val="bg1"/>
                </a:solidFill>
                <a:latin typeface="Helvetica" panose="020B0604020202020204" pitchFamily="34" charset="0"/>
              </a:rPr>
              <a:t>n</a:t>
            </a:r>
            <a:endParaRPr lang="pt-BR" sz="6600" dirty="0">
              <a:solidFill>
                <a:schemeClr val="bg1"/>
              </a:solidFill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-1384300" y="-396079"/>
            <a:ext cx="1924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000000"/>
                </a:solidFill>
                <a:latin typeface="Helvetica" panose="020B0604020202020204" pitchFamily="34" charset="0"/>
              </a:rPr>
              <a:t>PV = FV / (1 + i)</a:t>
            </a:r>
            <a:r>
              <a:rPr lang="pt-BR" baseline="30000" dirty="0">
                <a:solidFill>
                  <a:srgbClr val="000000"/>
                </a:solidFill>
                <a:latin typeface="Helvetica" panose="020B0604020202020204" pitchFamily="34" charset="0"/>
              </a:rPr>
              <a:t>n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4575689" y="2891877"/>
            <a:ext cx="742434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VP = 60,5/(1 + 10%)</a:t>
            </a:r>
            <a:r>
              <a:rPr lang="pt-BR" sz="6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2</a:t>
            </a:r>
            <a:endParaRPr lang="pt-BR" sz="6000" baseline="30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4575690" y="3721223"/>
            <a:ext cx="564981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VP = 60,5/(1,1)</a:t>
            </a:r>
            <a:r>
              <a:rPr lang="pt-BR" sz="6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2</a:t>
            </a:r>
            <a:endParaRPr lang="pt-BR" sz="6000" baseline="30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Retângulo 40"/>
          <p:cNvSpPr/>
          <p:nvPr/>
        </p:nvSpPr>
        <p:spPr>
          <a:xfrm>
            <a:off x="4575689" y="4504088"/>
            <a:ext cx="527952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VP = 60,5/1,21</a:t>
            </a:r>
            <a:endParaRPr lang="pt-BR" sz="6000" baseline="30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4629150" y="5280778"/>
            <a:ext cx="292791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</a:rPr>
              <a:t>VP = 50</a:t>
            </a:r>
            <a:endParaRPr lang="pt-BR" sz="6000" baseline="30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eta em Curva para a Direita 3"/>
          <p:cNvSpPr/>
          <p:nvPr/>
        </p:nvSpPr>
        <p:spPr>
          <a:xfrm>
            <a:off x="4120544" y="3234733"/>
            <a:ext cx="407612" cy="121615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3" name="Seta em Curva para a Direita 42"/>
          <p:cNvSpPr/>
          <p:nvPr/>
        </p:nvSpPr>
        <p:spPr>
          <a:xfrm>
            <a:off x="4159553" y="4128810"/>
            <a:ext cx="407612" cy="100199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Seta em Curva para a Direita 43"/>
          <p:cNvSpPr/>
          <p:nvPr/>
        </p:nvSpPr>
        <p:spPr>
          <a:xfrm>
            <a:off x="4159553" y="4872668"/>
            <a:ext cx="407612" cy="100199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2567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4910365" y="2066477"/>
            <a:ext cx="0" cy="35484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5"/>
          <p:cNvCxnSpPr/>
          <p:nvPr/>
        </p:nvCxnSpPr>
        <p:spPr>
          <a:xfrm>
            <a:off x="6268521" y="3573704"/>
            <a:ext cx="0" cy="14511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4523226" y="195334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10846621" y="2066477"/>
            <a:ext cx="0" cy="36131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255051" y="320437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0795365" y="3235150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990129" y="2935683"/>
            <a:ext cx="5552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50     55     60,5     66,5     73,2     80,5         </a:t>
            </a:r>
          </a:p>
        </p:txBody>
      </p:sp>
      <p:cxnSp>
        <p:nvCxnSpPr>
          <p:cNvPr id="29" name="Conector de seta reta 2"/>
          <p:cNvCxnSpPr/>
          <p:nvPr/>
        </p:nvCxnSpPr>
        <p:spPr>
          <a:xfrm>
            <a:off x="4910365" y="3559547"/>
            <a:ext cx="618943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5"/>
          <p:cNvCxnSpPr/>
          <p:nvPr/>
        </p:nvCxnSpPr>
        <p:spPr>
          <a:xfrm>
            <a:off x="7132121" y="3581368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25"/>
          <p:cNvCxnSpPr/>
          <p:nvPr/>
        </p:nvCxnSpPr>
        <p:spPr>
          <a:xfrm>
            <a:off x="5512871" y="3581368"/>
            <a:ext cx="0" cy="105817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25"/>
          <p:cNvCxnSpPr/>
          <p:nvPr/>
        </p:nvCxnSpPr>
        <p:spPr>
          <a:xfrm>
            <a:off x="8103671" y="3573704"/>
            <a:ext cx="0" cy="21793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25"/>
          <p:cNvCxnSpPr/>
          <p:nvPr/>
        </p:nvCxnSpPr>
        <p:spPr>
          <a:xfrm>
            <a:off x="9126021" y="3573704"/>
            <a:ext cx="0" cy="26111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25"/>
          <p:cNvCxnSpPr/>
          <p:nvPr/>
        </p:nvCxnSpPr>
        <p:spPr>
          <a:xfrm>
            <a:off x="10091221" y="3573704"/>
            <a:ext cx="0" cy="29667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6638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Arredondado 30"/>
          <p:cNvSpPr/>
          <p:nvPr/>
        </p:nvSpPr>
        <p:spPr>
          <a:xfrm>
            <a:off x="7461560" y="1743800"/>
            <a:ext cx="4063386" cy="373679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4048128" y="1818827"/>
            <a:ext cx="0" cy="35484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5"/>
          <p:cNvCxnSpPr/>
          <p:nvPr/>
        </p:nvCxnSpPr>
        <p:spPr>
          <a:xfrm>
            <a:off x="5406284" y="3326054"/>
            <a:ext cx="0" cy="14511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3660989" y="170569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6917334" y="1818827"/>
            <a:ext cx="0" cy="36131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92814" y="295672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866078" y="2987500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127892" y="2688033"/>
            <a:ext cx="2578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50     55     60,5</a:t>
            </a:r>
          </a:p>
        </p:txBody>
      </p:sp>
      <p:cxnSp>
        <p:nvCxnSpPr>
          <p:cNvPr id="29" name="Conector de seta reta 2"/>
          <p:cNvCxnSpPr>
            <a:endCxn id="27" idx="2"/>
          </p:cNvCxnSpPr>
          <p:nvPr/>
        </p:nvCxnSpPr>
        <p:spPr>
          <a:xfrm>
            <a:off x="4048128" y="3311897"/>
            <a:ext cx="3029374" cy="1415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5"/>
          <p:cNvCxnSpPr/>
          <p:nvPr/>
        </p:nvCxnSpPr>
        <p:spPr>
          <a:xfrm>
            <a:off x="6269884" y="3333718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25"/>
          <p:cNvCxnSpPr/>
          <p:nvPr/>
        </p:nvCxnSpPr>
        <p:spPr>
          <a:xfrm>
            <a:off x="4650634" y="3333718"/>
            <a:ext cx="0" cy="105817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7785734" y="2156683"/>
                <a:ext cx="3429337" cy="2727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pt-BR" sz="6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f>
                            <m:fPr>
                              <m:ctrlP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𝑉𝐹</m:t>
                              </m:r>
                            </m:num>
                            <m:den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𝑉𝑃</m:t>
                              </m:r>
                            </m:den>
                          </m:f>
                        </m:e>
                      </m:rad>
                      <m:r>
                        <a:rPr lang="pt-BR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−1</m:t>
                      </m:r>
                    </m:oMath>
                  </m:oMathPara>
                </a14:m>
                <a:endParaRPr lang="pt-BR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734" y="2156683"/>
                <a:ext cx="3429337" cy="2727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9102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Arredondado 30"/>
          <p:cNvSpPr/>
          <p:nvPr/>
        </p:nvSpPr>
        <p:spPr>
          <a:xfrm>
            <a:off x="3392814" y="1883500"/>
            <a:ext cx="4063386" cy="373679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291831" y="7869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$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9731375" y="778238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NO TEMPO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716988" y="2296383"/>
                <a:ext cx="3429337" cy="2727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pt-BR" sz="6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f>
                            <m:fPr>
                              <m:ctrlP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𝑉𝐹</m:t>
                              </m:r>
                            </m:num>
                            <m:den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𝑉𝑃</m:t>
                              </m:r>
                            </m:den>
                          </m:f>
                        </m:e>
                      </m:rad>
                      <m:r>
                        <a:rPr lang="pt-BR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−1</m:t>
                      </m:r>
                    </m:oMath>
                  </m:oMathPara>
                </a14:m>
                <a:endParaRPr lang="pt-BR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988" y="2296383"/>
                <a:ext cx="3429337" cy="2727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/>
              <p:cNvSpPr txBox="1"/>
              <p:nvPr/>
            </p:nvSpPr>
            <p:spPr>
              <a:xfrm>
                <a:off x="7780374" y="1883500"/>
                <a:ext cx="4019947" cy="3651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pt-BR" sz="6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pt-BR" sz="6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g>
                        <m:e>
                          <m:f>
                            <m:fPr>
                              <m:ctrlPr>
                                <a:rPr lang="pt-BR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60,5</m:t>
                              </m:r>
                            </m:num>
                            <m:den>
                              <m:r>
                                <a:rPr lang="pt-BR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den>
                          </m:f>
                        </m:e>
                      </m:rad>
                      <m:r>
                        <a:rPr lang="pt-BR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−1</m:t>
                      </m:r>
                    </m:oMath>
                  </m:oMathPara>
                </a14:m>
                <a:endParaRPr lang="pt-BR" sz="6000" b="0" dirty="0">
                  <a:solidFill>
                    <a:schemeClr val="tx1"/>
                  </a:solidFill>
                </a:endParaRPr>
              </a:p>
              <a:p>
                <a:r>
                  <a:rPr lang="pt-BR" sz="6000" dirty="0">
                    <a:solidFill>
                      <a:schemeClr val="tx1"/>
                    </a:solidFill>
                  </a:rPr>
                  <a:t>     </a:t>
                </a:r>
                <a:r>
                  <a:rPr lang="pt-BR" sz="6000" dirty="0">
                    <a:solidFill>
                      <a:srgbClr val="7030A0"/>
                    </a:solidFill>
                  </a:rPr>
                  <a:t>=10%</a:t>
                </a:r>
              </a:p>
            </p:txBody>
          </p:sp>
        </mc:Choice>
        <mc:Fallback xmlns="">
          <p:sp>
            <p:nvSpPr>
              <p:cNvPr id="35" name="CaixaDeTexto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374" y="1883500"/>
                <a:ext cx="4019947" cy="3651321"/>
              </a:xfrm>
              <a:prstGeom prst="rect">
                <a:avLst/>
              </a:prstGeom>
              <a:blipFill>
                <a:blip r:embed="rId5"/>
                <a:stretch>
                  <a:fillRect b="-11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9994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Diagrama 14"/>
          <p:cNvGraphicFramePr/>
          <p:nvPr>
            <p:extLst>
              <p:ext uri="{D42A27DB-BD31-4B8C-83A1-F6EECF244321}">
                <p14:modId xmlns:p14="http://schemas.microsoft.com/office/powerpoint/2010/main" val="2063120639"/>
              </p:ext>
            </p:extLst>
          </p:nvPr>
        </p:nvGraphicFramePr>
        <p:xfrm>
          <a:off x="4804721" y="2121273"/>
          <a:ext cx="7167255" cy="1970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" name="Retângulo Arredondado 15"/>
          <p:cNvSpPr/>
          <p:nvPr/>
        </p:nvSpPr>
        <p:spPr>
          <a:xfrm>
            <a:off x="5119597" y="1167166"/>
            <a:ext cx="6750541" cy="75966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5119597" y="1173485"/>
            <a:ext cx="6787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Data-base x data focal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578" name="Picture 2" descr="Motorola PT-550 (Foto: Divulgação/Motorola)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33" y="4079073"/>
            <a:ext cx="4375245" cy="267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tângulo 12"/>
          <p:cNvSpPr/>
          <p:nvPr/>
        </p:nvSpPr>
        <p:spPr>
          <a:xfrm>
            <a:off x="0" y="6657120"/>
            <a:ext cx="450155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https://www.techtudo.com.br/listas/noticia/2015/10/dez-celulares-que-eram-top-quando-voce-era-crianca.html</a:t>
            </a:r>
          </a:p>
        </p:txBody>
      </p:sp>
      <p:sp>
        <p:nvSpPr>
          <p:cNvPr id="2" name="Retângulo 1"/>
          <p:cNvSpPr/>
          <p:nvPr/>
        </p:nvSpPr>
        <p:spPr>
          <a:xfrm>
            <a:off x="4755076" y="4602260"/>
            <a:ext cx="72169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O Motorola PT-550 era vendido a cerca de </a:t>
            </a:r>
            <a:r>
              <a:rPr lang="pt-BR" sz="2400" b="1" dirty="0"/>
              <a:t>US$ 3 mil na década de 1990</a:t>
            </a:r>
          </a:p>
        </p:txBody>
      </p:sp>
    </p:spTree>
    <p:extLst>
      <p:ext uri="{BB962C8B-B14F-4D97-AF65-F5344CB8AC3E}">
        <p14:creationId xmlns:p14="http://schemas.microsoft.com/office/powerpoint/2010/main" val="16678034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1815423607"/>
              </p:ext>
            </p:extLst>
          </p:nvPr>
        </p:nvGraphicFramePr>
        <p:xfrm>
          <a:off x="385243" y="1686870"/>
          <a:ext cx="5357444" cy="3651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259856" y="789640"/>
            <a:ext cx="1181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DATA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0434347" y="782387"/>
            <a:ext cx="1478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FOCAL</a:t>
            </a:r>
          </a:p>
        </p:txBody>
      </p:sp>
      <p:cxnSp>
        <p:nvCxnSpPr>
          <p:cNvPr id="37" name="Conector reto 36"/>
          <p:cNvCxnSpPr/>
          <p:nvPr/>
        </p:nvCxnSpPr>
        <p:spPr>
          <a:xfrm>
            <a:off x="9252420" y="1394623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/>
          <p:cNvCxnSpPr/>
          <p:nvPr/>
        </p:nvCxnSpPr>
        <p:spPr>
          <a:xfrm>
            <a:off x="7666043" y="1849623"/>
            <a:ext cx="0" cy="35484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de seta reta 25"/>
          <p:cNvCxnSpPr/>
          <p:nvPr/>
        </p:nvCxnSpPr>
        <p:spPr>
          <a:xfrm>
            <a:off x="9024199" y="3356850"/>
            <a:ext cx="0" cy="14511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/>
          <p:cNvSpPr txBox="1"/>
          <p:nvPr/>
        </p:nvSpPr>
        <p:spPr>
          <a:xfrm>
            <a:off x="7278904" y="173649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42" name="Conector reto 41"/>
          <p:cNvCxnSpPr/>
          <p:nvPr/>
        </p:nvCxnSpPr>
        <p:spPr>
          <a:xfrm>
            <a:off x="10535249" y="1849623"/>
            <a:ext cx="0" cy="36131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7010729" y="298751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10483993" y="3018296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745807" y="2718829"/>
            <a:ext cx="2578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50     55     60,5</a:t>
            </a:r>
          </a:p>
        </p:txBody>
      </p:sp>
      <p:cxnSp>
        <p:nvCxnSpPr>
          <p:cNvPr id="46" name="Conector de seta reta 2"/>
          <p:cNvCxnSpPr>
            <a:endCxn id="44" idx="2"/>
          </p:cNvCxnSpPr>
          <p:nvPr/>
        </p:nvCxnSpPr>
        <p:spPr>
          <a:xfrm>
            <a:off x="7666043" y="3342693"/>
            <a:ext cx="3029374" cy="1415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25"/>
          <p:cNvCxnSpPr/>
          <p:nvPr/>
        </p:nvCxnSpPr>
        <p:spPr>
          <a:xfrm>
            <a:off x="9887799" y="3364514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25"/>
          <p:cNvCxnSpPr/>
          <p:nvPr/>
        </p:nvCxnSpPr>
        <p:spPr>
          <a:xfrm>
            <a:off x="8268549" y="3364514"/>
            <a:ext cx="0" cy="105817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58" name="Picture 2" descr="Lupa De Mão 50mm Com Cabo Glass Lente Zoom Aumento - Dubai Magazine, a  magazine dos sonhos.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975" y="1815529"/>
            <a:ext cx="2879245" cy="287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tângulo 48"/>
          <p:cNvSpPr/>
          <p:nvPr/>
        </p:nvSpPr>
        <p:spPr>
          <a:xfrm>
            <a:off x="0" y="6657120"/>
            <a:ext cx="42306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https://www.dubaimagazine.com.br/papelaria/lupa-de-mao-50mm-com-cabo-glass-lente-zoom-aumento</a:t>
            </a:r>
          </a:p>
        </p:txBody>
      </p:sp>
    </p:spTree>
    <p:extLst>
      <p:ext uri="{BB962C8B-B14F-4D97-AF65-F5344CB8AC3E}">
        <p14:creationId xmlns:p14="http://schemas.microsoft.com/office/powerpoint/2010/main" val="11406459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Conector reto 13"/>
          <p:cNvCxnSpPr/>
          <p:nvPr/>
        </p:nvCxnSpPr>
        <p:spPr>
          <a:xfrm>
            <a:off x="698423" y="1890308"/>
            <a:ext cx="0" cy="35484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25"/>
          <p:cNvCxnSpPr/>
          <p:nvPr/>
        </p:nvCxnSpPr>
        <p:spPr>
          <a:xfrm>
            <a:off x="2056579" y="3397535"/>
            <a:ext cx="0" cy="14511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11284" y="177717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6634679" y="1890308"/>
            <a:ext cx="0" cy="36131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43109" y="302820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583423" y="3058981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78187" y="2759514"/>
            <a:ext cx="5552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50     57,8   67,3      77      86,4     97,9         </a:t>
            </a:r>
          </a:p>
        </p:txBody>
      </p:sp>
      <p:cxnSp>
        <p:nvCxnSpPr>
          <p:cNvPr id="28" name="Conector de seta reta 2"/>
          <p:cNvCxnSpPr/>
          <p:nvPr/>
        </p:nvCxnSpPr>
        <p:spPr>
          <a:xfrm>
            <a:off x="698423" y="3383378"/>
            <a:ext cx="618943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5"/>
          <p:cNvCxnSpPr/>
          <p:nvPr/>
        </p:nvCxnSpPr>
        <p:spPr>
          <a:xfrm>
            <a:off x="2920179" y="3405199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5"/>
          <p:cNvCxnSpPr/>
          <p:nvPr/>
        </p:nvCxnSpPr>
        <p:spPr>
          <a:xfrm>
            <a:off x="1300929" y="3405199"/>
            <a:ext cx="0" cy="105817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25"/>
          <p:cNvCxnSpPr/>
          <p:nvPr/>
        </p:nvCxnSpPr>
        <p:spPr>
          <a:xfrm>
            <a:off x="3891729" y="3397535"/>
            <a:ext cx="0" cy="21793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25"/>
          <p:cNvCxnSpPr/>
          <p:nvPr/>
        </p:nvCxnSpPr>
        <p:spPr>
          <a:xfrm>
            <a:off x="4914079" y="3397535"/>
            <a:ext cx="0" cy="26111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25"/>
          <p:cNvCxnSpPr/>
          <p:nvPr/>
        </p:nvCxnSpPr>
        <p:spPr>
          <a:xfrm>
            <a:off x="5879279" y="3397535"/>
            <a:ext cx="0" cy="29667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544369"/>
              </p:ext>
            </p:extLst>
          </p:nvPr>
        </p:nvGraphicFramePr>
        <p:xfrm>
          <a:off x="7011208" y="2711199"/>
          <a:ext cx="4773573" cy="296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191">
                  <a:extLst>
                    <a:ext uri="{9D8B030D-6E8A-4147-A177-3AD203B41FA5}">
                      <a16:colId xmlns:a16="http://schemas.microsoft.com/office/drawing/2014/main" val="3913177902"/>
                    </a:ext>
                  </a:extLst>
                </a:gridCol>
                <a:gridCol w="1591191">
                  <a:extLst>
                    <a:ext uri="{9D8B030D-6E8A-4147-A177-3AD203B41FA5}">
                      <a16:colId xmlns:a16="http://schemas.microsoft.com/office/drawing/2014/main" val="3140703097"/>
                    </a:ext>
                  </a:extLst>
                </a:gridCol>
                <a:gridCol w="1591191">
                  <a:extLst>
                    <a:ext uri="{9D8B030D-6E8A-4147-A177-3AD203B41FA5}">
                      <a16:colId xmlns:a16="http://schemas.microsoft.com/office/drawing/2014/main" val="3534088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IGP-M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WACC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Taxa combinada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9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5%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10%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15,5%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160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6%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10%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16,6%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0762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4%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10%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14,4%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0685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2%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10%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12,2%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13145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3%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10%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effectLst/>
                        </a:rPr>
                        <a:t>13,3%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09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36706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081397" y="782387"/>
            <a:ext cx="1499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BASE X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0440697" y="782387"/>
            <a:ext cx="1478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FOCAL</a:t>
            </a:r>
          </a:p>
        </p:txBody>
      </p:sp>
      <p:cxnSp>
        <p:nvCxnSpPr>
          <p:cNvPr id="37" name="Conector reto 36"/>
          <p:cNvCxnSpPr/>
          <p:nvPr/>
        </p:nvCxnSpPr>
        <p:spPr>
          <a:xfrm>
            <a:off x="9164547" y="1407291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tângulo 4"/>
          <p:cNvSpPr/>
          <p:nvPr/>
        </p:nvSpPr>
        <p:spPr>
          <a:xfrm>
            <a:off x="7524744" y="2166553"/>
            <a:ext cx="39456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>
                <a:solidFill>
                  <a:srgbClr val="000000"/>
                </a:solidFill>
                <a:latin typeface="Calibri" panose="020F0502020204030204" pitchFamily="34" charset="0"/>
              </a:rPr>
              <a:t>((IGP-M+1)*(WACC+1))-1</a:t>
            </a:r>
            <a:r>
              <a:rPr lang="pt-BR" sz="2800" dirty="0"/>
              <a:t> </a:t>
            </a:r>
          </a:p>
        </p:txBody>
      </p:sp>
      <p:sp>
        <p:nvSpPr>
          <p:cNvPr id="6" name="Seta em Curva para Baixo 5"/>
          <p:cNvSpPr/>
          <p:nvPr/>
        </p:nvSpPr>
        <p:spPr>
          <a:xfrm>
            <a:off x="1231900" y="2062403"/>
            <a:ext cx="4768850" cy="73152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8" name="Seta em Curva para Baixo 37"/>
          <p:cNvSpPr/>
          <p:nvPr/>
        </p:nvSpPr>
        <p:spPr>
          <a:xfrm>
            <a:off x="2094871" y="2069481"/>
            <a:ext cx="3905879" cy="73152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9" name="Seta em Curva para Baixo 38"/>
          <p:cNvSpPr/>
          <p:nvPr/>
        </p:nvSpPr>
        <p:spPr>
          <a:xfrm>
            <a:off x="2917065" y="2062403"/>
            <a:ext cx="3083685" cy="73152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0" name="Seta em Curva para Baixo 39"/>
          <p:cNvSpPr/>
          <p:nvPr/>
        </p:nvSpPr>
        <p:spPr>
          <a:xfrm>
            <a:off x="3891729" y="2055325"/>
            <a:ext cx="2109021" cy="73152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1" name="Seta em Curva para Baixo 40"/>
          <p:cNvSpPr/>
          <p:nvPr/>
        </p:nvSpPr>
        <p:spPr>
          <a:xfrm>
            <a:off x="4824769" y="2047661"/>
            <a:ext cx="1190980" cy="73152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2" name="Elipse 41"/>
          <p:cNvSpPr/>
          <p:nvPr/>
        </p:nvSpPr>
        <p:spPr>
          <a:xfrm>
            <a:off x="5213279" y="2184773"/>
            <a:ext cx="1332000" cy="1332000"/>
          </a:xfrm>
          <a:prstGeom prst="ellipse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10980371" y="3428811"/>
            <a:ext cx="157529" cy="186708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9710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Arredondado 10"/>
          <p:cNvSpPr/>
          <p:nvPr/>
        </p:nvSpPr>
        <p:spPr>
          <a:xfrm>
            <a:off x="4261241" y="1149690"/>
            <a:ext cx="7074236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4297487" y="1143370"/>
            <a:ext cx="71134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(TMA)</a:t>
            </a:r>
          </a:p>
        </p:txBody>
      </p:sp>
      <p:sp>
        <p:nvSpPr>
          <p:cNvPr id="2" name="Retângulo 1"/>
          <p:cNvSpPr/>
          <p:nvPr/>
        </p:nvSpPr>
        <p:spPr>
          <a:xfrm>
            <a:off x="4140199" y="2851529"/>
            <a:ext cx="727075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Taxa mínima de atratividade (TMA) é o </a:t>
            </a:r>
            <a:r>
              <a:rPr lang="pt-BR" sz="3200" b="1" dirty="0"/>
              <a:t>percentual mínimo</a:t>
            </a:r>
            <a:r>
              <a:rPr lang="pt-BR" sz="3200" dirty="0"/>
              <a:t> que um investidor está disposto a ganhar a partir de uma aplicação financeira.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0" y="6657120"/>
            <a:ext cx="511710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</a:t>
            </a:r>
            <a:r>
              <a:rPr lang="pt-BR" sz="700" dirty="0">
                <a:hlinkClick r:id="rId4"/>
              </a:rPr>
              <a:t>https://www.capitalresearch.com.br/blog/investimentos/taxa-minima-de-atratividade-o-que-e-e-como-calcular-nos-investimentos/</a:t>
            </a:r>
            <a:endParaRPr lang="pt-BR" sz="700" dirty="0"/>
          </a:p>
        </p:txBody>
      </p:sp>
    </p:spTree>
    <p:extLst>
      <p:ext uri="{BB962C8B-B14F-4D97-AF65-F5344CB8AC3E}">
        <p14:creationId xmlns:p14="http://schemas.microsoft.com/office/powerpoint/2010/main" val="40189860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Arredondado 10"/>
          <p:cNvSpPr/>
          <p:nvPr/>
        </p:nvSpPr>
        <p:spPr>
          <a:xfrm>
            <a:off x="4261241" y="1149690"/>
            <a:ext cx="7074236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4297487" y="1143370"/>
            <a:ext cx="7037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(TIR)</a:t>
            </a:r>
          </a:p>
        </p:txBody>
      </p:sp>
      <p:sp>
        <p:nvSpPr>
          <p:cNvPr id="2" name="Retângulo 1"/>
          <p:cNvSpPr/>
          <p:nvPr/>
        </p:nvSpPr>
        <p:spPr>
          <a:xfrm>
            <a:off x="4218842" y="2648329"/>
            <a:ext cx="727075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A TIR é uma métrica usada para avaliar qual o percentual de retorno de um projeto. Ao se comparar à Taxa Mínima de Atratividade, subsidia-se </a:t>
            </a:r>
            <a:r>
              <a:rPr lang="pt-BR" sz="3200" b="1" dirty="0"/>
              <a:t>decisão sobre viabilidade</a:t>
            </a:r>
            <a:r>
              <a:rPr lang="pt-BR" sz="3200" dirty="0"/>
              <a:t>.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0" y="6657120"/>
            <a:ext cx="273023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https://www.voitto.com.br/blog/artigo/taxa-interna-de-retorno</a:t>
            </a:r>
          </a:p>
        </p:txBody>
      </p:sp>
    </p:spTree>
    <p:extLst>
      <p:ext uri="{BB962C8B-B14F-4D97-AF65-F5344CB8AC3E}">
        <p14:creationId xmlns:p14="http://schemas.microsoft.com/office/powerpoint/2010/main" val="12025732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Arredondado 10"/>
          <p:cNvSpPr/>
          <p:nvPr/>
        </p:nvSpPr>
        <p:spPr>
          <a:xfrm>
            <a:off x="4261241" y="1149690"/>
            <a:ext cx="7074236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4297487" y="1143370"/>
            <a:ext cx="7037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(TIR)</a:t>
            </a:r>
          </a:p>
        </p:txBody>
      </p:sp>
      <p:sp>
        <p:nvSpPr>
          <p:cNvPr id="2" name="Retângulo 1"/>
          <p:cNvSpPr/>
          <p:nvPr/>
        </p:nvSpPr>
        <p:spPr>
          <a:xfrm>
            <a:off x="3905251" y="2568379"/>
            <a:ext cx="760468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Se a TIR de um projeto </a:t>
            </a:r>
            <a:r>
              <a:rPr lang="pt-BR" sz="3200" b="1" dirty="0"/>
              <a:t>exceder </a:t>
            </a:r>
            <a:r>
              <a:rPr lang="pt-BR" sz="3200" dirty="0"/>
              <a:t>a TMA, significa que o mesmo é viável;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Se a TIR de um projeto </a:t>
            </a:r>
            <a:r>
              <a:rPr lang="pt-BR" sz="3200" b="1" dirty="0"/>
              <a:t>ficar abaixo</a:t>
            </a:r>
            <a:r>
              <a:rPr lang="pt-BR" sz="3200" dirty="0"/>
              <a:t> da TMA, o mesmo deve ser rejeitado;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Se a TIR de um projeto for </a:t>
            </a:r>
            <a:r>
              <a:rPr lang="pt-BR" sz="3200" b="1" dirty="0"/>
              <a:t>igual</a:t>
            </a:r>
            <a:r>
              <a:rPr lang="pt-BR" sz="3200" dirty="0"/>
              <a:t> à TMA, a decisão de seguir com o projeto fica por conta dos gestores/investidores.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0" y="6657120"/>
            <a:ext cx="273023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https://www.voitto.com.br/blog/artigo/taxa-interna-de-retorno</a:t>
            </a:r>
          </a:p>
        </p:txBody>
      </p:sp>
    </p:spTree>
    <p:extLst>
      <p:ext uri="{BB962C8B-B14F-4D97-AF65-F5344CB8AC3E}">
        <p14:creationId xmlns:p14="http://schemas.microsoft.com/office/powerpoint/2010/main" val="34061264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0" y="6657120"/>
            <a:ext cx="273023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https://www.treasy.com.br/blog/taxa-interna-de-retorno-tir/</a:t>
            </a:r>
          </a:p>
        </p:txBody>
      </p:sp>
      <p:sp>
        <p:nvSpPr>
          <p:cNvPr id="13" name="Retângulo Arredondado 12"/>
          <p:cNvSpPr/>
          <p:nvPr/>
        </p:nvSpPr>
        <p:spPr>
          <a:xfrm>
            <a:off x="4513595" y="1632443"/>
            <a:ext cx="6005519" cy="343538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5174738" y="1840423"/>
                <a:ext cx="4725995" cy="28577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6000" dirty="0">
                    <a:solidFill>
                      <a:schemeClr val="bg1"/>
                    </a:solidFill>
                  </a:rPr>
                  <a:t>VP = </a:t>
                </a:r>
                <a:r>
                  <a:rPr lang="pt-BR" sz="6000" i="1" dirty="0">
                    <a:solidFill>
                      <a:schemeClr val="bg1"/>
                    </a:solidFill>
                  </a:rPr>
                  <a:t>capital</a:t>
                </a:r>
                <a:r>
                  <a:rPr lang="pt-BR" sz="6000" dirty="0">
                    <a:solidFill>
                      <a:schemeClr val="bg1"/>
                    </a:solidFill>
                  </a:rPr>
                  <a:t> +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pt-BR" sz="6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sz="6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6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6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pt-BR" sz="6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pt-BR" sz="60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6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pt-BR" sz="6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6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sz="6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pt-BR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738" y="1840423"/>
                <a:ext cx="4725995" cy="2857770"/>
              </a:xfrm>
              <a:prstGeom prst="rect">
                <a:avLst/>
              </a:prstGeom>
              <a:blipFill>
                <a:blip r:embed="rId4"/>
                <a:stretch>
                  <a:fillRect l="-9806" t="-8102" r="-85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/>
          <p:cNvSpPr txBox="1"/>
          <p:nvPr/>
        </p:nvSpPr>
        <p:spPr>
          <a:xfrm>
            <a:off x="9081397" y="782387"/>
            <a:ext cx="718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TIR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9759828" y="782387"/>
            <a:ext cx="2064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FÓRMULA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164547" y="1407291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tângulo 3"/>
          <p:cNvSpPr/>
          <p:nvPr/>
        </p:nvSpPr>
        <p:spPr>
          <a:xfrm>
            <a:off x="4489735" y="51128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2400" dirty="0"/>
              <a:t>A TIR calcula a taxa de desconto que deve ter um fluxo de caixa para que seu </a:t>
            </a:r>
            <a:r>
              <a:rPr lang="pt-BR" sz="2400" b="1" dirty="0"/>
              <a:t>Valor Presente se iguale a zero.</a:t>
            </a:r>
          </a:p>
        </p:txBody>
      </p:sp>
    </p:spTree>
    <p:extLst>
      <p:ext uri="{BB962C8B-B14F-4D97-AF65-F5344CB8AC3E}">
        <p14:creationId xmlns:p14="http://schemas.microsoft.com/office/powerpoint/2010/main" val="15725552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Arredondado 10"/>
          <p:cNvSpPr/>
          <p:nvPr/>
        </p:nvSpPr>
        <p:spPr>
          <a:xfrm>
            <a:off x="4261241" y="1149690"/>
            <a:ext cx="7074236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4297487" y="1143370"/>
            <a:ext cx="7037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(VPL)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0" y="6657120"/>
            <a:ext cx="26132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https://www.treasy.com.br/blog/valor-presente-liquido-vpl/</a:t>
            </a:r>
          </a:p>
        </p:txBody>
      </p:sp>
      <p:sp>
        <p:nvSpPr>
          <p:cNvPr id="3" name="Retângulo 2"/>
          <p:cNvSpPr/>
          <p:nvPr/>
        </p:nvSpPr>
        <p:spPr>
          <a:xfrm>
            <a:off x="4222014" y="2542868"/>
            <a:ext cx="711346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/>
              <a:t>Também chamado de Valor Líquido Atual, o Valor Presente Líquido é um método que consiste em trazer para a data zero todos os fluxos de caixa de um projeto de investimento e somá-los ao valor do investimento inicial, usando como taxa de desconto a TMA.</a:t>
            </a:r>
          </a:p>
        </p:txBody>
      </p:sp>
    </p:spTree>
    <p:extLst>
      <p:ext uri="{BB962C8B-B14F-4D97-AF65-F5344CB8AC3E}">
        <p14:creationId xmlns:p14="http://schemas.microsoft.com/office/powerpoint/2010/main" val="16261227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lipse 37"/>
          <p:cNvSpPr/>
          <p:nvPr/>
        </p:nvSpPr>
        <p:spPr>
          <a:xfrm>
            <a:off x="5775393" y="3039504"/>
            <a:ext cx="1434799" cy="1434799"/>
          </a:xfrm>
          <a:prstGeom prst="ellipse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6" name="Tabela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618763"/>
              </p:ext>
            </p:extLst>
          </p:nvPr>
        </p:nvGraphicFramePr>
        <p:xfrm>
          <a:off x="108882" y="2210036"/>
          <a:ext cx="5396521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3703">
                  <a:extLst>
                    <a:ext uri="{9D8B030D-6E8A-4147-A177-3AD203B41FA5}">
                      <a16:colId xmlns:a16="http://schemas.microsoft.com/office/drawing/2014/main" val="3206494340"/>
                    </a:ext>
                  </a:extLst>
                </a:gridCol>
                <a:gridCol w="1361745">
                  <a:extLst>
                    <a:ext uri="{9D8B030D-6E8A-4147-A177-3AD203B41FA5}">
                      <a16:colId xmlns:a16="http://schemas.microsoft.com/office/drawing/2014/main" val="815078519"/>
                    </a:ext>
                  </a:extLst>
                </a:gridCol>
                <a:gridCol w="1390806">
                  <a:extLst>
                    <a:ext uri="{9D8B030D-6E8A-4147-A177-3AD203B41FA5}">
                      <a16:colId xmlns:a16="http://schemas.microsoft.com/office/drawing/2014/main" val="2796512410"/>
                    </a:ext>
                  </a:extLst>
                </a:gridCol>
                <a:gridCol w="1540267">
                  <a:extLst>
                    <a:ext uri="{9D8B030D-6E8A-4147-A177-3AD203B41FA5}">
                      <a16:colId xmlns:a16="http://schemas.microsoft.com/office/drawing/2014/main" val="1676049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À</a:t>
                      </a:r>
                      <a:r>
                        <a:rPr lang="pt-BR" sz="2400" baseline="0" dirty="0"/>
                        <a:t> vista</a:t>
                      </a:r>
                      <a:endParaRPr lang="pt-B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Parcelas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Valor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86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50.000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266287"/>
                  </a:ext>
                </a:extLst>
              </a:tr>
            </a:tbl>
          </a:graphicData>
        </a:graphic>
      </p:graphicFrame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13"/>
          <p:cNvSpPr/>
          <p:nvPr/>
        </p:nvSpPr>
        <p:spPr>
          <a:xfrm>
            <a:off x="0" y="6657120"/>
            <a:ext cx="517321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https://www.minimundi.com.br/miniatura-carro-batmovel-c-figura-batman-arkham-knight-dc-metals-die-cast-1-24-jada-toys-98037</a:t>
            </a:r>
          </a:p>
        </p:txBody>
      </p:sp>
      <p:cxnSp>
        <p:nvCxnSpPr>
          <p:cNvPr id="13" name="Conector reto 12"/>
          <p:cNvCxnSpPr/>
          <p:nvPr/>
        </p:nvCxnSpPr>
        <p:spPr>
          <a:xfrm>
            <a:off x="9188920" y="1403267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686343" y="1591763"/>
            <a:ext cx="0" cy="42195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25"/>
          <p:cNvCxnSpPr/>
          <p:nvPr/>
        </p:nvCxnSpPr>
        <p:spPr>
          <a:xfrm>
            <a:off x="7475476" y="375183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5317969" y="147440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11274309" y="2123638"/>
            <a:ext cx="0" cy="39052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7708" y="354728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1195512" y="3435695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19284" y="3124436"/>
            <a:ext cx="5525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          10,0  10,0 10,0  10,0   10,0</a:t>
            </a:r>
          </a:p>
        </p:txBody>
      </p:sp>
      <p:cxnSp>
        <p:nvCxnSpPr>
          <p:cNvPr id="31" name="Conector de seta reta 2"/>
          <p:cNvCxnSpPr/>
          <p:nvPr/>
        </p:nvCxnSpPr>
        <p:spPr>
          <a:xfrm>
            <a:off x="5686343" y="3755964"/>
            <a:ext cx="63405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Seta em Curva para Baixo 32"/>
          <p:cNvSpPr/>
          <p:nvPr/>
        </p:nvSpPr>
        <p:spPr>
          <a:xfrm flipH="1">
            <a:off x="6394448" y="2434432"/>
            <a:ext cx="1200151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4" name="Seta em Curva para Baixo 33"/>
          <p:cNvSpPr/>
          <p:nvPr/>
        </p:nvSpPr>
        <p:spPr>
          <a:xfrm flipH="1">
            <a:off x="6394447" y="2463367"/>
            <a:ext cx="1908255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5" name="Seta em Curva para Baixo 34"/>
          <p:cNvSpPr/>
          <p:nvPr/>
        </p:nvSpPr>
        <p:spPr>
          <a:xfrm flipH="1">
            <a:off x="6406727" y="2476898"/>
            <a:ext cx="2581971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Seta em Curva para Baixo 35"/>
          <p:cNvSpPr/>
          <p:nvPr/>
        </p:nvSpPr>
        <p:spPr>
          <a:xfrm flipH="1">
            <a:off x="6394446" y="2487198"/>
            <a:ext cx="3278038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7" name="Seta em Curva para Baixo 36"/>
          <p:cNvSpPr/>
          <p:nvPr/>
        </p:nvSpPr>
        <p:spPr>
          <a:xfrm flipH="1">
            <a:off x="6394445" y="2471370"/>
            <a:ext cx="4128476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9081397" y="782387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VPL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9759828" y="782387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 GRÁFICO</a:t>
            </a:r>
          </a:p>
        </p:txBody>
      </p:sp>
      <p:cxnSp>
        <p:nvCxnSpPr>
          <p:cNvPr id="42" name="Conector de seta reta 25"/>
          <p:cNvCxnSpPr/>
          <p:nvPr/>
        </p:nvCxnSpPr>
        <p:spPr>
          <a:xfrm>
            <a:off x="8218426" y="3755964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25"/>
          <p:cNvCxnSpPr/>
          <p:nvPr/>
        </p:nvCxnSpPr>
        <p:spPr>
          <a:xfrm>
            <a:off x="8872476" y="374955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25"/>
          <p:cNvCxnSpPr/>
          <p:nvPr/>
        </p:nvCxnSpPr>
        <p:spPr>
          <a:xfrm>
            <a:off x="9623210" y="3755964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25"/>
          <p:cNvCxnSpPr/>
          <p:nvPr/>
        </p:nvCxnSpPr>
        <p:spPr>
          <a:xfrm>
            <a:off x="10429660" y="374955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2" descr="Miniatura Batmóvel c/ Batman Arkham DC 1:24 Jada Toys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11" y="3171454"/>
            <a:ext cx="3432175" cy="343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3297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de seta reta 25"/>
          <p:cNvCxnSpPr/>
          <p:nvPr/>
        </p:nvCxnSpPr>
        <p:spPr>
          <a:xfrm>
            <a:off x="7475476" y="375183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6019284" y="3124436"/>
            <a:ext cx="5525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          11,0 12,1 13,3  14,6   16,1</a:t>
            </a:r>
          </a:p>
        </p:txBody>
      </p:sp>
      <p:cxnSp>
        <p:nvCxnSpPr>
          <p:cNvPr id="57" name="Conector de seta reta 25"/>
          <p:cNvCxnSpPr/>
          <p:nvPr/>
        </p:nvCxnSpPr>
        <p:spPr>
          <a:xfrm>
            <a:off x="8218426" y="3755964"/>
            <a:ext cx="0" cy="200348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25"/>
          <p:cNvCxnSpPr/>
          <p:nvPr/>
        </p:nvCxnSpPr>
        <p:spPr>
          <a:xfrm>
            <a:off x="8872476" y="3749556"/>
            <a:ext cx="0" cy="217499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25"/>
          <p:cNvCxnSpPr/>
          <p:nvPr/>
        </p:nvCxnSpPr>
        <p:spPr>
          <a:xfrm>
            <a:off x="9623210" y="3755964"/>
            <a:ext cx="0" cy="23908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5"/>
          <p:cNvCxnSpPr/>
          <p:nvPr/>
        </p:nvCxnSpPr>
        <p:spPr>
          <a:xfrm>
            <a:off x="10429660" y="3749556"/>
            <a:ext cx="0" cy="256234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2"/>
          <p:cNvCxnSpPr/>
          <p:nvPr/>
        </p:nvCxnSpPr>
        <p:spPr>
          <a:xfrm>
            <a:off x="5686343" y="3755964"/>
            <a:ext cx="63405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5775393" y="3039504"/>
            <a:ext cx="1434799" cy="1434799"/>
          </a:xfrm>
          <a:prstGeom prst="ellipse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6" name="Tabela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017827"/>
              </p:ext>
            </p:extLst>
          </p:nvPr>
        </p:nvGraphicFramePr>
        <p:xfrm>
          <a:off x="1230492" y="2453671"/>
          <a:ext cx="2752551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1745">
                  <a:extLst>
                    <a:ext uri="{9D8B030D-6E8A-4147-A177-3AD203B41FA5}">
                      <a16:colId xmlns:a16="http://schemas.microsoft.com/office/drawing/2014/main" val="815078519"/>
                    </a:ext>
                  </a:extLst>
                </a:gridCol>
                <a:gridCol w="1390806">
                  <a:extLst>
                    <a:ext uri="{9D8B030D-6E8A-4147-A177-3AD203B41FA5}">
                      <a16:colId xmlns:a16="http://schemas.microsoft.com/office/drawing/2014/main" val="2796512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Parcelas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Valor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86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341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12.100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226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13.310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469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14.641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7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16.105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51739"/>
                  </a:ext>
                </a:extLst>
              </a:tr>
            </a:tbl>
          </a:graphicData>
        </a:graphic>
      </p:graphicFrame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/>
          <p:cNvCxnSpPr/>
          <p:nvPr/>
        </p:nvCxnSpPr>
        <p:spPr>
          <a:xfrm>
            <a:off x="9188920" y="1403267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686343" y="1591763"/>
            <a:ext cx="0" cy="42195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5317969" y="147440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11274309" y="2123638"/>
            <a:ext cx="0" cy="39052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7708" y="354728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1195512" y="3435695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37" name="Seta em Curva para Baixo 36"/>
          <p:cNvSpPr/>
          <p:nvPr/>
        </p:nvSpPr>
        <p:spPr>
          <a:xfrm>
            <a:off x="6396555" y="2611215"/>
            <a:ext cx="1255195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9081397" y="782387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VPL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9759828" y="782387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 GRÁFICO</a:t>
            </a:r>
          </a:p>
        </p:txBody>
      </p:sp>
      <p:cxnSp>
        <p:nvCxnSpPr>
          <p:cNvPr id="41" name="Conector de seta reta 25"/>
          <p:cNvCxnSpPr/>
          <p:nvPr/>
        </p:nvCxnSpPr>
        <p:spPr>
          <a:xfrm>
            <a:off x="7475476" y="375183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Seta em Curva para Baixo 60"/>
          <p:cNvSpPr/>
          <p:nvPr/>
        </p:nvSpPr>
        <p:spPr>
          <a:xfrm>
            <a:off x="6396556" y="2617623"/>
            <a:ext cx="1867818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2" name="Seta em Curva para Baixo 61"/>
          <p:cNvSpPr/>
          <p:nvPr/>
        </p:nvSpPr>
        <p:spPr>
          <a:xfrm>
            <a:off x="6396554" y="2620044"/>
            <a:ext cx="2592195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3" name="Seta em Curva para Baixo 62"/>
          <p:cNvSpPr/>
          <p:nvPr/>
        </p:nvSpPr>
        <p:spPr>
          <a:xfrm>
            <a:off x="6396553" y="2622223"/>
            <a:ext cx="3302407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4" name="Seta em Curva para Baixo 63"/>
          <p:cNvSpPr/>
          <p:nvPr/>
        </p:nvSpPr>
        <p:spPr>
          <a:xfrm>
            <a:off x="6396553" y="2632553"/>
            <a:ext cx="4090081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6064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lipse 37"/>
          <p:cNvSpPr/>
          <p:nvPr/>
        </p:nvSpPr>
        <p:spPr>
          <a:xfrm>
            <a:off x="5775393" y="3039504"/>
            <a:ext cx="1434799" cy="1434799"/>
          </a:xfrm>
          <a:prstGeom prst="ellipse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6" name="Tabela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949689"/>
              </p:ext>
            </p:extLst>
          </p:nvPr>
        </p:nvGraphicFramePr>
        <p:xfrm>
          <a:off x="1235985" y="2417499"/>
          <a:ext cx="2752551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1745">
                  <a:extLst>
                    <a:ext uri="{9D8B030D-6E8A-4147-A177-3AD203B41FA5}">
                      <a16:colId xmlns:a16="http://schemas.microsoft.com/office/drawing/2014/main" val="815078519"/>
                    </a:ext>
                  </a:extLst>
                </a:gridCol>
                <a:gridCol w="1390806">
                  <a:extLst>
                    <a:ext uri="{9D8B030D-6E8A-4147-A177-3AD203B41FA5}">
                      <a16:colId xmlns:a16="http://schemas.microsoft.com/office/drawing/2014/main" val="2796512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Parcelas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Valor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86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341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226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469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7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51739"/>
                  </a:ext>
                </a:extLst>
              </a:tr>
            </a:tbl>
          </a:graphicData>
        </a:graphic>
      </p:graphicFrame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/>
          <p:cNvCxnSpPr/>
          <p:nvPr/>
        </p:nvCxnSpPr>
        <p:spPr>
          <a:xfrm>
            <a:off x="9188920" y="1403267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686343" y="1591763"/>
            <a:ext cx="0" cy="42195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25"/>
          <p:cNvCxnSpPr/>
          <p:nvPr/>
        </p:nvCxnSpPr>
        <p:spPr>
          <a:xfrm>
            <a:off x="7475476" y="375183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5317969" y="147440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R$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11274309" y="2123638"/>
            <a:ext cx="0" cy="39052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7708" y="354728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1195512" y="3435695"/>
            <a:ext cx="422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0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19284" y="3124436"/>
            <a:ext cx="5525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            10,0 10,0 10,0  10,0   10,0</a:t>
            </a:r>
          </a:p>
        </p:txBody>
      </p:sp>
      <p:cxnSp>
        <p:nvCxnSpPr>
          <p:cNvPr id="31" name="Conector de seta reta 2"/>
          <p:cNvCxnSpPr/>
          <p:nvPr/>
        </p:nvCxnSpPr>
        <p:spPr>
          <a:xfrm>
            <a:off x="5686343" y="3755964"/>
            <a:ext cx="63405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Seta em Curva para Baixo 32"/>
          <p:cNvSpPr/>
          <p:nvPr/>
        </p:nvSpPr>
        <p:spPr>
          <a:xfrm flipH="1">
            <a:off x="6394448" y="2434432"/>
            <a:ext cx="1200151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4" name="Seta em Curva para Baixo 33"/>
          <p:cNvSpPr/>
          <p:nvPr/>
        </p:nvSpPr>
        <p:spPr>
          <a:xfrm flipH="1">
            <a:off x="6394447" y="2463367"/>
            <a:ext cx="1908255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5" name="Seta em Curva para Baixo 34"/>
          <p:cNvSpPr/>
          <p:nvPr/>
        </p:nvSpPr>
        <p:spPr>
          <a:xfrm flipH="1">
            <a:off x="6406727" y="2476898"/>
            <a:ext cx="2581971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Seta em Curva para Baixo 35"/>
          <p:cNvSpPr/>
          <p:nvPr/>
        </p:nvSpPr>
        <p:spPr>
          <a:xfrm flipH="1">
            <a:off x="6394446" y="2487198"/>
            <a:ext cx="3278038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7" name="Seta em Curva para Baixo 36"/>
          <p:cNvSpPr/>
          <p:nvPr/>
        </p:nvSpPr>
        <p:spPr>
          <a:xfrm flipH="1">
            <a:off x="6394445" y="2471370"/>
            <a:ext cx="4128476" cy="576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9081397" y="782387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VPL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9759828" y="782387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 GRÁFICO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693463" y="3298960"/>
            <a:ext cx="1621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50,0</a:t>
            </a:r>
          </a:p>
        </p:txBody>
      </p:sp>
      <p:cxnSp>
        <p:nvCxnSpPr>
          <p:cNvPr id="29" name="Conector de seta reta 25"/>
          <p:cNvCxnSpPr/>
          <p:nvPr/>
        </p:nvCxnSpPr>
        <p:spPr>
          <a:xfrm>
            <a:off x="8161276" y="375183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25"/>
          <p:cNvCxnSpPr/>
          <p:nvPr/>
        </p:nvCxnSpPr>
        <p:spPr>
          <a:xfrm>
            <a:off x="8839098" y="375183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25"/>
          <p:cNvCxnSpPr/>
          <p:nvPr/>
        </p:nvCxnSpPr>
        <p:spPr>
          <a:xfrm>
            <a:off x="9562998" y="375183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25"/>
          <p:cNvCxnSpPr/>
          <p:nvPr/>
        </p:nvCxnSpPr>
        <p:spPr>
          <a:xfrm>
            <a:off x="10420248" y="3751836"/>
            <a:ext cx="0" cy="180035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5209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/>
          <p:cNvCxnSpPr/>
          <p:nvPr/>
        </p:nvCxnSpPr>
        <p:spPr>
          <a:xfrm>
            <a:off x="9188920" y="1403267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9081397" y="782387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VPL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9759828" y="782387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 GRÁFICO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07" y="1663028"/>
            <a:ext cx="11725943" cy="4629821"/>
          </a:xfrm>
          <a:prstGeom prst="rect">
            <a:avLst/>
          </a:prstGeom>
        </p:spPr>
      </p:pic>
      <p:sp>
        <p:nvSpPr>
          <p:cNvPr id="43" name="Retângulo 42"/>
          <p:cNvSpPr/>
          <p:nvPr/>
        </p:nvSpPr>
        <p:spPr>
          <a:xfrm>
            <a:off x="0" y="6657120"/>
            <a:ext cx="19383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Processo </a:t>
            </a:r>
            <a:r>
              <a:rPr lang="pt-BR" sz="700" dirty="0" err="1"/>
              <a:t>Antaq</a:t>
            </a:r>
            <a:r>
              <a:rPr lang="pt-BR" sz="700" dirty="0"/>
              <a:t> 50300.000414/2016-06 </a:t>
            </a:r>
          </a:p>
        </p:txBody>
      </p:sp>
      <p:sp>
        <p:nvSpPr>
          <p:cNvPr id="44" name="Retângulo 43"/>
          <p:cNvSpPr/>
          <p:nvPr/>
        </p:nvSpPr>
        <p:spPr>
          <a:xfrm>
            <a:off x="133350" y="6096000"/>
            <a:ext cx="11798300" cy="2413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48788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/>
          <p:cNvCxnSpPr/>
          <p:nvPr/>
        </p:nvCxnSpPr>
        <p:spPr>
          <a:xfrm>
            <a:off x="9188920" y="1403267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9081397" y="782387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VPL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9759828" y="782387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 GRÁFICO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786469"/>
              </p:ext>
            </p:extLst>
          </p:nvPr>
        </p:nvGraphicFramePr>
        <p:xfrm>
          <a:off x="108223" y="1626750"/>
          <a:ext cx="3860526" cy="441889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6842">
                  <a:extLst>
                    <a:ext uri="{9D8B030D-6E8A-4147-A177-3AD203B41FA5}">
                      <a16:colId xmlns:a16="http://schemas.microsoft.com/office/drawing/2014/main" val="481670232"/>
                    </a:ext>
                  </a:extLst>
                </a:gridCol>
                <a:gridCol w="1286842">
                  <a:extLst>
                    <a:ext uri="{9D8B030D-6E8A-4147-A177-3AD203B41FA5}">
                      <a16:colId xmlns:a16="http://schemas.microsoft.com/office/drawing/2014/main" val="1706519225"/>
                    </a:ext>
                  </a:extLst>
                </a:gridCol>
                <a:gridCol w="1286842">
                  <a:extLst>
                    <a:ext uri="{9D8B030D-6E8A-4147-A177-3AD203B41FA5}">
                      <a16:colId xmlns:a16="http://schemas.microsoft.com/office/drawing/2014/main" val="306542945"/>
                    </a:ext>
                  </a:extLst>
                </a:gridCol>
              </a:tblGrid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T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Valor Líquido do Fluxo de Caixa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VP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6814395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2.580.652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2.580.652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59086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1.639.582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1.490.529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8963986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2.149.922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1.776.795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5952159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2.685.312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2.017.515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1285251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4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1.686.813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1.152.116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6449327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5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1.762.176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5302715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6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1.601.978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3853649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7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1.456.343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9479605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8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1.323.949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2349571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9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1.203.590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411702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1.094.172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8478055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994.702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3925061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12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3.744.345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1.193.064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9540956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Total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25.817.706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12.182.044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746616"/>
                  </a:ext>
                </a:extLst>
              </a:tr>
            </a:tbl>
          </a:graphicData>
        </a:graphic>
      </p:graphicFrame>
      <p:graphicFrame>
        <p:nvGraphicFramePr>
          <p:cNvPr id="14" name="Gráfico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0342328"/>
              </p:ext>
            </p:extLst>
          </p:nvPr>
        </p:nvGraphicFramePr>
        <p:xfrm>
          <a:off x="3968749" y="1638875"/>
          <a:ext cx="7840405" cy="4366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341032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/>
          <p:cNvCxnSpPr/>
          <p:nvPr/>
        </p:nvCxnSpPr>
        <p:spPr>
          <a:xfrm>
            <a:off x="9017470" y="1447717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8909947" y="826837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VPL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9588378" y="826837"/>
            <a:ext cx="2191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 FÓRMULA</a:t>
            </a:r>
          </a:p>
        </p:txBody>
      </p:sp>
      <p:sp>
        <p:nvSpPr>
          <p:cNvPr id="11" name="Retângulo Arredondado 10"/>
          <p:cNvSpPr/>
          <p:nvPr/>
        </p:nvSpPr>
        <p:spPr>
          <a:xfrm>
            <a:off x="4757740" y="1575293"/>
            <a:ext cx="6005519" cy="276810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5036954" y="1367421"/>
                <a:ext cx="5290633" cy="23535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6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6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6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6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𝑃𝐿</m:t>
                        </m:r>
                      </m:sub>
                    </m:sSub>
                  </m:oMath>
                </a14:m>
                <a:r>
                  <a:rPr lang="pt-BR" sz="6000" dirty="0">
                    <a:solidFill>
                      <a:schemeClr val="bg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pt-BR" sz="6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6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6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6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6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6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6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6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6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𝐹𝑐</m:t>
                                </m:r>
                              </m:e>
                              <m:sub>
                                <m:r>
                                  <a:rPr lang="pt-BR" sz="6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pt-BR" sz="6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6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pt-BR" sz="6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6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6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pt-BR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954" y="1367421"/>
                <a:ext cx="5290633" cy="2353529"/>
              </a:xfrm>
              <a:prstGeom prst="rect">
                <a:avLst/>
              </a:prstGeom>
              <a:blipFill>
                <a:blip r:embed="rId4"/>
                <a:stretch>
                  <a:fillRect b="-54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/>
          <p:cNvSpPr/>
          <p:nvPr/>
        </p:nvSpPr>
        <p:spPr>
          <a:xfrm>
            <a:off x="0" y="6657120"/>
            <a:ext cx="261321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https://www.treasy.com.br/blog/valor-presente-liquido-vpl/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0" name="Conector reto 19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667259" y="4445525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2400" dirty="0"/>
              <a:t>O VPL </a:t>
            </a:r>
            <a:r>
              <a:rPr lang="pt-BR" sz="2400" b="1" dirty="0"/>
              <a:t>é o valor monetário de todo o fluxo no tempo atual </a:t>
            </a:r>
            <a:r>
              <a:rPr lang="pt-BR" sz="2400" dirty="0"/>
              <a:t>ou ao iniciar um investimento, somando-se as receitas líquidas futuras descontadas a uma dada taxa.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623707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Arredondado 10"/>
          <p:cNvSpPr/>
          <p:nvPr/>
        </p:nvSpPr>
        <p:spPr>
          <a:xfrm>
            <a:off x="4261241" y="1149690"/>
            <a:ext cx="7074236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4297487" y="1143370"/>
            <a:ext cx="7037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</a:t>
            </a:r>
            <a:r>
              <a:rPr lang="pt-BR" sz="4000" i="1" dirty="0" err="1">
                <a:solidFill>
                  <a:schemeClr val="bg1"/>
                </a:solidFill>
              </a:rPr>
              <a:t>payback</a:t>
            </a:r>
            <a:r>
              <a:rPr lang="pt-BR" sz="4000" i="1" dirty="0">
                <a:solidFill>
                  <a:schemeClr val="bg1"/>
                </a:solidFill>
              </a:rPr>
              <a:t> </a:t>
            </a:r>
            <a:r>
              <a:rPr lang="pt-BR" sz="4000" dirty="0">
                <a:solidFill>
                  <a:schemeClr val="bg1"/>
                </a:solidFill>
              </a:rPr>
              <a:t>x </a:t>
            </a:r>
            <a:r>
              <a:rPr lang="pt-BR" sz="4000" i="1" dirty="0" err="1">
                <a:solidFill>
                  <a:schemeClr val="bg1"/>
                </a:solidFill>
              </a:rPr>
              <a:t>payback</a:t>
            </a:r>
            <a:r>
              <a:rPr lang="pt-BR" sz="4000" dirty="0">
                <a:solidFill>
                  <a:schemeClr val="bg1"/>
                </a:solidFill>
              </a:rPr>
              <a:t> descontado)</a:t>
            </a:r>
          </a:p>
        </p:txBody>
      </p:sp>
      <p:sp>
        <p:nvSpPr>
          <p:cNvPr id="2" name="Retângulo 1"/>
          <p:cNvSpPr/>
          <p:nvPr/>
        </p:nvSpPr>
        <p:spPr>
          <a:xfrm>
            <a:off x="4261241" y="2749929"/>
            <a:ext cx="703799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/>
              <a:t>Payback</a:t>
            </a:r>
            <a:r>
              <a:rPr lang="pt-BR" sz="2400" dirty="0"/>
              <a:t> é um indicador financeiro que revela o tempo necessário para recuperar o custo de um investimento. Equivale ao prazo de retorno do investimento, ou </a:t>
            </a:r>
            <a:r>
              <a:rPr lang="pt-BR" sz="2400" b="1" dirty="0"/>
              <a:t>quanto tempo ele leva para “se pagar”.</a:t>
            </a:r>
            <a:endParaRPr lang="pt-BR" sz="2400" dirty="0"/>
          </a:p>
          <a:p>
            <a:pPr algn="just"/>
            <a:r>
              <a:rPr lang="pt-BR" sz="2400" dirty="0"/>
              <a:t>Enquanto o </a:t>
            </a:r>
            <a:r>
              <a:rPr lang="pt-BR" sz="2400" i="1" dirty="0" err="1"/>
              <a:t>payback</a:t>
            </a:r>
            <a:r>
              <a:rPr lang="pt-BR" sz="2400" dirty="0"/>
              <a:t> simples não considera o valor do dinheiro no tempo, o </a:t>
            </a:r>
            <a:r>
              <a:rPr lang="pt-BR" sz="2400" i="1" dirty="0" err="1"/>
              <a:t>payback</a:t>
            </a:r>
            <a:r>
              <a:rPr lang="pt-BR" sz="2400" dirty="0"/>
              <a:t> descontado é um indicador mais complexo, que usa os valores descontados por meio de uma taxa, a TMA, por exemplo.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0" y="6657120"/>
            <a:ext cx="31598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https://www.capitalresearch.com.br/blog/investimentos/payback-simples//</a:t>
            </a:r>
          </a:p>
        </p:txBody>
      </p:sp>
    </p:spTree>
    <p:extLst>
      <p:ext uri="{BB962C8B-B14F-4D97-AF65-F5344CB8AC3E}">
        <p14:creationId xmlns:p14="http://schemas.microsoft.com/office/powerpoint/2010/main" val="30845533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82269"/>
              </p:ext>
            </p:extLst>
          </p:nvPr>
        </p:nvGraphicFramePr>
        <p:xfrm>
          <a:off x="3548620" y="1245082"/>
          <a:ext cx="8306829" cy="50939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0296">
                  <a:extLst>
                    <a:ext uri="{9D8B030D-6E8A-4147-A177-3AD203B41FA5}">
                      <a16:colId xmlns:a16="http://schemas.microsoft.com/office/drawing/2014/main" val="481670232"/>
                    </a:ext>
                  </a:extLst>
                </a:gridCol>
                <a:gridCol w="1827502">
                  <a:extLst>
                    <a:ext uri="{9D8B030D-6E8A-4147-A177-3AD203B41FA5}">
                      <a16:colId xmlns:a16="http://schemas.microsoft.com/office/drawing/2014/main" val="1706519225"/>
                    </a:ext>
                  </a:extLst>
                </a:gridCol>
                <a:gridCol w="1592882">
                  <a:extLst>
                    <a:ext uri="{9D8B030D-6E8A-4147-A177-3AD203B41FA5}">
                      <a16:colId xmlns:a16="http://schemas.microsoft.com/office/drawing/2014/main" val="2266718768"/>
                    </a:ext>
                  </a:extLst>
                </a:gridCol>
                <a:gridCol w="1824783">
                  <a:extLst>
                    <a:ext uri="{9D8B030D-6E8A-4147-A177-3AD203B41FA5}">
                      <a16:colId xmlns:a16="http://schemas.microsoft.com/office/drawing/2014/main" val="306542945"/>
                    </a:ext>
                  </a:extLst>
                </a:gridCol>
                <a:gridCol w="1661366">
                  <a:extLst>
                    <a:ext uri="{9D8B030D-6E8A-4147-A177-3AD203B41FA5}">
                      <a16:colId xmlns:a16="http://schemas.microsoft.com/office/drawing/2014/main" val="1058710495"/>
                    </a:ext>
                  </a:extLst>
                </a:gridCol>
              </a:tblGrid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T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Valor Líquido do Fluxo de Caixa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2000" b="1" i="1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Payback</a:t>
                      </a:r>
                      <a:endParaRPr lang="pt-BR" sz="2000" b="1" i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VP 10%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i="1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Payback</a:t>
                      </a:r>
                      <a:r>
                        <a:rPr lang="pt-BR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descontado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6814395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0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2.580.652</a:t>
                      </a:r>
                      <a:endParaRPr lang="pt-BR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2.580.652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2.580.652</a:t>
                      </a:r>
                      <a:endParaRPr lang="pt-BR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2.580.652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59086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1.639.582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941.070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1.490.529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1.090.123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8963986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2.149.922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1.208.852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1.776.795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686.672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952159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3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2.685.312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3.894.164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2.017.515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2.704.187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1285251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4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1.686.813</a:t>
                      </a:r>
                      <a:endParaRPr lang="pt-BR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2.207.351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1.152.116</a:t>
                      </a:r>
                      <a:endParaRPr lang="pt-BR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1.552.071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6449327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5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2.838.001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5.045.352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1.762.176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3.314.246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5302715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6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2.838.001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7.883.353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1.601.978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4.916.224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3853649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7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2.838.001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10.721.355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1.456.343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6.372.567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9479605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8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2.838.001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13.559.356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1.323.949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7.696.516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2349571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9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>
                          <a:effectLst/>
                        </a:rPr>
                        <a:t>2.838.001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16.397.357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1.203.590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8.900.105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411702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10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>
                          <a:effectLst/>
                        </a:rPr>
                        <a:t>2.838.001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19.235.359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1.094.172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9.994.278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8478055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11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>
                          <a:effectLst/>
                        </a:rPr>
                        <a:t>2.838.001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22.073.360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994.702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10.988.980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3925061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12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>
                          <a:effectLst/>
                        </a:rPr>
                        <a:t>3.744.345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25.817.706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1.193.064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12.182.044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9540956"/>
                  </a:ext>
                </a:extLst>
              </a:tr>
              <a:tr h="2592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Total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u="none" strike="noStrike" dirty="0">
                          <a:effectLst/>
                        </a:rPr>
                        <a:t>25.817.706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u="none" strike="noStrike" dirty="0">
                          <a:effectLst/>
                        </a:rPr>
                        <a:t>12.182.044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746616"/>
                  </a:ext>
                </a:extLst>
              </a:tr>
            </a:tbl>
          </a:graphicData>
        </a:graphic>
      </p:graphicFrame>
      <p:sp>
        <p:nvSpPr>
          <p:cNvPr id="15" name="CaixaDeTexto 14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7" name="Conector reto 16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7683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569772"/>
              </p:ext>
            </p:extLst>
          </p:nvPr>
        </p:nvGraphicFramePr>
        <p:xfrm>
          <a:off x="139701" y="1688312"/>
          <a:ext cx="5676899" cy="43079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6964">
                  <a:extLst>
                    <a:ext uri="{9D8B030D-6E8A-4147-A177-3AD203B41FA5}">
                      <a16:colId xmlns:a16="http://schemas.microsoft.com/office/drawing/2014/main" val="481670232"/>
                    </a:ext>
                  </a:extLst>
                </a:gridCol>
                <a:gridCol w="1248917">
                  <a:extLst>
                    <a:ext uri="{9D8B030D-6E8A-4147-A177-3AD203B41FA5}">
                      <a16:colId xmlns:a16="http://schemas.microsoft.com/office/drawing/2014/main" val="1706519225"/>
                    </a:ext>
                  </a:extLst>
                </a:gridCol>
                <a:gridCol w="1088579">
                  <a:extLst>
                    <a:ext uri="{9D8B030D-6E8A-4147-A177-3AD203B41FA5}">
                      <a16:colId xmlns:a16="http://schemas.microsoft.com/office/drawing/2014/main" val="2266718768"/>
                    </a:ext>
                  </a:extLst>
                </a:gridCol>
                <a:gridCol w="1247059">
                  <a:extLst>
                    <a:ext uri="{9D8B030D-6E8A-4147-A177-3AD203B41FA5}">
                      <a16:colId xmlns:a16="http://schemas.microsoft.com/office/drawing/2014/main" val="306542945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1058710495"/>
                    </a:ext>
                  </a:extLst>
                </a:gridCol>
              </a:tblGrid>
              <a:tr h="45169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T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Valor Líquido do Fluxo de Caixa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b="1" i="1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Payback</a:t>
                      </a:r>
                      <a:endParaRPr lang="pt-BR" sz="1600" b="1" i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VP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1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Payback</a:t>
                      </a:r>
                      <a:r>
                        <a:rPr lang="pt-BR" sz="16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descontado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6814395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2.580.652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6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2.580.652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2.580.652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2.580.652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59086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1.639.582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6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941.070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1.490.529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1.090.123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8963986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2.149.922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1.208.852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1.776.795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686.672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952159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3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2.685.312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3.894.164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2.017.515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2.704.187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1285251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4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1.686.813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2.207.351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1.152.116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1.552.071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6449327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5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5.045.352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1.762.176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3.314.246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5302715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6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7.883.353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1.601.978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4.916.224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3853649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7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10.721.355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1.456.343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6.372.567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9479605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8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13.559.356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1.323.949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7.696.516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2349571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9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16.397.357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1.203.590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8.900.105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411702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19.235.359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1.094.172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9.994.278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8478055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22.073.360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994.702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10.988.980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3925061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12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3.744.345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25.817.706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1.193.064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12.182.044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9540956"/>
                  </a:ext>
                </a:extLst>
              </a:tr>
              <a:tr h="31758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Total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25.817.706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12.182.044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746616"/>
                  </a:ext>
                </a:extLst>
              </a:tr>
            </a:tbl>
          </a:graphicData>
        </a:graphic>
      </p:graphicFrame>
      <p:cxnSp>
        <p:nvCxnSpPr>
          <p:cNvPr id="13" name="Conector reto 12"/>
          <p:cNvCxnSpPr/>
          <p:nvPr/>
        </p:nvCxnSpPr>
        <p:spPr>
          <a:xfrm>
            <a:off x="8799496" y="1474029"/>
            <a:ext cx="3170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665494" y="880400"/>
            <a:ext cx="18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RESUMO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10331328" y="880399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ANÁLISE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90149"/>
              </p:ext>
            </p:extLst>
          </p:nvPr>
        </p:nvGraphicFramePr>
        <p:xfrm>
          <a:off x="6153151" y="1688309"/>
          <a:ext cx="5940198" cy="43079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70099">
                  <a:extLst>
                    <a:ext uri="{9D8B030D-6E8A-4147-A177-3AD203B41FA5}">
                      <a16:colId xmlns:a16="http://schemas.microsoft.com/office/drawing/2014/main" val="3244136438"/>
                    </a:ext>
                  </a:extLst>
                </a:gridCol>
                <a:gridCol w="2970099">
                  <a:extLst>
                    <a:ext uri="{9D8B030D-6E8A-4147-A177-3AD203B41FA5}">
                      <a16:colId xmlns:a16="http://schemas.microsoft.com/office/drawing/2014/main" val="2201148676"/>
                    </a:ext>
                  </a:extLst>
                </a:gridCol>
              </a:tblGrid>
              <a:tr h="48953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Rubrica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80241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dirty="0"/>
                        <a:t>Fluxo</a:t>
                      </a:r>
                      <a:r>
                        <a:rPr lang="pt-BR" sz="2400" baseline="0" dirty="0"/>
                        <a:t> de caixa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25.817.706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581568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dirty="0"/>
                        <a:t>Taxa</a:t>
                      </a:r>
                      <a:r>
                        <a:rPr lang="pt-BR" sz="2400" baseline="0" dirty="0"/>
                        <a:t> de desconto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221590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dirty="0"/>
                        <a:t>VPL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12.182.044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450322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dirty="0"/>
                        <a:t>Data focal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T=0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154877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i="1" dirty="0" err="1"/>
                        <a:t>Payback</a:t>
                      </a:r>
                      <a:endParaRPr lang="pt-BR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Ano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60292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i="1" dirty="0" err="1"/>
                        <a:t>Paybak</a:t>
                      </a:r>
                      <a:r>
                        <a:rPr lang="pt-BR" sz="2400" dirty="0"/>
                        <a:t> descontado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Ano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995699"/>
                  </a:ext>
                </a:extLst>
              </a:tr>
              <a:tr h="881166">
                <a:tc>
                  <a:txBody>
                    <a:bodyPr/>
                    <a:lstStyle/>
                    <a:p>
                      <a:r>
                        <a:rPr lang="pt-BR" sz="2400" dirty="0"/>
                        <a:t>Taxa interna de retorno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69%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03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823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0151057" y="877710"/>
            <a:ext cx="2040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AXIOMAS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8465575" y="898295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ANÁLISE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/>
          <p:cNvCxnSpPr/>
          <p:nvPr/>
        </p:nvCxnSpPr>
        <p:spPr>
          <a:xfrm>
            <a:off x="8489950" y="1474029"/>
            <a:ext cx="36324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7327"/>
              </p:ext>
            </p:extLst>
          </p:nvPr>
        </p:nvGraphicFramePr>
        <p:xfrm>
          <a:off x="539751" y="1574046"/>
          <a:ext cx="4819650" cy="45036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09825">
                  <a:extLst>
                    <a:ext uri="{9D8B030D-6E8A-4147-A177-3AD203B41FA5}">
                      <a16:colId xmlns:a16="http://schemas.microsoft.com/office/drawing/2014/main" val="3244136438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201148676"/>
                    </a:ext>
                  </a:extLst>
                </a:gridCol>
              </a:tblGrid>
              <a:tr h="46587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Rubrica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80241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dirty="0"/>
                        <a:t>Fluxo</a:t>
                      </a:r>
                      <a:r>
                        <a:rPr lang="pt-BR" sz="2400" baseline="0" dirty="0"/>
                        <a:t> de caixa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25.817.706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581568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dirty="0"/>
                        <a:t>Taxa</a:t>
                      </a:r>
                      <a:r>
                        <a:rPr lang="pt-BR" sz="2400" baseline="0" dirty="0"/>
                        <a:t> de desconto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221590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dirty="0"/>
                        <a:t>VPL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12.182.044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450322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dirty="0"/>
                        <a:t>Data focal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154877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i="1" dirty="0" err="1"/>
                        <a:t>Payback</a:t>
                      </a:r>
                      <a:endParaRPr lang="pt-BR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Ano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60292"/>
                  </a:ext>
                </a:extLst>
              </a:tr>
              <a:tr h="794778">
                <a:tc>
                  <a:txBody>
                    <a:bodyPr/>
                    <a:lstStyle/>
                    <a:p>
                      <a:r>
                        <a:rPr lang="pt-BR" sz="2400" i="1" dirty="0" err="1"/>
                        <a:t>Payback</a:t>
                      </a:r>
                      <a:r>
                        <a:rPr lang="pt-BR" sz="2400" dirty="0"/>
                        <a:t> descontado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Ano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995699"/>
                  </a:ext>
                </a:extLst>
              </a:tr>
              <a:tr h="850990">
                <a:tc>
                  <a:txBody>
                    <a:bodyPr/>
                    <a:lstStyle/>
                    <a:p>
                      <a:r>
                        <a:rPr lang="pt-BR" sz="2400" dirty="0"/>
                        <a:t>Taxa interna de retorno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69%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030083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874106"/>
              </p:ext>
            </p:extLst>
          </p:nvPr>
        </p:nvGraphicFramePr>
        <p:xfrm>
          <a:off x="5699352" y="1574053"/>
          <a:ext cx="5940198" cy="44805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0099">
                  <a:extLst>
                    <a:ext uri="{9D8B030D-6E8A-4147-A177-3AD203B41FA5}">
                      <a16:colId xmlns:a16="http://schemas.microsoft.com/office/drawing/2014/main" val="3244136438"/>
                    </a:ext>
                  </a:extLst>
                </a:gridCol>
                <a:gridCol w="2970099">
                  <a:extLst>
                    <a:ext uri="{9D8B030D-6E8A-4147-A177-3AD203B41FA5}">
                      <a16:colId xmlns:a16="http://schemas.microsoft.com/office/drawing/2014/main" val="2201148676"/>
                    </a:ext>
                  </a:extLst>
                </a:gridCol>
              </a:tblGrid>
              <a:tr h="311352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Premissa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80241"/>
                  </a:ext>
                </a:extLst>
              </a:tr>
              <a:tr h="544866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Taxa de desconto &lt;</a:t>
                      </a:r>
                      <a:r>
                        <a:rPr lang="pt-BR" sz="1800" baseline="0" dirty="0"/>
                        <a:t> taxa interna de retorno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&gt;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581568"/>
                  </a:ext>
                </a:extLst>
              </a:tr>
              <a:tr h="544866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Taxa de desconto &gt;</a:t>
                      </a:r>
                      <a:r>
                        <a:rPr lang="pt-BR" sz="1800" baseline="0" dirty="0"/>
                        <a:t> taxa interna de retorno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&lt;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221590"/>
                  </a:ext>
                </a:extLst>
              </a:tr>
              <a:tr h="544866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Taxa de desconto =</a:t>
                      </a:r>
                      <a:r>
                        <a:rPr lang="pt-BR" sz="1800" baseline="0" dirty="0"/>
                        <a:t> taxa interna de retorno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450322"/>
                  </a:ext>
                </a:extLst>
              </a:tr>
              <a:tr h="311352">
                <a:tc>
                  <a:txBody>
                    <a:bodyPr/>
                    <a:lstStyle/>
                    <a:p>
                      <a:pPr algn="ctr"/>
                      <a:r>
                        <a:rPr lang="pt-BR" sz="1800" i="1" dirty="0" err="1"/>
                        <a:t>Payback</a:t>
                      </a:r>
                      <a:r>
                        <a:rPr lang="pt-BR" sz="1800" dirty="0"/>
                        <a:t> &lt; último 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&gt;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154877"/>
                  </a:ext>
                </a:extLst>
              </a:tr>
              <a:tr h="311352">
                <a:tc>
                  <a:txBody>
                    <a:bodyPr/>
                    <a:lstStyle/>
                    <a:p>
                      <a:pPr algn="ctr"/>
                      <a:r>
                        <a:rPr lang="pt-BR" sz="1800" i="1" dirty="0" err="1"/>
                        <a:t>Payback</a:t>
                      </a:r>
                      <a:r>
                        <a:rPr lang="pt-BR" sz="1800" baseline="0" dirty="0"/>
                        <a:t> = último ano</a:t>
                      </a:r>
                      <a:endParaRPr lang="pt-BR" sz="18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60292"/>
                  </a:ext>
                </a:extLst>
              </a:tr>
              <a:tr h="311352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Taxa de desconto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995699"/>
                  </a:ext>
                </a:extLst>
              </a:tr>
              <a:tr h="354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Taxa de desconto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030083"/>
                  </a:ext>
                </a:extLst>
              </a:tr>
              <a:tr h="354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i="1" dirty="0" err="1"/>
                        <a:t>Payback</a:t>
                      </a:r>
                      <a:endParaRPr lang="pt-BR" sz="18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620888"/>
                  </a:ext>
                </a:extLst>
              </a:tr>
              <a:tr h="354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i="1" dirty="0" err="1"/>
                        <a:t>Payback</a:t>
                      </a:r>
                      <a:endParaRPr lang="pt-BR" sz="18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404273"/>
                  </a:ext>
                </a:extLst>
              </a:tr>
            </a:tbl>
          </a:graphicData>
        </a:graphic>
      </p:graphicFrame>
      <p:sp>
        <p:nvSpPr>
          <p:cNvPr id="4" name="Seta para Baixo 3"/>
          <p:cNvSpPr/>
          <p:nvPr/>
        </p:nvSpPr>
        <p:spPr>
          <a:xfrm flipV="1">
            <a:off x="5803900" y="4629680"/>
            <a:ext cx="266700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 para Baixo 11"/>
          <p:cNvSpPr/>
          <p:nvPr/>
        </p:nvSpPr>
        <p:spPr>
          <a:xfrm>
            <a:off x="9090982" y="4629681"/>
            <a:ext cx="255604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para Baixo 22"/>
          <p:cNvSpPr/>
          <p:nvPr/>
        </p:nvSpPr>
        <p:spPr>
          <a:xfrm>
            <a:off x="5814996" y="5017427"/>
            <a:ext cx="255604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 para Baixo 24"/>
          <p:cNvSpPr/>
          <p:nvPr/>
        </p:nvSpPr>
        <p:spPr>
          <a:xfrm flipV="1">
            <a:off x="9092586" y="5017426"/>
            <a:ext cx="266700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 para Baixo 25"/>
          <p:cNvSpPr/>
          <p:nvPr/>
        </p:nvSpPr>
        <p:spPr>
          <a:xfrm flipV="1">
            <a:off x="5803900" y="5371819"/>
            <a:ext cx="266700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 para Baixo 26"/>
          <p:cNvSpPr/>
          <p:nvPr/>
        </p:nvSpPr>
        <p:spPr>
          <a:xfrm>
            <a:off x="5814996" y="5759566"/>
            <a:ext cx="255604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 para Baixo 27"/>
          <p:cNvSpPr/>
          <p:nvPr/>
        </p:nvSpPr>
        <p:spPr>
          <a:xfrm>
            <a:off x="9103682" y="5359121"/>
            <a:ext cx="255604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Baixo 28"/>
          <p:cNvSpPr/>
          <p:nvPr/>
        </p:nvSpPr>
        <p:spPr>
          <a:xfrm flipV="1">
            <a:off x="9092586" y="5746866"/>
            <a:ext cx="266700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209701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Arredondado 10"/>
          <p:cNvSpPr/>
          <p:nvPr/>
        </p:nvSpPr>
        <p:spPr>
          <a:xfrm>
            <a:off x="3700662" y="1149690"/>
            <a:ext cx="7672704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733800" y="1143370"/>
            <a:ext cx="76395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(ROE/ROA)</a:t>
            </a:r>
          </a:p>
        </p:txBody>
      </p:sp>
      <p:sp>
        <p:nvSpPr>
          <p:cNvPr id="9" name="Retângulo 8"/>
          <p:cNvSpPr/>
          <p:nvPr/>
        </p:nvSpPr>
        <p:spPr>
          <a:xfrm>
            <a:off x="0" y="6657120"/>
            <a:ext cx="413286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https://www.poupardinheiro.com.br/mercado/165-roi-roe-e-roa-o-que-e-cada-um-desses-indicadores</a:t>
            </a:r>
            <a:endParaRPr lang="pt-BR" sz="700" dirty="0">
              <a:solidFill>
                <a:srgbClr val="FF0000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644464" y="2792857"/>
            <a:ext cx="772890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 ROE mostra o </a:t>
            </a:r>
            <a:r>
              <a:rPr lang="pt-BR" sz="2800" b="1" dirty="0"/>
              <a:t>retorno sobre o capital que os sócios injetaram na empresa</a:t>
            </a:r>
            <a:r>
              <a:rPr lang="pt-BR" sz="2800" dirty="0"/>
              <a:t>, calculado por: ROE = Lucro após IR x 100 / Patrimônio líquido;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 ROA mostra o </a:t>
            </a:r>
            <a:r>
              <a:rPr lang="pt-BR" sz="2800" b="1" dirty="0"/>
              <a:t>retorno sobre os ativos</a:t>
            </a:r>
            <a:r>
              <a:rPr lang="pt-BR" sz="2800" dirty="0"/>
              <a:t>. Indica o retorno da empresa sobre o capital aplicado em ativos, calculado por: Margem = Lucro líquido x 100 / Vendas líquidas</a:t>
            </a:r>
          </a:p>
        </p:txBody>
      </p:sp>
    </p:spTree>
    <p:extLst>
      <p:ext uri="{BB962C8B-B14F-4D97-AF65-F5344CB8AC3E}">
        <p14:creationId xmlns:p14="http://schemas.microsoft.com/office/powerpoint/2010/main" val="30904714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Arredondado 10"/>
          <p:cNvSpPr/>
          <p:nvPr/>
        </p:nvSpPr>
        <p:spPr>
          <a:xfrm>
            <a:off x="3700662" y="1149690"/>
            <a:ext cx="7672704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733800" y="1143370"/>
            <a:ext cx="76395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(WACC, ou taxa de desconto)</a:t>
            </a:r>
          </a:p>
        </p:txBody>
      </p:sp>
      <p:sp>
        <p:nvSpPr>
          <p:cNvPr id="9" name="Retângulo 8"/>
          <p:cNvSpPr/>
          <p:nvPr/>
        </p:nvSpPr>
        <p:spPr>
          <a:xfrm>
            <a:off x="0" y="6657120"/>
            <a:ext cx="235352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Nota Técnica nº 182/2018/GPO/SOG SEI 0646414</a:t>
            </a:r>
            <a:endParaRPr lang="pt-BR" sz="700" dirty="0">
              <a:solidFill>
                <a:srgbClr val="FF0000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644464" y="2792857"/>
            <a:ext cx="7785100" cy="3033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  <a:buSzPts val="1100"/>
            </a:pPr>
            <a:r>
              <a:rPr lang="pt-BR" sz="2800" dirty="0"/>
              <a:t>O Custo Médio Ponderado de Capital-WACC engloba a remuneração de todo o capital da empresa. Como tal, abrange tanto a </a:t>
            </a:r>
            <a:r>
              <a:rPr lang="pt-BR" sz="2800" b="1" dirty="0"/>
              <a:t>parcela da remuneração relativa ao capital próprio quanto a parcela do capital de terceiros</a:t>
            </a:r>
            <a:r>
              <a:rPr lang="pt-BR" sz="2800" dirty="0"/>
              <a:t>, incluindo-se os benefícios fiscais gerados pelo endividamento.</a:t>
            </a:r>
          </a:p>
        </p:txBody>
      </p:sp>
    </p:spTree>
    <p:extLst>
      <p:ext uri="{BB962C8B-B14F-4D97-AF65-F5344CB8AC3E}">
        <p14:creationId xmlns:p14="http://schemas.microsoft.com/office/powerpoint/2010/main" val="46073772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O Balanço Patrimonial e sua utilidade | GeCompan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814" y="2734672"/>
            <a:ext cx="8264582" cy="392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ixaDeTexto 21"/>
          <p:cNvSpPr txBox="1"/>
          <p:nvPr/>
        </p:nvSpPr>
        <p:spPr>
          <a:xfrm>
            <a:off x="7337088" y="3316029"/>
            <a:ext cx="18181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rgbClr val="FFFF00"/>
                </a:solidFill>
              </a:rPr>
              <a:t>Circulante (curto prazo)</a:t>
            </a:r>
          </a:p>
          <a:p>
            <a:endParaRPr lang="pt-BR" dirty="0">
              <a:solidFill>
                <a:srgbClr val="FFFF00"/>
              </a:solidFill>
            </a:endParaRPr>
          </a:p>
          <a:p>
            <a:pPr algn="ctr"/>
            <a:endParaRPr lang="pt-BR" sz="800" dirty="0">
              <a:solidFill>
                <a:srgbClr val="FFFF00"/>
              </a:solidFill>
            </a:endParaRPr>
          </a:p>
          <a:p>
            <a:pPr algn="ctr"/>
            <a:r>
              <a:rPr lang="pt-BR" sz="1200" dirty="0">
                <a:solidFill>
                  <a:srgbClr val="FFFF00"/>
                </a:solidFill>
              </a:rPr>
              <a:t>Não circulante</a:t>
            </a:r>
          </a:p>
          <a:p>
            <a:pPr algn="ctr"/>
            <a:r>
              <a:rPr lang="pt-BR" sz="1200" dirty="0">
                <a:solidFill>
                  <a:srgbClr val="FFFF00"/>
                </a:solidFill>
              </a:rPr>
              <a:t>(longo prazo)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0" y="6657120"/>
            <a:ext cx="546175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</a:t>
            </a:r>
            <a:r>
              <a:rPr lang="pt-BR" sz="700" dirty="0">
                <a:hlinkClick r:id="rId5"/>
              </a:rPr>
              <a:t>http://www.portaldecontabilidade.com.br/tematicas/</a:t>
            </a:r>
            <a:r>
              <a:rPr lang="pt-BR" sz="700" dirty="0"/>
              <a:t> e http://www.gecompany.com.br/educacional/o-balanco-patrimonial-e-sua-utilidade</a:t>
            </a:r>
          </a:p>
        </p:txBody>
      </p:sp>
      <p:sp>
        <p:nvSpPr>
          <p:cNvPr id="2" name="Retângulo 1"/>
          <p:cNvSpPr/>
          <p:nvPr/>
        </p:nvSpPr>
        <p:spPr>
          <a:xfrm>
            <a:off x="5508978" y="3341511"/>
            <a:ext cx="1744133" cy="745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5508977" y="4086578"/>
            <a:ext cx="1744133" cy="1580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5508977" y="3366995"/>
            <a:ext cx="1744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Circulante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(caixa)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pPr algn="ctr"/>
            <a:r>
              <a:rPr lang="pt-BR" dirty="0">
                <a:solidFill>
                  <a:srgbClr val="FF0000"/>
                </a:solidFill>
              </a:rPr>
              <a:t>Não circulante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(imobilizado)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7337092" y="3341512"/>
            <a:ext cx="1818198" cy="33302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7337089" y="3666152"/>
            <a:ext cx="1818198" cy="71170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Arredondado 22"/>
          <p:cNvSpPr/>
          <p:nvPr/>
        </p:nvSpPr>
        <p:spPr>
          <a:xfrm>
            <a:off x="3700662" y="1149690"/>
            <a:ext cx="7672704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3733800" y="1143370"/>
            <a:ext cx="77152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(WACC)</a:t>
            </a:r>
          </a:p>
        </p:txBody>
      </p:sp>
    </p:spTree>
    <p:extLst>
      <p:ext uri="{BB962C8B-B14F-4D97-AF65-F5344CB8AC3E}">
        <p14:creationId xmlns:p14="http://schemas.microsoft.com/office/powerpoint/2010/main" val="197247644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o explicativo em seta para baixo 7"/>
          <p:cNvSpPr/>
          <p:nvPr/>
        </p:nvSpPr>
        <p:spPr>
          <a:xfrm>
            <a:off x="5384465" y="1995671"/>
            <a:ext cx="5764348" cy="2562727"/>
          </a:xfrm>
          <a:prstGeom prst="down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/>
          <p:cNvSpPr/>
          <p:nvPr/>
        </p:nvSpPr>
        <p:spPr>
          <a:xfrm>
            <a:off x="0" y="6657120"/>
            <a:ext cx="235352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Nota Técnica nº 182/2018/GPO/SOG SEI 0646414</a:t>
            </a:r>
            <a:endParaRPr lang="pt-BR" sz="700" dirty="0">
              <a:solidFill>
                <a:srgbClr val="FF0000"/>
              </a:solidFill>
            </a:endParaRPr>
          </a:p>
        </p:txBody>
      </p:sp>
      <p:sp>
        <p:nvSpPr>
          <p:cNvPr id="14" name="Texto explicativo em seta para baixo 7"/>
          <p:cNvSpPr/>
          <p:nvPr/>
        </p:nvSpPr>
        <p:spPr>
          <a:xfrm>
            <a:off x="1302193" y="1995672"/>
            <a:ext cx="3502970" cy="2562727"/>
          </a:xfrm>
          <a:prstGeom prst="down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820118" y="4510298"/>
            <a:ext cx="4467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Capital próprio {CAPM (</a:t>
            </a:r>
            <a:r>
              <a:rPr lang="pt-BR" sz="4400" dirty="0"/>
              <a:t>Re</a:t>
            </a:r>
            <a:r>
              <a:rPr lang="pt-BR" sz="2800" dirty="0"/>
              <a:t>)}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536593" y="4510298"/>
            <a:ext cx="39365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Capital de terceiros (</a:t>
            </a:r>
            <a:r>
              <a:rPr lang="pt-BR" sz="4400" dirty="0"/>
              <a:t>Rd</a:t>
            </a:r>
            <a:r>
              <a:rPr lang="pt-BR" sz="2800" dirty="0"/>
              <a:t>)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72116" y="1524040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337259" y="2104221"/>
                <a:ext cx="9974462" cy="14800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4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4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259" y="2104221"/>
                <a:ext cx="9974462" cy="14800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6912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1489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Pausa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25520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Parênteses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46778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https://acesuzano.com.br/ace-suzano-e-sebrae-aqui-abrem-inscricoes-para-oficina-ganhe-mercado/boneco-confuso/</a:t>
            </a:r>
          </a:p>
        </p:txBody>
      </p:sp>
      <p:pic>
        <p:nvPicPr>
          <p:cNvPr id="35842" name="Picture 2" descr="boneco-confuso - Ace Suza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74" y="1203566"/>
            <a:ext cx="3908425" cy="49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16180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ângulo Arredondado 10"/>
          <p:cNvSpPr/>
          <p:nvPr/>
        </p:nvSpPr>
        <p:spPr>
          <a:xfrm>
            <a:off x="3700662" y="1149690"/>
            <a:ext cx="7672704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733800" y="1143370"/>
            <a:ext cx="77152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(WACC, ou taxa de desconto)</a:t>
            </a:r>
          </a:p>
        </p:txBody>
      </p:sp>
      <p:sp>
        <p:nvSpPr>
          <p:cNvPr id="2" name="Retângulo 1"/>
          <p:cNvSpPr/>
          <p:nvPr/>
        </p:nvSpPr>
        <p:spPr>
          <a:xfrm>
            <a:off x="3588266" y="2664342"/>
            <a:ext cx="7733784" cy="3483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5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2800" dirty="0"/>
              <a:t>A </a:t>
            </a:r>
            <a:r>
              <a:rPr lang="pt-BR" sz="2400" dirty="0"/>
              <a:t>remuneração do capital investido é devida à taxa WACC;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2400" dirty="0"/>
              <a:t>A remuneração do capital investido é “limitada” à taxa WACC;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2400" dirty="0"/>
              <a:t>A TIR equivale à WACC;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2400" dirty="0"/>
              <a:t>O VPL do fluxo de caixa de empreendimento é zero;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2400" dirty="0"/>
              <a:t>O VPL positivo é convertido em valor de arrendamento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80345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83061"/>
              </p:ext>
            </p:extLst>
          </p:nvPr>
        </p:nvGraphicFramePr>
        <p:xfrm>
          <a:off x="3606800" y="2080052"/>
          <a:ext cx="8021370" cy="4399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etângulo Arredondado 10"/>
          <p:cNvSpPr/>
          <p:nvPr/>
        </p:nvSpPr>
        <p:spPr>
          <a:xfrm>
            <a:off x="3700662" y="1149690"/>
            <a:ext cx="7672704" cy="13108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3733800" y="1143370"/>
            <a:ext cx="77152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de investimentos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(WACC, ou taxa de desconto)</a:t>
            </a:r>
          </a:p>
        </p:txBody>
      </p:sp>
    </p:spTree>
    <p:extLst>
      <p:ext uri="{BB962C8B-B14F-4D97-AF65-F5344CB8AC3E}">
        <p14:creationId xmlns:p14="http://schemas.microsoft.com/office/powerpoint/2010/main" val="5994344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/>
          <p:cNvCxnSpPr/>
          <p:nvPr/>
        </p:nvCxnSpPr>
        <p:spPr>
          <a:xfrm>
            <a:off x="9701722" y="1474029"/>
            <a:ext cx="23820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9637610" y="880400"/>
            <a:ext cx="1190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TAXA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10660969" y="880400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WACC</a:t>
            </a: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698081"/>
              </p:ext>
            </p:extLst>
          </p:nvPr>
        </p:nvGraphicFramePr>
        <p:xfrm>
          <a:off x="139701" y="1688312"/>
          <a:ext cx="5676899" cy="43079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6964">
                  <a:extLst>
                    <a:ext uri="{9D8B030D-6E8A-4147-A177-3AD203B41FA5}">
                      <a16:colId xmlns:a16="http://schemas.microsoft.com/office/drawing/2014/main" val="481670232"/>
                    </a:ext>
                  </a:extLst>
                </a:gridCol>
                <a:gridCol w="1248917">
                  <a:extLst>
                    <a:ext uri="{9D8B030D-6E8A-4147-A177-3AD203B41FA5}">
                      <a16:colId xmlns:a16="http://schemas.microsoft.com/office/drawing/2014/main" val="1706519225"/>
                    </a:ext>
                  </a:extLst>
                </a:gridCol>
                <a:gridCol w="1088579">
                  <a:extLst>
                    <a:ext uri="{9D8B030D-6E8A-4147-A177-3AD203B41FA5}">
                      <a16:colId xmlns:a16="http://schemas.microsoft.com/office/drawing/2014/main" val="2266718768"/>
                    </a:ext>
                  </a:extLst>
                </a:gridCol>
                <a:gridCol w="1247059">
                  <a:extLst>
                    <a:ext uri="{9D8B030D-6E8A-4147-A177-3AD203B41FA5}">
                      <a16:colId xmlns:a16="http://schemas.microsoft.com/office/drawing/2014/main" val="306542945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1058710495"/>
                    </a:ext>
                  </a:extLst>
                </a:gridCol>
              </a:tblGrid>
              <a:tr h="45169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T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Valor Líquido do Fluxo de Caixa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b="1" i="1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Payback</a:t>
                      </a:r>
                      <a:endParaRPr lang="pt-BR" sz="1600" b="1" i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VP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1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Payback</a:t>
                      </a:r>
                      <a:r>
                        <a:rPr lang="pt-BR" sz="16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descontado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6814395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2.580.652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6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2.580.652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2.580.652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2.580.652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59086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1.639.582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6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941.070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1.490.529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1.090.123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8963986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2.149.922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1.208.852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1.776.795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686.672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952159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3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2.685.312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3.894.164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2.017.515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2.704.187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1285251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4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1.686.813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2.207.351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1.152.116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1.552.071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6449327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5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5.045.352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1.762.176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3.314.246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5302715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6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7.883.353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1.601.978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4.916.224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3853649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7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10.721.355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1.456.343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6.372.567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9479605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8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2.838.001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13.559.356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1.323.949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7.696.516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2349571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9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16.397.357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1.203.590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8.900.105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411702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19.235.359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1.094.172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9.994.278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8478055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2.838.001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22.073.360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994.702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10.988.980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3925061"/>
                  </a:ext>
                </a:extLst>
              </a:tr>
              <a:tr h="2281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12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3.744.345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25.817.706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1.193.064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12.182.044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9540956"/>
                  </a:ext>
                </a:extLst>
              </a:tr>
              <a:tr h="31758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Total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25.817.706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u="none" strike="noStrike" dirty="0">
                          <a:effectLst/>
                        </a:rPr>
                        <a:t>12.182.044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746616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932719"/>
              </p:ext>
            </p:extLst>
          </p:nvPr>
        </p:nvGraphicFramePr>
        <p:xfrm>
          <a:off x="6153151" y="1688309"/>
          <a:ext cx="5940198" cy="43079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70099">
                  <a:extLst>
                    <a:ext uri="{9D8B030D-6E8A-4147-A177-3AD203B41FA5}">
                      <a16:colId xmlns:a16="http://schemas.microsoft.com/office/drawing/2014/main" val="3244136438"/>
                    </a:ext>
                  </a:extLst>
                </a:gridCol>
                <a:gridCol w="2970099">
                  <a:extLst>
                    <a:ext uri="{9D8B030D-6E8A-4147-A177-3AD203B41FA5}">
                      <a16:colId xmlns:a16="http://schemas.microsoft.com/office/drawing/2014/main" val="2201148676"/>
                    </a:ext>
                  </a:extLst>
                </a:gridCol>
              </a:tblGrid>
              <a:tr h="48953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Rubrica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80241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dirty="0"/>
                        <a:t>Fluxo</a:t>
                      </a:r>
                      <a:r>
                        <a:rPr lang="pt-BR" sz="2400" baseline="0" dirty="0"/>
                        <a:t> de caixa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25.817.706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581568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dirty="0"/>
                        <a:t>Taxa</a:t>
                      </a:r>
                      <a:r>
                        <a:rPr lang="pt-BR" sz="2400" baseline="0" dirty="0"/>
                        <a:t> WACC</a:t>
                      </a:r>
                      <a:endParaRPr lang="pt-BR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10%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221590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dirty="0"/>
                        <a:t>VPL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12.182.044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450322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dirty="0"/>
                        <a:t>Data focal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T=0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154877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i="1" dirty="0" err="1"/>
                        <a:t>Payback</a:t>
                      </a:r>
                      <a:endParaRPr lang="pt-BR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Ano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60292"/>
                  </a:ext>
                </a:extLst>
              </a:tr>
              <a:tr h="489537">
                <a:tc>
                  <a:txBody>
                    <a:bodyPr/>
                    <a:lstStyle/>
                    <a:p>
                      <a:r>
                        <a:rPr lang="pt-BR" sz="2400" i="1" dirty="0" err="1"/>
                        <a:t>Paybak</a:t>
                      </a:r>
                      <a:r>
                        <a:rPr lang="pt-BR" sz="2400" dirty="0"/>
                        <a:t> descontado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Ano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995699"/>
                  </a:ext>
                </a:extLst>
              </a:tr>
              <a:tr h="881166">
                <a:tc>
                  <a:txBody>
                    <a:bodyPr/>
                    <a:lstStyle/>
                    <a:p>
                      <a:r>
                        <a:rPr lang="pt-BR" sz="2400" dirty="0"/>
                        <a:t>Taxa interna de retorno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69%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03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35316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897829"/>
              </p:ext>
            </p:extLst>
          </p:nvPr>
        </p:nvGraphicFramePr>
        <p:xfrm>
          <a:off x="539751" y="1574046"/>
          <a:ext cx="4819650" cy="45036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09825">
                  <a:extLst>
                    <a:ext uri="{9D8B030D-6E8A-4147-A177-3AD203B41FA5}">
                      <a16:colId xmlns:a16="http://schemas.microsoft.com/office/drawing/2014/main" val="3244136438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201148676"/>
                    </a:ext>
                  </a:extLst>
                </a:gridCol>
              </a:tblGrid>
              <a:tr h="46587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Rubrica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80241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dirty="0"/>
                        <a:t>Fluxo</a:t>
                      </a:r>
                      <a:r>
                        <a:rPr lang="pt-BR" sz="2400" baseline="0" dirty="0"/>
                        <a:t> de caixa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25.817.706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581568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dirty="0"/>
                        <a:t>Taxa</a:t>
                      </a:r>
                      <a:r>
                        <a:rPr lang="pt-BR" sz="2400" baseline="0" dirty="0"/>
                        <a:t> WACC</a:t>
                      </a:r>
                      <a:endParaRPr lang="pt-BR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10%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221590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dirty="0"/>
                        <a:t>VPL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12.182.044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450322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dirty="0"/>
                        <a:t>Data focal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154877"/>
                  </a:ext>
                </a:extLst>
              </a:tr>
              <a:tr h="472773">
                <a:tc>
                  <a:txBody>
                    <a:bodyPr/>
                    <a:lstStyle/>
                    <a:p>
                      <a:r>
                        <a:rPr lang="pt-BR" sz="2400" i="1" dirty="0" err="1"/>
                        <a:t>Payback</a:t>
                      </a:r>
                      <a:endParaRPr lang="pt-BR" sz="2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Ano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60292"/>
                  </a:ext>
                </a:extLst>
              </a:tr>
              <a:tr h="794778">
                <a:tc>
                  <a:txBody>
                    <a:bodyPr/>
                    <a:lstStyle/>
                    <a:p>
                      <a:r>
                        <a:rPr lang="pt-BR" sz="2400" i="1" dirty="0" err="1"/>
                        <a:t>Payback</a:t>
                      </a:r>
                      <a:r>
                        <a:rPr lang="pt-BR" sz="2400" dirty="0"/>
                        <a:t> descontado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Ano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995699"/>
                  </a:ext>
                </a:extLst>
              </a:tr>
              <a:tr h="850990">
                <a:tc>
                  <a:txBody>
                    <a:bodyPr/>
                    <a:lstStyle/>
                    <a:p>
                      <a:r>
                        <a:rPr lang="pt-BR" sz="2400" dirty="0"/>
                        <a:t>Taxa interna de retorno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69%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030083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5699352" y="1574053"/>
          <a:ext cx="5940198" cy="44805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0099">
                  <a:extLst>
                    <a:ext uri="{9D8B030D-6E8A-4147-A177-3AD203B41FA5}">
                      <a16:colId xmlns:a16="http://schemas.microsoft.com/office/drawing/2014/main" val="3244136438"/>
                    </a:ext>
                  </a:extLst>
                </a:gridCol>
                <a:gridCol w="2970099">
                  <a:extLst>
                    <a:ext uri="{9D8B030D-6E8A-4147-A177-3AD203B41FA5}">
                      <a16:colId xmlns:a16="http://schemas.microsoft.com/office/drawing/2014/main" val="2201148676"/>
                    </a:ext>
                  </a:extLst>
                </a:gridCol>
              </a:tblGrid>
              <a:tr h="311352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Premissa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80241"/>
                  </a:ext>
                </a:extLst>
              </a:tr>
              <a:tr h="544866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Taxa de desconto &lt;</a:t>
                      </a:r>
                      <a:r>
                        <a:rPr lang="pt-BR" sz="1800" baseline="0" dirty="0"/>
                        <a:t> taxa interna de retorno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&gt;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581568"/>
                  </a:ext>
                </a:extLst>
              </a:tr>
              <a:tr h="544866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Taxa de desconto &gt;</a:t>
                      </a:r>
                      <a:r>
                        <a:rPr lang="pt-BR" sz="1800" baseline="0" dirty="0"/>
                        <a:t> taxa interna de retorno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&lt;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221590"/>
                  </a:ext>
                </a:extLst>
              </a:tr>
              <a:tr h="544866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Taxa de desconto =</a:t>
                      </a:r>
                      <a:r>
                        <a:rPr lang="pt-BR" sz="1800" baseline="0" dirty="0"/>
                        <a:t> taxa interna de retorno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450322"/>
                  </a:ext>
                </a:extLst>
              </a:tr>
              <a:tr h="311352">
                <a:tc>
                  <a:txBody>
                    <a:bodyPr/>
                    <a:lstStyle/>
                    <a:p>
                      <a:pPr algn="ctr"/>
                      <a:r>
                        <a:rPr lang="pt-BR" sz="1800" i="1" dirty="0" err="1"/>
                        <a:t>Payback</a:t>
                      </a:r>
                      <a:r>
                        <a:rPr lang="pt-BR" sz="1800" dirty="0"/>
                        <a:t> &lt; último 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&gt;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154877"/>
                  </a:ext>
                </a:extLst>
              </a:tr>
              <a:tr h="311352">
                <a:tc>
                  <a:txBody>
                    <a:bodyPr/>
                    <a:lstStyle/>
                    <a:p>
                      <a:pPr algn="ctr"/>
                      <a:r>
                        <a:rPr lang="pt-BR" sz="1800" i="1" dirty="0" err="1"/>
                        <a:t>Payback</a:t>
                      </a:r>
                      <a:r>
                        <a:rPr lang="pt-BR" sz="1800" baseline="0" dirty="0"/>
                        <a:t> = último ano</a:t>
                      </a:r>
                      <a:endParaRPr lang="pt-BR" sz="18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60292"/>
                  </a:ext>
                </a:extLst>
              </a:tr>
              <a:tr h="311352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Taxa de desconto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995699"/>
                  </a:ext>
                </a:extLst>
              </a:tr>
              <a:tr h="354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Taxa de desconto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030083"/>
                  </a:ext>
                </a:extLst>
              </a:tr>
              <a:tr h="354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i="1" dirty="0" err="1"/>
                        <a:t>Payback</a:t>
                      </a:r>
                      <a:endParaRPr lang="pt-BR" sz="18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620888"/>
                  </a:ext>
                </a:extLst>
              </a:tr>
              <a:tr h="354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i="1" dirty="0" err="1"/>
                        <a:t>Payback</a:t>
                      </a:r>
                      <a:endParaRPr lang="pt-BR" sz="18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404273"/>
                  </a:ext>
                </a:extLst>
              </a:tr>
            </a:tbl>
          </a:graphicData>
        </a:graphic>
      </p:graphicFrame>
      <p:sp>
        <p:nvSpPr>
          <p:cNvPr id="4" name="Seta para Baixo 3"/>
          <p:cNvSpPr/>
          <p:nvPr/>
        </p:nvSpPr>
        <p:spPr>
          <a:xfrm flipV="1">
            <a:off x="5803900" y="4629680"/>
            <a:ext cx="266700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 para Baixo 11"/>
          <p:cNvSpPr/>
          <p:nvPr/>
        </p:nvSpPr>
        <p:spPr>
          <a:xfrm>
            <a:off x="9090982" y="4629681"/>
            <a:ext cx="255604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para Baixo 22"/>
          <p:cNvSpPr/>
          <p:nvPr/>
        </p:nvSpPr>
        <p:spPr>
          <a:xfrm>
            <a:off x="5814996" y="5017427"/>
            <a:ext cx="255604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 para Baixo 24"/>
          <p:cNvSpPr/>
          <p:nvPr/>
        </p:nvSpPr>
        <p:spPr>
          <a:xfrm flipV="1">
            <a:off x="9092586" y="5017426"/>
            <a:ext cx="266700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 para Baixo 25"/>
          <p:cNvSpPr/>
          <p:nvPr/>
        </p:nvSpPr>
        <p:spPr>
          <a:xfrm flipV="1">
            <a:off x="5803900" y="5371819"/>
            <a:ext cx="266700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 para Baixo 26"/>
          <p:cNvSpPr/>
          <p:nvPr/>
        </p:nvSpPr>
        <p:spPr>
          <a:xfrm>
            <a:off x="5814996" y="5759566"/>
            <a:ext cx="255604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 para Baixo 27"/>
          <p:cNvSpPr/>
          <p:nvPr/>
        </p:nvSpPr>
        <p:spPr>
          <a:xfrm>
            <a:off x="9103682" y="5359121"/>
            <a:ext cx="255604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Baixo 28"/>
          <p:cNvSpPr/>
          <p:nvPr/>
        </p:nvSpPr>
        <p:spPr>
          <a:xfrm flipV="1">
            <a:off x="9092586" y="5746866"/>
            <a:ext cx="266700" cy="28998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/>
          <p:cNvCxnSpPr/>
          <p:nvPr/>
        </p:nvCxnSpPr>
        <p:spPr>
          <a:xfrm>
            <a:off x="9701722" y="1474029"/>
            <a:ext cx="23820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9637610" y="880400"/>
            <a:ext cx="1190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TAXA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10660969" y="880400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WACC</a:t>
            </a:r>
          </a:p>
        </p:txBody>
      </p:sp>
    </p:spTree>
    <p:extLst>
      <p:ext uri="{BB962C8B-B14F-4D97-AF65-F5344CB8AC3E}">
        <p14:creationId xmlns:p14="http://schemas.microsoft.com/office/powerpoint/2010/main" val="154308581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/>
          <p:cNvCxnSpPr/>
          <p:nvPr/>
        </p:nvCxnSpPr>
        <p:spPr>
          <a:xfrm>
            <a:off x="9323826" y="1416624"/>
            <a:ext cx="23820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9259714" y="822995"/>
            <a:ext cx="1190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TAXA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10283073" y="822995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WACC</a:t>
            </a: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2143"/>
              </p:ext>
            </p:extLst>
          </p:nvPr>
        </p:nvGraphicFramePr>
        <p:xfrm>
          <a:off x="520402" y="1566022"/>
          <a:ext cx="11195051" cy="508124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695">
                  <a:extLst>
                    <a:ext uri="{9D8B030D-6E8A-4147-A177-3AD203B41FA5}">
                      <a16:colId xmlns:a16="http://schemas.microsoft.com/office/drawing/2014/main" val="481670232"/>
                    </a:ext>
                  </a:extLst>
                </a:gridCol>
                <a:gridCol w="1278582">
                  <a:extLst>
                    <a:ext uri="{9D8B030D-6E8A-4147-A177-3AD203B41FA5}">
                      <a16:colId xmlns:a16="http://schemas.microsoft.com/office/drawing/2014/main" val="1706519225"/>
                    </a:ext>
                  </a:extLst>
                </a:gridCol>
                <a:gridCol w="1276682">
                  <a:extLst>
                    <a:ext uri="{9D8B030D-6E8A-4147-A177-3AD203B41FA5}">
                      <a16:colId xmlns:a16="http://schemas.microsoft.com/office/drawing/2014/main" val="306542945"/>
                    </a:ext>
                  </a:extLst>
                </a:gridCol>
                <a:gridCol w="1276682">
                  <a:extLst>
                    <a:ext uri="{9D8B030D-6E8A-4147-A177-3AD203B41FA5}">
                      <a16:colId xmlns:a16="http://schemas.microsoft.com/office/drawing/2014/main" val="844639037"/>
                    </a:ext>
                  </a:extLst>
                </a:gridCol>
                <a:gridCol w="1276682">
                  <a:extLst>
                    <a:ext uri="{9D8B030D-6E8A-4147-A177-3AD203B41FA5}">
                      <a16:colId xmlns:a16="http://schemas.microsoft.com/office/drawing/2014/main" val="635646787"/>
                    </a:ext>
                  </a:extLst>
                </a:gridCol>
                <a:gridCol w="1276682">
                  <a:extLst>
                    <a:ext uri="{9D8B030D-6E8A-4147-A177-3AD203B41FA5}">
                      <a16:colId xmlns:a16="http://schemas.microsoft.com/office/drawing/2014/main" val="3294671454"/>
                    </a:ext>
                  </a:extLst>
                </a:gridCol>
                <a:gridCol w="1276682">
                  <a:extLst>
                    <a:ext uri="{9D8B030D-6E8A-4147-A177-3AD203B41FA5}">
                      <a16:colId xmlns:a16="http://schemas.microsoft.com/office/drawing/2014/main" val="1581480522"/>
                    </a:ext>
                  </a:extLst>
                </a:gridCol>
                <a:gridCol w="1276682">
                  <a:extLst>
                    <a:ext uri="{9D8B030D-6E8A-4147-A177-3AD203B41FA5}">
                      <a16:colId xmlns:a16="http://schemas.microsoft.com/office/drawing/2014/main" val="604621077"/>
                    </a:ext>
                  </a:extLst>
                </a:gridCol>
                <a:gridCol w="1276682">
                  <a:extLst>
                    <a:ext uri="{9D8B030D-6E8A-4147-A177-3AD203B41FA5}">
                      <a16:colId xmlns:a16="http://schemas.microsoft.com/office/drawing/2014/main" val="3977379348"/>
                    </a:ext>
                  </a:extLst>
                </a:gridCol>
              </a:tblGrid>
              <a:tr h="8115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T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Valor Líquido do Fluxo de Caixa</a:t>
                      </a:r>
                      <a:endParaRPr lang="pt-BR" sz="14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VP</a:t>
                      </a:r>
                      <a:endParaRPr lang="pt-BR" sz="14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400" u="none" strike="noStrike" kern="1200">
                          <a:effectLst/>
                        </a:rPr>
                        <a:t>Valor Líquido do Fluxo de Caixa</a:t>
                      </a:r>
                      <a:endParaRPr lang="pt-BR" sz="14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400" u="none" strike="noStrike" kern="1200">
                          <a:effectLst/>
                        </a:rPr>
                        <a:t>VP</a:t>
                      </a:r>
                      <a:endParaRPr lang="pt-BR" sz="14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400" u="none" strike="noStrike" kern="1200">
                          <a:effectLst/>
                        </a:rPr>
                        <a:t>Valor Líquido do Fluxo de Caixa</a:t>
                      </a:r>
                      <a:endParaRPr lang="pt-BR" sz="14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400" u="none" strike="noStrike" kern="1200">
                          <a:effectLst/>
                        </a:rPr>
                        <a:t>VP</a:t>
                      </a:r>
                      <a:endParaRPr lang="pt-BR" sz="14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400" u="none" strike="noStrike" kern="1200">
                          <a:effectLst/>
                        </a:rPr>
                        <a:t>Valor Líquido do Fluxo de Caixa</a:t>
                      </a:r>
                      <a:endParaRPr lang="pt-BR" sz="14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VP</a:t>
                      </a:r>
                      <a:endParaRPr lang="pt-BR" sz="14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6814395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-2.580.652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-2.580.652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-2.580.652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solidFill>
                            <a:srgbClr val="FF0000"/>
                          </a:solidFill>
                          <a:effectLst/>
                        </a:rPr>
                        <a:t>-2.580.652</a:t>
                      </a:r>
                      <a:endParaRPr lang="pt-BR" sz="14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-2.580.652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-2.580.652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-2.580.652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-2.580.652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859086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1.639.582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1.490.529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1.639.582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1.463.913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706.167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630.506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660.611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600.556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8963986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2.149.922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1.776.795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2.149.922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1.713.905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925.970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738.178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866.235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715.896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5952159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2.685.312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2.017.515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2.685.312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1.911.352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1.156.562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823.218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1.081.951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812.886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1285251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-1.686.813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solidFill>
                            <a:srgbClr val="FF0000"/>
                          </a:solidFill>
                          <a:effectLst/>
                        </a:rPr>
                        <a:t>-1.152.116</a:t>
                      </a:r>
                      <a:endParaRPr lang="pt-BR" sz="14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-1.686.813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solidFill>
                            <a:srgbClr val="FF0000"/>
                          </a:solidFill>
                          <a:effectLst/>
                        </a:rPr>
                        <a:t>-1.072.000</a:t>
                      </a:r>
                      <a:endParaRPr lang="pt-BR" sz="14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-1.686.813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-1.072.000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-1.686.813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-1.152.116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6449327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2.838.001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1.762.176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838.001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475.504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360.927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204.799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337.643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209.650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5302715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2.838.001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1.601.978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838.001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424.557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360.927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182.857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337.643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 dirty="0">
                          <a:effectLst/>
                        </a:rPr>
                        <a:t>190.590</a:t>
                      </a:r>
                      <a:endParaRPr lang="pt-BR" sz="14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3853649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2.838.001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1.456.343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838.001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379.069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360.927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163.265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337.643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173.264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9479605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2.838.001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1.323.949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838.001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338.455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360.927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145.772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337.643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157.513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2349571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2.838.001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1.203.590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838.001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302.192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360.927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130.154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337.643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143.193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411702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10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2.838.001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1.094.172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838.001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269.814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360.927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116.209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337.643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130.176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8478055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11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2.838.001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994.702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838.001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240.905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360.927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103.758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337.643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118.342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3925061"/>
                  </a:ext>
                </a:extLst>
              </a:tr>
              <a:tr h="27208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12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3.744.345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1.193.064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3.744.345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1400" u="none" strike="noStrike" kern="1200" dirty="0">
                          <a:effectLst/>
                        </a:rPr>
                        <a:t>961.080</a:t>
                      </a:r>
                      <a:endParaRPr lang="pt-BR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1.612.687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413.937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1.508.650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400" u="none" strike="noStrike">
                          <a:effectLst/>
                        </a:rPr>
                        <a:t>480.703</a:t>
                      </a:r>
                      <a:endParaRPr lang="pt-BR" sz="1400" b="0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9540956"/>
                  </a:ext>
                </a:extLst>
              </a:tr>
              <a:tr h="45191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Total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25.817.706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12.182.044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600" u="none" strike="noStrike" dirty="0">
                          <a:effectLst/>
                        </a:rPr>
                        <a:t>11.817.703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600" u="none" strike="noStrike" dirty="0">
                          <a:effectLst/>
                        </a:rPr>
                        <a:t>4.828.093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600" u="none" strike="noStrike" dirty="0">
                          <a:effectLst/>
                        </a:rPr>
                        <a:t>2.660.408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600" u="none" strike="noStrike" dirty="0">
                          <a:effectLst/>
                        </a:rPr>
                        <a:t>2.213.481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746616"/>
                  </a:ext>
                </a:extLst>
              </a:tr>
              <a:tr h="25836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TIR/WACC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69%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10%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800" u="none" strike="noStrike" dirty="0">
                          <a:effectLst/>
                        </a:rPr>
                        <a:t>57%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800" u="none" strike="noStrike" dirty="0">
                          <a:effectLst/>
                        </a:rPr>
                        <a:t>12%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800" u="none" strike="noStrike" dirty="0">
                          <a:effectLst/>
                        </a:rPr>
                        <a:t>12%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800" u="none" strike="noStrike" dirty="0">
                          <a:effectLst/>
                        </a:rPr>
                        <a:t>12%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800" u="none" strike="noStrike" dirty="0">
                          <a:effectLst/>
                        </a:rPr>
                        <a:t>10%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800" u="none" strike="noStrike" dirty="0">
                          <a:effectLst/>
                        </a:rPr>
                        <a:t>10%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567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9236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o explicativo em seta para baixo 7"/>
          <p:cNvSpPr/>
          <p:nvPr/>
        </p:nvSpPr>
        <p:spPr>
          <a:xfrm>
            <a:off x="5384465" y="1995671"/>
            <a:ext cx="5764348" cy="2562727"/>
          </a:xfrm>
          <a:prstGeom prst="down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/>
          <p:cNvSpPr/>
          <p:nvPr/>
        </p:nvSpPr>
        <p:spPr>
          <a:xfrm>
            <a:off x="0" y="6657120"/>
            <a:ext cx="235352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Nota Técnica nº 182/2018/GPO/SOG SEI 0646414</a:t>
            </a:r>
            <a:endParaRPr lang="pt-BR" sz="700" dirty="0">
              <a:solidFill>
                <a:srgbClr val="FF0000"/>
              </a:solidFill>
            </a:endParaRPr>
          </a:p>
        </p:txBody>
      </p:sp>
      <p:sp>
        <p:nvSpPr>
          <p:cNvPr id="14" name="Texto explicativo em seta para baixo 7"/>
          <p:cNvSpPr/>
          <p:nvPr/>
        </p:nvSpPr>
        <p:spPr>
          <a:xfrm>
            <a:off x="1302193" y="1995672"/>
            <a:ext cx="3502970" cy="2562727"/>
          </a:xfrm>
          <a:prstGeom prst="down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820118" y="4510298"/>
            <a:ext cx="4467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Capital próprio {CAPM (</a:t>
            </a:r>
            <a:r>
              <a:rPr lang="pt-BR" sz="4400" dirty="0"/>
              <a:t>Re</a:t>
            </a:r>
            <a:r>
              <a:rPr lang="pt-BR" sz="2800" dirty="0"/>
              <a:t>)}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536593" y="4510298"/>
            <a:ext cx="39365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Capital de terceiros (</a:t>
            </a:r>
            <a:r>
              <a:rPr lang="pt-BR" sz="4400" dirty="0"/>
              <a:t>Rd</a:t>
            </a:r>
            <a:r>
              <a:rPr lang="pt-BR" sz="2800" dirty="0"/>
              <a:t>)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72116" y="1524040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337259" y="2104221"/>
                <a:ext cx="9974462" cy="14800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4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4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259" y="2104221"/>
                <a:ext cx="9974462" cy="14800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9783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tângulo 17"/>
          <p:cNvSpPr/>
          <p:nvPr/>
        </p:nvSpPr>
        <p:spPr>
          <a:xfrm>
            <a:off x="0" y="6657120"/>
            <a:ext cx="667843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http://www.cpc.org.br/CPC/Documentos-Emitidos/Pronunciamentos/Pronunciamento?Id=57</a:t>
            </a:r>
            <a:r>
              <a:rPr lang="pt-BR" sz="700" dirty="0"/>
              <a:t> e http://web.antaq.gov.br/portalv3/pdf/NotasTecnicas/NotaTecnica072014.pdf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49830"/>
              </p:ext>
            </p:extLst>
          </p:nvPr>
        </p:nvGraphicFramePr>
        <p:xfrm>
          <a:off x="4216998" y="1005299"/>
          <a:ext cx="3235996" cy="5487966"/>
        </p:xfrm>
        <a:graphic>
          <a:graphicData uri="http://schemas.openxmlformats.org/drawingml/2006/table">
            <a:tbl>
              <a:tblPr/>
              <a:tblGrid>
                <a:gridCol w="3235996">
                  <a:extLst>
                    <a:ext uri="{9D8B030D-6E8A-4147-A177-3AD203B41FA5}">
                      <a16:colId xmlns:a16="http://schemas.microsoft.com/office/drawing/2014/main" val="1278663431"/>
                    </a:ext>
                  </a:extLst>
                </a:gridCol>
              </a:tblGrid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RECEITA OPERACIONAL BRUTA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0977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mercadorias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0399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produtos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09476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71115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5891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Devoluções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36322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Abatimentos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48568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sobre vendas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1579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92163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OPERACIONAIS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625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56781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0095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FINANCEIRAS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1265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Despesas financeiras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4676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Receitas financeiras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7844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5882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595481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473721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02257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06965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54434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61272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48433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21495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LUCRO ANTES DAS PARTICIPAÇÕES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126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Debêntures, participações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106621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68391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61309"/>
              </p:ext>
            </p:extLst>
          </p:nvPr>
        </p:nvGraphicFramePr>
        <p:xfrm>
          <a:off x="8652478" y="1005299"/>
          <a:ext cx="3241072" cy="5487966"/>
        </p:xfrm>
        <a:graphic>
          <a:graphicData uri="http://schemas.openxmlformats.org/drawingml/2006/table">
            <a:tbl>
              <a:tblPr/>
              <a:tblGrid>
                <a:gridCol w="3241072">
                  <a:extLst>
                    <a:ext uri="{9D8B030D-6E8A-4147-A177-3AD203B41FA5}">
                      <a16:colId xmlns:a16="http://schemas.microsoft.com/office/drawing/2014/main" val="978675626"/>
                    </a:ext>
                  </a:extLst>
                </a:gridCol>
              </a:tblGrid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RECEITA OPERACIONAL BRUTA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98139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791454"/>
                  </a:ext>
                </a:extLst>
              </a:tr>
              <a:tr h="132958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03131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72687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36110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07202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sobre vendas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477769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37857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0390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OPERACIONAIS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903096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34892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54295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82105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45709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06621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97353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51238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09912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8411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23491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76157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7248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12745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61930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60810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9400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5138" marR="5138" marT="51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550515"/>
                  </a:ext>
                </a:extLst>
              </a:tr>
            </a:tbl>
          </a:graphicData>
        </a:graphic>
      </p:graphicFrame>
      <p:sp>
        <p:nvSpPr>
          <p:cNvPr id="26" name="Retângulo Arredondado 25"/>
          <p:cNvSpPr/>
          <p:nvPr/>
        </p:nvSpPr>
        <p:spPr>
          <a:xfrm>
            <a:off x="3501633" y="1005299"/>
            <a:ext cx="670955" cy="548796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501633" y="2081939"/>
            <a:ext cx="6709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P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8" name="Retângulo Arredondado 27"/>
          <p:cNvSpPr/>
          <p:nvPr/>
        </p:nvSpPr>
        <p:spPr>
          <a:xfrm>
            <a:off x="7877623" y="1005299"/>
            <a:ext cx="670955" cy="548796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7877622" y="2234339"/>
            <a:ext cx="6709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NT07</a:t>
            </a:r>
          </a:p>
        </p:txBody>
      </p:sp>
    </p:spTree>
    <p:extLst>
      <p:ext uri="{BB962C8B-B14F-4D97-AF65-F5344CB8AC3E}">
        <p14:creationId xmlns:p14="http://schemas.microsoft.com/office/powerpoint/2010/main" val="392987933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Arredondado 15"/>
          <p:cNvSpPr/>
          <p:nvPr/>
        </p:nvSpPr>
        <p:spPr>
          <a:xfrm>
            <a:off x="997340" y="1682345"/>
            <a:ext cx="9950059" cy="175202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/>
          <p:cNvSpPr/>
          <p:nvPr/>
        </p:nvSpPr>
        <p:spPr>
          <a:xfrm>
            <a:off x="0" y="6657120"/>
            <a:ext cx="235352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Nota Técnica nº 182/2018/GPO/SOG SEI 0646414</a:t>
            </a:r>
            <a:endParaRPr lang="pt-BR" sz="700" dirty="0">
              <a:solidFill>
                <a:srgbClr val="FF000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098151" y="1846200"/>
                <a:ext cx="9974462" cy="14800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4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4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51" y="1846200"/>
                <a:ext cx="9974462" cy="14800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1098151" y="3913150"/>
                <a:ext cx="4874218" cy="1852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</m:num>
                      <m:den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  <m:r>
                      <a:rPr lang="pt-BR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pt-BR" sz="20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 peso do capital próprio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pt-BR" sz="16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num>
                      <m:den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  <m:r>
                      <a:rPr lang="pt-BR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pt-BR" sz="2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0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 peso do capital de terceiros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51" y="3913150"/>
                <a:ext cx="4874218" cy="1852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5972369" y="3592675"/>
                <a:ext cx="4972050" cy="2558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pt-BR" sz="28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0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 custo do capital próprio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pt-BR" sz="2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pt-BR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sz="20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 custo do capital de terceiros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pt-BR" sz="2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pt-BR" sz="32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pt-BR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sz="20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 IRPJ + a CSLL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369" y="3592675"/>
                <a:ext cx="4972050" cy="2558649"/>
              </a:xfrm>
              <a:prstGeom prst="rect">
                <a:avLst/>
              </a:prstGeom>
              <a:blipFill>
                <a:blip r:embed="rId6"/>
                <a:stretch>
                  <a:fillRect b="-7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72933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Arredondado 15"/>
          <p:cNvSpPr/>
          <p:nvPr/>
        </p:nvSpPr>
        <p:spPr>
          <a:xfrm>
            <a:off x="336550" y="1633369"/>
            <a:ext cx="8537234" cy="13085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/>
          <p:cNvSpPr/>
          <p:nvPr/>
        </p:nvSpPr>
        <p:spPr>
          <a:xfrm>
            <a:off x="0" y="6657120"/>
            <a:ext cx="1213665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</a:t>
            </a:r>
            <a:r>
              <a:rPr lang="pt-BR" sz="400" dirty="0"/>
              <a:t>https://www.google.com/search?q=banco+dinheiro&amp;tbm=isch&amp;ved=2ahUKEwivwvKFlYvxAhX8s5UCHfjgAf0Q2-cCegQIABAA&amp;oq=banco+di&amp;gs_lcp=CgNpbWcQARgBMgIIADIECAAQQzICCAAyAggAMgIIADICCAAyAggAMgIIADICCAAyAggAOgcIABCxAxBDOgUIABCxA1DSBFiLFGC_HWgCcAB4AIAB8gOIAfwNkgEHMi0yLjAuM5gBAKABAaoBC2d3cy13aXotaW1nwAEB&amp;sclient=img&amp;ei=MQbBYO_lDfzn1sQP-MGH6A8&amp;bih=1777&amp;biw=1080&amp;rlz=1C1GCEU_enBR912BR912#imgrc=wjVTjtgEQtEKbM e https://www.intelligentim.com/from-the-desk-of-warren-buffet</a:t>
            </a:r>
            <a:endParaRPr lang="pt-BR" sz="400" dirty="0">
              <a:solidFill>
                <a:srgbClr val="FF000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910484" y="1686775"/>
                <a:ext cx="7296934" cy="11016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84" y="1686775"/>
                <a:ext cx="7296934" cy="1101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86141" y="3471131"/>
                <a:ext cx="6267059" cy="24672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</m:num>
                      <m:den>
                        <m: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  <m:r>
                      <a:rPr lang="pt-BR" sz="3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pt-BR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 peso do capital próprio</a:t>
                </a: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endParaRPr lang="pt-BR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pt-BR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pt-BR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num>
                      <m:den>
                        <m: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pt-BR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  <m:r>
                      <a:rPr lang="pt-BR" sz="3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pt-BR" sz="32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 peso do capital de terceiros</a:t>
                </a:r>
                <a:endParaRPr lang="pt-BR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41" y="3471131"/>
                <a:ext cx="6267059" cy="24672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540" name="Picture 4" descr="From the Desk of Warren Buffet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025" y="2304235"/>
            <a:ext cx="2609850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610" name="Picture 2" descr="Banco Dinheiro - Gráfico vetorial grátis no Pixaba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6492" y="4150583"/>
            <a:ext cx="1999344" cy="158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eta para a Direita 1"/>
          <p:cNvSpPr/>
          <p:nvPr/>
        </p:nvSpPr>
        <p:spPr>
          <a:xfrm>
            <a:off x="5937250" y="3896464"/>
            <a:ext cx="2936534" cy="18904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 para a Direita 14"/>
          <p:cNvSpPr/>
          <p:nvPr/>
        </p:nvSpPr>
        <p:spPr>
          <a:xfrm>
            <a:off x="5937250" y="5442556"/>
            <a:ext cx="2936534" cy="18904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12031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Arredondado 15"/>
          <p:cNvSpPr/>
          <p:nvPr/>
        </p:nvSpPr>
        <p:spPr>
          <a:xfrm>
            <a:off x="1720850" y="1791361"/>
            <a:ext cx="8537234" cy="13085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/>
          <p:cNvSpPr/>
          <p:nvPr/>
        </p:nvSpPr>
        <p:spPr>
          <a:xfrm>
            <a:off x="0" y="6657120"/>
            <a:ext cx="890981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https://weel.com.br/blog/capital-proprio-e-capital-de-terceiros-o-que-sao-e-qual-e-a-melhor-opcao-para-o-seu-negocio#:~:text=O%20capital%20de%20terceiros%20%C3%A9,%2C%20mas%20com%20mais%20d%C3%ADvidas</a:t>
            </a:r>
            <a:r>
              <a:rPr lang="pt-BR" sz="400" dirty="0"/>
              <a:t>).</a:t>
            </a:r>
            <a:endParaRPr lang="pt-BR" sz="400" dirty="0">
              <a:solidFill>
                <a:srgbClr val="FF000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2294784" y="1844767"/>
                <a:ext cx="7296934" cy="11016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784" y="1844767"/>
                <a:ext cx="7296934" cy="1101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/>
          <p:cNvSpPr/>
          <p:nvPr/>
        </p:nvSpPr>
        <p:spPr>
          <a:xfrm>
            <a:off x="3975100" y="3367186"/>
            <a:ext cx="61759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 capital de terceiros é um recurso que gera dívidas, </a:t>
            </a:r>
            <a:r>
              <a:rPr lang="pt-BR" sz="2400" dirty="0"/>
              <a:t>que deverão ser pagas para as instituições financeiras terceirizadas, mas proporcionam um valor que está além das possibilidades financeiras momentâneas das empresas (fazendo-a crescer mais rápido, mas com mais dívidas)</a:t>
            </a:r>
          </a:p>
        </p:txBody>
      </p:sp>
      <p:pic>
        <p:nvPicPr>
          <p:cNvPr id="12" name="Picture 2" descr="Banco Dinheiro - Gráfico vetorial grátis no Pixab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392" y="3740518"/>
            <a:ext cx="1999344" cy="158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6849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From the Desk of Warren Buffet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3367186"/>
            <a:ext cx="2609850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tângulo Arredondado 15"/>
          <p:cNvSpPr/>
          <p:nvPr/>
        </p:nvSpPr>
        <p:spPr>
          <a:xfrm>
            <a:off x="1720850" y="1791361"/>
            <a:ext cx="8537234" cy="13085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/>
          <p:cNvSpPr/>
          <p:nvPr/>
        </p:nvSpPr>
        <p:spPr>
          <a:xfrm>
            <a:off x="0" y="6657120"/>
            <a:ext cx="282481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https://blog.softensistemas.com.br/capital-proprio-saiba-o-que-e/</a:t>
            </a:r>
            <a:endParaRPr lang="pt-BR" sz="400" dirty="0">
              <a:solidFill>
                <a:srgbClr val="FF000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2294784" y="1844767"/>
                <a:ext cx="7296934" cy="11016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784" y="1844767"/>
                <a:ext cx="7296934" cy="11016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/>
          <p:cNvSpPr/>
          <p:nvPr/>
        </p:nvSpPr>
        <p:spPr>
          <a:xfrm>
            <a:off x="3975100" y="3511634"/>
            <a:ext cx="61759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O Capital Próprio é a diferença de tudo o que a empresa possui (capital ativo) e deve a terceiros (capital passivo), ou seja, </a:t>
            </a:r>
            <a:r>
              <a:rPr lang="pt-BR" sz="2400" b="1" dirty="0"/>
              <a:t>é o valor líquido do patrimônio de uma empresa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478012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Arredondado 15"/>
          <p:cNvSpPr/>
          <p:nvPr/>
        </p:nvSpPr>
        <p:spPr>
          <a:xfrm>
            <a:off x="1720850" y="1791361"/>
            <a:ext cx="8537234" cy="13085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32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CAPM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720850" y="2341285"/>
                <a:ext cx="8537234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𝑅𝑚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40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850" y="2341285"/>
                <a:ext cx="853723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/>
          <p:cNvSpPr/>
          <p:nvPr/>
        </p:nvSpPr>
        <p:spPr>
          <a:xfrm>
            <a:off x="1854200" y="1850652"/>
            <a:ext cx="82968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i="1" dirty="0">
                <a:solidFill>
                  <a:schemeClr val="bg1"/>
                </a:solidFill>
                <a:latin typeface="Open Sans"/>
              </a:rPr>
              <a:t>Capital </a:t>
            </a:r>
            <a:r>
              <a:rPr lang="pt-BR" sz="2400" i="1" dirty="0" err="1">
                <a:solidFill>
                  <a:schemeClr val="bg1"/>
                </a:solidFill>
                <a:latin typeface="Open Sans"/>
              </a:rPr>
              <a:t>Asset</a:t>
            </a:r>
            <a:r>
              <a:rPr lang="pt-BR" sz="2400" i="1" dirty="0">
                <a:solidFill>
                  <a:schemeClr val="bg1"/>
                </a:solidFill>
                <a:latin typeface="Open Sans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latin typeface="Open Sans"/>
              </a:rPr>
              <a:t>Pricing</a:t>
            </a:r>
            <a:r>
              <a:rPr lang="pt-BR" sz="2400" i="1" dirty="0">
                <a:solidFill>
                  <a:schemeClr val="bg1"/>
                </a:solidFill>
                <a:latin typeface="Open Sans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latin typeface="Open Sans"/>
              </a:rPr>
              <a:t>Model</a:t>
            </a:r>
            <a:r>
              <a:rPr lang="pt-BR" sz="2400" i="1" dirty="0">
                <a:solidFill>
                  <a:schemeClr val="bg1"/>
                </a:solidFill>
                <a:latin typeface="Open Sans"/>
              </a:rPr>
              <a:t> </a:t>
            </a:r>
            <a:r>
              <a:rPr lang="pt-BR" sz="2400" dirty="0">
                <a:solidFill>
                  <a:schemeClr val="bg1"/>
                </a:solidFill>
                <a:latin typeface="Open Sans"/>
              </a:rPr>
              <a:t>- CAPM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0" y="6657120"/>
            <a:ext cx="235352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Nota Técnica nº 182/2018/GPO/SOG SEI 0646414</a:t>
            </a:r>
            <a:endParaRPr lang="pt-BR" sz="7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 6"/>
              <p:cNvSpPr/>
              <p:nvPr/>
            </p:nvSpPr>
            <p:spPr>
              <a:xfrm>
                <a:off x="43109" y="3290177"/>
                <a:ext cx="6096000" cy="270439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pt-BR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a taxa livre de risco, definida como aquela cujo retorno esperado o investidor tem certeza, dentro do período da análise;</a:t>
                </a: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 coeficiente de risco sistemático ou não-diversificável;</a:t>
                </a:r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9" y="3290177"/>
                <a:ext cx="6096000" cy="2704395"/>
              </a:xfrm>
              <a:prstGeom prst="rect">
                <a:avLst/>
              </a:prstGeom>
              <a:blipFill>
                <a:blip r:embed="rId5"/>
                <a:stretch>
                  <a:fillRect l="-800" b="-18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 7"/>
              <p:cNvSpPr/>
              <p:nvPr/>
            </p:nvSpPr>
            <p:spPr>
              <a:xfrm>
                <a:off x="5892366" y="3239482"/>
                <a:ext cx="6096000" cy="24920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pt-BR" sz="24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a taxa de risco do mercado;</a:t>
                </a: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pt-BR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pt-BR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pt-BR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é o prêmio de risco de mercado, que é o </a:t>
                </a:r>
                <a:r>
                  <a:rPr lang="pt-BR" i="1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spread</a:t>
                </a:r>
                <a:r>
                  <a:rPr lang="pt-BR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exigido pelos investidores para investir na carteira de mercado.</a:t>
                </a:r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tâ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366" y="3239482"/>
                <a:ext cx="6096000" cy="2492029"/>
              </a:xfrm>
              <a:prstGeom prst="rect">
                <a:avLst/>
              </a:prstGeom>
              <a:blipFill>
                <a:blip r:embed="rId6"/>
                <a:stretch>
                  <a:fillRect l="-900" r="-800" b="-19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58123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Arredondado 15"/>
          <p:cNvSpPr/>
          <p:nvPr/>
        </p:nvSpPr>
        <p:spPr>
          <a:xfrm>
            <a:off x="1720850" y="1791361"/>
            <a:ext cx="8537234" cy="13085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32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CAPM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720850" y="2341285"/>
                <a:ext cx="8537234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𝑅𝑚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40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850" y="2341285"/>
                <a:ext cx="853723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/>
          <p:cNvSpPr/>
          <p:nvPr/>
        </p:nvSpPr>
        <p:spPr>
          <a:xfrm>
            <a:off x="1854200" y="1850652"/>
            <a:ext cx="82968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i="1" dirty="0">
                <a:solidFill>
                  <a:schemeClr val="bg1"/>
                </a:solidFill>
                <a:latin typeface="Open Sans"/>
              </a:rPr>
              <a:t>Capital </a:t>
            </a:r>
            <a:r>
              <a:rPr lang="pt-BR" sz="2400" i="1" dirty="0" err="1">
                <a:solidFill>
                  <a:schemeClr val="bg1"/>
                </a:solidFill>
                <a:latin typeface="Open Sans"/>
              </a:rPr>
              <a:t>Asset</a:t>
            </a:r>
            <a:r>
              <a:rPr lang="pt-BR" sz="2400" i="1" dirty="0">
                <a:solidFill>
                  <a:schemeClr val="bg1"/>
                </a:solidFill>
                <a:latin typeface="Open Sans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latin typeface="Open Sans"/>
              </a:rPr>
              <a:t>Pricing</a:t>
            </a:r>
            <a:r>
              <a:rPr lang="pt-BR" sz="2400" i="1" dirty="0">
                <a:solidFill>
                  <a:schemeClr val="bg1"/>
                </a:solidFill>
                <a:latin typeface="Open Sans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latin typeface="Open Sans"/>
              </a:rPr>
              <a:t>Model</a:t>
            </a:r>
            <a:r>
              <a:rPr lang="pt-BR" sz="2400" i="1" dirty="0">
                <a:solidFill>
                  <a:schemeClr val="bg1"/>
                </a:solidFill>
                <a:latin typeface="Open Sans"/>
              </a:rPr>
              <a:t> </a:t>
            </a:r>
            <a:r>
              <a:rPr lang="pt-BR" sz="2400" dirty="0">
                <a:solidFill>
                  <a:schemeClr val="bg1"/>
                </a:solidFill>
                <a:latin typeface="Open Sans"/>
              </a:rPr>
              <a:t>- CAPM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0" y="6657120"/>
            <a:ext cx="313579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https://comoinvestir.thecap.com.br/o-que-e-indice-beta-de-acoes-calcular/</a:t>
            </a:r>
            <a:endParaRPr lang="pt-BR" sz="700" dirty="0">
              <a:solidFill>
                <a:srgbClr val="FF0000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720850" y="3403767"/>
            <a:ext cx="84821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O índice beta é definido como a sensibilidade de um ativo em relação aos movimentos do mercado. Ele é baseado no conceito de risco sistemático, indicando </a:t>
            </a:r>
            <a:r>
              <a:rPr lang="pt-BR" sz="2400" b="1" dirty="0"/>
              <a:t>a relação entre o retorno de um ativo e o retorno do mercado</a:t>
            </a:r>
            <a:r>
              <a:rPr lang="pt-BR" sz="2400" i="1" dirty="0"/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O risco sistemático demonstra os acontecimentos que </a:t>
            </a:r>
            <a:r>
              <a:rPr lang="pt-BR" sz="2400" b="1" dirty="0"/>
              <a:t>afetam o mercado como um todo.</a:t>
            </a:r>
          </a:p>
        </p:txBody>
      </p:sp>
    </p:spTree>
    <p:extLst>
      <p:ext uri="{BB962C8B-B14F-4D97-AF65-F5344CB8AC3E}">
        <p14:creationId xmlns:p14="http://schemas.microsoft.com/office/powerpoint/2010/main" val="284757772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3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1000" y="122162"/>
            <a:ext cx="10154908" cy="6534958"/>
          </a:xfrm>
          <a:prstGeom prst="rect">
            <a:avLst/>
          </a:prstGeom>
        </p:spPr>
      </p:pic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493957" y="866247"/>
            <a:ext cx="145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ÍNDICE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9511840" y="858605"/>
            <a:ext cx="1089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BETA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9512021" y="1448098"/>
            <a:ext cx="24809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242406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https://hcinvestimentos.com/2011/12/20/indice-beta/</a:t>
            </a:r>
            <a:endParaRPr lang="pt-BR" sz="7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97850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493957" y="866247"/>
            <a:ext cx="145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ÍNDICE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9511840" y="858605"/>
            <a:ext cx="1089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BETA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9512021" y="1448098"/>
            <a:ext cx="24809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242406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https://hcinvestimentos.com/2011/12/20/indice-beta/</a:t>
            </a:r>
            <a:endParaRPr lang="pt-BR" sz="700" dirty="0">
              <a:solidFill>
                <a:srgbClr val="FF0000"/>
              </a:solidFill>
            </a:endParaRPr>
          </a:p>
        </p:txBody>
      </p:sp>
      <p:graphicFrame>
        <p:nvGraphicFramePr>
          <p:cNvPr id="14" name="Gráfico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049273"/>
              </p:ext>
            </p:extLst>
          </p:nvPr>
        </p:nvGraphicFramePr>
        <p:xfrm>
          <a:off x="120649" y="1416624"/>
          <a:ext cx="8519107" cy="4867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125075"/>
              </p:ext>
            </p:extLst>
          </p:nvPr>
        </p:nvGraphicFramePr>
        <p:xfrm>
          <a:off x="8525551" y="1661157"/>
          <a:ext cx="342265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1325">
                  <a:extLst>
                    <a:ext uri="{9D8B030D-6E8A-4147-A177-3AD203B41FA5}">
                      <a16:colId xmlns:a16="http://schemas.microsoft.com/office/drawing/2014/main" val="1099047594"/>
                    </a:ext>
                  </a:extLst>
                </a:gridCol>
                <a:gridCol w="1711325">
                  <a:extLst>
                    <a:ext uri="{9D8B030D-6E8A-4147-A177-3AD203B41FA5}">
                      <a16:colId xmlns:a16="http://schemas.microsoft.com/office/drawing/2014/main" val="1561231008"/>
                    </a:ext>
                  </a:extLst>
                </a:gridCol>
              </a:tblGrid>
              <a:tr h="237564">
                <a:tc>
                  <a:txBody>
                    <a:bodyPr/>
                    <a:lstStyle/>
                    <a:p>
                      <a:r>
                        <a:rPr lang="pt-BR" sz="2400" dirty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Indicador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333860"/>
                  </a:ext>
                </a:extLst>
              </a:tr>
              <a:tr h="237564">
                <a:tc>
                  <a:txBody>
                    <a:bodyPr/>
                    <a:lstStyle/>
                    <a:p>
                      <a:r>
                        <a:rPr lang="pt-BR" sz="2400" dirty="0"/>
                        <a:t>Beta 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Font typeface="Wingdings" panose="05000000000000000000" pitchFamily="2" charset="2"/>
                        <a:buNone/>
                      </a:pPr>
                      <a:r>
                        <a:rPr lang="pt-BR" sz="2400" dirty="0"/>
                        <a:t>&gt;1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069925"/>
                  </a:ext>
                </a:extLst>
              </a:tr>
              <a:tr h="237564">
                <a:tc>
                  <a:txBody>
                    <a:bodyPr/>
                    <a:lstStyle/>
                    <a:p>
                      <a:r>
                        <a:rPr lang="pt-BR" sz="2400" dirty="0"/>
                        <a:t>Beta neutro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504869"/>
                  </a:ext>
                </a:extLst>
              </a:tr>
              <a:tr h="237564">
                <a:tc>
                  <a:txBody>
                    <a:bodyPr/>
                    <a:lstStyle/>
                    <a:p>
                      <a:r>
                        <a:rPr lang="pt-BR" sz="2400" dirty="0"/>
                        <a:t>Beta</a:t>
                      </a:r>
                      <a:r>
                        <a:rPr lang="pt-BR" sz="2400" baseline="0" dirty="0"/>
                        <a:t> baixo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&lt;1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932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01628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Arredondado 17"/>
          <p:cNvSpPr/>
          <p:nvPr/>
        </p:nvSpPr>
        <p:spPr>
          <a:xfrm>
            <a:off x="2616200" y="1380121"/>
            <a:ext cx="6686550" cy="214258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493957" y="866247"/>
            <a:ext cx="145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ÍNDICE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9511840" y="858605"/>
            <a:ext cx="1089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BETA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9512021" y="1448098"/>
            <a:ext cx="24809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242406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https://hcinvestimentos.com/2011/12/20/indice-beta/</a:t>
            </a:r>
            <a:endParaRPr lang="pt-BR" sz="7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2882104" y="1450915"/>
                <a:ext cx="6180730" cy="19224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6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6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104" y="1450915"/>
                <a:ext cx="6180730" cy="1922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 16"/>
              <p:cNvSpPr/>
              <p:nvPr/>
            </p:nvSpPr>
            <p:spPr>
              <a:xfrm>
                <a:off x="2616200" y="3268703"/>
                <a:ext cx="6686550" cy="29174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600"/>
                  </a:spcAft>
                </a:pPr>
                <a:r>
                  <a:rPr lang="pt-BR" sz="20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pt-BR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𝑜𝑣</m:t>
                        </m:r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(</m:t>
                        </m:r>
                        <m:r>
                          <a:rPr 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</m:sub>
                    </m:sSub>
                    <m:sSub>
                      <m:sSubPr>
                        <m:ctrlP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pt-BR" sz="32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pt-BR" sz="20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é a covariância entre os retornos do ativo e do índice de referência;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pt-BR" sz="20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pt-BR" sz="32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𝑎𝑟</m:t>
                    </m:r>
                    <m:r>
                      <a:rPr lang="en-US" sz="32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pt-BR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3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32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0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é a variância dos retornos do índice de referência.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pt-BR" sz="20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tâ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200" y="3268703"/>
                <a:ext cx="6686550" cy="2917465"/>
              </a:xfrm>
              <a:prstGeom prst="rect">
                <a:avLst/>
              </a:prstGeom>
              <a:blipFill>
                <a:blip r:embed="rId5"/>
                <a:stretch>
                  <a:fillRect l="-912" r="-10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92768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1573459" y="3282658"/>
            <a:ext cx="8867910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13" name="Retângulo Arredondado 12"/>
          <p:cNvSpPr/>
          <p:nvPr/>
        </p:nvSpPr>
        <p:spPr>
          <a:xfrm>
            <a:off x="1574315" y="1668358"/>
            <a:ext cx="8867910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16" name="Retângulo Arredondado 15"/>
          <p:cNvSpPr/>
          <p:nvPr/>
        </p:nvSpPr>
        <p:spPr>
          <a:xfrm>
            <a:off x="1613823" y="4916880"/>
            <a:ext cx="8867910" cy="154036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0" y="4970330"/>
                <a:ext cx="12192000" cy="13539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4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70330"/>
                <a:ext cx="12192000" cy="1353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/>
              <p:cNvSpPr txBox="1"/>
              <p:nvPr/>
            </p:nvSpPr>
            <p:spPr>
              <a:xfrm>
                <a:off x="0" y="1708438"/>
                <a:ext cx="12191999" cy="12816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4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08438"/>
                <a:ext cx="12191999" cy="12816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/>
              <p:cNvSpPr/>
              <p:nvPr/>
            </p:nvSpPr>
            <p:spPr>
              <a:xfrm>
                <a:off x="1" y="3692697"/>
                <a:ext cx="12192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0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𝑅𝑚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40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3692697"/>
                <a:ext cx="12192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83481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72456" y="3215071"/>
            <a:ext cx="5408301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000">
              <a:solidFill>
                <a:schemeClr val="bg1"/>
              </a:solidFill>
            </a:endParaRPr>
          </a:p>
        </p:txBody>
      </p:sp>
      <p:sp>
        <p:nvSpPr>
          <p:cNvPr id="13" name="Retângulo Arredondado 12"/>
          <p:cNvSpPr/>
          <p:nvPr/>
        </p:nvSpPr>
        <p:spPr>
          <a:xfrm>
            <a:off x="43109" y="1648436"/>
            <a:ext cx="5437648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16" name="Retângulo Arredondado 15"/>
          <p:cNvSpPr/>
          <p:nvPr/>
        </p:nvSpPr>
        <p:spPr>
          <a:xfrm>
            <a:off x="72457" y="4815626"/>
            <a:ext cx="5408300" cy="154036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41112" y="5043707"/>
                <a:ext cx="5407378" cy="8492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12" y="5043707"/>
                <a:ext cx="5407378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/>
              <p:cNvSpPr txBox="1"/>
              <p:nvPr/>
            </p:nvSpPr>
            <p:spPr>
              <a:xfrm>
                <a:off x="162666" y="1812291"/>
                <a:ext cx="5198534" cy="1025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66" y="1812291"/>
                <a:ext cx="5198534" cy="10253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/>
              <p:cNvSpPr/>
              <p:nvPr/>
            </p:nvSpPr>
            <p:spPr>
              <a:xfrm>
                <a:off x="56444" y="3638016"/>
                <a:ext cx="535093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𝑅𝑚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4" y="3638016"/>
                <a:ext cx="535093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310564"/>
              </p:ext>
            </p:extLst>
          </p:nvPr>
        </p:nvGraphicFramePr>
        <p:xfrm>
          <a:off x="5616223" y="1715558"/>
          <a:ext cx="6383866" cy="4665168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75522">
                  <a:extLst>
                    <a:ext uri="{9D8B030D-6E8A-4147-A177-3AD203B41FA5}">
                      <a16:colId xmlns:a16="http://schemas.microsoft.com/office/drawing/2014/main" val="1777259388"/>
                    </a:ext>
                  </a:extLst>
                </a:gridCol>
                <a:gridCol w="6008344">
                  <a:extLst>
                    <a:ext uri="{9D8B030D-6E8A-4147-A177-3AD203B41FA5}">
                      <a16:colId xmlns:a16="http://schemas.microsoft.com/office/drawing/2014/main" val="200964463"/>
                    </a:ext>
                  </a:extLst>
                </a:gridCol>
              </a:tblGrid>
              <a:tr h="1239805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>
                          <a:effectLst/>
                        </a:rPr>
                        <a:t>Ra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dirty="0">
                          <a:effectLst/>
                          <a:hlinkClick r:id="rId7"/>
                        </a:rPr>
                        <a:t>http://ri.santosbrasil.com.br/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49888873"/>
                  </a:ext>
                </a:extLst>
              </a:tr>
              <a:tr h="1198132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>
                          <a:effectLst/>
                        </a:rPr>
                        <a:t>Rm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dirty="0">
                          <a:effectLst/>
                          <a:hlinkClick r:id="rId8"/>
                        </a:rPr>
                        <a:t>http://www.b3.com.br/pt_br/market-data-e-indices/indices/indices-amplos/indice-ibovespa-ibovespa-estatisticas-historicas.htm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6858809"/>
                  </a:ext>
                </a:extLst>
              </a:tr>
              <a:tr h="801509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>
                          <a:effectLst/>
                        </a:rPr>
                        <a:t>Rf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dirty="0">
                          <a:effectLst/>
                          <a:hlinkClick r:id="rId9"/>
                        </a:rPr>
                        <a:t>https://www3.bcb.gov.br/sgspub/localizarseries/localizarSeries.do?method=prepararTelaLocalizarSeries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36622398"/>
                  </a:ext>
                </a:extLst>
              </a:tr>
              <a:tr h="404886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>
                          <a:effectLst/>
                        </a:rPr>
                        <a:t>E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dirty="0">
                          <a:effectLst/>
                          <a:hlinkClick r:id="rId7"/>
                        </a:rPr>
                        <a:t>http://ri.santosbrasil.com.br/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2077314"/>
                  </a:ext>
                </a:extLst>
              </a:tr>
              <a:tr h="404886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dirty="0">
                          <a:effectLst/>
                        </a:rPr>
                        <a:t>D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dirty="0">
                          <a:effectLst/>
                          <a:hlinkClick r:id="rId7"/>
                        </a:rPr>
                        <a:t>http://ri.santosbrasil.com.br/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42126101"/>
                  </a:ext>
                </a:extLst>
              </a:tr>
              <a:tr h="59121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https://www.bndes.gov.br/wps/portal/site/home/financiamento/guia/taxa-de-juros</a:t>
                      </a:r>
                      <a:endParaRPr lang="pt-BR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3449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02770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72456" y="3215071"/>
            <a:ext cx="5408301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000">
              <a:solidFill>
                <a:schemeClr val="bg1"/>
              </a:solidFill>
            </a:endParaRPr>
          </a:p>
        </p:txBody>
      </p:sp>
      <p:sp>
        <p:nvSpPr>
          <p:cNvPr id="13" name="Retângulo Arredondado 12"/>
          <p:cNvSpPr/>
          <p:nvPr/>
        </p:nvSpPr>
        <p:spPr>
          <a:xfrm>
            <a:off x="43109" y="1648436"/>
            <a:ext cx="5437648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16" name="Retângulo Arredondado 15"/>
          <p:cNvSpPr/>
          <p:nvPr/>
        </p:nvSpPr>
        <p:spPr>
          <a:xfrm>
            <a:off x="72457" y="4815626"/>
            <a:ext cx="5408300" cy="154036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41112" y="5043707"/>
                <a:ext cx="5407378" cy="8492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12" y="5043707"/>
                <a:ext cx="5407378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40366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/>
              <p:cNvSpPr txBox="1"/>
              <p:nvPr/>
            </p:nvSpPr>
            <p:spPr>
              <a:xfrm>
                <a:off x="162666" y="1812291"/>
                <a:ext cx="5198534" cy="1025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66" y="1812291"/>
                <a:ext cx="5198534" cy="10253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/>
              <p:cNvSpPr/>
              <p:nvPr/>
            </p:nvSpPr>
            <p:spPr>
              <a:xfrm>
                <a:off x="56444" y="3638016"/>
                <a:ext cx="535093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𝑅𝑚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4" y="3638016"/>
                <a:ext cx="535093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145846"/>
              </p:ext>
            </p:extLst>
          </p:nvPr>
        </p:nvGraphicFramePr>
        <p:xfrm>
          <a:off x="5668047" y="1648432"/>
          <a:ext cx="6274328" cy="4707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3192">
                  <a:extLst>
                    <a:ext uri="{9D8B030D-6E8A-4147-A177-3AD203B41FA5}">
                      <a16:colId xmlns:a16="http://schemas.microsoft.com/office/drawing/2014/main" val="2280282479"/>
                    </a:ext>
                  </a:extLst>
                </a:gridCol>
                <a:gridCol w="1083192">
                  <a:extLst>
                    <a:ext uri="{9D8B030D-6E8A-4147-A177-3AD203B41FA5}">
                      <a16:colId xmlns:a16="http://schemas.microsoft.com/office/drawing/2014/main" val="1454774091"/>
                    </a:ext>
                  </a:extLst>
                </a:gridCol>
                <a:gridCol w="1083192">
                  <a:extLst>
                    <a:ext uri="{9D8B030D-6E8A-4147-A177-3AD203B41FA5}">
                      <a16:colId xmlns:a16="http://schemas.microsoft.com/office/drawing/2014/main" val="2391531972"/>
                    </a:ext>
                  </a:extLst>
                </a:gridCol>
                <a:gridCol w="1083192">
                  <a:extLst>
                    <a:ext uri="{9D8B030D-6E8A-4147-A177-3AD203B41FA5}">
                      <a16:colId xmlns:a16="http://schemas.microsoft.com/office/drawing/2014/main" val="213840001"/>
                    </a:ext>
                  </a:extLst>
                </a:gridCol>
                <a:gridCol w="932474">
                  <a:extLst>
                    <a:ext uri="{9D8B030D-6E8A-4147-A177-3AD203B41FA5}">
                      <a16:colId xmlns:a16="http://schemas.microsoft.com/office/drawing/2014/main" val="4111818649"/>
                    </a:ext>
                  </a:extLst>
                </a:gridCol>
                <a:gridCol w="1009086">
                  <a:extLst>
                    <a:ext uri="{9D8B030D-6E8A-4147-A177-3AD203B41FA5}">
                      <a16:colId xmlns:a16="http://schemas.microsoft.com/office/drawing/2014/main" val="956484581"/>
                    </a:ext>
                  </a:extLst>
                </a:gridCol>
              </a:tblGrid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Período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Ra/ROE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Rm</a:t>
                      </a:r>
                      <a:r>
                        <a:rPr lang="pt-BR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/IBOV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Rf</a:t>
                      </a:r>
                      <a:r>
                        <a:rPr lang="pt-BR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/Selic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295150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19,70%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62,59%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37,41%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6562347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17,60%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-15,50%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65,62%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34,38%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30599737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-2,91%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66,10%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33,90%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83718277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-1,30%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-13,31%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14,25%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30,28%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07125651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38,93%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73,35%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26,65%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0840395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26,86%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51,86%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52643023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46,92%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53,08%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30035818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31,58%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42,31%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57,69%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57701082"/>
                  </a:ext>
                </a:extLst>
              </a:tr>
              <a:tr h="4707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-0,90%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50,41%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39718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91365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Arredondado 24"/>
          <p:cNvSpPr/>
          <p:nvPr/>
        </p:nvSpPr>
        <p:spPr>
          <a:xfrm>
            <a:off x="5856131" y="4815627"/>
            <a:ext cx="6125745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2" name="Retângulo Arredondado 21"/>
          <p:cNvSpPr/>
          <p:nvPr/>
        </p:nvSpPr>
        <p:spPr>
          <a:xfrm>
            <a:off x="5856131" y="3204605"/>
            <a:ext cx="6125745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1" name="Retângulo Arredondado 20"/>
          <p:cNvSpPr/>
          <p:nvPr/>
        </p:nvSpPr>
        <p:spPr>
          <a:xfrm>
            <a:off x="5856131" y="1648436"/>
            <a:ext cx="6125745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15" name="Retângulo Arredondado 14"/>
          <p:cNvSpPr/>
          <p:nvPr/>
        </p:nvSpPr>
        <p:spPr>
          <a:xfrm>
            <a:off x="190981" y="3215071"/>
            <a:ext cx="5594567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000">
              <a:solidFill>
                <a:schemeClr val="bg1"/>
              </a:solidFill>
            </a:endParaRPr>
          </a:p>
        </p:txBody>
      </p:sp>
      <p:sp>
        <p:nvSpPr>
          <p:cNvPr id="13" name="Retângulo Arredondado 12"/>
          <p:cNvSpPr/>
          <p:nvPr/>
        </p:nvSpPr>
        <p:spPr>
          <a:xfrm>
            <a:off x="161634" y="1648436"/>
            <a:ext cx="5623914" cy="145159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16" name="Retângulo Arredondado 15"/>
          <p:cNvSpPr/>
          <p:nvPr/>
        </p:nvSpPr>
        <p:spPr>
          <a:xfrm>
            <a:off x="190982" y="4815626"/>
            <a:ext cx="5594566" cy="145159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259637" y="5043707"/>
                <a:ext cx="5407378" cy="8492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∗(1−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37" y="5043707"/>
                <a:ext cx="5407378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10151057" y="877710"/>
            <a:ext cx="1906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MODELO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873784" y="877709"/>
            <a:ext cx="143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WACC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8979870" y="1459561"/>
            <a:ext cx="3002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/>
              <p:cNvSpPr txBox="1"/>
              <p:nvPr/>
            </p:nvSpPr>
            <p:spPr>
              <a:xfrm>
                <a:off x="281191" y="1812291"/>
                <a:ext cx="3365112" cy="1025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91" y="1812291"/>
                <a:ext cx="3365112" cy="10253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/>
              <p:cNvSpPr/>
              <p:nvPr/>
            </p:nvSpPr>
            <p:spPr>
              <a:xfrm>
                <a:off x="174969" y="3638016"/>
                <a:ext cx="451555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𝑅𝑚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𝑅𝑓</m:t>
                      </m:r>
                      <m:r>
                        <a:rPr lang="pt-B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69" y="3638016"/>
                <a:ext cx="451555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5915369" y="1999548"/>
                <a:ext cx="4430897" cy="7493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pt-BR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−0,64%</m:t>
                        </m:r>
                      </m:num>
                      <m:den>
                        <m:r>
                          <a:rPr lang="pt-BR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3,79%</m:t>
                        </m:r>
                      </m:den>
                    </m:f>
                  </m:oMath>
                </a14:m>
                <a:r>
                  <a:rPr lang="pt-BR" sz="3600" dirty="0">
                    <a:solidFill>
                      <a:schemeClr val="bg1"/>
                    </a:solidFill>
                  </a:rPr>
                  <a:t>= </a:t>
                </a:r>
                <a:r>
                  <a:rPr lang="pt-BR" sz="2800" b="1" dirty="0"/>
                  <a:t>- 0,17</a:t>
                </a:r>
                <a:endParaRPr lang="pt-BR" sz="3600" b="1" dirty="0"/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369" y="1999548"/>
                <a:ext cx="4430897" cy="749372"/>
              </a:xfrm>
              <a:prstGeom prst="rect">
                <a:avLst/>
              </a:prstGeom>
              <a:blipFill>
                <a:blip r:embed="rId7"/>
                <a:stretch>
                  <a:fillRect t="-9756" b="-195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 16"/>
              <p:cNvSpPr/>
              <p:nvPr/>
            </p:nvSpPr>
            <p:spPr>
              <a:xfrm>
                <a:off x="5785548" y="3503339"/>
                <a:ext cx="5825068" cy="8224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8,56%+(−0,17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10,11%−8,56%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t-B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𝟐𝟗</m:t>
                      </m:r>
                      <m:r>
                        <a:rPr lang="pt-B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pt-BR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tâ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548" y="3503339"/>
                <a:ext cx="5825068" cy="822469"/>
              </a:xfrm>
              <a:prstGeom prst="rect">
                <a:avLst/>
              </a:prstGeom>
              <a:blipFill>
                <a:blip r:embed="rId8"/>
                <a:stretch>
                  <a:fillRect l="-2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5856132" y="5070509"/>
                <a:ext cx="6201538" cy="8224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8,26% ∗8,29%+41,74%∗12,35% ∗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1−34%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t-B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pt-B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pt-B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132" y="5070509"/>
                <a:ext cx="6201538" cy="822469"/>
              </a:xfrm>
              <a:prstGeom prst="rect">
                <a:avLst/>
              </a:prstGeom>
              <a:blipFill>
                <a:blip r:embed="rId9"/>
                <a:stretch>
                  <a:fillRect l="-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60551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980693" y="826237"/>
            <a:ext cx="882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Res.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9829002" y="816408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3.220/14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to 7"/>
          <p:cNvCxnSpPr/>
          <p:nvPr/>
        </p:nvCxnSpPr>
        <p:spPr>
          <a:xfrm>
            <a:off x="9068521" y="1416624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524934" y="1482397"/>
            <a:ext cx="106336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Instituição do modelo de </a:t>
            </a:r>
            <a:r>
              <a:rPr lang="pt-BR" sz="2400" b="1" dirty="0"/>
              <a:t>fluxo de caixa descontado </a:t>
            </a:r>
            <a:r>
              <a:rPr lang="pt-BR" sz="2400" dirty="0"/>
              <a:t>para processo de reequilíbrio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algn="just"/>
            <a:r>
              <a:rPr lang="pt-BR" sz="2400" dirty="0"/>
              <a:t>O processo de recomposição do equilíbrio econômico-financeiro deverá: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400" b="1" u="sng" dirty="0"/>
              <a:t>neutralizar os impactos negativos ou positivos</a:t>
            </a:r>
            <a:r>
              <a:rPr lang="pt-BR" sz="2400" dirty="0"/>
              <a:t> gerados especificamente pelo evento que ensejou a recomposição ou </a:t>
            </a:r>
            <a:r>
              <a:rPr lang="pt-BR" sz="2400" b="1" u="sng" dirty="0"/>
              <a:t>tornar nulo o Valor Presente Líquido – VPL do fluxo de caixa marginal</a:t>
            </a:r>
            <a:r>
              <a:rPr lang="pt-BR" sz="2400" dirty="0"/>
              <a:t> projetado;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400" dirty="0"/>
              <a:t>considerar os dispêndios e receitas </a:t>
            </a:r>
            <a:r>
              <a:rPr lang="pt-BR" sz="2400" b="1" u="sng" dirty="0"/>
              <a:t>marginais</a:t>
            </a:r>
            <a:r>
              <a:rPr lang="pt-BR" sz="2400" dirty="0"/>
              <a:t>; 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400" dirty="0"/>
              <a:t>aplicar a </a:t>
            </a:r>
            <a:r>
              <a:rPr lang="pt-BR" sz="2400" b="1" u="sng" dirty="0"/>
              <a:t>taxa de desconto</a:t>
            </a:r>
            <a:r>
              <a:rPr lang="pt-BR" sz="2400" dirty="0"/>
              <a:t> definida pela </a:t>
            </a:r>
            <a:r>
              <a:rPr lang="pt-BR" sz="2400" dirty="0" err="1"/>
              <a:t>Antaq</a:t>
            </a:r>
            <a:r>
              <a:rPr lang="pt-BR" sz="2400" dirty="0"/>
              <a:t> – se outra não houver sido definida no contrato de arrendamento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0" y="6657120"/>
            <a:ext cx="33794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https://www.abtp.org.br/upfiles/legislacao/Resolucao-Antaq-3220-de-2014.pdf</a:t>
            </a:r>
          </a:p>
        </p:txBody>
      </p:sp>
    </p:spTree>
    <p:extLst>
      <p:ext uri="{BB962C8B-B14F-4D97-AF65-F5344CB8AC3E}">
        <p14:creationId xmlns:p14="http://schemas.microsoft.com/office/powerpoint/2010/main" val="124717874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edondar Retângulo em um Canto Diagonal 1"/>
          <p:cNvSpPr/>
          <p:nvPr/>
        </p:nvSpPr>
        <p:spPr>
          <a:xfrm>
            <a:off x="5313115" y="2741242"/>
            <a:ext cx="5343597" cy="3033023"/>
          </a:xfrm>
          <a:prstGeom prst="round2Diag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4062461" y="1066834"/>
            <a:ext cx="76765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É o fluxo de caixa projetado em razão do </a:t>
            </a:r>
            <a:r>
              <a:rPr lang="pt-BR" sz="2400" u="sng" dirty="0"/>
              <a:t>evento que ensejou a recomposição do equilíbrio</a:t>
            </a:r>
            <a:r>
              <a:rPr lang="pt-BR" sz="2400" dirty="0"/>
              <a:t> econômico-financeiro do contrato do arrendamento, considerando os fluxos dos dispêndios e receitas </a:t>
            </a:r>
            <a:r>
              <a:rPr lang="pt-BR" sz="2400" u="sng" dirty="0"/>
              <a:t>marginais</a:t>
            </a:r>
            <a:r>
              <a:rPr lang="pt-BR" sz="2400" dirty="0"/>
              <a:t>, conforme modelo: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010317"/>
              </p:ext>
            </p:extLst>
          </p:nvPr>
        </p:nvGraphicFramePr>
        <p:xfrm>
          <a:off x="5559779" y="3073368"/>
          <a:ext cx="5002788" cy="2209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32177">
                  <a:extLst>
                    <a:ext uri="{9D8B030D-6E8A-4147-A177-3AD203B41FA5}">
                      <a16:colId xmlns:a16="http://schemas.microsoft.com/office/drawing/2014/main" val="1305713776"/>
                    </a:ext>
                  </a:extLst>
                </a:gridCol>
                <a:gridCol w="4370611">
                  <a:extLst>
                    <a:ext uri="{9D8B030D-6E8A-4147-A177-3AD203B41FA5}">
                      <a16:colId xmlns:a16="http://schemas.microsoft.com/office/drawing/2014/main" val="2608591371"/>
                    </a:ext>
                  </a:extLst>
                </a:gridCol>
              </a:tblGrid>
              <a:tr h="33337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Lucro Operacional (EBIT)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52454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+ 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Depreciações e Amortizações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354407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Impostos (IR e CSLL)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945146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+/- 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Variações de Capital de Giro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212856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Investimentos no empreendimento</a:t>
                      </a:r>
                      <a:endParaRPr lang="pt-B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7082615"/>
                  </a:ext>
                </a:extLst>
              </a:tr>
              <a:tr h="3333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(Nota Técnica nº 7/2014/GRP/SPO/ANTAQ/SEP)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just" rtl="0" fontAlgn="ctr"/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5647696"/>
                  </a:ext>
                </a:extLst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69224" y="2466809"/>
            <a:ext cx="28216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 err="1"/>
              <a:t>FCMarginal</a:t>
            </a:r>
            <a:endParaRPr lang="pt-BR" sz="4400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24561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3.220/14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33794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https://www.abtp.org.br/upfiles/legislacao/Resolucao-Antaq-3220-de-2014.pdf</a:t>
            </a:r>
          </a:p>
        </p:txBody>
      </p:sp>
    </p:spTree>
    <p:extLst>
      <p:ext uri="{BB962C8B-B14F-4D97-AF65-F5344CB8AC3E}">
        <p14:creationId xmlns:p14="http://schemas.microsoft.com/office/powerpoint/2010/main" val="338818882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9551241" y="841475"/>
            <a:ext cx="665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128162" y="816408"/>
            <a:ext cx="1863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Marginal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9641854" y="1418089"/>
            <a:ext cx="22773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lipse 15"/>
          <p:cNvSpPr/>
          <p:nvPr/>
        </p:nvSpPr>
        <p:spPr>
          <a:xfrm>
            <a:off x="310444" y="2134742"/>
            <a:ext cx="3060000" cy="306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206595" y="3114957"/>
            <a:ext cx="3190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Contrato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20" name="Elipse 19"/>
          <p:cNvSpPr/>
          <p:nvPr/>
        </p:nvSpPr>
        <p:spPr>
          <a:xfrm>
            <a:off x="3500171" y="2134742"/>
            <a:ext cx="3060000" cy="3060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3474293" y="2829989"/>
            <a:ext cx="3190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Impacto marginal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195689" y="2134742"/>
            <a:ext cx="492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/>
              <a:t>x</a:t>
            </a:r>
          </a:p>
        </p:txBody>
      </p:sp>
      <p:pic>
        <p:nvPicPr>
          <p:cNvPr id="50180" name="Picture 4" descr="Check Vetores e Ilustrações de Stock - iStock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033" y="2219562"/>
            <a:ext cx="1085777" cy="97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tângulo 21"/>
          <p:cNvSpPr/>
          <p:nvPr/>
        </p:nvSpPr>
        <p:spPr>
          <a:xfrm>
            <a:off x="0" y="6657120"/>
            <a:ext cx="33794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http://web.antaq.gov.br/portalv3/pdf/NotasTecnicas/NotaTecnica072014.pdf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869289" y="2219562"/>
            <a:ext cx="47178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É a mudança nos resultados contratuais advindos da alteração da alocação de riscos, obrigações e retornos do empreendimento</a:t>
            </a:r>
          </a:p>
        </p:txBody>
      </p:sp>
    </p:spTree>
    <p:extLst>
      <p:ext uri="{BB962C8B-B14F-4D97-AF65-F5344CB8AC3E}">
        <p14:creationId xmlns:p14="http://schemas.microsoft.com/office/powerpoint/2010/main" val="360757201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735489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r>
              <a:rPr lang="pt-BR" sz="700" dirty="0"/>
              <a:t> e http://portal.antaq.gov.br/wp-content/uploads/2019/10/Manual_de_Analise_de_EVETA_GPO_out_19.pdf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501633" y="2081939"/>
            <a:ext cx="6709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P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6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566219"/>
              </p:ext>
            </p:extLst>
          </p:nvPr>
        </p:nvGraphicFramePr>
        <p:xfrm>
          <a:off x="227504" y="1571578"/>
          <a:ext cx="3799682" cy="3552190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7054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FFC000"/>
                </a:solidFill>
              </a:rPr>
              <a:t>Movimentação</a:t>
            </a:r>
            <a:r>
              <a:rPr lang="pt-BR" sz="4000" dirty="0">
                <a:solidFill>
                  <a:schemeClr val="bg1"/>
                </a:solidFill>
              </a:rPr>
              <a:t> x preço = ROB</a:t>
            </a:r>
          </a:p>
        </p:txBody>
      </p:sp>
      <p:sp>
        <p:nvSpPr>
          <p:cNvPr id="4" name="Retângulo 3"/>
          <p:cNvSpPr/>
          <p:nvPr/>
        </p:nvSpPr>
        <p:spPr>
          <a:xfrm>
            <a:off x="4829622" y="2540348"/>
            <a:ext cx="69382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A projeção do fluxo de carga, representativo das expectativas da demanda que se pretende atender, deve estar fundamentada em análises de mercado e informações de fontes reconhecidas e idôneas, compreendendo a projeção futura dos cenários: </a:t>
            </a:r>
            <a:r>
              <a:rPr lang="pt-BR" sz="2400" b="1" dirty="0"/>
              <a:t>intermediário, otimista e pessimista</a:t>
            </a:r>
            <a:r>
              <a:rPr lang="pt-BR" sz="2400" dirty="0"/>
              <a:t>.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4926801" y="4965771"/>
            <a:ext cx="67762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PNLP; Plano Mestre; outros </a:t>
            </a:r>
            <a:r>
              <a:rPr lang="pt-BR" sz="2800" dirty="0" err="1"/>
              <a:t>EVTEA’s</a:t>
            </a:r>
            <a:r>
              <a:rPr lang="pt-BR" sz="2800" dirty="0"/>
              <a:t>; </a:t>
            </a:r>
          </a:p>
          <a:p>
            <a:pPr algn="ctr"/>
            <a:r>
              <a:rPr lang="pt-BR" sz="2800" dirty="0"/>
              <a:t>órgãos setoriais; PIB; previsões macro</a:t>
            </a:r>
          </a:p>
        </p:txBody>
      </p:sp>
    </p:spTree>
    <p:extLst>
      <p:ext uri="{BB962C8B-B14F-4D97-AF65-F5344CB8AC3E}">
        <p14:creationId xmlns:p14="http://schemas.microsoft.com/office/powerpoint/2010/main" val="79234140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735489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r>
              <a:rPr lang="pt-BR" sz="700" dirty="0"/>
              <a:t> e http://portal.antaq.gov.br/wp-content/uploads/2019/10/Manual_de_Analise_de_EVETA_GPO_out_19.pdf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438318" y="1905690"/>
            <a:ext cx="6709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P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8371457" y="778294"/>
            <a:ext cx="2858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Movimentação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6140" y="785854"/>
            <a:ext cx="1002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ROB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8485226" y="1378701"/>
            <a:ext cx="34875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Imagem 13"/>
          <p:cNvPicPr>
            <a:picLocks noChangeAspect="1"/>
          </p:cNvPicPr>
          <p:nvPr/>
        </p:nvPicPr>
        <p:blipFill>
          <a:blip r:embed="rId5">
            <a:clrChange>
              <a:clrFrom>
                <a:srgbClr val="DEF6FF"/>
              </a:clrFrom>
              <a:clrTo>
                <a:srgbClr val="DEF6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109" y="1350641"/>
            <a:ext cx="5790125" cy="4998600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695463" y="2238154"/>
            <a:ext cx="4508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Demanda macro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999453" y="4541439"/>
            <a:ext cx="1870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Demanda micro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2478602" y="5781323"/>
            <a:ext cx="942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</a:rPr>
              <a:t>Limitada</a:t>
            </a:r>
            <a:endParaRPr lang="pt-BR" sz="105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150015" y="2920620"/>
            <a:ext cx="5822742" cy="52322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Intermediário/ Otimista/ Pessimista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6150015" y="3911316"/>
            <a:ext cx="5822742" cy="95410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PNLP; Plano Mestre; outros </a:t>
            </a:r>
            <a:r>
              <a:rPr lang="pt-BR" sz="2800" dirty="0" err="1">
                <a:solidFill>
                  <a:schemeClr val="bg1"/>
                </a:solidFill>
              </a:rPr>
              <a:t>EVTEA’s</a:t>
            </a:r>
            <a:r>
              <a:rPr lang="pt-BR" sz="2800" dirty="0">
                <a:solidFill>
                  <a:schemeClr val="bg1"/>
                </a:solidFill>
              </a:rPr>
              <a:t>; </a:t>
            </a: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órgãos setoriais; PIB; previsões macro</a:t>
            </a:r>
          </a:p>
        </p:txBody>
      </p:sp>
    </p:spTree>
    <p:extLst>
      <p:ext uri="{BB962C8B-B14F-4D97-AF65-F5344CB8AC3E}">
        <p14:creationId xmlns:p14="http://schemas.microsoft.com/office/powerpoint/2010/main" val="245983646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735489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r>
              <a:rPr lang="pt-BR" sz="700" dirty="0"/>
              <a:t> e http://portal.antaq.gov.br/wp-content/uploads/2019/10/Manual_de_Analise_de_EVETA_GPO_out_19.pdf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8371457" y="778294"/>
            <a:ext cx="2858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Movimentação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6140" y="785854"/>
            <a:ext cx="1002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ROB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8485226" y="1378701"/>
            <a:ext cx="34875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492893" y="1894244"/>
            <a:ext cx="5822742" cy="52322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Intermediário/ Otimista/ Pessimista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492893" y="2467233"/>
            <a:ext cx="5822742" cy="95410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PNLP; Plano Mestre; outros </a:t>
            </a:r>
            <a:r>
              <a:rPr lang="pt-BR" sz="2800" dirty="0" err="1">
                <a:solidFill>
                  <a:schemeClr val="bg1"/>
                </a:solidFill>
              </a:rPr>
              <a:t>EVTEA’s</a:t>
            </a:r>
            <a:r>
              <a:rPr lang="pt-BR" sz="2800" dirty="0">
                <a:solidFill>
                  <a:schemeClr val="bg1"/>
                </a:solidFill>
              </a:rPr>
              <a:t>; </a:t>
            </a: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órgãos setoriais; PIB; previsões macro</a:t>
            </a:r>
          </a:p>
        </p:txBody>
      </p:sp>
      <p:graphicFrame>
        <p:nvGraphicFramePr>
          <p:cNvPr id="21" name="Gráfico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8379628"/>
              </p:ext>
            </p:extLst>
          </p:nvPr>
        </p:nvGraphicFramePr>
        <p:xfrm>
          <a:off x="1716626" y="1644771"/>
          <a:ext cx="9302181" cy="5222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6106529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350947"/>
            <a:ext cx="6781800" cy="4210050"/>
          </a:xfrm>
          <a:prstGeom prst="rect">
            <a:avLst/>
          </a:prstGeom>
        </p:spPr>
      </p:pic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735489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5"/>
              </a:rPr>
              <a:t>Http://web.antaq.gov.br/portalv3/pdf/NotasTecnicas/NotaTecnica072014.pdf</a:t>
            </a:r>
            <a:r>
              <a:rPr lang="pt-BR" sz="700" dirty="0"/>
              <a:t> e http://portal.antaq.gov.br/wp-content/uploads/2019/10/Manual_de_Analise_de_EVETA_GPO_out_19.pdf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8371457" y="778294"/>
            <a:ext cx="2858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Movimentação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6140" y="785854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MME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8508230" y="1378701"/>
            <a:ext cx="34875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6173019" y="1557915"/>
            <a:ext cx="5822742" cy="52322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Intermediário/ Otimista/ Pessimista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4" name="AutoShape 4" descr="data:image/png;base64,iVBORw0KGgoAAAANSUhEUgAAAsgAAAG6CAYAAAAVqbAhAAAgAElEQVR4AeydB3hUR5qu23iSZ/bemd29Mw5khBFj7+6Md+fu7rO7d3ZmJ3uSE9gYY4wN2OCIMUFCEjjihMEYG2NACTDZGJNzxiQJRBIIECCiQDnn7z51cOOmqdPqcFKd89XztLr79DkV3r/6/z9V16nygYkESIAESIAESIAESIAESOAqAd/VV3xBAiRAAiRAAiRAAiRAAiQACmR2AhIgARIgARIgARIgARIIIECBHACDL0mABEiABEiABEiABEiAApl9gARIgARIgARIgARIgAQCCFAgB8DgSxIgARIgARIgARIgARKgQGYfIAESIAESIAESIAESIIEAAhTIATD4kgRIgARIgARIgARIgAQokNkHSIAESIAESIAESIAESCCAAAVyAAy+JAESIAESIAESIAESIAEKZPYBEiABEiABEiABEiABEgggQIEcAIMvSYAESIAESIAESIAESIACmX2ABAwiUNyuK/ggA/YB9oFo+oBBbojZkAAJGESAAtkgkMyGBKIJiryGYop9gH1A9AEmEiABZxGgQHaWPVgbhQlQ6FDosA+wD0TbBxR2faw6CbiSAAWyK83KRtlBINrAyOsoqtgH2Afs8FkskwRIQJ8ABbI+G35CAhERoMihyGEfYB+Itg9E5Gx4MgmQgOkEKJBNR8wCvEJAFhi90na2kwRIIHwC9BXhs+KZJGAXAQpku8izXNcRYNBznUnZIBIwhQB9hSlYmSkJGEqAAtlQnMzMywQY9LxsfbadBMInQF8RPiueSQJ2EaBAtos8y3UdAQY915mUDSIBUwjQV5iClZmSgKEEKJANxcnMvEyAQc/L1mfbSSB8AvQV4bPimSRgFwEKZLvIs1zXEWDQc51J2SASMIUAfYUpWJkpCRhKgALZUJzMzMsEGPS8bP3o2v77e7Phf0SXA69SkQB9hYpWY529RoAC2WsWZ3tNI8CgZxpaV2Z89/178d+/33P1Id77H65sMBt1lQB9xVUUfEECjiVAgexY07BiqhFg0FPNYvbV9089rhXHgUJZvBaf+x/21ZIlm0WAvsIsssyXBIwjQIFsHEvm5HECDHoe7wAhml9bW4u/PLjv6iNYEId6H3hdQ0NDiFL4kSoE6CtUsRTr6WUCFMhetj7bbigBBj1DcSqbWUtLC+rr61FRUYl7eu278nho39WpFKHEcGuf3fPQV/n12oeq6mo0NjYqy8nLFaev8LL12XZVCFAgq2Ip1tPxBBj0HG8i0ytYU1OD+3rn4L6H9+HeXqGnUbQmhlv7/N5e+7RyLhYWoq6+zvS2sQDjCNBXGMeSOZGAWQQokM0iy3w9R4BBz3Mmv9rgHn1yIB4P9I58pPipJ0cgrvNd+M53bka3uH+JeKT5vof34oFHrpRfXlFxtU584VwC9BXOtQ1rRgJ+AhTIfhJ8JoEYCTDoxQhQscsf7Lsf/kdro73BnxcUVOL8hTocP16MMSkp6NYlDm18PtzRLR6ffDIPp7/6PPi61t736LNPq1NZaRlaWhQD6qHq0ld4yNhsqrIEKJCVNR0r7jQCDHpOs4g59enV7wDEozWxGvz52XO18D/EPGWRSktLMSY5BfFxXXGjz4c747tj1syZEDf1ieQ/XzwH5xfq/YOP7kOvx67Us6mpScuLf5xDgL7CObZgTUhAjwAFsh4ZHieBCAkw6EUITLHTez9xAOIRSpgGf1Zwphb+h6y5JSUl1wnkmZmZqK6uvu50fz7iObicUO97P36l3tdlyAO2EaCvsA09CyaBsAlQIIeNiieSQGgCDHqh+aj6aZ8BByEeoURo8GenTtdAPFpLkQjkwLz8+QeXG+q9vx2B+fC1PQToK+zhzlJJIBICFMiR0OK5JBCCAINeCDgKftT3yYMQj1CiM/Cz/JM18D/CbW60Atmfv7888RxYl1Cv/e3y58Fn6wnQV1jPnCWSQKQEKJAjJcbzSUCHAIOeDhjFDvcbdAjiEUpk+j87fqIa/kc0zYxVIAeW6a+Hv26tPYs2MtlDgL7CHu4slQQiIUCBHAktnksCIQgw6IWAo8hHTzwdnjA+kleJvGPXzxOOtJlGCmR/2aJe/kdrIlm0VzyYrCVAX2Etb5ZGAtEQoECOhhqvIQEJAQY9CRRFDg189jDEozVBuf9gKXKPVsG/CkWszTNDIAfWSdRVPFprl2g7k3UE6CusY82SSCBaAhTI0ZLjdSQQRIBBLwiIIm+fer51Ybxrz0Ucyq1Cc3Ozoa0qLipGwvARaHvzLfD5fOjYth1Sp01DVVWVoeWIuotHKKEsOIgHk/kE6CvMZ8wSSCBWAhTIsRLk9STwFQEGPfW6wuAhuSFF4+q1ecg5WI7GxkZTGicEclJCIjq174CbbroJXTt1RnpamuEC2V/5A4cqQ7ZXCGjBhMlcAvQV5vJl7iRgBAEKZCMoMg8SAMCgp043eGboEYhHqBHVTVvOaOsRGzWdQkanorwCGWlpeLRPH9z9+z+gX9/HsHr1atTW1clON+RYzoEK7M0pC9l2wYbJPAL0FeaxZc4kYBQBCmSjSDIfzxNg0FOjCzw3LLQwnrsgG9t3FKK+vsGwucZ6ZBrqG5CXl4dNGzdixfLl2LxpM86ePYtGk3e/E6J/b05FSJEsODGZQ4C+whyuzJUEjCRAgWwkTeblaQIMes43/wsjjoYUhYuXHoa4cc6sKRXBhIRQra+v10aqqyortWdRtpmj1oF1yNpbjq1fFuoyEbzEg8lYAvQVxvJkbiRgBgEKZDOoMk9PEmDQc7bZX0wILY6XrsjT5v4afSOes6lAG63evrNIVySLaSiCHZNxBOgrjGPJnEjALAIUyGaRZb6eI8Cg51yTvzQqT1cATpq8HqvXFqCq2rjl2yIhIQR5U1OTNmotnu0Q6KLM7TuKdRkJkSwYMhlDgL7CGI7MhQTMJECBbCZd5u0pAgx6zjT38GR9cfzhxxtw7NgJ1NXVWzatIZBSQ0MDjuTmYu2aNfh80SKsX7sOBQUFlk3xCKyLEMlbvwwtkgVLptgJ0FfEzpA5kIDZBCiQzSbM/D1DgEHPeaZOGH1Md1R0yvRtyM8/qYlju2peUVGhrXv88EMP4Te/+jUefbg3Vq1ciZqaGluq1NIiRHIplizP1+UmmDLFRoC+IjZ+vJoErCBAgWwFZZbhCQIMes4y86iX9cXx1NQdOHv2jHaDnJ21Li4uRlJiIjp36IDvffe7uL1zF2Skp5u2DnK4ba2trcXipSd0RbJgyxQ9AfqK6NnxShKwigAFslWkWY7rCTDoOcfEya8e1xV3U6YLcXzOlmkMwYSEQE4cMRId2rbVdtLr0qEj0lNTbRfIop5iFPuLZad0OQrGTNERoK+IjhuvIgErCVAgW0mbZbmaAIOeM8w7+nX9kc+Pp+7AmbNn0dBgzs54kRIQS8qNTkpGty5xuMHnwx3d4jEjI0Nb7i3SvIw+Xyw1J0aSlywv0BXJRpfplfzoK7xiabZTZQIUyCpbj3V3FAEGPfvN8fJYfXE8+ZOvxLFJ20ZH03ohkMckpyA+ritu9PlwZ3x3zMzMdIRA9rdHrNP82eKTUpEseDNFToC+InJmvIIErCZAgWw1cZbnWgIMevaa9tW39G8s+2Dydpw5c9YR0yoCKakgkEV9xUjy3AXyaSuCO1NkBOgrIuPFs0nADgIUyHZQZ5muJMCgZ59ZX39HXxy/O2ETTuTnO2ZaRSAlVQSyqHNVVZV0FFmskSz4M4VPgL4ifFY8kwTsIkCBbBd5lus6Agx69ph07Dj5z/9CuL317kYcOXIUdXV19lSulVJVEshiTvKyVZd1RbKwA1N4BOgrwuPEs0jATgIUyHbSZ9muIsCgZ7053xqvL45fe3MdcnOPaNMDrK9ZeCWqJJBFi4RIXrpCXyQLezC1ToC+onVGPIME7CZAgWy3BVi+awgw6FlvSjFKLHuMfnUV9u7LcbQ4FrSEQBarWIj1j9v4fPjx7d0ww2E36cms+vmSi1LuwhZMrROgr2idEc8gAbsJUCDbbQGW7xoCDHrWmvK9D05LRdrIpKXYuWsXKisrra1QFKUJgaxtFNK+g7YOsn+jkOrqqihys+6SluZmLPj8gpS/sAtTaAL0FaH58FMScAIBCmQnWIF1cAUBBj3rzDjhQ7k4FiOYGzZsQmlZmTYdwLoaRVdSSXEJkhIS0Klde00gd+3UGRlpaXC6QBatbWpqwpwFZ6UiWdiHSZ8AfYU+G35CAk4hQIHsFEuwHsoTYNCzxoQTJ+tvXPH+h9koLLyE5uZmayoTYykV5RVImz4djzz0MP7nl79E30ceweqVKx0/NcTf7MbGRsycI7eHsBOTnAB9hZwLj5KAkwhQIDvJGqyL0gQY9Mw336QpcjEmRo7fGrcT586f10Y2za+JMSU01DfgxIkT2LZ1G9auWYPt27bhvGJtEBuJyOaBi2PCXkzXE6CvuJ4Jj5CA0whQIDvNIqyPsgQY9Mw13UdTz+gKsZff2IITJ/IdtxFIa0TEqhBiqkJDQwMa6uu1Z1VGvwPbNnu+fD6yEMlM1xOgr7ieCY+QgNMIUCA7zSKsj7IEGPTMM93H0/XFcULKOhw4cNCxax2bR8VZOc+YfV76D4ywHdO1BOgrruXBdyTgRAIUyE60CuukJAEGPXPM9kma/EYwMTo5ZNhyfLljJyornb3qgx4ZbQS5sVEbORabmYiRZDGirGJqbm5B+ky5rYQNmb4mQF/xNQu+IgGnEqBAdqplWC/lCDDoGW+yaRlywSXE8eDnF2P16rUoKi5WYsUKGR0hiPNPnMCOL3dgw4YN2LljBy5cuKCsSBbiXthG9hC2ZLpCgL6CPYEEnE+AAtn5NmINFSHAoGe8oWRCSxx7YtACfPbZ58rd0BZMqLKiApkZGXj8sX7405/+hAGPP4F1a9cqs4pFcHvE+7QZ56QCWdiN6QoB+gr2BBJwPgEKZOfbiDVUhACDnrGGypgln9Pa5/HZSEvP1FZ/EMuMqZxKiouRlJCIzu074Jvf/Ka2o15GejqqqtScMuK3hd7Iv7ApE0BfwV5AAs4nQIHsfBuxhooQYNAzzlB6N3yJUcj3J36I7Oy9qK+rM65Am3IqLi7GqJEJ6Ni2nbZRSFzHTkhPS1NeIAucU1LlS/IJ23o90Vd4vQew/SoQoEBWwUqsoxIEGPSMMdOsufpLhj317FKsW78B5eXlxhRmcy5iq+kxySno1iUObXw+3NEtHjMzM1FdXW1zzWIvXixXpzdFRtjYy4m+wsvWZ9tVIUCBrIqlWE/HE2DQi91EodbT7TdwET5bdGXecXOLGjvltUbEL5Dj47riRp8Pd8Z3d41AFm0PtXZ1a2zc/Dl9hZuty7a5hQAFslssyXbYToBBL3YT6I049n5sPlJTM3Ds+HFtKbTYS3JGDm4XyIKy3u6HcxdedIYRbKgFfYUN0FkkCURIgAI5QmA8nQT0CDDo6ZEJ/7hMID/YZy4mvD8JWXuylV7dQUbBCwJZtPv9j05Lp1vMX+RNkUxfIfs28BgJOIsABbKz7MHaKEyAQS824y1cXCgVUa+/8RbWrluPCpfMOw6k5BWBHGo+ciAPr7ymr/CKpdlOlQlQIKtsPdbdUQQY9KI3x6IlcnH8yOOLMX/+Qm29Y6Al+gIceqVXBLLA/94H8lFkYXuvJfoKr1mc7VWRAAWyilZjnR1JgEEverPIplaIYx9PmYrDh3PR2NgQfeYOvjJQIItVLNx2k14w+ncmnJL+SrB42aXgU139nr7C1eZl41xCgALZJYZkM+wnwKAXnQ2WrrgsFU39B6/Btm3bUVlZGV3GClzlXwe5Q9t2uMHng7YOcmqqK9ZBluFvaWmR2lr8MyT6gVcSfYVXLM12qkyAAlll67HujiLAoBedOfRGjxd/sQSXLxdBiCq3puKiKxuFdGjXHt/73vdcL5CFHceOO6krkt1q5+B20VcEE+F7EnAeAQpk59mENVKUAINe5IZbuaZIKpaeHbod+Sfy0dzkjvWO9ciIDU+mfzIVD/V8EL/9zW/Qu1cvrFyxAjU1NXqXuOL46+/kS+0u+oMXEn2FF6zMNqpOgAJZdQuy/o4hwKAXuSlko8dPDNqA3bv3oK5W/a2kWyNSX1+PQwcOYsXyFVg4fz5WrVyJU6dOobGxsbVLlf/8lTdPSEXy6nXuF8n0Fcp3XzbAAwQokD1gZDbRGgIMepFxXruhWCqQli9fATE31wtJTB+pr6tDVWWVtoxdVVWVthGKm6eV+O0aauk30TfcnOgr3Gxdts0tBCiQ3WJJtsN2Agx64Ztg/Sa5OB78wg6cPHkKQjwxuZ/A6Nflo8jilwU3J/oKN1uXbXMLAQpkt1iS7bCdAINe+CaQTa0Qx7L37kNtnfunVvhJiZFiMZ1CTLWoq6vTnpuamlx9Y6K/7f7npFeOS39J2LilxH+K657pK1xnUjbIhQQokF1oVDbJHgIMeuFx37ytVCqInh+2D2Vl5eFl4pKzhDg+dfIUdu3chc2bNmHPrl0ovHgRQiR7JTU36y/9JvqKGxN9hRutyja5jQAFstssyvbYRoBBLzz0stHjgc/sREFBgeemVlRUVGBGRib6P9YPf777bgzs3x/r1q5FbW1teDBdclbC6GPSf5rcOtWCvsIlHZfNcDUBCmRXm5eNs5IAg17rtL/cWSYVQllZe7Wb01rPwV1niJsRkxNHaesf3/TtbyM+risy0zNcu1FIKOsNT86T9g3RZ9yW6CvcZlG2x40EKJDdaFW2yRYCDHqtY5eNHg96YS9KS90nglqnAW21joThI9D+1tvg8/nQuX0HpE137056oZm04MWRuVKRvHO3u/oHfUXonsBPScAJBCiQnWAF1sEVBBj0Qptxd1a5VPzknzwZ+kIXf1pSUoLRScno1iUObXw+3NEtHjMyMlBdXe3iVus3TdyoKPsnym1TLegr9PsAPyEBpxCgQHaKJVgP5Qkw6OmbMGuvXBwPHnIA1S7fNU6fCiAE8pjkFG1qxY0+H+6M746ZmZmeFciC1QsjjkpFsuhDbkn0FW6xJNvhZgIUyG62LttmKQEGPX3ceqOCYg5uS4v+dW7/hAJZbuFnhh6WiuS9ORXyCxQ7Sl+hmMFYXU8SoED2pNnZaDMIMOjJqeYcqJCKncFDDnlu1YpgQhTIwUSuvA811UL0J9UTfYXqFmT9vUCAAtkLVmYbLSHAoCfHLBs97v90jrYxhvwK7xylQNa39aAX5DfsuWE+Mn2Fvt35CQk4hQAFslMswXooT4BB73oTHsqtko4eX7xYeP3JHjxCgaxvdLHd+IBnDkr7j+hXKif6CpWtx7p7hQAFslcszXaaToBB73rEstHjJwYf0LZXvv5s7x2hQA5t85qaGjz2ZI5UJOceVVck01eEtjs/JQEnEKBAdoIVWAdXEGDQu9aMeceqpcKmsrLy2hM9/M4vkLnMm14naEFhYaG0H6k81YK+Qs/ePE4CziFAgewcW7AmihNg0PvagMdPyMXxY08e+PokvtI2Chk1MgEd27bTNgqJ69gJGWlpntxJT687NDQ0oO/A/VKRLPqZiom+QkWrsc5eI0CB7DWLs72mEWDQ+xqtbGqFOFZfX//1SXylCeTEESPR4ba2+NY3v4kuHToiPdWrO+npd4jKyio83G+vVCTnn6zRv9Chn9BXONQwrBYJBBCgQA6AwZckEAsBBr0r9E6drpEKmT4DDsaC15XXlpeX46NJH+LPd/8R//qzn+HeP/8FS79YAjH3lulaAqcLCqT9SsWpFvQV19qW70jAiQQokJ1oFdZJSQIMelfMJhs97tVvv5I2NbvSYkR9f06OJopnz5yFZUuX4mR+Pm9ilICvq6/HQ4/tk4rkgjO1kiuce4i+wrm2Yc1IwE+AAtlPgs8kECMBBj3g7LlaqYCpruaIaIzdi5fjytbcD/TOkvYx0fdUSfQVqliK9fQyAQpkL1ufbTeUgNeD3vkLdVLh0vPRHEM5MzPvEmhpacaxY8ek/UylqRZe9xXe7cFsuUoEKJBVshbr6mgCXg96sqkV4lhjY6Oj7WZn5VpaWtDU1ASxUoOYbiGexQYZ4jiTnICYn63X1+RXOO+o132F8yzCGpHA9QQokK9nwiMkEBUBLwe9S5frpaLlvoc5ehyqM4l/Hk6fOo2sPVnYsnkzsrOycKmwUBPNoa7z+meiX8lEsuiHKiQv+woV7MM6koAgQIHMfkACBhHwctCTiRVxTIyOMukTqKyoxKczZ2HQwCfR4/778fSgQdiwbj1qa9WZT6vfOvM+aW5ukgpk0edUSF72FSrYh3UkAUGAApn9gAQMIuDVoFda2iAVK395cJ9BZN2bTXFxMUYlJKBj+w646aabENepE9JTuVFIOBb/S0/5ihaiPzo9edVXON0urB8JBBKgQA6kwdckEAMBrwY92ejxnx7YGwNJ71wqBPKIl4bh1h/drO2k1/6225A6bRp30gujC4i52rK+p8Iosld9RRhm5Skk4BgCFMiOMQUrojoBLwa9yspGqUhp4o15YXXnkpISjElOQXxcV9zo8+HO+O6YmZmJ6mo1t1AOq9EGnnT3/fLd9US/dHLyoq9wsj1YNxKQEaBAllHhMRKIgoDXgl51tXwe6O/vzY6CnjcvoUCO3e4qjiJ7zVfEbmXmQALWE6BAtp45S3QpAa8FPT1hwiXKwu/gFMjhs9I787d/lW8cUlvbrHeJ7ce95itsB84KkEAUBCiQo4DGS0hARsBLQa++Xj7/89d/zpKh4TEdAhTIOmAiPCz6newftgizsex0L/kKy6CyIBIwmAAFssFAmZ13CXgp6H2SehbBD3HTFFNkBMSmF2tXr8G4d95BYkICxo97D3uzs7VNQyLLiWcH90f/eyeS8ZKvcCJ/1okEwiFAgRwOJZ5DAmEQ8ErQ+8Uf9khH6zi1IoxOEnQKR5CDgMTwtqlJ/qtGDFmadqlXfIVpAJkxCVhAgALZAsgswhsEvBL0ZD9lNzRy9DiaXi4EcsqoJNzeuQtu8Pnw49u7ITMjA9VVVdFk5+lrxD9osr75y7udt3mIV3yFpzskG688AQpk5U3IBjiFgBeCnhAbMhHC0ePoeqFYB3n4i0Pxo7/7e20d5Nt+dDOmT53KdZCjw4mmJjVEshd8RZQm5GUk4BgCFMiOMQUrojoBtwe9//mjXBw3Nraobjrb6l9WVoaJ4yfgd7/6NbrHx+Pu3/0eixct4jrIMVhE9g+cOOak5HZf4STWrAsJREuAAjlacryOBIIIuD3oqSA8gkzi+Lf19fU4fuw4tm7ZglWrVmHb1m04d+4cGrnRStS2E9N9ZH31V390zgorbvcVURuPF5KAgwhQIDvIGKyK2gTcHPR+9Sf5MloNDZx7HEuvFVNTxEOsAOJ/+I/Fkq/Xr5UJZCeNIrvZV3i977H97iFAgeweW7IlNhNwc9CTCQ6xFjITCTiRgNPX6Xazr3Bif2CdSCAaAhTI0VDjNSQgIeDWoPcbxTZhkJiGhzxIQPZPnVNGkd3qKzzYzdhkFxOgQHaxcdk0awm4Mej95i/yqRW1tU3WwnVpaU1NTbhUWIjjx47h0KFDOH78OMpKS9HCTVditnhdnXwusujTdic3+gq7mbJ8EjCaAAWy0USZn2cJuDHo6Y3CcVk3Y7p5RUUFMtPT0e/Rvvjdb36D/v0ex7o1a1BXW2tMAR7PpVZHJNt9E6QbfYXHuxqb70ICFMguNCqbZA8BtwW93/41W7oaAEePjetfYh3kES8Nwy3/54do06YN2t1yK1KnTeM6yMYhlvbh3/7V3lFkt/kKA83FrEjAMQQokB1jClZEdQJuC3p6o8eq28lJ9RcCOTlxFLp06KhtFNKtSxwy0tMpkA00Uk1Nk1QkN9TXG1hKZFm5zVdE1nqeTQJqEKBAVsNOrKUCBNwU9H5/j3z0uLqGc4+N7Ipiq+nRSckQwriNz4c7usVjBreaNhKxlpfsn73f3ZNteDnhZugmXxFum3keCahGgAJZNYuxvo4l4KagJxMUVVWNjmWvasWEQB6TnIL4uK640efDnfHdMTMzkzvpGWzQ6mr5KPLv77VHJLvJVxhsKmZHAo4hQIHsGFOwIqoTcEvQ+8O98tFj3phnfA+lQDaeqV6Osn/6xDE7klt8hR3sWCYJWEWAAtkq0izH9QTcEPTuvk8ujiurOLXCjA5MgWwGVXmeog/LRLLo81YnN/gKq5mxPBKwmgAFstXEWZ5rCbgh6MkEhF2jbK7tKAENo0AOgGHBS73+bfWyb27wFRaYi0WQgK0EKJBtxc/C3URA9aD3x/v3SkfYKio499isfkqBbBZZeb4VlY3SPi76vpVJdV9hJSuWRQJ2EaBAtos8y3UdAdWDnmx0rbi4Fmhxnakc0yAKZOtNIevn4lhDQ4NllVHdV1gGigWRgI0EKJBthM+i3UVA5aD3pwfko8e8Mc/cPirWQU4cMQLtbr1NWwe5U/v2SJueynWQTcReXiEfRRbfAauSyr7CKkYshwTsJkCBbLcFWL5rCKgc9GSjaqVl1o2ouaYTRNiQ4qJijBw+HLfefAva3HAD2t92G1KnTadAjpBjpKeXlctFcr1Fm4eo7CsiZc3zSUBVAhTIqlqO9XYcAVWD3p97cvTYrs5UXl6OqVOmoMf9D+CX//3f6NWzJ1YsX46amhq7quSZcmX/FP65hzWjyKr6Cs90DjaUBABQILMbkIBBBFQMen/puU9601JpmX3b8BpkDiWyEfNejxw5gvXr1mPJF19g4/oNOHvmDKxeVUEJWAZXUvxCIhPJdXV1Bpd0fXYq+orrW8EjJOBuAhTI7rYvW2chARWDnkwgiGO8M8+ajiPmeDc1NWk3iImf94Vgbm5qAud+W8Nf1v//0lOMIpt7Z6qKvsIai7AUEnAOAQpk59iCNVGcgGpB768PykePS0o591jxrsjqh0lA9HWZSBbfDTOTar7CTBbMmwScSoAC2amWYb2UI6Ba0JMJg04SQTMAACAASURBVPMXKpXjzgqTQCwEZN8DcczMZd9U8xWx8OW1JKAqAQpkVS3HejuOgEpB795e8tHj5uZmx3F1c4Ua6huQl5eHzZs2YcWy5diyeTPOnT2rTbtwc7ud1LbiYvko8j0PmTeKrJKvcJKtWBcSsJIABbKVtFmWqwmoEvT0xPGFizWc+2pxD60or8C0qdPwYI8e+MXP/xu9H+yFlStWoLa21uKaeLs4vVHkxsYmU8Co4itMaTwzJQFFCFAgK2IoVtP5BFQJenpigDeGWd/HxEYhoxIS0bFdO3zrW99C146dkZGWxnWQLTbF5aJ66Vxk8c+kGUkVX2FG25knCahCgAJZFUuxno4noELQu+/hHKkQuFjIEUs7OtiVnfRGov1XO+l1bt8BadO5UYgdttATyWKVEaOTCr7C6DYzPxJQjQAFsmoWY30dS0CFoCcbPT6RX8ypFTb1KiGQxySnoFuXOLTx+XBHt3jMyMjgCLJN9pB9P+7vnWP490MFX2GTCVgsCTiGAAWyY0zBiqhOwOlB74FH5KPHTSbNs1TdnlbUv6SkRBPI8XFdcaPPhzvju2NmZiaqq6utKJ5lBBEovCSfamG0PZzuK4Kw8C0JeJIABbInzc5Gm0HA6UFPNjqWf7LU8NExM9i6NU8KZOdZVvY9ub/3PkO/J073Fc6zCmtEAtYToEC2njlLdCkBJwe9Hn10Ro+buKybnd2RAtlO+vKyLxbKR5HFd8io5GRfYVQbmQ8JqE6AAll1C7L+jiHg1KDXs89+6Y15BQUVaDF3R13H2MapFaFAdqZlZKPI4phR64Q71Vc40xqsFQnYQ4AC2R7uLNWFBJwa9PSCPZd1s78TUiDbbwNZDS5crJP+U9nz0f2y0yM+5lRfEXFDeAEJuJgABbKLjcumWUvAiUHvwb7y0ePTBdxS2treIS+NAlnOxQlHzfzH0om+wgnMWQcScBIBCmQnWYN1UZqAE4OeLMjvzSkw9IYjpY1mc+UpkG02QIjiz1+QjyKLfzpjTU70FbG2ideTgNsIUCC7zaJsj20EnBb0HnpMPnpcW8dNQWzrJEEFi3WQE4aPQLubb4HP50Ondu2ROo0bhQRhsu3tufNykdzQ0BBTnZzmK2JqDC8mAZcSoEB2qWHZLOsJOC3oyUaPD+cWcvTY+q6hW6K21fTIRHRu1x7f/MY30LVzF6SncqtpXWA2fCD7Hol/PmOZw+80X2EDVhZJAo4nQIHseBOxgqoQcFLQ69XvgPQmo/r6elVweqKeFRUVSJuehkd7P4Lf/M+v8NijfbF65SrU1nKU3ykd4Oy5Wul3qaamJuoqOslXRN0IXkgCLidAgexyA7N51hFwStB7+HG5OD5ytCimUS/rSHqnJPFT/enTp5GVlYVtW7dhb1Y2LhUWoqmpySUQNmJU167oGvVjFDY6gIRsFLnXY9Gvi+wUX+EAtKwCCTiWAAWyY03DiqlGwClBTxbMxTH3iC7VeoZ+fcXP9MIuQiiL0X3x3NzUpP4/MqfS0fP223H77bfhf/t82vxqMcc64seD81Clj8+yTwrOykeRox3pd4qvsAwgCyIBBQlQICtoNFbZmQScEPR6P6EzepxXor7ocqbZWasgAhuTuqFbpx/iO9EI4qBres5zgjy+0kDZP54PPx7dihZO8BVBZuNbEiCBIAIUyEFA+JYEoiXghKAnC+Lbvzxu2A5g0bLhdXICYgS5sbFRGz0Wo5FiFDmckX5xXSw3iclrE/vRTcnxaPv94JHiu5CwKhe5uf7HKiTc9dU5PT8JOO7//OvnCzYu1x3M9/QZ+SjyI08ciBicE3xFxJXmBSTgMQIUyB4zOJtrHgG7g16f/vLR46oq54zCmUdfzZyFID506BBWrliBhfMXYNXKVdqcZCGapamlBSXFxTh/7hzEDX5OSkIct7tGHP8UCSuF2D2F4mvuDa1HcWbPK9Mtvt8O8Q9l4JSTGgJo/3xcvnwZZ8+eRWXl1ypd9g+oOKZrL5122e0rdKrFwyRAAgEEKJADYPAlCcRCwM6g12fAQemd9rv3FHD0OBajmnxtRXkFpkz+GPfdey9+8d+/QI/77seypUtRXV19XcmnTp3C0i+WYPy4ccjMyMCxvLzrzrHtwKYUtP9B4MhxD3x8+GSQMA6oXeUOJPz0q/Nv+hG6pGwK+ND+l0Lwbt68GePHj8cnU6Zg27ZtKC0txanTNdLv2SP9IxtFttNX2E+XNSABNQhQIKthJ9ZSAQJ2Bj29kS2Z0FIApWeqWFxUjJEvDcOtN9+Cb3/72+hwW1vMyMy8+k9NRXm5JoTXrF6D8ePew9ODBmHAE/3x8Ucf4cTx4w7hdAqZf/nBNTfg9fj4PL4ed5VVsx6LHg0Q1D/4CzIdNIwsBPLGjRsxKjERA/r3R8KIEZiZOQO7d++WCuQro8jhbx5ip6+QWYPHSIAEridAgXw9Ex4hgagI2BX0Hh0oHz3O3nceLS3NUbWFF1lDQGwUkpSQiM7tO2gCs1uXOMz+9FOINXYLCwu1qRdvvv4Gnuw/AE8OGIg3x47F8qXLcOrkSW2+sjW1bKWUzQm4+aYAsdtjMs6FMftj+cCAa3w34Zm1rZRj4cdi/nF5eTn27d2LWTNnIjkxEYMGPolhQ1/Ca69NkYrkRweEP4psl6+wECGLIgHlCVAgK29CNsApBOwKenqjx/UxbofrFK5urkdJSQlGJ6cgvktXfPsb38A/xHfHW2PfwJIvvsBHH32EoS++iKEvDMH4997DqlWrkJeXh8qKyrBu5LOK2+ahf3vN6PEDc8JQxwCuFcg+/PKj01ZVOaxyhEgWc8QvXbqEAzk5mD9vHl59+RW89OKLePLJZKlIbmwMb/1qu3xFWA3nSSRAAhoBCmR2BBIwiIAdQe+xJ+Wjxzn7uaW0QWY1NRu/QO7WpSt+8L2/QbfOXfCH3/0WD/bogd4PP4wXhwzBlMmTsXHjBhw9ehRiHvLJ/HwcP35cm3oh5iGb8Qi/0afx0S8DR4IfQHj6eDOG/m3gdT48uqgu7GLNaPN1eR47hhMnTiA/Px+nT59CTk4OFn/+Od55+208OWCAVCD3HXgwrDbY4SvCqhhPIgESuEqAAvkqCr4ggdgI2BH0ZKPHq9cedNQIY2xU3X11oED+4d/+HTq2bYdbfvhD7flPd/8Rr7/6KqZPm6Y9PvrwQ3zw/kS8P34CJrw33tRH+NTX4tnvBgjdn7yJsCTi5pfwt9esefwAZoc38KxVzez2X81//HiN96SJE7WbKdNTU7X532Jk/9///R6pSK6ra13o2+ErwrcpzyQBEhAEKJDZD0jAIAJWB71+Tx2SBujCwksGtYjZmE3gqkCO6wohkMVNejf//f9Bp3bt8Yff/Q7DX3oJb7z+uiaUU5KSkTgyAQnDR2CkyY/w270cAwOF7n9MwLEwLt7y0t9dMy3jJ8O3ozyM6/ynmN3+wPwTRozU5om/PHoM3nzjDbz68st4auCT+Nd/+Zn0+9f3yQNo8VdU59lqX6FTDR4mARIIQYACOQQcfkQCkRCwMug9PkgujtdvPIqGBp01dCNpDM+1hMBVgdwlDj/4m/+FuI6d8PP/+n/44x/+gF4PPoiEkSO1Jd22bd2K7OxsZGdlIWtPFvbs2YM9u3eb9gi/8Qfx5k8CRpDDEcinZ+Kevwu4xnc/0i61PuoaWCcz2x6Yd9aePcjKykJ2Vjb2Zmdj3dq1mPj++xg4YAD+8NvfoddDQ6Qiud+gQ4HVve61lb7iusJ5gARIICwCFMhhYeJJJNA6ASuDnmxqhThWWlrmyB3WWqfnzTMCBfJ3vvENdL+9G1KSk7WVEya89x6GDxuG5FFJmDZ1KrZt2w5xvrhxzOxH+NaoQ9aYn3w9GvzdP2B6yHvttuCV7rfhu1dHnX+CYV8URDR6LOpmdvuD8xdzkVetXIkPJ03CqFGjMHLECAj7iBVF9L6Lzc36K8hY6SvCtyXPJAESCCRAgRxIg69JIAYCVgW9JwbLR483bz0R8Y5eMTSXlxpAQAjeMWIVi7iuaOPz4c7uP8ans2ahqKgIBw8cQHpaGhJHjMSggU9h+EvDMfWTqdiwfr12s55YCs4Jqe7SWrx0dRT5u2ibtEWnWlvwyk+74O+viuP78EH2UUQ4eKyTt/GHhW0OHDiAz7+6Me/F55/H0CFDMG7cOCxevBj5J05A7FKZd7xaKpIfH6w/imyVrzCeCnMkAe8QoED2jq3ZUpMJWBX0ZCNWcxZsQ2VVFUePTbax0dmLdZBHjUzQbsrz+XyI69QZM2fMQG1trTZKKj4/fOgQ5s+bj+TEUXiiXz88+8wzmDFjBk4XFBhdnSjzq0Ph0Ym4zy98/z4Od/WdhcCB5K2v3oW77oq7Ko7/6aXPkZV1GmVRlmj2ZWL0d+fOndr87/5PPIFnBw/GhPHjtX9Ozpw5o62RHLi9tOw7KY6JpeJkySpfISubx0iABMIjQIEcHieeRQKtErAi6PV/Wj56fPz4iau7r7VaUZ7gGAJCAIsR4va33qZNUxAbhqSnpqHmq62mhcASQkyMKOfs24cF8+fh7bfexLRp05Cbm+uYdgBlOC3mR0+878p0i++1wx13CVF85RH392LO8T9h6OdZ2pzeI4W1Dqr79VURzMV8Y7Exi1jBQrwWS+uJEWMhnoOF79Fj8lFk8X2VJSt8haxcHiMBEgifAAVy+Kx4JgmEJGBF0JONVM1fuEML3CErxw8dSaCqshLz5szB888+h969H8GQ55/H5k2bELxUmBBlYl5sRUUFDh06iH379mk77TmuUWWnrtxAKG4ivO6Ri4vO1sVXcTY1NWmCWGwtLdaeFv+wCNEcLIyvXgDgSF6VdKpF4Dn+11b4Cn9ZfCYBEoiOAAVydNx4FQlcR8DsoDfg2cPSAFxQUMDR4+usocYBIbounD+Pw4cOY9/efcg9fBglxcUh17EWQlkIaHEtkzkEhBAWnMVUl0g4y/6BFd/b4GS2rwguj+9JgAQiJ0CBHDkzXkECUgJmBr2BOuL4i6V7UVunyLCclJq3DwohJkYrGxsa0dDQgMaGBulP+N6mpE7rc4/KR5GFbQOTmb4isBy+JgESiJ4ABXL07HglCVxDwMygJxuZEscuXLgQ8mffayrINyRAAqYTkH1XBzxz7VxkM32F6Q1kASTgEQIUyB4xNJtpPgGzgt6Tz8mnVixbeUj7Gdj8lrEEEiCBcAkcPiIfRRbfY38yy1f48+czCZBA7AQokGNnyBxIQCNgVtCTjUh9Mn01LhcVc/RY8b4n5rmK9Y6XL1+O+XPnYuXy5dpNYZHMe1UcgSurL/vOimP+ZJav8OfPZxIggdgJUCDHzpA5kIBGwIygN+iFXOmNefty9kd08xBN5EwCZWVlmDjhffz2V79G927dcPdvf6dtTOGUTUCcSc35tTp0uFL6vRXfZ5HM8BXOp8IakoBaBCiQ1bIXa+tgAkYHPT1xnD5jk7ZRQaglpxyMiVULICB2axuVkIiObdujzQ03IK5jJ20d5Oqv1kEOOJUvFSNwUEcki2YY7SsUQ8PqkoASBCiQlTATK6kCAaODnt7PtIdzj3BZNxU6RBh1FAI5KXEUunTopG2w0a1LHDLT00GBHAY8BU6RfYcHD8mlQFbAdqwiCVAgsw+QgEEEjBTIIojKguvM2V9C/CzP5A4CQiCPTkqGEMZtfD7c0S0eMzIyKJDdYV4cOCSfamGkr3AJKjaDBBxHgALZcSZhhVQlYGTQk4njt8ctxIn8/JCbSKjKzqv1FgJ5THIK4uO64kafD3fGd8fMzEwKZBd1CNl32Uhf4SJUbAoJOIoABbKjzMHKqEzAqKD3zFD56PH6DZtQWVmpMiLWPYgABXIQEBe+zTlw/SiyUb7ChbjYJBJwDAEKZMeYghVRnYBRQU824jTh/SU4ffoM5x6r3kmC6k+BHATEpW+Dv9NG+QqX4mKzSMARBCiQHWEGVsINBIwIes++dEQ693j79h2ora1zAya2IYAABXIADBe/3Le/4prvtRG+wsW42DQScAQBCmRHmIGVcAOBWIPeczrieNLklbhw4SI3BXFDJwlqAwVyEBAXv90bIJJj9RUuxsSmkYBjCFAgO8YUrIjqBGINesE/w/rf796ThYaGBtXxsP4SAkIgi1Usbu/cRVvF4se3d+MqFhJObjnk/07H6ivcwoPtIAEnE6BAdrJ1WDelCMQS9J4fLp9aMWXaBlwuKuLosVI9IfzKFhcXY+Sw4bj1Rz/S1kFuf+ttSJ02DVVVVeFnwjOVIZC978pUi1h8hTKNZUVJQHECFMiKG5DVdw6BWIKef2Qp8HnMa3Nw8NBhNDY1OaeRrImhBLQpFimj0f32bvjbH/wA/9D9x5g5YwYFsqGUnZWZ+I7H4iuc1RrWhgTcS4AC2b22ZcssJhBt0HthxNFrbuDxi+Rly1eitLTU4lawOCsJiJHiBfPmY+iQF9G3Tx8MH/oStmzZgtraWiurwbIsJJC1t1wqkIUfYCIBEnAOAQpk59iCNVGcQLQC2S+IA5/Hvv0Z8vKOcVMQxftEa9VvbGzEhfMXcPjQYezNzkbu4cMQ0y6a+KtBa+iU/lzmK8T3n4kESMA5BCiQnWML1kRxArKg11qThoyUjx6vWbMOlZWch9oaP9U/b2lp0cSwEMriRkzx3NzczDnnqhu2lfrLfIUQyMIfMJEACTiDAAWyM+zAWriAgCzohWrWiwlycfzOuMU4efIUNwUJBY+fkYDCBGS+wv8LksLNYtVJwFUEKJBdZU42xk4CsqAXqj7+gBj8vHnLVtTVcVOQUOzc8pkYLa6pqUFZaSmKiopQVlaq2V6MLDO5l4DMV/j9wNAEjiK71/JsmUoEKJBVshbr6mgCsqCnV+GhiXnSG/Pee385Cs6c4U/seuBcdlzcjLdjxw7MyMzEpA8maStY5ObmalMtXNZUNieAgMxX+AWyeAb4D1IALr4kAVsIUCDbgp2FupGALOjptTMwGPpfJyRlYufu3ajhCgZ62Fx3vKysDO+Pn4Df/OrX+OlPfoo//Oa3WLRokTaq7LrGskFXCch8hd8PiOeXEjmKfBUWX5CATQQokG0Cz2LdR0AW9GStHDZKPno8b/4CFF66xNFjGTSXHisuurJRSNtbbsW3vvktdGzbDqnTp3MdZJfa298sma8IFMjitfATTCRAAvYRoEC2jz1LdhkBWdALbuKwJLk4Hv3KXOzL2Y+6+vrgS/jexQTEkm5JCYno3KEjbvD5tC2nM9LSKJBdbHPRNJmvCBbI4j0TCZCAfQQokO1jz5JdRkAW9IKbKAuC4tjSZctRUlrK0eNgYC5/r+2kl5yC+LiuaOPz4c747piZmYnq6mqXt9zbzZP5CplvGJ7EUWRv9xS23k4CFMh20mfZriIgC3qBDRyeLB89fm2s2BQkj5tDBMLyyOtAgXwjBbJHrC4fQd62o0R6465noLChJOAwAhTIDjMIq6MugdYEsmyESBy7silIpboNZ82jJkCBHDU6pS+U+QqxtJ/MR4xIPqZ0W1l5ElCVAAWyqpZjvR1HQBb0/JUcmXJMGvzGvr0EJ/LzuSmIH5THnimQPWbwr5qr5yu27SiV+gnhP5hIgASsJUCBbC1vluZiAnpBTzRZNjL00ohMbN26jUt6ubhPtNY0CuTWCLnz80h9hfAfTCRAAtYSoEC2ljdLczEBvaCXMFo+ejxz1mycO3eeN+a5uE+01jQK5NYIufNzPV8hWrtlu3wusvAjTCRAAtYRoEC2jjVLcjkBWdBLHCMXxwlJn2LPnizU1nJLaZd3i5DNo0AOice1H8p8hb+xYi7yxi2Xpb86+c/hMwmQgPkEKJDNZ8wSPEJAFvRkUyvEsYWfLcLly9wUxCNdQ7eZQiCnJCYhrmMn+Hw+bbm3zPR0LvOmS8wdH8h8RWDLmpubpQJZ/MPNRAIkYA0BCmRrOLMUDxCQBT2ZQE4eMx/79x9AQ0ODB6iwiaEIiI1CEkeMRPtbb9MEcuf2HZCWmsqNQkJBc8FnMl8R3KxNW4ulInnUy8eDT+V7EiABEwhQIJsAlVl6k4As6AUL5Gee/wTLlq9AWVkZ5x57s5tc02oxgvzKmDH4h+534Pv/63/jp//4T/h01ixUcaOQazi57Y3MVwS3UW/ZN+FTmEiABMwnQIFsPmOW4BECsqAXLJA/njIFeceOcVk3j/SJ1popdsxbumQJxowejWcHP41XX3kFO3fu5JbjrYFT/HOZr5A1aeNm+Shy0iscRZbx4jESMJIABbKRNJmXpwnIgl6gQB4yLAMbNm5EZSU3BfF0RwlofFNTE8Q0i9OnT+P48eMoKChARUUF/4EKYOTGlzJfIWunGEVeufq8dKqF7HweIwESMI4ABbJxLJmTxwnIgl6gQM6cMUsTQOIGHCYSIAHvEpD5Cj0a4l6FQD/if538KkeR9ZjxOAkYQYAC2QiKzIMEAMiCnj+YjUicjV27dqO2tpasSIAEPE5A5iv0kIhR5DXrL0lFcsprFMl63HicBGIlQIEcK0FeTwJfEZAFPb9Anjd/IS5d4rJu7CzXEhC/JlSUV6CwsBDnzp7VnsW8ZCGKmNxLQOYrQrVWTMXx+5Lg51DX8TMSIIHoCVAgR8+OV5LANQRkQU8Es1GjF2Bfzn4u63YNLb4RBMQvClu3bMW0qVMx4b33kDp9Og4dPMS+4vLuIfMVrTV57YYiqUge/fqJ1i7l5yRAAlEQoECOAhovIQEZAVnQe/q56VeWdSvnsm4yZl4/VlZahnffeQf/77/+C3f8+Mf45c9/joXzF3CjEJd3DJmvaK3J4leFxUtPS0Vya9fycxIggcgJUCBHzoxXkMB1BF5+44R0DvLkjz/B0bw8rkpwHTEeEATEChYjhw/HbbfcijZt2qBj27ZInTadG4W4vHtEI5AFEvGLQ/AUC/Fe+B8mEiABYwlQIBvLk7l5kMDLY09oQUsW9NZv2IgKLuvmwV4RXpOFQE5OHIUuHTvhBm2r6TiIraarqqrCy4BnKUlA5ivCaYgYRV664pxcJI+lSA6HIc8hgXAJUCCHS4rnkYAOAf+IjizonTlzhqPHOtx4GBA76Y1JTkF8XFfc6PPhzvjumJmZySkWLu8cMl8RbpPr6+ulAln4ISYSIAHjCFAgG8eSOXmQwCtv5l8NVrKgV1dX50EqbHK4BCiQwyXlrvNkviLcFopR5JVrCq/6Hf8/6OJZ+CMmEiABYwhQIBvDkbl4lEBgcJIFPS7X5dGOEWazKZDDBOWy02S+IpImiuUBFy4+KRXJkeTDc0mABPQJUCDrs+EnJBCSwGtvfT16LIRyrEEvZGH80JUEKJBdadZWG2WEr6ipqZEKZOGXmEiABGInQIEcO0Pm4EECr719rTimQPZgJzCgyRTIBkBUMAsjBLL4dWrRF2fkIvltimQFuwWr7DACFMgOMwirowaBwKkV/tdGBD01Ws9aGkWAAtkokmrlY5Sv4A17atmdtVWLAAWyWvZibR1A4I13rh895giyAwyjYBX8Arlblzhtmbc7usVzFQsF7RhplY0SyKLcxUvly74JP8VEAiQQPQEK5OjZ8UqPEvCPGAc/Gxn0PIrWc80uKirCyJeG49Yf/gg+nw/tb70NqdOmcR1kl/cEI31FY2Mj5i6Q/9P+xrsnXU6SzSMB8whQIJvHljm7kMDYd+V3jo9MWsSb9Fxob7ObJEaQ33jlNdz1j/+Edu3a4Wd3/TNmfzqb6yCbDd7m/I0UyKIp1dXV0rnI4p94JhIggegIUCBHx41XeZRA8KixeD/4uUwsW76cAtmjfSKWZouVCNatWYvx48Zh9OjRmDB+PLKzsyHmljK5l4DRAlncsDf/s9NSkTx2HEeR3duT2DIzCVAgm0mXebuKwJvvyUePP5k6HceOH6dAdpW1rWmMWM9WjCIXFBTgxIkT2nNFRQV3X7QGv22lGC2QRUNqa2ulApmjyLaZmQUrToACWXEDsvrWEHhLRxw/P3QONm3arP3EaUbQs6Z1LMVOAkIki0dTUxOaxOuWFjurw7ItIGCGr9CWfVtyXiqShf9iIgESiIwABXJkvHi2RwnIplaIY59+Ohdnz5yFCE5mBD2P4mazScDVBMzyFeKGvZmzj8lF8niKZFd3KjbOcAIUyIYjZYZuI/D2+FPSgDMs4TNkZe29Ol/UrKDnNp5sz9cExMixuMFKTLO4fOmS9ix+Khf/cDG5l4CZvqKsrEzqrzjVwr39iS0zhwAFsjlcmauLCMhGjwc9OwNLli6DWKbLn8wMev4y+OwuAuImvU0bNmDSxA/w6ssvY/KkD7E/JwcNDbxJz12WvrY1ZvoKMVVn3mcFUpH8zoRT11aE70iABHQJUCDrouEHJAC887589HjKJ+LGvGMQP2n6k5lBz18Gn91FoLSkFG+9MRb/+i//F+3atsV//uu/Yd6cOVzmzV1mvq41ZvsKsQrKtLRDUpF8XWV4gARIQEqAAlmKhQdJAHhXRxw/N3QuNm3aiurqqmswmR30rimMb1xBoKS4GIkjRqL9rW21jUK6tO+A9NRUbhTiCuvqN8IKX3H58mWpQBZ+jYkESKB1AhTIrTPiGR4lIJtaceXGvDk4f/78dUtxWRH0PGoK1zZbCOTkUUmI69hJ22o6Pq4rMtPTKZBda/ErDbPCV4hft9Jn5UlF8riJFMku72JsngEEKJANgMgs3EdABBCZQH4p4XNkZWWjoaHhukZbEfSuK5QHlCYgbs4bk5yCbl3i0Mbnwx3d4jEzM5NTLJS2auuVt8pXlJdXSP2Y8G1MJEACoQlQIIfmw089SkAmjsWxZctWoKioWErFqqAnLZwHlSTgF8hi5PhGnw93xnenQFbSkpFV2ipfIVZJmTVHvsHRex+cjqzSPJsEPEaAAtljBmdzWyfw3iT5lq0pr6zRdjsTd4nLklVBT1Y2j6lJgAJZTbvFWmsrfUVNdQ2mpuVKR5KFr2MiARKQE6BAGwRRuQAAIABJREFUlnPhUY8SGK8jjl8YthDbtn8Z8qdvK4OeR83jumZTILvOpGE1yEpfIUaRi4tLpAKZUy3CMhdP8igBCmSPGp7NlhPQm1oxb94CXCwsDLmBg5VBT157HlWNAAWyahYzpr5W+wrxq1fGzBNSkTzhQ44iG2NV5uI2AhTIbrMo2xM1AREoZAJ5+Kil2L//gPTGvMDCrA56gWXztZoEKJDVtFustbbDV1RVVWPSxzlSH0eRHKtFeb0bCVAgu9GqbFNUBGTieNCzc7By9RqIu8FbS3YEvdbqxM+dTaBYLPOWOAqd23fQlnm7vXMXZKSlcZk3Z5st5trZ4SvE9uXnzp2TCmROtYjZpMzAhQQokF1oVDYpcgITJ8u3Zk3PmIH8k6euW/NYVoIdQU9WDx5Th4AQyFc2CrkNN9xwAzq174A0bhSijgGjrKldvkLssDc17ahUJAsfyEQCJPA1AQrkr1nwlUcJ6InjF4cvxq5du1FTUxsWGbuCXliV40mOJFBaWop33nob//Fv/47OHTvi//3Hf2L+vHkhbwZ1ZENYqYgI2OkrSkpL8d7ELKlIjqgRPJkEXE6AAtnlBmbzWicgm1ohji1ZsgxFl4tC3pgXmLudQS+wHnytDoHa2lpsWLceEye8j5dHj8YHEydi3759ECN9TO4lYKevaGxqwqlT8vstPviYo8ju7XVsWaQEKJAjJcbzXUVABASZQE4cvRrHjp1AU6N8zWMZBDuDnqw+POZ8AmIJLjGKfO7sWZw6dUqbI1pZWRnWlB7nt4411CNgt6+oq6vD5KmHpb6PIlnPajzuNQIUyF6zONt7lcCkKXJx/MyQhdi4eTPEXd+RJLuDXiR15bkkQAL2EXCCrxDz32WDA+IYEwmQAECBzF7gWQJ6wWHOnPk4f+FCxKN4Tgh6njUmG04CChFwgq8QayNPSz8mFckffsKpFgp1J1bVJAIUyCaBZbbOJvDhJ2ekgWF44grs33+w1TWPZa1zQtCT1YvHnEtAiJTLly5rW5jnHs5F/ol8lJWVRfzPmXNbyJrJCDjFV1RUVOD9D/dLfaHwkUwk4GUCFMhetr6H2y4bPR707HysW7ceImhEk5wS9KKpO6+xh0B1dTVWrliJsW+8gRHDR+CtN9/Ent17eJOePeawrFSn+AoxB/78+QtSgcypFpZ1BxbkUAIUyA41DKtlHoHJU+WjxzNnfoqCgoKwV60IrqFTgl5wvfjeuQRKS0ox9vXX8bO7/hkdOnTAv/3s/2Lu7Dlc5s25JjOkZk7yFfUNDZgyPU8qkoWvZCIBrxKgQPaq5T3a7snT5OJYjJZk790HsexWtMlJQS/aNvA6awkUFxVj5PDhaHvzLfD5fOjYth1Sp03nTnrWmsHy0pzmK8rLyzHu/b1SkWw5HBZIAg4hQIHsEEOwGtYQkE2t8B8rKS2LevRY1N5pQc8aoiwlFgJiJYGUUUmI69hJ22o6Pq4rMtMzOIIcC1QFrnWarxBTLc6ePSsVyB9P5yiyAl2KVTSBAAWyCVCZpXMJ+MVw8HNq5ik0NTfHVHGnBb2YGsOLLSFQUlKCMckpEML4Rp8Pd8Z3x8zMTApkS+jbV4gTfUVDQwMmT5VvQz2FItm+zsKSbSNAgWwbehZsNYEpqfIRkg8+PgyxcH6syYlBL9Y28XpzCVAgm8vXqbk71VeUlZVLR5HFgAITCXiNAAWy1yzu0fZ+oiOOheMXIsWI5NSgZ0TbmIc5BCiQzeHq9Fyd6ivEVIupaflSkSx8KBMJeIkABbKXrO3htgZPqfC//yT1hGFrzjo16HnY7I5vOgWy401kSgWd7Ctqamrwwce5cpGcRpFsSodgpo4kQIHsSLOwUkYSmJoun1rx/keHIYKBUcnJQc+oNjIfYwlQIBvLU5XcnOwrWlpatF/V/IMIwc+qMGY9SSBWAhTIsRLk9Y4mME1HHL/+9m5cvlwU06oVwQ13ctALrivfO4MABbIz7GB1LZzuK65MtTgpHUUWPpWJBLxAgALZC1b2aBunZchHjhNSNuD48Xw0NjYaSsbpQc/QxjIzQwj4BXK3LnFcxcIQompkooKvEDcuT/jwsFQkq0GZtSSB2AhQIMfGj1c7lMD0jHNSxy5+Ltyxcxdqa2NftSK46SoEveA68729BEqKi5GcOApdOnTU1kHuFheHzPR0VFdV2Vsxlm4qAVV8RVFxsdSPCv/KRAJuJ0CB7HYLe7R9wfPm/O/feHsPLhcVmUJFlaBnSuOZaVQEhEBOHDES7W+9TdtJr3OHDkhPTaVAjoqmOhep4iuampowJVU+1SI1kyJZnR7HmkZDgAI5Gmq8xtEEUmfIR49HjdmM/PyTEE7fjKRK0DOj7cwzOgJlZWV475138d//+V+I69IF//OLX+CzBQsMvXk0uprxKjMJqOQr6urrpKPIYtCBiQTcTIAC2c3W9WDb0nTE8QvDViIrOxu1tbWmUVEp6JkGgRlHRED0xy+3f4mMtHS8P2ECMjMykHv4MMSuZkzuJaCar5iecUYqkoW/ZSIBtxKgQHarZT3YrrSZ8pFjMdKxavVqlJSWmkpFtaBnKgxmHhYBsVqAWGpQjCQXFxdrz+LmKLHUFpN7CajmK0Q/nZJ6Wi6SZ1Iku7enertlFMjetr+rWu+fZxz8nPTyNhQUFJg2tcIPUbWg5683n0mABKwloKKvEL9qBPtW/3tr6bE0ErCGAAWyNZxZiskEMmadlzrvF0esQU7OAdTX15tcA0DFoGc6FBYQkoAYKRajc2JevFh2UDy3NDeHvIYfqk9AVV+ht3Sm8L9MJOA2AhTIbrOoB9uT8alcHD/17GKsX78B5eUVllBRNehZAoeFSAkIUXypsBB5eXk4eOAAjuXlobSkxLDtz6WF8qDtBFT2FZOnyle1sB0qK0ACBhOgQDYYKLOzlkCmjjh+bMB8zJu/AOfOnUNzszXzOVUOetZajaX5CVRVVWHZ0qV4ZcwYDH3xRbz2yqvYtXMn6uuMX6fbXyaf7Segsq8Qv8b5p1YEPjc0GLvxkv1WYg28ToAC2es9QOH2z5gtHzkWTvvjT6bhcG6upasBqBz0FO4GSldd7KT36piX8Y8//jFuu+02/PQf/wmfzpyJ6upqpdvFyocmoLqv+CTt+l1KUzML+MtHaLPzU8UIUCArZjBW92sCgaMXga+ffmE5tm3/EmJ0zsqketCzkhXLukKgqKgII4cNR9sf3axtFNKxbTukTZ9ued+lPawl4AZfEehz/a8zP+WKFtb2JJZmJgEKZDPpMm/TCMycIx897vfkZ/hiyVIUFRVbPprhhqBnmsGYsZSAGEEenZSMbl3i0Mbnwx3d4jEzM5MjyFJa7jnoBl/hF8XBz8I3M5GAGwhQILvBih5rw6y5F6Rz4Po8Phdp6TO03fLEygBWJzcEPauZeb08IZDHJKcgPq4rbvT5cGd8dwpkD3QKN/iKKdPlm4cIwSx8NBMJqE6AAll1C3qs/nriWDjl9ydOQnb2PtTXmb+kmwy7G4KerF08Zh4BCmTz2Do5Z7f4io8pkp3czVi3GAlQIMcIkJdbR+DTefKRYyGOBz6zFOvWb0BZWbl1FQoqyS1BL6hZfGsiAQpkE+E6OGs3+YrJ0/RHkoXPZiIBVQlQIKtqOQ/WO3ium//9YwM+w/wFn+Hc+fOWzzsONIObgl5gu/jaPAIUyOaxdXLObvMVk6eGEMnzKZKd3BdZN30CFMj6bPiJgwjMni8fPX6471xMnZaKI0ePWrqkmwyN24KerI08ZiwBCmRjeaqSmxt9xUchRLLw30wkoBoBCmTVLObB+s5ZIBfHDz06G+Peex87d+5CTU2N7WTcGPRsh+ryClAgu9zAOs1zq6+Y9PFp6Q3U4tc+4ceZSEAlAhTIKlnLg3Wds+CirsN97fU3sWr1GgiR4YTk1qDnBLZurUNxcTGSE0ehS4eOuMHn05Z7y0xL4zrIbjX4V+1yq69oamrChA/zdX228OdMJKAKAQpkVSzlwXrOXagvjvv2X4S58xbgzJkzts47DjSLW4NeYBv52lgCQiAnDB+BtrfcgjZt2oAbhRjL16m5udlXiK2ox008riuShV9nIgEVCFAgq2Alj9bRfxNe8HOvvvMwddp0bStp4Yydktwc9JzC2G31KCsrw8QJ7+N3v/41/uWf/xl3/+73WPz5546YMuQ21k5qj9t9hZjyNvbdw7oied5nFMlO6o+si5wABbKcC4/aTEA40GBhLN73fGQ23hs/ETt27kJVdbXNtby2eLcHvWtby3dGEKirq8Pu3bsxZ/ZsTJ82DfPmzMVRB9xwakTbmIc+AS/4CjH17eU39kn9uPDlFMn6/YOfOIMABbIz7MBaBBCYv0hPHM/BK6+OxZo1ayFG3loCrnHCSy8EPSdwdlMdxI6PVdVV2jz6S5cuac+1tbWOmTbkJtZOaosXfIXo22fPnkXimN26Iln4eiYScCoBCmSnWsaj9dITx2LEITnlFW294/PnzzuSjheCniPBs1IkoBgBr/iKhoYGHDmah6Ejt+qKZMVMx+p6iAAFsoeM7fSmLvi8UNeJ9n5sIaanpuNoXh6amhod2RSvBD1HwmelSEAhAl7yFdXV1diTlYVnhqyT+nfh95lIwIkEKJCdaBWP1kk251gce7DPPEyaNBnZ2XsdffOSl4KeR7uo4c0Wy2JdvHhRm3d84MAB5B09itLSUk6xMJy0szL0lq9oQVl5GdatX48Bg1dIRfLCxRTJzuqhrI0gQIHMfuAIAsJBygRyz0fm4u133sOWzVtRXl7hiLrqVcJbQU+PAo9HQqCqqgoLFyzE8KHD8Nijj2Lk8OHYtnUrxM17TO4l4DVf0dLSov0juGjRYjw2YInU11Mku7e/q9oyCmRVLeeien/2hZ44nodXX3sDy1esQlFRkeNH1bwW9FzUBW1riraTXsoY/Pj2eHzvppvwDz++AzNnzEB1VZVtdWLB5hPwoq8Qv5bk55/EjBmzpAJZDJCIWMBEAk4hQIHsFEt4tB6LdMSxcJYpo1/B3HnzUVBw1vHiWJjPi0HPo93WsGaXFBdj1MgEdGjbDj6fD106dkJ6aioFsmGEnZmRV32FWLf+wIGDeGHYFl2RLGICEwk4gQAFshOs4NE6LFoiHzkW4rhX388wfXraV2vCOvOmvGCzeTXoBXPg+/AJiBHklFFJ6Nq5s7bVdPfbuyEzPR3ixiYm9xLwsq+oqqrGzl27MfiF9foieQlFsnt7vzoto0BWx1auq6lszrE49mCfBfhg0kfIysqGWBNWleTloKeKjZxWT22KRXIK4uO64kafD3fGd8fMzEwKZKcZyuD6eN1XlJWVY926DRjw9Gpdkfz50ksGU2d2JBAZAQrkyHjxbIMILF56SeoYe/aej3ffHY8tW5x/U14wCq8HvWAefN86AQrk1hm58Qyv+wpx015hYSG+WLIMjw1cJo0FYrBExAkmErCLAAWyXeQ9XO7iZXJx/MDD8/Da62OxcuVqXL58GcKJqpS8HvRUspVT6kqB7BRLWFsP+gpo95WcOn0as+fMxSOPf6EvkpdRJFvbO1manwAFsp8Eny0h8IWOOBajBWKnvAULPsOZM2rclBcMjEEvmAjft0aAArk1Qu78nL7iil2v7LR3RLvfpFffRboiWcQNJhKwmgAFstXEPVzeF8vlI8dCHPfutxiZM2bh+PETEE5TxcSgp6LV7K0zBbK9/O0qnb7ia/LiPpO9e/fio48+xoN9FuqL5OUUyV9T4ysrCFAgW0GZZWgEhBCWPXr1/RxTp07HwYOHlN4ggUGPHT1SAkIgj05KRrcucWjj8+GObvGYkZHBm/QiBanY+fQV1xqssrISO3bsxLjxE9Cj9wJpnBCxY8kKiuRryfGdmQQokM2ky7yvEli64rLU6fV85DNM+vBjbcUK1Ze2YtC7am6+CJNAcXExkhIS0bl9B20d5Ns7d0FGWhrEDntM7iVAX3G9bUtLy7B2/Qa88ebbIUWyiCVMJGAFAQpkKyh7vIylK+XiuMfDCzHuvQnY/uUOiBEE1RODnuoWtL7+foHcqV17fOPGb6Brp84UyNabwfIS6SuuRy5uyr5w8SKWLl2u3az9wMP6I8kipjCRgNkEKJDNJuzx/JfpiGPxc9nYN9/BuvXrUVZW5gpKDHquMKOljSgvK8dHH0zCn/5wN/7lrn/GX//0Fyz54gvU1NRYWg8WZi0B+go578amRpw5cwYLFy7CmJdfw/299EWyiC1MJGAmAQpkM+l6PO/lq+Qjx0IcPzZwFZYtX4FLl9wzp4xBz+MdPorm19fVI2fvPny+6HPMyJyBLz5fjPwTJ9DYqMbukVE0mZdwW/qQfUDcpJ2fn49PP52D5JQxIUWyiDFMJGAWAQpks8h6PN/lq/XF8aP9V2gjBKou56ZnWgpkPTI8rkdA/KwsxLAQBXV1ddpzc1OT3uk87hIC9BWhDSm+D7m5R5CWnoGk5DF44GH91S1ErGEiATMIUCCbQZV5Sm/IEyPHfR5fjjlz5yE//yQaGtw1Ssagx45PAiQQDgH6itYpiX8YDxw8iE+mTseopNG4v5e+SF5Bkdw6UJ4RMQEK5IiR8YLWCKxYUyQVyA8/thSzZn2qrXVcX1/fWjbKfc6gp5zJbK+wGEEWo2ViLVgx71g8NzU1KbeLpO0gFasAfUV4BhPfiazsbHwwaTISR6Xg/l6fSWOLGHwRcYeJBIwkQIFsJE3mhZU64rhX36WYNj0dubm5cKM4FqZn0OMXIFICQhyfPHkSu3ftwpbNm7Fnzx4UFhZqIjnSvHi+OgToK8K3VUVlJb7csRMTP/gIIxOT0aP357oiWcQfJhIwigAFslEkmQ9WrZWPHIv/7qdOTcW+nBxX353PoMcvQaQExPKGc+fMwXPPPos+jzyCIc8/j82bNim9YU6kDLx4Pn1FZFYvKyvH9u07MG78RG0kuWefxboiWcQhJhIwggAFshEUmQdWrdMXx4OHbMO+fTmu3/yAQY9fhEgJlBSXIDkpCV07x+H73/8+4m+/HZnpGa7/rkTKyW3n01dEZtGWFmjLga7fsAlvvvUukke/jJ6PhBDJ6yiSIyPMs2UEKJBlVHgsIgKrQ4jjp57bgl27d3ti61wGvYi6DU8W03KKijFy2HC0vfkW3ODzoWPbdkidNo0C2eW9g74iOgNfulSElavW4M233tFWt+jRW18ki7jERAKxEKBAjoUer9UIiCkUssfAZzZj27btKCsv9wQpBj1PmNnQRpaUlGBMcgri47riRp8Pd8Z3x8zMTE/8Q2koSMUyo6+IzmDNzS24eLEQq1atviqSez7yhTT+iJi0Zj1FcnSkeZUgQIHMfhATgTXri6XOSYjjzZu3QAgAryQGPa9Y2rh2UiAbx1KlnOgrordWc3MzLl68iJVfieQUbbrFEmkcuiKSi6MvjFd6mgAFsqfNH1vj127QE8dbsHnLVpSUlKKlpTm2QhS6mkFPIWM5pKoUyA4xhMXVoK+IDbgmkgsLNZE89s13kJzyCnr01h9JFrGKiQQiJUCBHCkxnq8RWLcxlDjehtLSUs+RYtDznMljbjAFcswIlcyAviJ2swmRLJZEXLlyFYRITkp+GQ88rC+SRcxiIoFICFAgR0KL52oE9MSx+Dlry1ZvimMBhkGPX5BICVAgR0rMHefTVxhjR7HRjiaSV63G2DffRVLSGPTorT/dgiLZGO5eyYUC2SuWNqid6zfJR46FOB6RfFCbVmFQUcplw6CnnMlsrzAFsu0msKUC9BXGYW9u8c9JFqtbjENyyhg80Hup7pxkEcOYSCAcAhTI4VDiORqB0OL4EEpKSzy9RS6DHr8okRKgQI6UmDvOp68w1o7+OcmrVq3BG2Pf1uYkP/Cw/kgyRbKx/N2aGwWyWy1rcLs2bC7R/Y98eNIhlJaWGVyietkx6KlnM7trLATy6KRkdOsShzY+H+7oFo8ZGRlc5s1uw5hcPn2F8YC1OckXL2L5ipV4Y+w7SE4eg/t76YtkEdOYSCAUAQrkUHT4mUZg45bQ4rjEgzfkyboGg56MCo+FIiB20ktKSETn9h3g8/lwe+cuyEhL50YhoaC54DP6CnOM2PLVEnDLV6zG2K82EwklkkVsYyIBPQIUyHpkeFwjEEocj0g+7MnVKvS6BoOeHhke1yOgCeTEUejcoSNubNNGG0mmQNaj5Z7j9BXm2VKMJF+4WIiVq9fgrXfGaSPJ9z2kv7oFRbJ5tlA9Zwpk1S1oYv03bdUfOR6RnIuKigpPzzkORs+gF0yE71sjUF5ejimTP8Z9f70H//azn6HHffdj+dJlqKmpae1Sfq4wAfoKc43X1NSEwkuXsHbdBrw7bjxGJY3GPQ/qb0stYh0TCQQToEAOJsL3GoHNIcXxEf4ELOknDHoSKDwUkkBDQwPyjhzFxvXrsWzpUmzcuBFnz5xFU2NjyOv4odoE6CvMt59YAq64uARbtm7F+AmTkJCYjHt66otkEfPEg4kE/AQokP0k+HyVwOZt+iPHI1OOoLqao1tXYQW8YNALgMGXJEACugToK3TRGP6B+JVm+/ad+GDS5CsjyT31p1uI5UpF/GMiAUGAApn94BoCW7aX6q5WMSLlKOrq6q45n2++JsCg9zULviIBEtAnQF+hz8aMT8rLK7BnTzamTp2OpOQxuKcVkSziIBMJUCCzD1wlQHF8FUVULxj0osLm6YvEz8CNjY2oq6vV5h2Lf0DF9ApxnMm9BOgrrLdtdXU1cnL2IzU1AymjX8FfKZKtN4JiJVIgK2Yws6q79Uv9keORo/Mg5koyhSbAoBeaDz+9noD4Xp08eRI7d+7Apk2bsGvnLly8cAHiJiMm9xKgr7DHtuLm1yNHjuLT2XPx8iuv4689l+Deh5bp/moq4iKTdwlQIHvX9ldbvi2kOD4GsWwOU+sEGPRaZ8QzriUgVoKZkZmJ/v0exz333IMn+w/A+rXrUFtbe+2JfOcqAvQV9plT/FOaf/IkFi1ajNdeH4uklDG490H9ralFfGTyJgEKZG/a/Wqrt+3QHzkekZJ39Ty+aJ0Ag17rjHjGtQSKi4uRMHwE2t96G27w+bQNQ9JTU7lKzLWYXPeOvsJek4pfaM6ePYsVK1dry8Alp4zRRpPFTXqyh4iTTN4jQIHsPZtrLRZzHLfvDCGOk49xHmSEfYNBL0JgPB1CII8amYCObdtpO+nFdeyEjLQ0CmSX9w36CvsNLETy5ctF2LJlKz6Y9CFGJY/BX3rob00t4iWTtwhQIHvL3lprhWPY9qX+Um7DkzlyHE23YNCLhpq3rykpKcGY5BTEx3XFjT4f7ozvjpmZmRA3FDG5lwB9hXNsW15Whj17sjB1WipSxryCv/bQn27x5c4y51ScNTGdAAWy6YidU4AYNRbzrzZuKZT+jCR+WhqeRHEcrcUY9KIl593rKJC9aXv6CmfZXfxDevhwLubMnYdXXxuLex9crhsjv9xVBvFgcj8BCmT321hroRDH4g7etRvO6X7xh1Ecx9QbGPRiwufJiymQPWl20Fc4z+7aijKnTmPZ8hV4Z9x43PfQSt1YKQaTdlAkO8+IBteIAtlgoE7MTkyp2LGrFEtXntD9wg8bxZHjWG3HoBcrQe9dT4HsPZuLFtNXONPuIlZeunQJGzZtxgcfTMYDvdfoxkwhknfu5kiyMy1pTK0okI3h6MhcxKhxfX09tmy7FPJL/lIixbERBmTQM4Kit/KgQPaWvf2tpa/wk3Dmc2lpKbKyspGWnoFej20MGT937qFIdqYVY68VBXLsDB2Zg1i7uKqqEmvWFYT8cg+lODbMfgx6hqH0TEYUyJ4x9TUNpa+4Bocj34gpiceOHceiz5egT/+tuK/XKt1Yuosi2ZE2jLVSFMixEnTg9Q0NjSgqKsIXS3N1v9Di56GhCUcdWHt1q8Sgp67t7Kq5EMijk5K1VSzafLWKxYyMDK5iYZdBLCqXvsIi0DEWI6ZcXLhwERs2bsZHH01Bzz7rdWPqrqxyiAeTewhQILvHltqOdzU11di4+QJmzZYveC6E8YsJR7WHi5ruiKYw6DnCDEpVQlsHOSEBHdu1v7oOMjcKUcqEUVWWviIqbLZcJH6NLS8vR05ODmbPmYuH+23WFckivu6mSLbFTmYUSoFsBlUb8hR34JYUF2PJ8iMhv7xDRnLU2CzzMOiZRda9+ZYUlSBx5Ei0b9sOf/M3f4MuHTogfTp30nOvxa+0jL5CPQuL7d9PnS7A8hWr0HfglyHj7J5sjiSrZ+Hra0yBfD0TpY6I/27FXKkTJ/Ixa87ukF/aISMojs00LoOemXTdmXdleSXSU9Pw6CN98Oc//Rn9Hu2LNatWQwRjJvcSoK9Q07YtAC4XFWHHzl3o/7T+r7RiJHnP3nLtoWZLWWtBgAJZ0X7g3/Tj8uXLWLo8D5Mmrw4pjl+gODbd0gx6piN2XQEN9Q04lpeHTRs3YeXyFdiyaTPOnTsHMfeRyb0E6CvUtq0YlDqal4dBL+zHowNCjyZn7eVosqrWpkBW0HIieFZWVmp32M6YtSOkMH5++FGIB5P5BBj0zGfsthLEP7qNjY3acoxi1Fgsy0hx7DYrX98e+orrmah2RHxvL126jO1f7sATg7NCxuHsfRTJqtlX1JcCWSGriekUIoieO38ei744gAkfLAv5pXx++BGFWqd+VRn01LchW0ACVhCgr7CCsjVlVFZV4djx43jquZyQ8Th7XwXEg0kdAhTICthKCGNxE55Yum3v3n2YlrYp5BdRzH96bhjFsdWmZdCzmrj65fmnStXV1mr3EtTV1WkjyOI4k3sJ0Fe4y7bi+1pYWIhnXjyM/k9nh4zPe3MoklWxPgWywy3V2NSIsrIyHD9+ArPn7sbrb84L+eV77qUjEA8m6wkw6FnPXPUSxT++x48dw9YtW7B61Sps27oV58+f5zQL1Q3bSv3pK1oBpOjHtbV1OHXqFAY9fyC4FNTYAAAZH0lEQVRknN67vwLiweRsAhTIDrWPmIdYXV2NgjNn8NnnOZjwwdKQXzgxavwshbGt1mTQsxW/koWL9VWnTvkEPe9/AP/1H/+BXj0fxIoVK7iKhZLWDL/S9BXhs1LtTBG7y0pL8fSLh1uN2fv2V0A8mJxJgALZYXYRE/9ramtx/sIFLFl+CB9NCb06hRDGzww9oj0c1hTPVYdBz3Mmj7nBVzYKSUTHtu3Q5oYbENexE9LT0lBVVRVz3szAuQToK5xrG6NqJqZLidg8eMihVoVyzgGKZKO4G5kPBbKRNKPMS8xfEv91ajfgnTuHFavzkJrR+jzjK+I4N8pSeZnRBBj0jCbq/vyEQE4cmYAOt7XVdtLr0qEjuJOeB+zeriuC/YX7W+3NFordbZ9+MTcMkVyJnAOV3oTk0FZTINtsGHEDXnV1jbbf+6o14Qtj8YUTDybnEAgOeOI9EwmEIlBSUoIxySmIj+uKG30+3BnfHTMzM7XpVaGu42dqE6CvUNt+kdZeDIKJeD14SOvTLvYfrIR4MNlPgALZJhv4R4wLL12CEMZpGRtb/Q9TjBgPHiK+ZBTGNpktZLEMeiHx8EMJAQpkCRQPHKKv8ICRJU0UUyhF/H7q+danXRw4VAnxYLKPAAWyley/2hRAzDG+WFiIVWuPIi3MqRQUxlYaKrqyGPSi4+blqyiQvWl9+gpv2t3fajE/WcR0MejV2oNC2U/N+mcKZAuYi2kU2s131dX4cucFrFxzBOkzwptjPOiFXIgHk/MJMOg530ZOqyEFstMsYk196Cus4ez0UvzxvTWRLD4/eLjy6sPp7XJL/SiQTbSkf4OPfftLsXP3RSxb0frPKv4viv+LY2L1mLXBBBj0DAbqgewokD1gZEkT6SskUDx8SMT7p55vfX6yXx8cOlwJ8WAylwAFsgl8GxubcCi3CjkHyrDtyzOt/oTi7/TiWXxJxINJPQIMeurZzO4aUyDbbQF7yqevsIe7k0sVN/L543+gJgj1WugM8WAyhwAFskFcxU13h49UaY/dWYURiWLxBXjyucPaw6DqMBsbCDDo2QBd8SLFMm8po5LQrUsc2vh8uKNbPGZkZHAdZMXt2lr16StaI+Ttz/16IJQ4DvzMrz38z96mZ1zrKZBjYOnvjOI5e19R1KJYfBmY1CfAoKe+Da1ugbYO8oiR6NC23ZV1kDt2QlpqKgWy1YawuDz6CouBK1pcpELZL5oDtYmiTXdEtSmQIzBD7tEqBD78nTHS54HPHoZ4MLmLAIOeu+xpRWv8I8hdO3fBd77zHXS//XZkcgTZCvS2lkFfYSt+5Qr3a4YBz4Z/H5NflwRqFvGaKXwCFMghWB05WoXAh7/DRfM84NnD8D9CFMmPFCbAoKew8WyqemVFJTLTM9Cvb1/8/je/Rf9+j2Pd2rXarpo2VYnFWkCAvsICyC4sQkzl9OuIaHSIuCZQ07gQkaFNokAOwHkkrwqBj2g7oP+6Ac8chv8RUAxfupQAg55LDWtis8Tyj+fOnsX+/fuxe9cuHNx/AMVFRdrW8yYWy6xtJkBfYbMBXFC8X1uIZ7/miPQ5UO/4X7sAjWFN8KxAPnqsGsGPSDuX7Pz+Tx+C/2GYlZiREgQY9JQwEytJArYToK+w3QSuqoBfc4hnmS6J5FiwLhLvvZpcL5DzjlVD9oikw4Q694mnDyHw4dWOxHYDDHrsBbEQEMs8MXmDAH2FN+xsdSvF3guaHhl8CI8PPhizWPZrH5mGEsfcnlwlkPOOVyP44TewUc/9Bh3EE4MPXX00tzS7vY+wfWESYNALExRPu0pAiOL6+npUV1ejsrJSexbTLiiWryJy5Qv6Clea1TGN8m9S5tcq/Z46gL4DcwwTzH49Fay3At87BkYMFVFSIB87Xg3Zw280I5/7DtyPxwcdxOPaf2SHtGAWA29e6mICDHouNq5JTRPi+PDBQ1i1ciU+W7gQq1etQsHp09rW9CYVyWwdQIC+wgFG8EgVxD/bNbW1KC4u0XRMv6cO4tEBOej9eLbhgjlQe8k0mv+YKugdK5CPnaiG3iPQCEa+fvjxbPTpvw+PPXkAjw86pD3Ky8t5w4wqvdnmejLo2WwABYsX/uXjDz/CvX/9K37+85/jgXvvxfKlS1FTU6Nga1jlcAnQV4RLiucZTUD8U15UVISTJ09B/CIuBgEfeWIfevXLQs9Hd5kqmv16TU/b+Y8b3eZo87NdIB/Pr4bs4Qdp1nOPPju1DiE6xqMD9+OxJw/i+Il8XLp0CTU17p9bE22H4XX6BBj09NnwEzkBsQ7y/2/vzoO7KPM8jv9AI/fUbmnN7Iw7M3u44+zszO5OlSLLFcCqrRqPUSAcckZRURH3j93aS3fK2hokoI7IFDh4BZBRZhFIAuQCEm5ISAzIfSRcATlGLjmTWJ+tp0mgE/oH/GL/ju7nnaouQqfT3c/r23meDw9Pfr9//9d/07fvvMt5o5C7v/0dvf/uu7xRiDdXaPbSV4SmlIFuiFmKYZZ2HTnyhXbu3K3y8gqNeuZzDR9TpaGZFRo0okz9h65NSGh2Zz2vTOjelyj0hATk6poLira5UeL1+YBh6zVoZLmGZlZq+FNVGvn0Zm3YUKY9e/bo6NGjOnv2rOrq6tTwtVlPzC/KJOrhC9t1GPTCVtH4t+fkyZN65b/+W3/1gx86Adm85fSs7GxnLXL8r84VkiVAX5Esea7rJWCWYZjXWDazy6dPn1bt4cPavn2HVq9Zp5zcPA17qkpDRlcowwTmJ9bpscGr9WjGyoQH56aM6JUnvdr1Tff5GpCr912Q19bUqHj/+ctBq/X40LUaOHyDBo/c6ARiU9jCoqUqKyvXzl27dPjwYZlByfxSjHkg+EDALwEGPb8k7TmP6Yte/Z9f6d6/vke3RSL6u3t/rDmzZxOQQ/4I0FeEvMAhaJ6ZNDx3/rz++OWXOnSoVtu27dCaNeu0eHG+fv/JXL373gfOxOPAYRv02JC1ejRjlR4ZuFIPD1iRlOBssqffH60OyDX7LqjlFu8A3HT+RzJW6UoYXqeBw8ucMDxkdKVmz56jhTl5WrlqtTZt2qTdu/foUG2tTp48xTtT+f3kcL7rBBj0riNhx00ECMg3AQrpl+krQlrYEDfLzDKbicUTJ07owMGD2rlrtyorP1NJSak+nb9Q2dmzNP2dGXrrraka0CI0PzRghX7Rv9TZHuofvwDtN3+rAvK+/RcS8i+ERwau0qMZq/XLwWvVf+h6ZQwv1+BRFXrv/Q81Z84nylu0RCtXrVHVpk3O7PDBg4d04sQfnSKatTV8IJBIAQa9RGqH41oE5HDUMdZW0FfEKsbxqShgXpLSrGE2v7u1f/9+7dixU5WVVSopXaH583OUPXO2Zsx4T1Om/FZZk97UaxMna8Jrk/VIxmqZfPfwgJUygdlsv2jcTJhumgyN9U+/jVoVkGO96Rsdb2aDTQh+dNAaPT5knfMvDxOEB42s0Ix3P9DMWbP1f/Pmq6CwWOvWbdC2bducQhw9ekynTp/WufMXrqwfbmjgtUP9fjo4X0wCDHoxcXGw5Cz3YomFfY8CfYV9NQ97i82k5JV1zHXOLxmbX0A+fPiI9u6tVlXVZq1evUb5+UWaO3eesrNNcH5fU387XW+8OUWTnPA8SRNem6SJWa9fC8/OzHNjeH78yp/R8uQTmVW+Z8CEBWQzC/z40PUaMKxMA00AHlGhwaMq9f4H2Zo5+yN9PHeuMyNcumKlysrLtXXrVlVX16i2tlbHj59wwrCZ3q+ru+w7QtgfXNqXGAEGvcQ4h+kq7hnktqxBDlNpb9gW+oob8vDFEAmY4Gx++e/cuXM6deqUjh077uQ6swR28+bPtW79Bi1dutxZHvvxJ3OdWWezvnna9N/prSlT9fobv1HWpNc1YcIk/XpCljOZaiZUzSz0wwNW6aH+K/XYkHXOy9b5/QZLrQrII5/e4jkF/sSTm5QxYqOzmRngwaM+09DRVXoic5PmL8hRYWGxVq1Zo/KNFfp8y1bt2rVbNTU1OnDgoA4fOeK8kPW58+d0ua4uRI8HTbFFgEHPlkr7184zp8/of199VT++52/UpjEg/2HuXOd/xfy7CmdKNQH6ilSrCPeTFIHGdxI1ryRmlseaGef9+w84s847du5yAvSGsnItL12hRYsLnGUbn/xhnj6a87E+zJ6ladNn6M3fvO2sgT5w6JDvTWhVQDZ3MTSzShkjKpQxfOOVbcRG518F6zeUaX1ZuSo/q9L2bdtVXV3t/AbksWPHnP9OPHfuK126eNHZLl686PzyHH/iEIZnwGvQC0O7aEN8fj4vXbqkL744ql+98krjq1i00U9+dK8+mj3beakl3OPjngqu9BXhrW0qPF9huQeTFc27AJ45e1ZfnjzprHU+cPCQ9uzd6yy3raiodJZuVG3arGPHj12XJ80bLpnN9LVmvXSsH60KyGYae++ePVpaVKTFeXnKX7JEhQUFWrJ4sRbl5mpRXp6WLF6iwvx8LS0u1vJly1RaUqKS5cuvbmbfsqVLna8XFxY5b7Vq3m61qKDAOZc5n7PlF6iQDYMAPANegx7PLj+/0Z6BkpISzZs3T0+OGq17/uIv1bl9B5nXQX75P/5TuQsXqri4mD4wAD/30ep7o/30FfQLN3o+rPhaU8YrKLiW/woLVVxU5ORCkw9NTnRyY0mJSktLtaK0VMuXLlNRUZEK8vOdzJmXm6u8nBzn8wJ3f2Ey6ZIlysvJ1coVK3SoFTPMrQrIZk3JzA+z9c/9HtR9P/+5unfrpt49eii9Zy/1S09Xv/Q+V7e+6X3UNz3d2fr0TlefXr3Vp2cvpffo6XyP+b5e3dkwCP4z4DXoUdfg1zVeNTR9oek7zazx97/7PX3nzrv0g+/drX/86c/Us9s/qXePnvSNIR0b6CvoF+LVr4ThvL2792jMlD2dvGj6yis58kq2NLmyKWs+2KeP+vbqfV1/abJl9we66R9+9vcaPDBDixctjnUCWa0OyFkTs/Rnd96lTh07qlOnTvpW5876Vqfrty6dOstsnRu3pr/z5xUXHMLj4DXoUd/w1NfvWpo+0fSZ5m2mv//du/XDu//cCcp3/cmfOvv9vh7nS51nkb4idWrBz0UwatEyQ94ob5qamkxqsmnHjh3107/9iWbNnJW4gGymrv9l/HhljhylZ8Y8reefHavnnnmWDQNrnwGvQY+fCfqEmz0DL4x9TuOee/7qRl8a/meGviL8Nb7Zzz1fj+8zYPpRk01HDBumV15+WWvXrk1MQDZXMS/XYV4Yuqa6WvtqarRv3z42DKx+BrwGPX4u6Bd4BngGWj4D9BU8Ey2fCf4eh2eipqbxhSIOybxSRqwfrVpiEetFOB4BGwS8Bj0b2k0bEUAgNgH6iti8OBqBZAgQkJOhzjVDKcCgF8qy0igEfBegr/CdlBMi4LsAAdl3Uk5oqwCDnq2Vp90IxCZAXxGbF0cjkAwBAnIy1LlmKAUY9EJZVhqFgO8C9BW+k3JCBHwXICD7TsoJbRVg0LO18rQbgdgE6Cti8+JoBJIhQEBOhjrXDKUAg14oy0qjEPBdgL7Cd1JOiIDvAgRk30k5oa0CDHq2Vp52IxCbAH1FbF4cjUAyBAjIyVDnmqEUYNALZVlpFAK+C9BX+E7KCRHwXYCA7DspJ7RVgEHP1srTbgRiE6CviM2LoxFIhgABORnqXDOUAgx6oSyr/42q/0rHa2tV27Qd/0r10a5y8dS148zxpy5GO5L9ARKgrwhQsbhVawUIyNaWnob7LcCg57doOM9Xv2Wi7otEFGnc0vq9o5ooTb04f/jV48zxHV9aHuVIdgdJgL4iSNXiXm0VICDbWnna7bsAg57vpCE8Yb22TLzPFXrT1O+dqPFYC0ZcC9KRSAeNJx+H4pmgrwhFGWlEyAUIyCEvMM1LnACDXuKsA3ul+i2aeJ8r9Kb1U9R8fGmBRrhmmiMdxmtZYBvOjbsF6CvcGnyOQGoKEJBTsy7cVQAFGPQCWLQE33L91qzmyyv6To+6vOLSghGumeaIOownHie4XHG7HH1F3Gg5MQK+CRCQfaPkRLYLMOjZ/gTcrP312prVfHlF3+nRlldc0sKRrpnmSHu9SD6+GXBgvk5fEZhScaMWCxCQLS4+TfdXgEHPX8/Qna1+q7Lud4Xe2/sqej5eqJHu5RXtX2R5RYgeCPqKEBWTpoRWgIAc2tLSsEQLMOglWjxY12vYOkn3u0Jv+wd/p+ooTbi8cGSz5RXtX1wa5Uh2B1GAviKIVeOebRMgINtWcdobNwEGvbjRhuDEl7X51/e7Qm87Rc28DRf06SjXTHPkBseGQMbGJtBX2Fh12hw0AQJy0CrG/aasAINeypYm+Td2OUejXLPHkXbjFG1OuGFb85nm2zu+FPXY5DeMO2iNAH1Fa9T4HgQSK0BATqw3VwuxAINeiIv7DZt2OWeUa/Y4onbjosZjbZvknmm+XX2mRVuI8Q1vim9PmgB9RdLouTACtyxAQL5lKg5E4MYCDHo39rH3q3XKGe1eMnGHxhVH0WjYpsldXcfeli7ycRSrAO+mrwhw8bh1awQIyNaUmobGW4BBL97CAT1/XY5Gu5dX3PacCqM0pWH7ZHV1H9tzatRf5ItyCnYHQIC+IgBF4hatFyAgW/8IAOCXAIOeX5LhOk9d7uhmyysi3adoz3VNbNClr06pcmLXZsfe8YKZaq7T+fPndf583XXfxY5gCtBXBLNu3LVdAgRku+pNa+MowKAXR9zAnrpOuZmuJRNmdrjrRG2+1NDYIhOMT+v06c800b20onEW+dl88/UFGjPmWb3wUrR1GYHFsfbG6SusLT0ND5AAATlAxeJWU1uAQS+165OUu6vPVaZ7yUTj512zqnTmzBmdOVOlrK4RpXXooi5dOiitxbGZn5qvd1XPPi+pKCkN4KLxEKCviIcq50TAXwECsr+enM1iAQY9i4sfpen1uZnNlkxEmgXgtmrXyQTjLhrvpN8ijWvXtsXxaepw9etRLsLuwAnQVwSuZNywhQIEZAuLTpPjI8CgFx/XwJ7168vKefLK8oq2d3RU586dW2wPatre5q3bO+3BFseMZ+a4OVEo/kZfEYoy0oiQCxCQQ15gmpc4AQa9xFkH4Upf73hDDzTOGPd4u0USDkIDuMe4CdBXxI2WEyPgmwAB2TdKTmS7AIOe7U+Au/312j75gcblErfreRYQu3Gs/5y+wvpHAIAACBCQA1AkbjEYAgx6wahTIu6y4fJCPdW03rjtWBUk4qJcIzAC9BWBKRU3arEAAdni4tN0fwUY9Pz1DOzZvq5X7lOul3br8bZYYBHYasblxukr4sLKSRHwVYCA7CsnJ7NZgEHP5upfa3vDjtfVrWn2OBJRm7HMH1/T4TMjQF/Bc4BA6gsQkFO/RtxhQAQY9AJSqLjeZoMWjXHNHkfaqOdU5o/jSh7Ak9NXBLBo3LJ1AgRk60pOg+MlwKAXL9kgnTdfY9s0BeQ2ui2tt6Ze/77SQWoQ9xoHAfqKOKBySgR8FiAg+wzK6ewVYNCzt/bXWr5HU3unKS3NbITjay585hagr3Br8DkCqSlAQE7NunBXARRg0Atg0bhlBJIgQF+RBHQuiUCMAgTkGME4HIFoAgx60WTYjwACbgH6CrcGnyOQmgIE5NSsC3cVQAEGvQAWjVtGIAkC9BVJQOeSCMQoQECOEYzDEYgmwKAXTYb9CCDgFqCvcGvwOQKpKUBATs26cFcBFPAa9Nh3j+drvuKCC89A82cggF0et4xAqAUIyKEuL41LpAADfvMBHw88eAZu/RlIZF/FtRBA4OYCBOSbG3EEArckQBi49TCAFVY8A82fgVvqZDgIAQQSJkBAThg1Fwq7AAN+8wEfDzx4Bm79GQh7/0j7EAiaAAE5aBXjflNWgDBw62EAK6x4Bpo/AynbsXFjCFgqQEC2tPA0GwEEEEAAAQQQQMBbgIDs7cJeBBBAAAEEEEAAAUsFCMiWFp5mI4AAAggggAACCHgLEJC9XdiLAAIIIIAAAgggYKkAAdnSwtNsBBBAAAEEEEAAAW8BArK3C3sRQAABBBBAAAEELBUgIFtaeJqNAAIIIIAAAggg4C1AQPZ2YS8CCCCAAAIIIICApQIEZEsLT7MRQAABBBBAAAEEvAUIyN4u7EUAAQQQQAABBBCwVICAbGnhaTYCCCCAAAIIIICAtwAB2duFvQgggAACCCCAAAKWChCQLS08zUYAAQQQQAABBBDwFiAge7uwFwEEEEAAAQQQQMBSAQKypYWn2QgggAACCCCAAALeAgRkbxf2IoAAAggggAACCFgqQEC2tPA0GwEEEEAAAQQQQMBbgIDs7cJeBBBAAAEEEEAAAUsFCMiWFp5mI4AAAggggAACCHgLEJC9XdiLAAIIIIAAAgggYKkAAdnSwtNsBBBAAAEEEEAAAW8BArK3C3sRQAABBBBAAAEELBUgIFtaeJqNAAIIIIAAAggg4C1AQPZ2YS8CCCCAAAIIIICApQIEZEsLT7MRQAABBBBAAAEEvAUIyN4u7EUAAQQQQAABBBCwVICAbGnhaTYCCCCAAAIIIICAtwAB2duFvQgggAACCCCAAAKWCvw/yXa4P6XS+5U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77019" y="1479719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/>
              <a:t>Passo 1 - Calcular o desvio padrão de todo o universo amostral da demanda para os três cenários, no período analisado; </a:t>
            </a:r>
          </a:p>
          <a:p>
            <a:r>
              <a:rPr lang="pt-BR" sz="2000" dirty="0"/>
              <a:t>Passo 2 - Calcular a média aritmética simples dos valores de todo o universo amostral da demanda para os três cenários, no período analisado; </a:t>
            </a:r>
          </a:p>
          <a:p>
            <a:r>
              <a:rPr lang="pt-BR" sz="2000" dirty="0"/>
              <a:t>Passo 3 - Calcular o percentual do desvio padrão do “passo 1” em relação à média do “passo 2”, cujo resultado será o fator alpha (α); </a:t>
            </a:r>
          </a:p>
          <a:p>
            <a:r>
              <a:rPr lang="pt-BR" sz="2000" dirty="0"/>
              <a:t>Passo 4 – Poderá ser aplicado um fator alpha limitador, a depender do caso, se o desvio padrão calculado for significativo (sugere-se, a princípio, o fator limitador de 25%); </a:t>
            </a:r>
          </a:p>
          <a:p>
            <a:r>
              <a:rPr lang="pt-BR" sz="2000" dirty="0"/>
              <a:t>Passo 5 - Aplicar o fator alpha (α) sobre o todos os anos do fluxo da movimentação do cenário base, reduzindo-os; isto definirá o parâmetro da MME.</a:t>
            </a:r>
          </a:p>
        </p:txBody>
      </p:sp>
    </p:spTree>
    <p:extLst>
      <p:ext uri="{BB962C8B-B14F-4D97-AF65-F5344CB8AC3E}">
        <p14:creationId xmlns:p14="http://schemas.microsoft.com/office/powerpoint/2010/main" val="50461107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735489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r>
              <a:rPr lang="pt-BR" sz="700" dirty="0"/>
              <a:t> e http://portal.antaq.gov.br/wp-content/uploads/2019/10/Manual_de_Analise_de_EVETA_GPO_out_19.pdf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501633" y="2081939"/>
            <a:ext cx="6709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P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6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394718"/>
              </p:ext>
            </p:extLst>
          </p:nvPr>
        </p:nvGraphicFramePr>
        <p:xfrm>
          <a:off x="227504" y="1571578"/>
          <a:ext cx="3799682" cy="3582670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7054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Movimentação x </a:t>
            </a:r>
            <a:r>
              <a:rPr lang="pt-BR" sz="4000" dirty="0">
                <a:solidFill>
                  <a:srgbClr val="FFC000"/>
                </a:solidFill>
              </a:rPr>
              <a:t>preço</a:t>
            </a:r>
            <a:r>
              <a:rPr lang="pt-BR" sz="4000" dirty="0">
                <a:solidFill>
                  <a:schemeClr val="bg1"/>
                </a:solidFill>
              </a:rPr>
              <a:t> = ROB</a:t>
            </a:r>
          </a:p>
        </p:txBody>
      </p:sp>
      <p:sp>
        <p:nvSpPr>
          <p:cNvPr id="4" name="Retângulo 3"/>
          <p:cNvSpPr/>
          <p:nvPr/>
        </p:nvSpPr>
        <p:spPr>
          <a:xfrm>
            <a:off x="4829621" y="2379957"/>
            <a:ext cx="69382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A definição do(s) preço(s) unitário(s) deverá considerar os preços praticados em </a:t>
            </a:r>
            <a:r>
              <a:rPr lang="pt-BR" sz="2400" b="1" dirty="0"/>
              <a:t>áreas portuárias </a:t>
            </a:r>
            <a:r>
              <a:rPr lang="pt-BR" sz="2400" dirty="0"/>
              <a:t>que possam servir como alternativa a movimentação da carga do projeto; o tipo de carga, infraestrutura utilizada e serviço agregado à carga; os parâmetros apresentados para o projeto; o balanceamento entre oferta e demanda, ao longo do tempo, do mercado onde a arrendatária está localizada; e, </a:t>
            </a:r>
            <a:r>
              <a:rPr lang="pt-BR" sz="2400" b="1" dirty="0"/>
              <a:t>para arrendamentos já em andamento, os preços recentemente praticados pela arrendatária.</a:t>
            </a:r>
          </a:p>
        </p:txBody>
      </p:sp>
    </p:spTree>
    <p:extLst>
      <p:ext uri="{BB962C8B-B14F-4D97-AF65-F5344CB8AC3E}">
        <p14:creationId xmlns:p14="http://schemas.microsoft.com/office/powerpoint/2010/main" val="5173122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1489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Pausa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25520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Parênteses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46778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https://acesuzano.com.br/ace-suzano-e-sebrae-aqui-abrem-inscricoes-para-oficina-ganhe-mercado/boneco-confuso/</a:t>
            </a:r>
          </a:p>
        </p:txBody>
      </p:sp>
      <p:pic>
        <p:nvPicPr>
          <p:cNvPr id="35842" name="Picture 2" descr="boneco-confuso - Ace Suza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74" y="1203566"/>
            <a:ext cx="3908425" cy="49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71178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979744" y="1097426"/>
            <a:ext cx="6938247" cy="107004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965841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https://web.bndes.gov.br/bib/jspui/bitstream/1408/9699/1/Td-64%20Mecanismos%20de%20regula%C3%A7%C3%A3o%20tarifaria%20do%20setor%20eletrico%20%20a%20experiencia%20internacional%20e%20o%20caso%20brasileiro._P.pdf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979744" y="1291155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i="1" dirty="0" err="1">
                <a:solidFill>
                  <a:schemeClr val="bg1"/>
                </a:solidFill>
              </a:rPr>
              <a:t>Yardstick</a:t>
            </a:r>
            <a:r>
              <a:rPr lang="pt-BR" sz="4000" i="1" dirty="0">
                <a:solidFill>
                  <a:schemeClr val="bg1"/>
                </a:solidFill>
              </a:rPr>
              <a:t> </a:t>
            </a:r>
            <a:r>
              <a:rPr lang="pt-BR" sz="4000" i="1" dirty="0" err="1">
                <a:solidFill>
                  <a:schemeClr val="bg1"/>
                </a:solidFill>
              </a:rPr>
              <a:t>regulation</a:t>
            </a:r>
            <a:endParaRPr lang="pt-BR" sz="4000" i="1" dirty="0">
              <a:solidFill>
                <a:schemeClr val="bg1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046133" y="2379957"/>
            <a:ext cx="6842411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É uma forma de regulação que procura reduzir as assimetrias de informação existentes e estimular maior eficiência econômica por meio do </a:t>
            </a:r>
            <a:r>
              <a:rPr lang="pt-BR" sz="2800" i="1" dirty="0"/>
              <a:t>benchmarking </a:t>
            </a:r>
            <a:r>
              <a:rPr lang="pt-BR" sz="2800" dirty="0"/>
              <a:t>setorial de firmas congêneres.</a:t>
            </a:r>
          </a:p>
          <a:p>
            <a:r>
              <a:rPr lang="pt-BR" sz="3600" b="1" dirty="0"/>
              <a:t>Regulação por comparação do mercado.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0" name="Conector reto 19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44556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331372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endParaRPr lang="pt-BR" sz="700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78545"/>
              </p:ext>
            </p:extLst>
          </p:nvPr>
        </p:nvGraphicFramePr>
        <p:xfrm>
          <a:off x="227504" y="1571578"/>
          <a:ext cx="3799682" cy="3887470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9876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FFC000"/>
                </a:solidFill>
                <a:latin typeface="Calibri" panose="020F0502020204030204" pitchFamily="34" charset="0"/>
              </a:rPr>
              <a:t>ISS/PIS/COFINS</a:t>
            </a:r>
            <a:endParaRPr lang="pt-BR" sz="4000" dirty="0">
              <a:solidFill>
                <a:srgbClr val="FFC000"/>
              </a:solidFill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636513"/>
              </p:ext>
            </p:extLst>
          </p:nvPr>
        </p:nvGraphicFramePr>
        <p:xfrm>
          <a:off x="4859069" y="2442388"/>
          <a:ext cx="6908799" cy="301665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9509">
                  <a:extLst>
                    <a:ext uri="{9D8B030D-6E8A-4147-A177-3AD203B41FA5}">
                      <a16:colId xmlns:a16="http://schemas.microsoft.com/office/drawing/2014/main" val="3247257157"/>
                    </a:ext>
                  </a:extLst>
                </a:gridCol>
                <a:gridCol w="1109151">
                  <a:extLst>
                    <a:ext uri="{9D8B030D-6E8A-4147-A177-3AD203B41FA5}">
                      <a16:colId xmlns:a16="http://schemas.microsoft.com/office/drawing/2014/main" val="3700806897"/>
                    </a:ext>
                  </a:extLst>
                </a:gridCol>
                <a:gridCol w="4540139">
                  <a:extLst>
                    <a:ext uri="{9D8B030D-6E8A-4147-A177-3AD203B41FA5}">
                      <a16:colId xmlns:a16="http://schemas.microsoft.com/office/drawing/2014/main" val="1926772335"/>
                    </a:ext>
                  </a:extLst>
                </a:gridCol>
              </a:tblGrid>
              <a:tr h="32089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Rubrica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Alíquota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Fonte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164142"/>
                  </a:ext>
                </a:extLst>
              </a:tr>
              <a:tr h="802247">
                <a:tc>
                  <a:txBody>
                    <a:bodyPr/>
                    <a:lstStyle/>
                    <a:p>
                      <a:r>
                        <a:rPr lang="pt-BR" sz="1800" dirty="0"/>
                        <a:t>ISS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5,00%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https://www.santos.sp.gov.br/static/files_www/Donwloads/ctm_2021.pdf</a:t>
                      </a:r>
                    </a:p>
                    <a:p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958739"/>
                  </a:ext>
                </a:extLst>
              </a:tr>
              <a:tr h="561573">
                <a:tc>
                  <a:txBody>
                    <a:bodyPr/>
                    <a:lstStyle/>
                    <a:p>
                      <a:r>
                        <a:rPr lang="pt-BR" sz="1800" dirty="0"/>
                        <a:t>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1,65%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http://www.normaslegais.com.br/legislacao/tributario/lei10637.htm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835827"/>
                  </a:ext>
                </a:extLst>
              </a:tr>
              <a:tr h="561573">
                <a:tc>
                  <a:txBody>
                    <a:bodyPr/>
                    <a:lstStyle/>
                    <a:p>
                      <a:r>
                        <a:rPr lang="pt-BR" sz="1800" dirty="0"/>
                        <a:t>COFINS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7,60%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http://www.normaslegais.com.br/legislacao/tributario/lei10833.htm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263956"/>
                  </a:ext>
                </a:extLst>
              </a:tr>
              <a:tr h="381145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rgbClr val="FF0000"/>
                          </a:solidFill>
                        </a:rPr>
                        <a:t>(-) 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rgbClr val="FF0000"/>
                          </a:solidFill>
                        </a:rPr>
                        <a:t>1,65%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pt-BR" sz="1400" dirty="0"/>
                        <a:t>Recuperação</a:t>
                      </a:r>
                      <a:r>
                        <a:rPr lang="pt-BR" sz="1400" baseline="0" dirty="0"/>
                        <a:t> de créditos sobre as rubricas: arrendamento, água, energia, manutenções, depreciações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316643"/>
                  </a:ext>
                </a:extLst>
              </a:tr>
              <a:tr h="389221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rgbClr val="FF0000"/>
                          </a:solidFill>
                        </a:rPr>
                        <a:t>(-) COFINS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rgbClr val="FF0000"/>
                          </a:solidFill>
                        </a:rPr>
                        <a:t>7,60%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15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69883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331372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endParaRPr lang="pt-BR" sz="700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89954"/>
              </p:ext>
            </p:extLst>
          </p:nvPr>
        </p:nvGraphicFramePr>
        <p:xfrm>
          <a:off x="227504" y="1571578"/>
          <a:ext cx="3799682" cy="3582670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9876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FFC000"/>
                </a:solidFill>
                <a:latin typeface="Calibri" panose="020F0502020204030204" pitchFamily="34" charset="0"/>
              </a:rPr>
              <a:t>DESPESAS OPERACIONAIS</a:t>
            </a:r>
            <a:endParaRPr lang="pt-BR" sz="4000" dirty="0">
              <a:solidFill>
                <a:srgbClr val="FFC000"/>
              </a:solidFill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574268"/>
              </p:ext>
            </p:extLst>
          </p:nvPr>
        </p:nvGraphicFramePr>
        <p:xfrm>
          <a:off x="4859067" y="2442387"/>
          <a:ext cx="6908800" cy="27118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3247257157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551160352"/>
                    </a:ext>
                  </a:extLst>
                </a:gridCol>
              </a:tblGrid>
              <a:tr h="542372">
                <a:tc gridSpan="2"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Rubrica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164142"/>
                  </a:ext>
                </a:extLst>
              </a:tr>
              <a:tr h="542372">
                <a:tc>
                  <a:txBody>
                    <a:bodyPr/>
                    <a:lstStyle/>
                    <a:p>
                      <a:r>
                        <a:rPr lang="pt-BR" sz="2400" dirty="0"/>
                        <a:t>Pessoal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Combustíveis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958739"/>
                  </a:ext>
                </a:extLst>
              </a:tr>
              <a:tr h="542372">
                <a:tc>
                  <a:txBody>
                    <a:bodyPr/>
                    <a:lstStyle/>
                    <a:p>
                      <a:r>
                        <a:rPr lang="pt-BR" sz="2400" dirty="0"/>
                        <a:t>Manutenções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Energia elétrica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835827"/>
                  </a:ext>
                </a:extLst>
              </a:tr>
              <a:tr h="542372">
                <a:tc>
                  <a:txBody>
                    <a:bodyPr/>
                    <a:lstStyle/>
                    <a:p>
                      <a:r>
                        <a:rPr lang="pt-BR" sz="2400" dirty="0"/>
                        <a:t>Seguros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Água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263956"/>
                  </a:ext>
                </a:extLst>
              </a:tr>
              <a:tr h="542372">
                <a:tc>
                  <a:txBody>
                    <a:bodyPr/>
                    <a:lstStyle/>
                    <a:p>
                      <a:r>
                        <a:rPr lang="pt-BR" sz="2400" dirty="0"/>
                        <a:t>Transportes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Material</a:t>
                      </a:r>
                      <a:r>
                        <a:rPr lang="pt-BR" sz="2400" baseline="0" dirty="0"/>
                        <a:t> EPI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434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66460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569019"/>
              </p:ext>
            </p:extLst>
          </p:nvPr>
        </p:nvGraphicFramePr>
        <p:xfrm>
          <a:off x="227504" y="1571578"/>
          <a:ext cx="3799682" cy="4586941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36242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264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98768"/>
            <a:ext cx="690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rgbClr val="FFC000"/>
                </a:solidFill>
                <a:latin typeface="Calibri" panose="020F0502020204030204" pitchFamily="34" charset="0"/>
              </a:rPr>
              <a:t>Custo de itens do ativo imobilizado</a:t>
            </a:r>
            <a:endParaRPr lang="pt-BR" sz="3600" dirty="0">
              <a:solidFill>
                <a:srgbClr val="FFC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621" y="2338089"/>
            <a:ext cx="6938247" cy="382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4153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331372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endParaRPr lang="pt-BR" sz="700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889029"/>
              </p:ext>
            </p:extLst>
          </p:nvPr>
        </p:nvGraphicFramePr>
        <p:xfrm>
          <a:off x="227504" y="1571578"/>
          <a:ext cx="3799682" cy="3582670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9876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pt-BR" sz="4000" dirty="0">
                <a:solidFill>
                  <a:srgbClr val="FFC000"/>
                </a:solidFill>
                <a:latin typeface="Calibri" panose="020F0502020204030204" pitchFamily="34" charset="0"/>
              </a:rPr>
              <a:t>IR/CSLL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433021"/>
              </p:ext>
            </p:extLst>
          </p:nvPr>
        </p:nvGraphicFramePr>
        <p:xfrm>
          <a:off x="4859067" y="2442386"/>
          <a:ext cx="6908801" cy="27118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2913">
                  <a:extLst>
                    <a:ext uri="{9D8B030D-6E8A-4147-A177-3AD203B41FA5}">
                      <a16:colId xmlns:a16="http://schemas.microsoft.com/office/drawing/2014/main" val="3247257157"/>
                    </a:ext>
                  </a:extLst>
                </a:gridCol>
                <a:gridCol w="2174007">
                  <a:extLst>
                    <a:ext uri="{9D8B030D-6E8A-4147-A177-3AD203B41FA5}">
                      <a16:colId xmlns:a16="http://schemas.microsoft.com/office/drawing/2014/main" val="3551160352"/>
                    </a:ext>
                  </a:extLst>
                </a:gridCol>
                <a:gridCol w="3581881">
                  <a:extLst>
                    <a:ext uri="{9D8B030D-6E8A-4147-A177-3AD203B41FA5}">
                      <a16:colId xmlns:a16="http://schemas.microsoft.com/office/drawing/2014/main" val="517546536"/>
                    </a:ext>
                  </a:extLst>
                </a:gridCol>
              </a:tblGrid>
              <a:tr h="55597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Rubrica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% sobre lucro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Fonte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164142"/>
                  </a:ext>
                </a:extLst>
              </a:tr>
              <a:tr h="1218542">
                <a:tc>
                  <a:txBody>
                    <a:bodyPr/>
                    <a:lstStyle/>
                    <a:p>
                      <a:r>
                        <a:rPr lang="pt-BR" sz="2400" dirty="0"/>
                        <a:t>IRPJ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15% até R$ 20.000/mês;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 acima de R$ 20.000/mês.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http://normas.receita.fazenda.gov.br/sijut2consulta/link.action?visao=anotado&amp;idAto=81268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958739"/>
                  </a:ext>
                </a:extLst>
              </a:tr>
              <a:tr h="937340">
                <a:tc>
                  <a:txBody>
                    <a:bodyPr/>
                    <a:lstStyle/>
                    <a:p>
                      <a:r>
                        <a:rPr lang="pt-BR" sz="2400" dirty="0"/>
                        <a:t>CSLL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9% </a:t>
                      </a:r>
                      <a:endParaRPr lang="pt-BR" sz="24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pt-BR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83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94718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1489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Pausa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25520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Parênteses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46778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https://acesuzano.com.br/ace-suzano-e-sebrae-aqui-abrem-inscricoes-para-oficina-ganhe-mercado/boneco-confuso/</a:t>
            </a:r>
          </a:p>
        </p:txBody>
      </p:sp>
      <p:pic>
        <p:nvPicPr>
          <p:cNvPr id="35842" name="Picture 2" descr="boneco-confuso - Ace Suza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74" y="1203566"/>
            <a:ext cx="3908425" cy="49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14110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979744" y="1097426"/>
            <a:ext cx="6938247" cy="107004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27703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/>
              <a:t>Fonte https://www.apoiojundiai.com.br/capa.asp?infoid=4198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979744" y="1291155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Lucro real x lucro presumido</a:t>
            </a:r>
          </a:p>
        </p:txBody>
      </p:sp>
      <p:sp>
        <p:nvSpPr>
          <p:cNvPr id="4" name="Retângulo 3"/>
          <p:cNvSpPr/>
          <p:nvPr/>
        </p:nvSpPr>
        <p:spPr>
          <a:xfrm>
            <a:off x="5046133" y="2379957"/>
            <a:ext cx="684241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Diz-se </a:t>
            </a:r>
            <a:r>
              <a:rPr lang="pt-BR" sz="2800" b="1" dirty="0"/>
              <a:t>lucro presumido </a:t>
            </a:r>
            <a:r>
              <a:rPr lang="pt-BR" sz="2800" dirty="0"/>
              <a:t>quando há uma margem de lucro pré-fixada por lei como base para o IRPJ e a CSSL, com faturamento limitado em R$ 78 milhões;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No </a:t>
            </a:r>
            <a:r>
              <a:rPr lang="pt-BR" sz="2800" b="1" dirty="0"/>
              <a:t>lucro real </a:t>
            </a:r>
            <a:r>
              <a:rPr lang="pt-BR" sz="2800" dirty="0"/>
              <a:t>não há margem pré-fixada, tampouco faturamento; é o realmente realizado.</a:t>
            </a:r>
            <a:endParaRPr lang="pt-BR" sz="3600" b="1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0" name="Conector reto 19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31888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331372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endParaRPr lang="pt-BR" sz="700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626643"/>
              </p:ext>
            </p:extLst>
          </p:nvPr>
        </p:nvGraphicFramePr>
        <p:xfrm>
          <a:off x="227504" y="1571578"/>
          <a:ext cx="3799682" cy="3536950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9876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pt-BR" sz="4000" dirty="0">
                <a:solidFill>
                  <a:srgbClr val="FFC000"/>
                </a:solidFill>
                <a:latin typeface="Calibri" panose="020F0502020204030204" pitchFamily="34" charset="0"/>
              </a:rPr>
              <a:t>Depreciações/ amortizações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00565"/>
              </p:ext>
            </p:extLst>
          </p:nvPr>
        </p:nvGraphicFramePr>
        <p:xfrm>
          <a:off x="4859066" y="2442387"/>
          <a:ext cx="6908801" cy="266614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94180">
                  <a:extLst>
                    <a:ext uri="{9D8B030D-6E8A-4147-A177-3AD203B41FA5}">
                      <a16:colId xmlns:a16="http://schemas.microsoft.com/office/drawing/2014/main" val="3247257157"/>
                    </a:ext>
                  </a:extLst>
                </a:gridCol>
                <a:gridCol w="4514621">
                  <a:extLst>
                    <a:ext uri="{9D8B030D-6E8A-4147-A177-3AD203B41FA5}">
                      <a16:colId xmlns:a16="http://schemas.microsoft.com/office/drawing/2014/main" val="3551160352"/>
                    </a:ext>
                  </a:extLst>
                </a:gridCol>
              </a:tblGrid>
              <a:tr h="546606">
                <a:tc gridSpan="2"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Método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164142"/>
                  </a:ext>
                </a:extLst>
              </a:tr>
              <a:tr h="119799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FF0000"/>
                          </a:solidFill>
                        </a:rP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Horas</a:t>
                      </a:r>
                      <a:r>
                        <a:rPr lang="pt-BR" sz="2400" baseline="0" dirty="0"/>
                        <a:t> de trabalho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958739"/>
                  </a:ext>
                </a:extLst>
              </a:tr>
              <a:tr h="92153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Soma</a:t>
                      </a:r>
                      <a:r>
                        <a:rPr lang="pt-BR" sz="2400" baseline="0" dirty="0"/>
                        <a:t> dos dígitos</a:t>
                      </a:r>
                      <a:endParaRPr lang="pt-B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Unidades produzidas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83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07700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1489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Pausa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25520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Parênteses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46778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https://acesuzano.com.br/ace-suzano-e-sebrae-aqui-abrem-inscricoes-para-oficina-ganhe-mercado/boneco-confuso/</a:t>
            </a:r>
          </a:p>
        </p:txBody>
      </p:sp>
      <p:pic>
        <p:nvPicPr>
          <p:cNvPr id="35842" name="Picture 2" descr="boneco-confuso - Ace Suza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74" y="1203566"/>
            <a:ext cx="3908425" cy="49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07130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331372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https://www.capitalresearch.com.br/blog/investimentos/calculo-de-depreciacao/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859069" y="149876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pt-BR" sz="4000" dirty="0">
                <a:solidFill>
                  <a:schemeClr val="bg1"/>
                </a:solidFill>
                <a:latin typeface="Calibri" panose="020F0502020204030204" pitchFamily="34" charset="0"/>
              </a:rPr>
              <a:t>Depreciação linear</a:t>
            </a:r>
          </a:p>
        </p:txBody>
      </p:sp>
      <p:sp>
        <p:nvSpPr>
          <p:cNvPr id="2" name="Retângulo 1"/>
          <p:cNvSpPr/>
          <p:nvPr/>
        </p:nvSpPr>
        <p:spPr>
          <a:xfrm>
            <a:off x="4829620" y="2441139"/>
            <a:ext cx="69382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Open Sans"/>
              </a:rPr>
              <a:t>Ele define que a desvalorização ocorre de forma regular ao longo da vida útil do bem. </a:t>
            </a:r>
          </a:p>
          <a:p>
            <a:pPr algn="ctr"/>
            <a:r>
              <a:rPr lang="pt-BR" b="1" dirty="0">
                <a:latin typeface="Open Sans"/>
              </a:rPr>
              <a:t>DA = (VN – VR) / N</a:t>
            </a:r>
            <a:r>
              <a:rPr lang="pt-BR" dirty="0">
                <a:latin typeface="Open Sans"/>
              </a:rPr>
              <a:t> </a:t>
            </a:r>
          </a:p>
          <a:p>
            <a:endParaRPr lang="pt-BR" dirty="0"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Open Sans"/>
              </a:rPr>
              <a:t>DA = Depreciação Anual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Open Sans"/>
              </a:rPr>
              <a:t>VN = Valor Novo (ou VI ou V0, valor inicial)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trike="dblStrike" dirty="0">
                <a:latin typeface="Open Sans"/>
              </a:rPr>
              <a:t>VR = Valor Residual ou de sucata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Open Sans"/>
              </a:rPr>
              <a:t>N = Vida útil em Número de anos</a:t>
            </a:r>
            <a:r>
              <a:rPr lang="pt-BR" dirty="0">
                <a:solidFill>
                  <a:srgbClr val="868B92"/>
                </a:solidFill>
                <a:latin typeface="Open Sans"/>
              </a:rPr>
              <a:t> </a:t>
            </a:r>
            <a:endParaRPr lang="pt-BR" b="0" i="0" dirty="0">
              <a:solidFill>
                <a:srgbClr val="868B92"/>
              </a:solidFill>
              <a:effectLst/>
              <a:latin typeface="Open Sans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859069" y="4932824"/>
            <a:ext cx="69087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http://normas.receita.fazenda.gov.br/sijut2consulta/anexoOutros.action?idArquivoBinario=36085</a:t>
            </a:r>
            <a:endParaRPr lang="pt-BR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69224" y="2466809"/>
            <a:ext cx="24768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Nivelando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4798" y="3073368"/>
            <a:ext cx="3264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Conhecimento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153205" y="3199664"/>
            <a:ext cx="29037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4232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435087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http://portal.antaq.gov.br/wp-content/uploads/2019/10/Manual_de_Analise_de_EVETA_GPO_out_19.pdf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86804"/>
              </p:ext>
            </p:extLst>
          </p:nvPr>
        </p:nvGraphicFramePr>
        <p:xfrm>
          <a:off x="227504" y="1571584"/>
          <a:ext cx="3799682" cy="3775960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202018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299637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218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9876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pt-BR" sz="4000" dirty="0">
                <a:solidFill>
                  <a:srgbClr val="FFC000"/>
                </a:solidFill>
                <a:latin typeface="Calibri" panose="020F0502020204030204" pitchFamily="34" charset="0"/>
              </a:rPr>
              <a:t>Variações do capital de giro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33469"/>
              </p:ext>
            </p:extLst>
          </p:nvPr>
        </p:nvGraphicFramePr>
        <p:xfrm>
          <a:off x="4829621" y="2524760"/>
          <a:ext cx="6893890" cy="28227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4489">
                  <a:extLst>
                    <a:ext uri="{9D8B030D-6E8A-4147-A177-3AD203B41FA5}">
                      <a16:colId xmlns:a16="http://schemas.microsoft.com/office/drawing/2014/main" val="1484308720"/>
                    </a:ext>
                  </a:extLst>
                </a:gridCol>
                <a:gridCol w="2476963">
                  <a:extLst>
                    <a:ext uri="{9D8B030D-6E8A-4147-A177-3AD203B41FA5}">
                      <a16:colId xmlns:a16="http://schemas.microsoft.com/office/drawing/2014/main" val="2481893313"/>
                    </a:ext>
                  </a:extLst>
                </a:gridCol>
                <a:gridCol w="896049">
                  <a:extLst>
                    <a:ext uri="{9D8B030D-6E8A-4147-A177-3AD203B41FA5}">
                      <a16:colId xmlns:a16="http://schemas.microsoft.com/office/drawing/2014/main" val="1843656832"/>
                    </a:ext>
                  </a:extLst>
                </a:gridCol>
                <a:gridCol w="984714">
                  <a:extLst>
                    <a:ext uri="{9D8B030D-6E8A-4147-A177-3AD203B41FA5}">
                      <a16:colId xmlns:a16="http://schemas.microsoft.com/office/drawing/2014/main" val="3138836368"/>
                    </a:ext>
                  </a:extLst>
                </a:gridCol>
                <a:gridCol w="1581675">
                  <a:extLst>
                    <a:ext uri="{9D8B030D-6E8A-4147-A177-3AD203B41FA5}">
                      <a16:colId xmlns:a16="http://schemas.microsoft.com/office/drawing/2014/main" val="853633039"/>
                    </a:ext>
                  </a:extLst>
                </a:gridCol>
              </a:tblGrid>
              <a:tr h="675381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Grupo</a:t>
                      </a:r>
                      <a:r>
                        <a:rPr lang="pt-BR" baseline="0" dirty="0"/>
                        <a:t> de contas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Conta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Prazo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Rubrica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4991832"/>
                  </a:ext>
                </a:extLst>
              </a:tr>
              <a:tr h="381677">
                <a:tc rowSpan="3">
                  <a:txBody>
                    <a:bodyPr/>
                    <a:lstStyle/>
                    <a:p>
                      <a:r>
                        <a:rPr lang="pt-BR" dirty="0"/>
                        <a:t>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Contas</a:t>
                      </a:r>
                      <a:r>
                        <a:rPr lang="pt-BR" baseline="0" dirty="0"/>
                        <a:t> a receber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4,11%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pt-BR" dirty="0"/>
                        <a:t>Receita</a:t>
                      </a:r>
                      <a:r>
                        <a:rPr lang="pt-BR" baseline="0" dirty="0"/>
                        <a:t> bruta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982299"/>
                  </a:ext>
                </a:extLst>
              </a:tr>
              <a:tr h="381677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Estoques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1,37%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338074"/>
                  </a:ext>
                </a:extLst>
              </a:tr>
              <a:tr h="381677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Impostos a recuperar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4,11%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03630"/>
                  </a:ext>
                </a:extLst>
              </a:tr>
              <a:tr h="381677">
                <a:tc rowSpan="2">
                  <a:txBody>
                    <a:bodyPr/>
                    <a:lstStyle/>
                    <a:p>
                      <a:r>
                        <a:rPr lang="pt-BR" dirty="0"/>
                        <a:t>Passivo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Contas a pagar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4,11%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pt-BR" dirty="0"/>
                        <a:t>Despesas (–) depreciação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268319"/>
                  </a:ext>
                </a:extLst>
              </a:tr>
              <a:tr h="381677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Impostos a pagar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4,11%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76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23832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9224" y="2466809"/>
            <a:ext cx="1489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Pausa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4798" y="3073368"/>
            <a:ext cx="25520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C000"/>
                </a:solidFill>
              </a:rPr>
              <a:t>Parênteses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0" y="6657120"/>
            <a:ext cx="46778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https://acesuzano.com.br/ace-suzano-e-sebrae-aqui-abrem-inscricoes-para-oficina-ganhe-mercado/boneco-confuso/</a:t>
            </a:r>
          </a:p>
        </p:txBody>
      </p:sp>
      <p:pic>
        <p:nvPicPr>
          <p:cNvPr id="35842" name="Picture 2" descr="boneco-confuso - Ace Suza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74" y="1203566"/>
            <a:ext cx="3908425" cy="49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74002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O Balanço Patrimonial e sua utilidade | GeCompan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176" y="2066171"/>
            <a:ext cx="6825117" cy="33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1121653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/>
              <a:t>Fonte https://www.treasy.com.br/blog/necessidade-de-capital-de-giro-ncg/#:~:text=A%20Necessidade%20de%20Capital%20de%20Giro%20(NCG)%20%C3%A9%20o%20valor,pare%20por%20falta%20de%20recursos.&amp;text=Prazos%20M%C3%A9dios%20de%20Pagamento%3A%20%C3%A9,o%20pagamento%20efetivo%20ao%20fornecedor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09645" y="2016968"/>
            <a:ext cx="518804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A Necessidade de Capital de Giro (NCG)</a:t>
            </a:r>
            <a:r>
              <a:rPr lang="pt-BR" sz="2400" dirty="0"/>
              <a:t> é o valor mínimo que uma empresa precisa ter de dinheiro em seu caixa para garantir que sua operação não pare por falta de recursos, calculado por: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r>
              <a:rPr lang="pt-BR" b="1" dirty="0"/>
              <a:t>NCG = Ativo Circulante Operacional – Passivo Circulante Operacional</a:t>
            </a:r>
            <a:endParaRPr lang="pt-BR" sz="2400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8428465" y="2558448"/>
            <a:ext cx="150151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rgbClr val="FFFF00"/>
                </a:solidFill>
              </a:rPr>
              <a:t>Circulante (curto prazo)</a:t>
            </a:r>
          </a:p>
          <a:p>
            <a:endParaRPr lang="pt-BR" sz="1600" dirty="0">
              <a:solidFill>
                <a:srgbClr val="FFFF00"/>
              </a:solidFill>
            </a:endParaRPr>
          </a:p>
          <a:p>
            <a:pPr algn="ctr"/>
            <a:endParaRPr lang="pt-BR" sz="700" dirty="0">
              <a:solidFill>
                <a:srgbClr val="FFFF00"/>
              </a:solidFill>
            </a:endParaRPr>
          </a:p>
          <a:p>
            <a:pPr algn="ctr"/>
            <a:r>
              <a:rPr lang="pt-BR" sz="1100" dirty="0">
                <a:solidFill>
                  <a:srgbClr val="FFFF00"/>
                </a:solidFill>
              </a:rPr>
              <a:t>Não circulante</a:t>
            </a:r>
          </a:p>
          <a:p>
            <a:pPr algn="ctr"/>
            <a:r>
              <a:rPr lang="pt-BR" sz="1100" dirty="0">
                <a:solidFill>
                  <a:srgbClr val="FFFF00"/>
                </a:solidFill>
              </a:rPr>
              <a:t>(longo prazo)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6918762" y="2580025"/>
            <a:ext cx="1440353" cy="63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/>
          <p:cNvSpPr/>
          <p:nvPr/>
        </p:nvSpPr>
        <p:spPr>
          <a:xfrm>
            <a:off x="6918761" y="3210927"/>
            <a:ext cx="1440353" cy="1338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6918761" y="2601605"/>
            <a:ext cx="14403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Circulante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(caixa)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pPr algn="ctr"/>
            <a:r>
              <a:rPr lang="pt-BR" dirty="0">
                <a:solidFill>
                  <a:srgbClr val="FF0000"/>
                </a:solidFill>
              </a:rPr>
              <a:t>Não circulante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(imobilizado)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8428468" y="2580026"/>
            <a:ext cx="1501517" cy="28199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/>
        </p:nvSpPr>
        <p:spPr>
          <a:xfrm>
            <a:off x="8428466" y="2854922"/>
            <a:ext cx="1501517" cy="60265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9516209" y="740847"/>
            <a:ext cx="1555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Capital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10979283" y="770293"/>
            <a:ext cx="1017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Giro</a:t>
            </a:r>
          </a:p>
        </p:txBody>
      </p:sp>
      <p:cxnSp>
        <p:nvCxnSpPr>
          <p:cNvPr id="30" name="Conector reto 29"/>
          <p:cNvCxnSpPr/>
          <p:nvPr/>
        </p:nvCxnSpPr>
        <p:spPr>
          <a:xfrm>
            <a:off x="9660849" y="1345390"/>
            <a:ext cx="2165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78481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tângulo 16"/>
          <p:cNvSpPr/>
          <p:nvPr/>
        </p:nvSpPr>
        <p:spPr>
          <a:xfrm>
            <a:off x="0" y="6657120"/>
            <a:ext cx="458330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Processo </a:t>
            </a:r>
            <a:r>
              <a:rPr lang="pt-BR" sz="700" dirty="0" err="1"/>
              <a:t>Antaq</a:t>
            </a:r>
            <a:r>
              <a:rPr lang="pt-BR" sz="700" dirty="0"/>
              <a:t> 50300.000414/2016-06  e https://www.treasy.com.br/blog/necessidade-de-capital-de-giro-ncg/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9228342" y="743906"/>
            <a:ext cx="1733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Exemplo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10881835" y="769468"/>
            <a:ext cx="1093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VCG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101957"/>
              </p:ext>
            </p:extLst>
          </p:nvPr>
        </p:nvGraphicFramePr>
        <p:xfrm>
          <a:off x="558800" y="1505576"/>
          <a:ext cx="11125201" cy="2016228"/>
        </p:xfrm>
        <a:graphic>
          <a:graphicData uri="http://schemas.openxmlformats.org/drawingml/2006/table">
            <a:tbl>
              <a:tblPr/>
              <a:tblGrid>
                <a:gridCol w="1439333">
                  <a:extLst>
                    <a:ext uri="{9D8B030D-6E8A-4147-A177-3AD203B41FA5}">
                      <a16:colId xmlns:a16="http://schemas.microsoft.com/office/drawing/2014/main" val="1648155265"/>
                    </a:ext>
                  </a:extLst>
                </a:gridCol>
                <a:gridCol w="468489">
                  <a:extLst>
                    <a:ext uri="{9D8B030D-6E8A-4147-A177-3AD203B41FA5}">
                      <a16:colId xmlns:a16="http://schemas.microsoft.com/office/drawing/2014/main" val="1859304204"/>
                    </a:ext>
                  </a:extLst>
                </a:gridCol>
                <a:gridCol w="852311">
                  <a:extLst>
                    <a:ext uri="{9D8B030D-6E8A-4147-A177-3AD203B41FA5}">
                      <a16:colId xmlns:a16="http://schemas.microsoft.com/office/drawing/2014/main" val="2143242268"/>
                    </a:ext>
                  </a:extLst>
                </a:gridCol>
                <a:gridCol w="891823">
                  <a:extLst>
                    <a:ext uri="{9D8B030D-6E8A-4147-A177-3AD203B41FA5}">
                      <a16:colId xmlns:a16="http://schemas.microsoft.com/office/drawing/2014/main" val="4292897382"/>
                    </a:ext>
                  </a:extLst>
                </a:gridCol>
                <a:gridCol w="910178">
                  <a:extLst>
                    <a:ext uri="{9D8B030D-6E8A-4147-A177-3AD203B41FA5}">
                      <a16:colId xmlns:a16="http://schemas.microsoft.com/office/drawing/2014/main" val="3580293255"/>
                    </a:ext>
                  </a:extLst>
                </a:gridCol>
                <a:gridCol w="937581">
                  <a:extLst>
                    <a:ext uri="{9D8B030D-6E8A-4147-A177-3AD203B41FA5}">
                      <a16:colId xmlns:a16="http://schemas.microsoft.com/office/drawing/2014/main" val="25386512"/>
                    </a:ext>
                  </a:extLst>
                </a:gridCol>
                <a:gridCol w="937581">
                  <a:extLst>
                    <a:ext uri="{9D8B030D-6E8A-4147-A177-3AD203B41FA5}">
                      <a16:colId xmlns:a16="http://schemas.microsoft.com/office/drawing/2014/main" val="2251022976"/>
                    </a:ext>
                  </a:extLst>
                </a:gridCol>
                <a:gridCol w="937581">
                  <a:extLst>
                    <a:ext uri="{9D8B030D-6E8A-4147-A177-3AD203B41FA5}">
                      <a16:colId xmlns:a16="http://schemas.microsoft.com/office/drawing/2014/main" val="785414658"/>
                    </a:ext>
                  </a:extLst>
                </a:gridCol>
                <a:gridCol w="937581">
                  <a:extLst>
                    <a:ext uri="{9D8B030D-6E8A-4147-A177-3AD203B41FA5}">
                      <a16:colId xmlns:a16="http://schemas.microsoft.com/office/drawing/2014/main" val="2499110234"/>
                    </a:ext>
                  </a:extLst>
                </a:gridCol>
                <a:gridCol w="937581">
                  <a:extLst>
                    <a:ext uri="{9D8B030D-6E8A-4147-A177-3AD203B41FA5}">
                      <a16:colId xmlns:a16="http://schemas.microsoft.com/office/drawing/2014/main" val="3719900013"/>
                    </a:ext>
                  </a:extLst>
                </a:gridCol>
                <a:gridCol w="937581">
                  <a:extLst>
                    <a:ext uri="{9D8B030D-6E8A-4147-A177-3AD203B41FA5}">
                      <a16:colId xmlns:a16="http://schemas.microsoft.com/office/drawing/2014/main" val="3963710148"/>
                    </a:ext>
                  </a:extLst>
                </a:gridCol>
                <a:gridCol w="937581">
                  <a:extLst>
                    <a:ext uri="{9D8B030D-6E8A-4147-A177-3AD203B41FA5}">
                      <a16:colId xmlns:a16="http://schemas.microsoft.com/office/drawing/2014/main" val="3092445473"/>
                    </a:ext>
                  </a:extLst>
                </a:gridCol>
              </a:tblGrid>
              <a:tr h="9532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SEG. DE GRANEIS VEGETAIS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488219"/>
                  </a:ext>
                </a:extLst>
              </a:tr>
              <a:tr h="24807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Contas a Receber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11,4%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3.521.845,87 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3.693.434,37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3.873.442,25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4.062.287,62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3.968.174,62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3.968.174,62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3.968.174,62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3.968.174,62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3.968.174,62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3.968.174,62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464705"/>
                  </a:ext>
                </a:extLst>
              </a:tr>
              <a:tr h="24807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Estoques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3,6%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1.110.548,23 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1.164.655,45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1.221.417,57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1.280.966,43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1.251.289,65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1.251.289,65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1.251.289,65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1.251.289,65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1.251.289,65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1.251.289,65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355423"/>
                  </a:ext>
                </a:extLst>
              </a:tr>
              <a:tr h="24807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a recuperar e Outros Ativos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1,4%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442.988,77 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464.571,70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487.213,66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510.967,22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499.129,39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499.129,39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499.129,39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499.129,39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499.129,39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499.129,39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875319"/>
                  </a:ext>
                </a:extLst>
              </a:tr>
              <a:tr h="36981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Fornecedores - Contas a pagar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-2,5%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(778.306,65)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(816.226,67)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(856.007,33)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(897.741,01)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(876.942,61)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(876.942,61)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(876.942,61)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(876.942,61)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(876.942,61)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(876.942,61)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51072"/>
                  </a:ext>
                </a:extLst>
              </a:tr>
              <a:tr h="36981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Impostos a pagar e Outros Passivos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-1,2%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(381.462,55)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(400.047,86)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(419.545,09)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(439.999,55)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(429.805,86)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(429.805,86)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(429.805,86)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(429.805,86)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(429.805,86)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(429.805,86)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468529"/>
                  </a:ext>
                </a:extLst>
              </a:tr>
              <a:tr h="13833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Capital de giro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3.915.613,67 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4.106.386,99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4.306.521,05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4.516.480,71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4.411.845,19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4.411.845,19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4.411.845,19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4.411.845,19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4.411.845,19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4.411.845,19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933351"/>
                  </a:ext>
                </a:extLst>
              </a:tr>
              <a:tr h="13833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Variação da NGC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(3.915.613,67)</a:t>
                      </a:r>
                    </a:p>
                  </a:txBody>
                  <a:tcPr marL="4611" marR="4611" marT="46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(190.773,33)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(200.134,06)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(209.959,66)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  104.635,51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4611" marR="4611" marT="4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374368"/>
                  </a:ext>
                </a:extLst>
              </a:tr>
            </a:tbl>
          </a:graphicData>
        </a:graphic>
      </p:graphicFrame>
      <p:cxnSp>
        <p:nvCxnSpPr>
          <p:cNvPr id="28" name="Conector reto 27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tângulo 6"/>
          <p:cNvSpPr/>
          <p:nvPr/>
        </p:nvSpPr>
        <p:spPr>
          <a:xfrm>
            <a:off x="2471654" y="3171154"/>
            <a:ext cx="881145" cy="4571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6948686" y="3154423"/>
            <a:ext cx="4814336" cy="4571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6669237" y="3779729"/>
            <a:ext cx="53064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Roboto"/>
              </a:rPr>
              <a:t>NCG positivo:</a:t>
            </a:r>
            <a:r>
              <a:rPr lang="pt-BR" dirty="0">
                <a:latin typeface="Roboto"/>
              </a:rPr>
              <a:t> a empresa está com superávit de capital de giro, não necessitando recorrer a bancos ou outras fontes de recursos.</a:t>
            </a:r>
          </a:p>
        </p:txBody>
      </p:sp>
      <p:sp>
        <p:nvSpPr>
          <p:cNvPr id="9" name="Retângulo 8"/>
          <p:cNvSpPr/>
          <p:nvPr/>
        </p:nvSpPr>
        <p:spPr>
          <a:xfrm>
            <a:off x="460022" y="377972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>
                <a:latin typeface="Roboto"/>
              </a:rPr>
              <a:t>NCG negativo</a:t>
            </a:r>
            <a:r>
              <a:rPr lang="pt-BR" dirty="0">
                <a:latin typeface="Roboto"/>
              </a:rPr>
              <a:t>: a empresa tem um déficit em seu capital de giro, significando que parte do seu Capital de Giro vem de recursos de terceiros, o que pode levar a despesas com pagamento de juros por este capital e em alguns casos, demonstrar um quadro de risco associado ao negócio.</a:t>
            </a:r>
          </a:p>
        </p:txBody>
      </p:sp>
    </p:spTree>
    <p:extLst>
      <p:ext uri="{BB962C8B-B14F-4D97-AF65-F5344CB8AC3E}">
        <p14:creationId xmlns:p14="http://schemas.microsoft.com/office/powerpoint/2010/main" val="245491164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07" y="1663028"/>
            <a:ext cx="11725943" cy="4629821"/>
          </a:xfrm>
          <a:prstGeom prst="rect">
            <a:avLst/>
          </a:prstGeom>
        </p:spPr>
      </p:pic>
      <p:sp>
        <p:nvSpPr>
          <p:cNvPr id="43" name="Retângulo 42"/>
          <p:cNvSpPr/>
          <p:nvPr/>
        </p:nvSpPr>
        <p:spPr>
          <a:xfrm>
            <a:off x="0" y="6657120"/>
            <a:ext cx="193835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Processo </a:t>
            </a:r>
            <a:r>
              <a:rPr lang="pt-BR" sz="700" dirty="0" err="1"/>
              <a:t>Antaq</a:t>
            </a:r>
            <a:r>
              <a:rPr lang="pt-BR" sz="700" dirty="0"/>
              <a:t> 50300.000414/2016-06 </a:t>
            </a:r>
          </a:p>
        </p:txBody>
      </p:sp>
      <p:sp>
        <p:nvSpPr>
          <p:cNvPr id="44" name="Retângulo 43"/>
          <p:cNvSpPr/>
          <p:nvPr/>
        </p:nvSpPr>
        <p:spPr>
          <a:xfrm>
            <a:off x="133350" y="5458180"/>
            <a:ext cx="11798300" cy="2413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9228342" y="743906"/>
            <a:ext cx="1733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Exemplo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0881835" y="769468"/>
            <a:ext cx="1093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VCG</a:t>
            </a:r>
          </a:p>
        </p:txBody>
      </p:sp>
      <p:cxnSp>
        <p:nvCxnSpPr>
          <p:cNvPr id="12" name="Conector reto 11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56830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/>
          <p:cNvSpPr/>
          <p:nvPr/>
        </p:nvSpPr>
        <p:spPr>
          <a:xfrm>
            <a:off x="4829621" y="1470548"/>
            <a:ext cx="6938247" cy="787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6657120"/>
            <a:ext cx="331372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</a:t>
            </a:r>
            <a:r>
              <a:rPr lang="pt-BR" sz="700" dirty="0">
                <a:hlinkClick r:id="rId4"/>
              </a:rPr>
              <a:t>Http://web.antaq.gov.br/portalv3/pdf/NotasTecnicas/NotaTecnica072014.pdf</a:t>
            </a:r>
            <a:endParaRPr lang="pt-BR" sz="700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34853"/>
              </p:ext>
            </p:extLst>
          </p:nvPr>
        </p:nvGraphicFramePr>
        <p:xfrm>
          <a:off x="227504" y="1571578"/>
          <a:ext cx="3799682" cy="3552190"/>
        </p:xfrm>
        <a:graphic>
          <a:graphicData uri="http://schemas.openxmlformats.org/drawingml/2006/table">
            <a:tbl>
              <a:tblPr/>
              <a:tblGrid>
                <a:gridCol w="3799682">
                  <a:extLst>
                    <a:ext uri="{9D8B030D-6E8A-4147-A177-3AD203B41FA5}">
                      <a16:colId xmlns:a16="http://schemas.microsoft.com/office/drawing/2014/main" val="4796995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RECEITA OPERACIONAL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867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Prestação de serviços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54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DEDUÇÕES DA RECEITA BRUTA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7390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Impostos sobre vendas (ISS/PIS/COFINS)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94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RECEITA OPERACIONAL LÍQUIDA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79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DESPESAS OPERACIONAIS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com vendas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2605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Despesas administrativas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26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DESPESAS/ RECEITAS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789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Vendas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7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Custo de itens do ativo imobilizado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87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LAJIDA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189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IR/CSLL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506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Depreciações/ amortizações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151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(+-) Variações do capital de giro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854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Investimentos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933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(=) RESULTADO LÍQUIDO DO EXERCÍCIO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98279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9228342" y="743906"/>
            <a:ext cx="2026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Formando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1110379" y="783659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DRE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9275432" y="1345390"/>
            <a:ext cx="2620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859069" y="1498768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pt-BR" sz="4000" dirty="0">
                <a:solidFill>
                  <a:srgbClr val="FFC000"/>
                </a:solidFill>
                <a:latin typeface="Calibri" panose="020F0502020204030204" pitchFamily="34" charset="0"/>
              </a:rPr>
              <a:t>Investimentos</a:t>
            </a:r>
          </a:p>
        </p:txBody>
      </p:sp>
      <p:sp>
        <p:nvSpPr>
          <p:cNvPr id="2" name="Retângulo 1"/>
          <p:cNvSpPr/>
          <p:nvPr/>
        </p:nvSpPr>
        <p:spPr>
          <a:xfrm>
            <a:off x="4863088" y="2425470"/>
            <a:ext cx="68713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O estudo deve contemplar os </a:t>
            </a:r>
            <a:r>
              <a:rPr lang="pt-BR" sz="2400" b="1" dirty="0"/>
              <a:t>investimentos necessários para a movimentação e armazenagem</a:t>
            </a:r>
            <a:r>
              <a:rPr lang="pt-BR" sz="2400" dirty="0"/>
              <a:t> dos fluxos de cargas previstos para o projeto.</a:t>
            </a:r>
          </a:p>
          <a:p>
            <a:r>
              <a:rPr lang="pt-BR" sz="2400" dirty="0"/>
              <a:t>A análise dos investimentos tem por objetivo, sobretudo, analisar pertinência dos </a:t>
            </a:r>
            <a:r>
              <a:rPr lang="pt-BR" sz="2400" b="1" dirty="0"/>
              <a:t>valores e sua adequação física</a:t>
            </a:r>
            <a:r>
              <a:rPr lang="pt-BR" sz="2400" dirty="0"/>
              <a:t>. 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26801" y="4965771"/>
            <a:ext cx="67762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Outros </a:t>
            </a:r>
            <a:r>
              <a:rPr lang="pt-BR" sz="2800" dirty="0" err="1"/>
              <a:t>EVTEA’s</a:t>
            </a:r>
            <a:r>
              <a:rPr lang="pt-BR" sz="2800" dirty="0"/>
              <a:t>; </a:t>
            </a:r>
            <a:r>
              <a:rPr lang="pt-BR" sz="2800" dirty="0" err="1"/>
              <a:t>SicPort</a:t>
            </a:r>
            <a:r>
              <a:rPr lang="pt-BR" sz="2800" dirty="0"/>
              <a:t>; </a:t>
            </a:r>
          </a:p>
          <a:p>
            <a:pPr algn="ctr"/>
            <a:r>
              <a:rPr lang="pt-BR" sz="2800" dirty="0"/>
              <a:t>Propostas comerciais; Estudos da EPL</a:t>
            </a:r>
          </a:p>
        </p:txBody>
      </p:sp>
    </p:spTree>
    <p:extLst>
      <p:ext uri="{BB962C8B-B14F-4D97-AF65-F5344CB8AC3E}">
        <p14:creationId xmlns:p14="http://schemas.microsoft.com/office/powerpoint/2010/main" val="400490166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ângulo Arredondado 41"/>
          <p:cNvSpPr/>
          <p:nvPr/>
        </p:nvSpPr>
        <p:spPr>
          <a:xfrm>
            <a:off x="8195328" y="5287396"/>
            <a:ext cx="3309631" cy="62354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C000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195328" y="5244338"/>
            <a:ext cx="33874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FFC000"/>
                </a:solidFill>
              </a:rPr>
              <a:t>Estudos de caso</a:t>
            </a:r>
          </a:p>
        </p:txBody>
      </p:sp>
      <p:sp>
        <p:nvSpPr>
          <p:cNvPr id="40" name="Retângulo Arredondado 39"/>
          <p:cNvSpPr/>
          <p:nvPr/>
        </p:nvSpPr>
        <p:spPr>
          <a:xfrm>
            <a:off x="8313470" y="3473427"/>
            <a:ext cx="3061668" cy="129169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313469" y="3398201"/>
            <a:ext cx="31511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O modelo do </a:t>
            </a:r>
          </a:p>
          <a:p>
            <a:r>
              <a:rPr lang="pt-BR" sz="4000" dirty="0">
                <a:solidFill>
                  <a:schemeClr val="bg1"/>
                </a:solidFill>
              </a:rPr>
              <a:t>fluxo de caixa</a:t>
            </a:r>
          </a:p>
        </p:txBody>
      </p:sp>
      <p:sp>
        <p:nvSpPr>
          <p:cNvPr id="41" name="Retângulo Arredondado 40"/>
          <p:cNvSpPr/>
          <p:nvPr/>
        </p:nvSpPr>
        <p:spPr>
          <a:xfrm>
            <a:off x="4178795" y="4415364"/>
            <a:ext cx="3542262" cy="20041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127953" y="4401961"/>
            <a:ext cx="36439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Metodologia do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cálculo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do reequilíbrio</a:t>
            </a:r>
          </a:p>
        </p:txBody>
      </p:sp>
      <p:sp>
        <p:nvSpPr>
          <p:cNvPr id="38" name="Retângulo Arredondado 37"/>
          <p:cNvSpPr/>
          <p:nvPr/>
        </p:nvSpPr>
        <p:spPr>
          <a:xfrm>
            <a:off x="7240239" y="2205547"/>
            <a:ext cx="4780590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7240239" y="2157236"/>
            <a:ext cx="4883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O contexto institucional</a:t>
            </a:r>
          </a:p>
        </p:txBody>
      </p:sp>
      <p:sp>
        <p:nvSpPr>
          <p:cNvPr id="39" name="Retângulo Arredondado 38"/>
          <p:cNvSpPr/>
          <p:nvPr/>
        </p:nvSpPr>
        <p:spPr>
          <a:xfrm>
            <a:off x="4423734" y="2789131"/>
            <a:ext cx="2778034" cy="124910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4423733" y="2714794"/>
            <a:ext cx="28216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Fatores de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desequilíbrio</a:t>
            </a:r>
          </a:p>
        </p:txBody>
      </p:sp>
      <p:sp>
        <p:nvSpPr>
          <p:cNvPr id="37" name="Retângulo Arredondado 36"/>
          <p:cNvSpPr/>
          <p:nvPr/>
        </p:nvSpPr>
        <p:spPr>
          <a:xfrm>
            <a:off x="5353179" y="1150178"/>
            <a:ext cx="4402167" cy="660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5353178" y="1089289"/>
            <a:ext cx="4402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Análise do equilíbrio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224" y="2303122"/>
            <a:ext cx="31547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Praticando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4241" y="2970043"/>
            <a:ext cx="330731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dirty="0">
                <a:solidFill>
                  <a:srgbClr val="FFC000"/>
                </a:solidFill>
              </a:rPr>
              <a:t>Equilíbrio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197568" y="3199664"/>
            <a:ext cx="3864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23975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Arredondado 15"/>
          <p:cNvSpPr/>
          <p:nvPr/>
        </p:nvSpPr>
        <p:spPr>
          <a:xfrm>
            <a:off x="201176" y="1339201"/>
            <a:ext cx="6938247" cy="104388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230624" y="1367421"/>
            <a:ext cx="6908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pt-BR" sz="4000" dirty="0">
                <a:solidFill>
                  <a:schemeClr val="bg1"/>
                </a:solidFill>
                <a:latin typeface="Calibri" panose="020F0502020204030204" pitchFamily="34" charset="0"/>
              </a:rPr>
              <a:t>Prorrogação + 10 anos</a:t>
            </a:r>
          </a:p>
          <a:p>
            <a:pPr algn="ctr" fontAlgn="b"/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</a:rPr>
              <a:t>(Hipotético, sem nenhum valor real, apenas ilustrativo)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tângulo 16"/>
          <p:cNvSpPr/>
          <p:nvPr/>
        </p:nvSpPr>
        <p:spPr>
          <a:xfrm>
            <a:off x="0" y="6657120"/>
            <a:ext cx="143981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 http://ri.santosbrasil.com.br/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71184"/>
            <a:ext cx="12189950" cy="3640903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7686936" y="1155756"/>
            <a:ext cx="4013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pt-BR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Data-base: 2018</a:t>
            </a:r>
          </a:p>
          <a:p>
            <a:pPr algn="ctr" fontAlgn="b"/>
            <a:r>
              <a:rPr lang="pt-BR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Data focal: 2019 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13872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9662965" y="746492"/>
            <a:ext cx="1353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Estudo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924112" y="770293"/>
            <a:ext cx="1103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Caso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9722940" y="1345390"/>
            <a:ext cx="2165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853826"/>
              </p:ext>
            </p:extLst>
          </p:nvPr>
        </p:nvGraphicFramePr>
        <p:xfrm>
          <a:off x="596765" y="1534647"/>
          <a:ext cx="10850063" cy="4877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" r:id="rId4" imgW="11398276" imgH="5124381" progId="Excel.Sheet.12">
                  <p:embed/>
                </p:oleObj>
              </mc:Choice>
              <mc:Fallback>
                <p:oleObj name="Planilha" r:id="rId4" imgW="11398276" imgH="5124381" progId="Excel.Sheet.12">
                  <p:embed/>
                  <p:pic>
                    <p:nvPicPr>
                      <p:cNvPr id="5" name="Objeto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6765" y="1534647"/>
                        <a:ext cx="10850063" cy="4877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tângulo 13"/>
          <p:cNvSpPr/>
          <p:nvPr/>
        </p:nvSpPr>
        <p:spPr>
          <a:xfrm>
            <a:off x="522816" y="6214535"/>
            <a:ext cx="10924012" cy="19810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 rot="5400000">
            <a:off x="6175611" y="3550136"/>
            <a:ext cx="4877996" cy="84702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46386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Arredondado 19"/>
          <p:cNvSpPr/>
          <p:nvPr/>
        </p:nvSpPr>
        <p:spPr>
          <a:xfrm>
            <a:off x="1681435" y="4514690"/>
            <a:ext cx="8888873" cy="122570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9662965" y="746492"/>
            <a:ext cx="1353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Estudo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924112" y="770293"/>
            <a:ext cx="1103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Caso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9722940" y="1345390"/>
            <a:ext cx="2165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tângulo Arredondado 11"/>
          <p:cNvSpPr/>
          <p:nvPr/>
        </p:nvSpPr>
        <p:spPr>
          <a:xfrm>
            <a:off x="1681434" y="2021626"/>
            <a:ext cx="8888876" cy="145159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 12"/>
              <p:cNvSpPr/>
              <p:nvPr/>
            </p:nvSpPr>
            <p:spPr>
              <a:xfrm>
                <a:off x="1750089" y="2249707"/>
                <a:ext cx="8820219" cy="9505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pt-BR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a:rPr lang="pt-BR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d>
                          <m:dPr>
                            <m:ctrlPr>
                              <a:rPr lang="pt-BR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pt-BR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𝑅𝑑</m:t>
                    </m:r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=8,23%</m:t>
                    </m:r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Retâ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089" y="2249707"/>
                <a:ext cx="8820219" cy="9505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Arredondado 15"/>
          <p:cNvSpPr/>
          <p:nvPr/>
        </p:nvSpPr>
        <p:spPr>
          <a:xfrm>
            <a:off x="1681434" y="3547483"/>
            <a:ext cx="8888875" cy="88340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/>
              <p:cNvSpPr txBox="1"/>
              <p:nvPr/>
            </p:nvSpPr>
            <p:spPr>
              <a:xfrm>
                <a:off x="3319066" y="3596899"/>
                <a:ext cx="6146985" cy="6674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2800" dirty="0">
                    <a:solidFill>
                      <a:schemeClr val="bg1"/>
                    </a:solidFill>
                  </a:rPr>
                  <a:t>VP = </a:t>
                </a:r>
                <a:r>
                  <a:rPr lang="pt-BR" sz="3600" i="1" dirty="0">
                    <a:solidFill>
                      <a:schemeClr val="bg1"/>
                    </a:solidFill>
                  </a:rPr>
                  <a:t>capital</a:t>
                </a:r>
                <a:r>
                  <a:rPr lang="pt-BR" sz="2800" dirty="0">
                    <a:solidFill>
                      <a:schemeClr val="bg1"/>
                    </a:solidFill>
                  </a:rPr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pt-BR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pt-BR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pt-BR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=16,65%</m:t>
                    </m:r>
                  </m:oMath>
                </a14:m>
                <a:endParaRPr lang="pt-B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066" y="3596899"/>
                <a:ext cx="6146985" cy="667427"/>
              </a:xfrm>
              <a:prstGeom prst="rect">
                <a:avLst/>
              </a:prstGeom>
              <a:blipFill>
                <a:blip r:embed="rId5"/>
                <a:stretch>
                  <a:fillRect l="-3469" t="-21818" b="-227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/>
              <p:cNvSpPr txBox="1"/>
              <p:nvPr/>
            </p:nvSpPr>
            <p:spPr>
              <a:xfrm>
                <a:off x="2912666" y="4630589"/>
                <a:ext cx="6621120" cy="8581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36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𝑃𝐿</m:t>
                        </m:r>
                      </m:sub>
                    </m:sSub>
                  </m:oMath>
                </a14:m>
                <a:r>
                  <a:rPr lang="pt-BR" sz="3600" dirty="0">
                    <a:solidFill>
                      <a:schemeClr val="bg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pt-BR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3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𝐹𝑐</m:t>
                                </m:r>
                              </m:e>
                              <m:sub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pt-BR" sz="36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=101.449.346</m:t>
                        </m:r>
                      </m:e>
                    </m:nary>
                  </m:oMath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666" y="4630589"/>
                <a:ext cx="6621120" cy="858184"/>
              </a:xfrm>
              <a:prstGeom prst="rect">
                <a:avLst/>
              </a:prstGeom>
              <a:blipFill>
                <a:blip r:embed="rId6"/>
                <a:stretch>
                  <a:fillRect t="-2857"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51028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621845"/>
              </p:ext>
            </p:extLst>
          </p:nvPr>
        </p:nvGraphicFramePr>
        <p:xfrm>
          <a:off x="565768" y="1534647"/>
          <a:ext cx="10850400" cy="4878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" r:id="rId3" imgW="11398276" imgH="5124381" progId="Excel.Sheet.12">
                  <p:embed/>
                </p:oleObj>
              </mc:Choice>
              <mc:Fallback>
                <p:oleObj name="Planilha" r:id="rId3" imgW="11398276" imgH="5124381" progId="Excel.Sheet.12">
                  <p:embed/>
                  <p:pic>
                    <p:nvPicPr>
                      <p:cNvPr id="2" name="Objeto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5768" y="1534647"/>
                        <a:ext cx="10850400" cy="4878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9662965" y="746492"/>
            <a:ext cx="1353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Estudo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924112" y="770293"/>
            <a:ext cx="1103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Caso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9722940" y="1345390"/>
            <a:ext cx="2165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522816" y="6214535"/>
            <a:ext cx="10924012" cy="19810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 rot="5400000">
            <a:off x="8585773" y="3550136"/>
            <a:ext cx="4877996" cy="84702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22816" y="3098802"/>
            <a:ext cx="10924012" cy="44590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12351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Arredondado 19"/>
          <p:cNvSpPr/>
          <p:nvPr/>
        </p:nvSpPr>
        <p:spPr>
          <a:xfrm>
            <a:off x="1681435" y="4514690"/>
            <a:ext cx="8888873" cy="122570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>
              <a:solidFill>
                <a:schemeClr val="bg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9662965" y="746492"/>
            <a:ext cx="1353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Estudo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924112" y="770293"/>
            <a:ext cx="1103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C000"/>
                </a:solidFill>
              </a:rPr>
              <a:t>Caso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9722940" y="1345390"/>
            <a:ext cx="2165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tângulo Arredondado 11"/>
          <p:cNvSpPr/>
          <p:nvPr/>
        </p:nvSpPr>
        <p:spPr>
          <a:xfrm>
            <a:off x="1681434" y="2021626"/>
            <a:ext cx="8888876" cy="145159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 12"/>
              <p:cNvSpPr/>
              <p:nvPr/>
            </p:nvSpPr>
            <p:spPr>
              <a:xfrm>
                <a:off x="1750089" y="2249707"/>
                <a:ext cx="8820219" cy="9505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pt-BR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a:rPr lang="pt-BR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d>
                          <m:dPr>
                            <m:ctrlPr>
                              <a:rPr lang="pt-BR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pt-BR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𝑅𝑑</m:t>
                    </m:r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=9,92%</m:t>
                    </m:r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Retâ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089" y="2249707"/>
                <a:ext cx="8820219" cy="9505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Arredondado 15"/>
          <p:cNvSpPr/>
          <p:nvPr/>
        </p:nvSpPr>
        <p:spPr>
          <a:xfrm>
            <a:off x="1681434" y="3547483"/>
            <a:ext cx="8888875" cy="88340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/>
              <p:cNvSpPr txBox="1"/>
              <p:nvPr/>
            </p:nvSpPr>
            <p:spPr>
              <a:xfrm>
                <a:off x="3319066" y="3596899"/>
                <a:ext cx="6146985" cy="6674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2800" dirty="0">
                    <a:solidFill>
                      <a:schemeClr val="bg1"/>
                    </a:solidFill>
                  </a:rPr>
                  <a:t>VP = </a:t>
                </a:r>
                <a:r>
                  <a:rPr lang="pt-BR" sz="3600" i="1" dirty="0">
                    <a:solidFill>
                      <a:schemeClr val="bg1"/>
                    </a:solidFill>
                  </a:rPr>
                  <a:t>capital</a:t>
                </a:r>
                <a:r>
                  <a:rPr lang="pt-BR" sz="2800" dirty="0">
                    <a:solidFill>
                      <a:schemeClr val="bg1"/>
                    </a:solidFill>
                  </a:rPr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pt-BR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pt-BR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pt-BR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=8,23%</m:t>
                    </m:r>
                  </m:oMath>
                </a14:m>
                <a:endParaRPr lang="pt-B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066" y="3596899"/>
                <a:ext cx="6146985" cy="667427"/>
              </a:xfrm>
              <a:prstGeom prst="rect">
                <a:avLst/>
              </a:prstGeom>
              <a:blipFill>
                <a:blip r:embed="rId5"/>
                <a:stretch>
                  <a:fillRect l="-3469" t="-21818" b="-227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/>
              <p:cNvSpPr txBox="1"/>
              <p:nvPr/>
            </p:nvSpPr>
            <p:spPr>
              <a:xfrm>
                <a:off x="3718473" y="4591078"/>
                <a:ext cx="6621120" cy="8581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36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𝑃𝐿</m:t>
                        </m:r>
                      </m:sub>
                    </m:sSub>
                  </m:oMath>
                </a14:m>
                <a:r>
                  <a:rPr lang="pt-BR" sz="3600" dirty="0">
                    <a:solidFill>
                      <a:schemeClr val="bg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pt-BR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3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𝐹𝑐</m:t>
                                </m:r>
                              </m:e>
                              <m:sub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pt-BR" sz="36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a:rPr lang="pt-B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=0,00</m:t>
                        </m:r>
                      </m:e>
                    </m:nary>
                  </m:oMath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473" y="4591078"/>
                <a:ext cx="6621120" cy="858184"/>
              </a:xfrm>
              <a:prstGeom prst="rect">
                <a:avLst/>
              </a:prstGeom>
              <a:blipFill>
                <a:blip r:embed="rId6"/>
                <a:stretch>
                  <a:fillRect t="-2837" b="-99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8487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4"/>
          <p:cNvSpPr/>
          <p:nvPr/>
        </p:nvSpPr>
        <p:spPr>
          <a:xfrm>
            <a:off x="0" y="6657120"/>
            <a:ext cx="556915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Fonte: https://www.istockphoto.com/br/foto/pensativo-empres%C3%A1rio-com-ponto-de-interroga%C3%A7%C3%A3o-gm480169007-36474190</a:t>
            </a:r>
          </a:p>
        </p:txBody>
      </p:sp>
      <p:pic>
        <p:nvPicPr>
          <p:cNvPr id="58370" name="Picture 2" descr="Foto de Pensativo Empresário Com Ponto De Interrogação e mais fotos de  stock de Abstrato - iStock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C1C1C1"/>
              </a:clrFrom>
              <a:clrTo>
                <a:srgbClr val="C1C1C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72" y="1203566"/>
            <a:ext cx="4042433" cy="5054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 Explicativo em Nuvem 1"/>
          <p:cNvSpPr/>
          <p:nvPr/>
        </p:nvSpPr>
        <p:spPr>
          <a:xfrm flipH="1">
            <a:off x="1377245" y="1894910"/>
            <a:ext cx="5650088" cy="3027045"/>
          </a:xfrm>
          <a:prstGeom prst="cloudCallout">
            <a:avLst>
              <a:gd name="adj1" fmla="val -77177"/>
              <a:gd name="adj2" fmla="val -5374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1689150" y="2170178"/>
            <a:ext cx="48711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Há outra forma de valorar a área do arrendamento </a:t>
            </a:r>
          </a:p>
          <a:p>
            <a:pPr algn="ctr"/>
            <a:r>
              <a:rPr lang="pt-BR" sz="3600" dirty="0">
                <a:solidFill>
                  <a:schemeClr val="bg1"/>
                </a:solidFill>
              </a:rPr>
              <a:t>portuário?</a:t>
            </a:r>
          </a:p>
        </p:txBody>
      </p:sp>
    </p:spTree>
    <p:extLst>
      <p:ext uri="{BB962C8B-B14F-4D97-AF65-F5344CB8AC3E}">
        <p14:creationId xmlns:p14="http://schemas.microsoft.com/office/powerpoint/2010/main" val="77368819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/>
        </p:nvSpPr>
        <p:spPr>
          <a:xfrm>
            <a:off x="2127345" y="249459"/>
            <a:ext cx="10064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Capacitação para o desenvolvimento e gerenciamento de projetos, incluindo a elaboração de estudos de viabilidade técnica, econômica e ambiental. </a:t>
            </a:r>
            <a:r>
              <a:rPr lang="pt-BR" sz="2000" b="1" dirty="0">
                <a:latin typeface="Calibri" panose="020F0502020204030204" pitchFamily="34" charset="0"/>
              </a:rPr>
              <a:t>Modelagem econômico-financeira</a:t>
            </a:r>
            <a:endParaRPr lang="pt-BR" sz="2000" b="1" dirty="0"/>
          </a:p>
          <a:p>
            <a:endParaRPr lang="pt-BR" sz="2000" b="1" dirty="0"/>
          </a:p>
        </p:txBody>
      </p:sp>
      <p:pic>
        <p:nvPicPr>
          <p:cNvPr id="32" name="Picture 12" descr="CORONAVÍRUS: Contran suspende prazo da CNH e de outros serviços do Sistema  Nacional de Trânsito – RCBarbos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9" y="36401"/>
            <a:ext cx="2170141" cy="133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4"/>
          <p:cNvSpPr/>
          <p:nvPr/>
        </p:nvSpPr>
        <p:spPr>
          <a:xfrm>
            <a:off x="0" y="6657120"/>
            <a:ext cx="2202847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00" dirty="0"/>
              <a:t>https://www.colegioliberdadeobjetivo.com.br/obrigado</a:t>
            </a:r>
          </a:p>
        </p:txBody>
      </p:sp>
      <p:pic>
        <p:nvPicPr>
          <p:cNvPr id="61442" name="Picture 2" descr="Obrigado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179" y="2165469"/>
            <a:ext cx="5554486" cy="241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0" y="44560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Renildo Barros</a:t>
            </a:r>
          </a:p>
        </p:txBody>
      </p:sp>
    </p:spTree>
    <p:extLst>
      <p:ext uri="{BB962C8B-B14F-4D97-AF65-F5344CB8AC3E}">
        <p14:creationId xmlns:p14="http://schemas.microsoft.com/office/powerpoint/2010/main" val="400114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66A7F107A78542809C04863AAF6904" ma:contentTypeVersion="19" ma:contentTypeDescription="Crie um novo documento." ma:contentTypeScope="" ma:versionID="51191a4cb565485eb463083ca7c2737a">
  <xsd:schema xmlns:xsd="http://www.w3.org/2001/XMLSchema" xmlns:xs="http://www.w3.org/2001/XMLSchema" xmlns:p="http://schemas.microsoft.com/office/2006/metadata/properties" xmlns:ns2="524b9e3a-2c6e-4caf-a4a6-9107747bc51e" xmlns:ns3="f913ff35-f7e5-46dc-a5a7-c9164ae7e8fd" targetNamespace="http://schemas.microsoft.com/office/2006/metadata/properties" ma:root="true" ma:fieldsID="13929d0489311a9f46074467b1a33de9" ns2:_="" ns3:_="">
    <xsd:import namespace="524b9e3a-2c6e-4caf-a4a6-9107747bc51e"/>
    <xsd:import namespace="f913ff35-f7e5-46dc-a5a7-c9164ae7e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b9e3a-2c6e-4caf-a4a6-9107747b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79a47a05-30c7-4e3a-83e8-a72346a22e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3ff35-f7e5-46dc-a5a7-c9164ae7e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075f16c-1fcb-4655-b55f-919d5750d410}" ma:internalName="TaxCatchAll" ma:showField="CatchAllData" ma:web="f913ff35-f7e5-46dc-a5a7-c9164ae7e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4b9e3a-2c6e-4caf-a4a6-9107747bc51e">
      <Terms xmlns="http://schemas.microsoft.com/office/infopath/2007/PartnerControls"/>
    </lcf76f155ced4ddcb4097134ff3c332f>
    <TaxCatchAll xmlns="f913ff35-f7e5-46dc-a5a7-c9164ae7e8fd" xsi:nil="true"/>
  </documentManagement>
</p:properties>
</file>

<file path=customXml/itemProps1.xml><?xml version="1.0" encoding="utf-8"?>
<ds:datastoreItem xmlns:ds="http://schemas.openxmlformats.org/officeDocument/2006/customXml" ds:itemID="{1A06B445-275B-432C-959E-89816CEFD8A9}"/>
</file>

<file path=customXml/itemProps2.xml><?xml version="1.0" encoding="utf-8"?>
<ds:datastoreItem xmlns:ds="http://schemas.openxmlformats.org/officeDocument/2006/customXml" ds:itemID="{07E25550-B1FE-43FF-82F3-BB5FEE976237}"/>
</file>

<file path=customXml/itemProps3.xml><?xml version="1.0" encoding="utf-8"?>
<ds:datastoreItem xmlns:ds="http://schemas.openxmlformats.org/officeDocument/2006/customXml" ds:itemID="{45A84CFF-EB11-4449-997A-56E61A31ABA1}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27753</TotalTime>
  <Words>14503</Words>
  <Application>Microsoft Office PowerPoint</Application>
  <PresentationFormat>Widescreen</PresentationFormat>
  <Paragraphs>2552</Paragraphs>
  <Slides>150</Slides>
  <Notes>146</Notes>
  <HiddenSlides>0</HiddenSlides>
  <MMClips>0</MMClips>
  <ScaleCrop>false</ScaleCrop>
  <HeadingPairs>
    <vt:vector size="8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150</vt:i4>
      </vt:variant>
    </vt:vector>
  </HeadingPairs>
  <TitlesOfParts>
    <vt:vector size="165" baseType="lpstr">
      <vt:lpstr>Arial</vt:lpstr>
      <vt:lpstr>Calibri</vt:lpstr>
      <vt:lpstr>Cambria Math</vt:lpstr>
      <vt:lpstr>Helvetica</vt:lpstr>
      <vt:lpstr>Merriweather</vt:lpstr>
      <vt:lpstr>Open Sans</vt:lpstr>
      <vt:lpstr>Roboto</vt:lpstr>
      <vt:lpstr>Times New Roman</vt:lpstr>
      <vt:lpstr>Trebuchet MS</vt:lpstr>
      <vt:lpstr>Tw Cen MT</vt:lpstr>
      <vt:lpstr>Tw Cen MT Condensed</vt:lpstr>
      <vt:lpstr>Wingdings</vt:lpstr>
      <vt:lpstr>Wingdings 3</vt:lpstr>
      <vt:lpstr>Integral</vt:lpstr>
      <vt:lpstr>Planilha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Fabricio Henrique Tavares Fernandes</dc:creator>
  <cp:lastModifiedBy>Renildo Barros da Silva Junior</cp:lastModifiedBy>
  <cp:revision>1461</cp:revision>
  <dcterms:created xsi:type="dcterms:W3CDTF">2017-02-14T11:53:38Z</dcterms:created>
  <dcterms:modified xsi:type="dcterms:W3CDTF">2026-03-08T04:29:19Z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0x0101000A66A7F107A78542809C04863AAF6904</vt:lpwstr>
  </property>
  <property fmtid="{D5CDD505-2E9C-101B-9397-08002B2CF9AE}" pid="3" name="MediaServiceImageTags">
    <vt:lpwstr/>
  </property>
</Properties>
</file>