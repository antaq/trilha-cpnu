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Open Sans 1 Bold" charset="1" panose="00000000000000000000"/>
      <p:regular r:id="rId51"/>
    </p:embeddedFont>
    <p:embeddedFont>
      <p:font typeface="Montaser Arabic Bold" charset="1" panose="00000800000000000000"/>
      <p:regular r:id="rId52"/>
    </p:embeddedFont>
    <p:embeddedFont>
      <p:font typeface="Montserrat" charset="1" panose="00000500000000000000"/>
      <p:regular r:id="rId53"/>
    </p:embeddedFont>
    <p:embeddedFont>
      <p:font typeface="Montserrat Bold" charset="1" panose="00000800000000000000"/>
      <p:regular r:id="rId54"/>
    </p:embeddedFont>
    <p:embeddedFont>
      <p:font typeface="Montserrat Ultra-Bold" charset="1" panose="00000900000000000000"/>
      <p:regular r:id="rId55"/>
    </p:embeddedFont>
    <p:embeddedFont>
      <p:font typeface="Nunito Bold" charset="1" panose="00000000000000000000"/>
      <p:regular r:id="rId56"/>
    </p:embeddedFont>
    <p:embeddedFont>
      <p:font typeface="Open Sans 1" charset="1" panose="00000000000000000000"/>
      <p:regular r:id="rId57"/>
    </p:embeddedFont>
    <p:embeddedFont>
      <p:font typeface="Open Sans 1 Italics" charset="1" panose="00000000000000000000"/>
      <p:regular r:id="rId58"/>
    </p:embeddedFont>
    <p:embeddedFont>
      <p:font typeface="Open Sans 1 Semi-Bold" charset="1" panose="00000000000000000000"/>
      <p:regular r:id="rId59"/>
    </p:embeddedFont>
    <p:embeddedFont>
      <p:font typeface="Open Sans Hebrew Condensed" charset="1" panose="00000506000000000000"/>
      <p:regular r:id="rId60"/>
    </p:embeddedFont>
    <p:embeddedFont>
      <p:font typeface="Open Sans Hebrew Condensed Bold" charset="1" panose="00000806000000000000"/>
      <p:regular r:id="rId61"/>
    </p:embeddedFont>
    <p:embeddedFont>
      <p:font typeface="Poppins Bold" charset="1" panose="00000800000000000000"/>
      <p:regular r:id="rId62"/>
    </p:embeddedFont>
    <p:embeddedFont>
      <p:font typeface="Poppins" charset="1" panose="00000500000000000000"/>
      <p:regular r:id="rId63"/>
    </p:embeddedFont>
    <p:embeddedFont>
      <p:font typeface="Open Sans 2 Bold" charset="1" panose="020B0806030504020204"/>
      <p:regular r:id="rId64"/>
    </p:embeddedFont>
    <p:embeddedFont>
      <p:font typeface="Open Sans 2" charset="1" panose="020B0606030504020204"/>
      <p:regular r:id="rId65"/>
    </p:embeddedFont>
    <p:embeddedFont>
      <p:font typeface="Open Sans 1 Medium" charset="1" panose="00000000000000000000"/>
      <p:regular r:id="rId66"/>
    </p:embeddedFont>
    <p:embeddedFont>
      <p:font typeface="Open Sans 1 Semi-Bold Italics" charset="1" panose="00000000000000000000"/>
      <p:regular r:id="rId67"/>
    </p:embeddedFont>
    <p:embeddedFont>
      <p:font typeface="Open Sans 1 Bold Italics" charset="1" panose="00000000000000000000"/>
      <p:regular r:id="rId68"/>
    </p:embeddedFont>
    <p:embeddedFont>
      <p:font typeface="Nunito" charset="1" panose="00000000000000000000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63.fntdata"/><Relationship Id="rId68" Type="http://schemas.openxmlformats.org/officeDocument/2006/relationships/font" Target="fonts/font68.fntdata"/><Relationship Id="rId7" Type="http://schemas.openxmlformats.org/officeDocument/2006/relationships/slide" Target="slides/slide2.xml"/><Relationship Id="rId71" Type="http://schemas.openxmlformats.org/officeDocument/2006/relationships/customXml" Target="../customXml/item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53.fntdata"/><Relationship Id="rId58" Type="http://schemas.openxmlformats.org/officeDocument/2006/relationships/font" Target="fonts/font58.fntdata"/><Relationship Id="rId66" Type="http://schemas.openxmlformats.org/officeDocument/2006/relationships/font" Target="fonts/font66.fntdata"/><Relationship Id="rId5" Type="http://schemas.openxmlformats.org/officeDocument/2006/relationships/tableStyles" Target="tableStyles.xml"/><Relationship Id="rId61" Type="http://schemas.openxmlformats.org/officeDocument/2006/relationships/font" Target="fonts/font61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56.fntdata"/><Relationship Id="rId64" Type="http://schemas.openxmlformats.org/officeDocument/2006/relationships/font" Target="fonts/font64.fntdata"/><Relationship Id="rId69" Type="http://schemas.openxmlformats.org/officeDocument/2006/relationships/font" Target="fonts/font69.fntdata"/><Relationship Id="rId51" Type="http://schemas.openxmlformats.org/officeDocument/2006/relationships/font" Target="fonts/font51.fntdata"/><Relationship Id="rId8" Type="http://schemas.openxmlformats.org/officeDocument/2006/relationships/slide" Target="slides/slide3.xml"/><Relationship Id="rId72" Type="http://schemas.openxmlformats.org/officeDocument/2006/relationships/customXml" Target="../customXml/item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59.fntdata"/><Relationship Id="rId67" Type="http://schemas.openxmlformats.org/officeDocument/2006/relationships/font" Target="fonts/font67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54.fntdata"/><Relationship Id="rId62" Type="http://schemas.openxmlformats.org/officeDocument/2006/relationships/font" Target="fonts/font62.fntdata"/><Relationship Id="rId7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57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52.fntdata"/><Relationship Id="rId60" Type="http://schemas.openxmlformats.org/officeDocument/2006/relationships/font" Target="fonts/font60.fntdata"/><Relationship Id="rId65" Type="http://schemas.openxmlformats.org/officeDocument/2006/relationships/font" Target="fonts/font65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font55.fntdata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www.planalto.gov.br/ccivil_03/_ato2019-2022/2020/decreto/D10228.htm" TargetMode="External" Type="http://schemas.openxmlformats.org/officeDocument/2006/relationships/hyperlink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brasil.un.org/pt-br/sdgs" TargetMode="External" Type="http://schemas.openxmlformats.org/officeDocument/2006/relationships/hyperlink"/><Relationship Id="rId11" Target="https://www.gov.br/antaq/pt-br/acesso-a-informacao/acoes-e-programas/programas-projetos-acoes-obras-e-atividades/copy_of_PEI2025282edio_v01_compressed.pdf" TargetMode="External" Type="http://schemas.openxmlformats.org/officeDocument/2006/relationships/hyperlink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3.png" Type="http://schemas.openxmlformats.org/officeDocument/2006/relationships/image"/><Relationship Id="rId2" Target="https://www.in.gov.br/en/web/dou/-/instrucao-normativa-n-24-de-18-de-marco-de-2020-251068261" TargetMode="External" Type="http://schemas.openxmlformats.org/officeDocument/2006/relationships/hyperlink"/><Relationship Id="rId3" Target="https://www.planalto.gov.br/ccivil_03/_ato2023-2026/2024/lei/L14802.htm" TargetMode="External" Type="http://schemas.openxmlformats.org/officeDocument/2006/relationships/hyperlink"/><Relationship Id="rId4" Target="https://www.gov.br/gestao/pt-br/assuntos/gestao/estrategia-federal-de-desenvolvimento" TargetMode="External" Type="http://schemas.openxmlformats.org/officeDocument/2006/relationships/hyperlink"/><Relationship Id="rId5" Target="https://www.gov.br/gestao/pt-br/assuntos/gestao/estrategia-federal-de-desenvolvimento" TargetMode="External" Type="http://schemas.openxmlformats.org/officeDocument/2006/relationships/hyperlink"/><Relationship Id="rId6" Target="https://www.gov.br/gestao/pt-br/assuntos/gestao/estrategia-federal-de-desenvolvimento" TargetMode="External" Type="http://schemas.openxmlformats.org/officeDocument/2006/relationships/hyperlink"/><Relationship Id="rId7" Target="https://www.gov.br/transportes/pt-br/centrais-de-conteudo/resumo_executivo_pnt_portugues.pdf" TargetMode="External" Type="http://schemas.openxmlformats.org/officeDocument/2006/relationships/hyperlink"/><Relationship Id="rId8" Target="https://www.gov.br/transportes/pt-br/assuntos/noticias/2021/10/imagens/resumoExecutivo_PNL2035_ed_105112021.pdf" TargetMode="External" Type="http://schemas.openxmlformats.org/officeDocument/2006/relationships/hyperlink"/><Relationship Id="rId9" Target="https://bibliotecadigital.gestao.gov.br/bitstream/123456789/1058/1/estrategia_nacional_v3.pdf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https://www.planalto.gov.br/ccivil_03/_ato2019-2022/2019/decreto/d9739.htm" TargetMode="External" Type="http://schemas.openxmlformats.org/officeDocument/2006/relationships/hyperlink"/><Relationship Id="rId13" Target="https://www.planalto.gov.br/ccivil_03/_ato2019-2022/2019/decreto/d9739.htm" TargetMode="External" Type="http://schemas.openxmlformats.org/officeDocument/2006/relationships/hyperlink"/><Relationship Id="rId14" Target="https://aquarela.antaq.gov.br/single/?appid=24d25b52-ab64-4d81-9b5c-91b5cbc755b9&amp;sheet=becacd24-2e41-4745-bd5c-8e20f5e901ed&amp;opt=currsel%2Cctxmenu" TargetMode="External" Type="http://schemas.openxmlformats.org/officeDocument/2006/relationships/hyperlink"/><Relationship Id="rId15" Target="https://www.planalto.gov.br/ccivil_03/_ato2019-2022/2019/decreto/d9739.htm" TargetMode="External" Type="http://schemas.openxmlformats.org/officeDocument/2006/relationships/hyperlink"/><Relationship Id="rId16" Target="../media/image13.png" Type="http://schemas.openxmlformats.org/officeDocument/2006/relationships/image"/><Relationship Id="rId2" Target="https://www.gov.br/antaq/pt-br/acesso-a-informacao/acoes-e-programas/programas-projetos-acoes-obras-e-atividades/planejamento-estrategico-1" TargetMode="External" Type="http://schemas.openxmlformats.org/officeDocument/2006/relationships/hyperlink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https://www.gov.br/anatel/pt-br/acesso-a-informacao/servidores/espaco-servidor/pgd-2.0" TargetMode="External" Type="http://schemas.openxmlformats.org/officeDocument/2006/relationships/hyperlink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https://www.planalto.gov.br/ccivil_03/_ato2019-2022/2019/lei/l13848.htm#:~:text=Art.%2018.%20O,s%C3%ADtio%20na%20internet." TargetMode="External" Type="http://schemas.openxmlformats.org/officeDocument/2006/relationships/hyperlink"/><Relationship Id="rId19" Target="https://www.planalto.gov.br/ccivil_03/_ato2019-2022/2019/lei/l13848.htm#:~:text=Art.%2018.%20O,s%C3%ADtio%20na%20internet." TargetMode="External" Type="http://schemas.openxmlformats.org/officeDocument/2006/relationships/hyperlink"/><Relationship Id="rId2" Target="../media/image25.png" Type="http://schemas.openxmlformats.org/officeDocument/2006/relationships/image"/><Relationship Id="rId20" Target="https://www.planalto.gov.br/ccivil_03/_ato2019-2022/2019/lei/l13848.htm#:~:text=Art.%2021.%20A,de%20gest%C3%A3o%20anual." TargetMode="External" Type="http://schemas.openxmlformats.org/officeDocument/2006/relationships/hyperlink"/><Relationship Id="rId21" Target="https://www.planalto.gov.br/ccivil_03/_ato2019-2022/2019/lei/l13848.htm#:~:text=Art.%2021.%20A,de%20gest%C3%A3o%20anual." TargetMode="External" Type="http://schemas.openxmlformats.org/officeDocument/2006/relationships/hyperlink"/><Relationship Id="rId22" Target="https://www.planalto.gov.br/ccivil_03/_ato2023-2026/2024/decreto/D12069.htm" TargetMode="External" Type="http://schemas.openxmlformats.org/officeDocument/2006/relationships/hyperlink"/><Relationship Id="rId23" Target="https://www.planalto.gov.br/ccivil_03/_ato2023-2026/2024/decreto/D12069.htm" TargetMode="External" Type="http://schemas.openxmlformats.org/officeDocument/2006/relationships/hyperlink"/><Relationship Id="rId24" Target="https://www.planalto.gov.br/ccivil_03/_ato2023-2026/2024/decreto/D12069.htm" TargetMode="External" Type="http://schemas.openxmlformats.org/officeDocument/2006/relationships/hyperlink"/><Relationship Id="rId25" Target="https://www.planalto.gov.br/ccivil_03/_ato2023-2026/2024/decreto/D12069.htm" TargetMode="External" Type="http://schemas.openxmlformats.org/officeDocument/2006/relationships/hyperlink"/><Relationship Id="rId26" Target="https://www.planalto.gov.br/ccivil_03/_ato2023-2026/2024/decreto/D12069.htm" TargetMode="External" Type="http://schemas.openxmlformats.org/officeDocument/2006/relationships/hyperlink"/><Relationship Id="rId27" Target="https://www.planalto.gov.br/ccivil_03/_ato2023-2026/2024/decreto/D12069.htm" TargetMode="External" Type="http://schemas.openxmlformats.org/officeDocument/2006/relationships/hyperlink"/><Relationship Id="rId28" Target="https://www.planalto.gov.br/ccivil_03/_ato2023-2026/2024/decreto/D12069.htm" TargetMode="External" Type="http://schemas.openxmlformats.org/officeDocument/2006/relationships/hyperlink"/><Relationship Id="rId29" Target="https://www.planalto.gov.br/ccivil_03/_ato2023-2026/2024/decreto/D12069.htm" TargetMode="External" Type="http://schemas.openxmlformats.org/officeDocument/2006/relationships/hyperlink"/><Relationship Id="rId3" Target="../media/image26.svg" Type="http://schemas.openxmlformats.org/officeDocument/2006/relationships/image"/><Relationship Id="rId30" Target="https://www.planalto.gov.br/ccivil_03/_ato2023-2026/2024/decreto/D12069.htm" TargetMode="External" Type="http://schemas.openxmlformats.org/officeDocument/2006/relationships/hyperlink"/><Relationship Id="rId31" Target="https://www.planalto.gov.br/ccivil_03/_ato2023-2026/2024/decreto/D12069.htm" TargetMode="External" Type="http://schemas.openxmlformats.org/officeDocument/2006/relationships/hyperlink"/><Relationship Id="rId32" Target="https://www.planalto.gov.br/ccivil_03/_ato2023-2026/2024/decreto/D12069.htm" TargetMode="External" Type="http://schemas.openxmlformats.org/officeDocument/2006/relationships/hyperlink"/><Relationship Id="rId33" Target="https://www.planalto.gov.br/ccivil_03/_ato2019-2022/2022/decreto/d10947.htm#:~:text=Art.%205%C2%BA%20%C2%A0A,incrementar%20a%20competitividade." TargetMode="External" Type="http://schemas.openxmlformats.org/officeDocument/2006/relationships/hyperlink"/><Relationship Id="rId34" Target="https://www.planalto.gov.br/ccivil_03/_ato2019-2022/2022/decreto/d10947.htm#:~:text=Art.%205%C2%BA%20%C2%A0A,incrementar%20a%20competitividade." TargetMode="External" Type="http://schemas.openxmlformats.org/officeDocument/2006/relationships/hyperlink"/><Relationship Id="rId35" Target="https://www.planalto.gov.br/ccivil_03/_ato2019-2022/2019/decreto/d9991.htm#:~:text=Art.%203%C2%BA%20%C2%A0Cada%20%C3%B3rg%C3%A3o%20e%20entidade%20integrante%20do%20SIPEC%20elaborar%C3%A1%20anualmente%20o%20respectivo%20PDP%2C%20que%20vigorar%C3%A1%20no%20exerc%C3%ADcio%20seguinte%2C%20a%20partir%20do%20levantamento%20das%20necessidades%20de%20desenvolvimento%20relacionadas%20%C3%A0%20consecu%C3%A7%C3%A3o%20dos%20objetivos%20institucionais." TargetMode="External" Type="http://schemas.openxmlformats.org/officeDocument/2006/relationships/hyperlink"/><Relationship Id="rId36" Target="https://www.planalto.gov.br/ccivil_03/_ato2019-2022/2019/decreto/d9991.htm#:~:text=Art.%203%C2%BA%20%C2%A0Cada%20%C3%B3rg%C3%A3o%20e%20entidade%20integrante%20do%20SIPEC%20elaborar%C3%A1%20anualmente%20o%20respectivo%20PDP%2C%20que%20vigorar%C3%A1%20no%20exerc%C3%ADcio%20seguinte%2C%20a%20partir%20do%20levantamento%20das%20necessidades%20de%20desenvolvimento%20relacionadas%20%C3%A0%20consecu%C3%A7%C3%A3o%20dos%20objetivos%20institucionais." TargetMode="External" Type="http://schemas.openxmlformats.org/officeDocument/2006/relationships/hyperlink"/><Relationship Id="rId37" Target="https://www.google.com/search?q=https://www.in.gov.br/en/web/dou/-/instrucao-normativa-sgp-enap/sedgg/me-n-21-de-1-de-fevereiro-de-2021-301876610" TargetMode="External" Type="http://schemas.openxmlformats.org/officeDocument/2006/relationships/hyperlink"/><Relationship Id="rId38" Target="../media/image13.png" Type="http://schemas.openxmlformats.org/officeDocument/2006/relationships/image"/><Relationship Id="rId4" Target="https://www.planalto.gov.br/ccivil_03/_ato2019-2022/2019/decreto/D9991.htm" TargetMode="External" Type="http://schemas.openxmlformats.org/officeDocument/2006/relationships/hyperlink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13.pn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https://www.planalto.gov.br/ccivil_03/_ato2015-2018/2017/decreto/d9203.htm" TargetMode="External" Type="http://schemas.openxmlformats.org/officeDocument/2006/relationships/hyperlink"/><Relationship Id="rId13" Target="https://www.gov.br/casacivil/pt-br/ocultadas/orgaos/seppi/sobre-o-programa" TargetMode="External" Type="http://schemas.openxmlformats.org/officeDocument/2006/relationships/hyperlink"/><Relationship Id="rId14" Target="https://www.gov.br/casacivil/pt-br/ocultadas/orgaos/seppi/sobre-o-programa" TargetMode="External" Type="http://schemas.openxmlformats.org/officeDocument/2006/relationships/hyperlink"/><Relationship Id="rId15" Target="https://www.planalto.gov.br/ccivil_03/_ato2023-2026/2024/lei/L14802.htm" TargetMode="External" Type="http://schemas.openxmlformats.org/officeDocument/2006/relationships/hyperlink"/><Relationship Id="rId16" Target="https://www.planalto.gov.br/ccivil_03/_ato2023-2026/2024/lei/L14802.htm" TargetMode="External" Type="http://schemas.openxmlformats.org/officeDocument/2006/relationships/hyperlink"/><Relationship Id="rId17" Target="http://www.planalto.gov.br/ccivil_03/_ato2011-2014/2013/Lei/L12815.htm" TargetMode="External" Type="http://schemas.openxmlformats.org/officeDocument/2006/relationships/hyperlink"/><Relationship Id="rId18" Target="http://www.planalto.gov.br/ccivil_03/_ato2011-2014/2013/Lei/L12815.htm" TargetMode="External" Type="http://schemas.openxmlformats.org/officeDocument/2006/relationships/hyperlink"/><Relationship Id="rId19" Target="../media/image24.png" Type="http://schemas.openxmlformats.org/officeDocument/2006/relationships/image"/><Relationship Id="rId2" Target="http://www.planalto.gov.br/ccivil_03/_ato2007-2010/2010/lei/l12305.htm" TargetMode="External" Type="http://schemas.openxmlformats.org/officeDocument/2006/relationships/hyperlink"/><Relationship Id="rId3" Target="http://www.planalto.gov.br/ccivil_03/_ato2007-2010/2010/lei/l12305.htm" TargetMode="External" Type="http://schemas.openxmlformats.org/officeDocument/2006/relationships/hyperlink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16" Target="../media/image71.png" Type="http://schemas.openxmlformats.org/officeDocument/2006/relationships/image"/><Relationship Id="rId17" Target="../media/image72.svg" Type="http://schemas.openxmlformats.org/officeDocument/2006/relationships/image"/><Relationship Id="rId18" Target="https://www.gov.br/antaq/pt-br/assuntos/gestao-estrategica/cadeia-de-valor" TargetMode="External" Type="http://schemas.openxmlformats.org/officeDocument/2006/relationships/hyperlink"/><Relationship Id="rId19" Target="../media/image25.png" Type="http://schemas.openxmlformats.org/officeDocument/2006/relationships/image"/><Relationship Id="rId2" Target="../media/image57.png" Type="http://schemas.openxmlformats.org/officeDocument/2006/relationships/image"/><Relationship Id="rId20" Target="../media/image26.svg" Type="http://schemas.openxmlformats.org/officeDocument/2006/relationships/image"/><Relationship Id="rId21" Target="../media/image13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sophia.antaq.gov.br/Terminal/Acervo/Detalhe/39228?returnUrl=/Terminal/Home/Index&amp;guid=1747526407132" TargetMode="External" Type="http://schemas.openxmlformats.org/officeDocument/2006/relationships/hyperlink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4.png" Type="http://schemas.openxmlformats.org/officeDocument/2006/relationships/image"/><Relationship Id="rId5" Target="../media/image95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svg" Type="http://schemas.openxmlformats.org/officeDocument/2006/relationships/image"/><Relationship Id="rId13" Target="../media/image107.png" Type="http://schemas.openxmlformats.org/officeDocument/2006/relationships/image"/><Relationship Id="rId14" Target="../media/image108.png" Type="http://schemas.openxmlformats.org/officeDocument/2006/relationships/image"/><Relationship Id="rId15" Target="../media/image109.svg" Type="http://schemas.openxmlformats.org/officeDocument/2006/relationships/image"/><Relationship Id="rId16" Target="../media/image110.png" Type="http://schemas.openxmlformats.org/officeDocument/2006/relationships/image"/><Relationship Id="rId17" Target="../media/image111.svg" Type="http://schemas.openxmlformats.org/officeDocument/2006/relationships/image"/><Relationship Id="rId18" Target="../media/image112.png" Type="http://schemas.openxmlformats.org/officeDocument/2006/relationships/image"/><Relationship Id="rId19" Target="../media/image113.svg" Type="http://schemas.openxmlformats.org/officeDocument/2006/relationships/image"/><Relationship Id="rId2" Target="../media/image96.png" Type="http://schemas.openxmlformats.org/officeDocument/2006/relationships/image"/><Relationship Id="rId20" Target="../media/image114.png" Type="http://schemas.openxmlformats.org/officeDocument/2006/relationships/image"/><Relationship Id="rId21" Target="../media/image115.svg" Type="http://schemas.openxmlformats.org/officeDocument/2006/relationships/image"/><Relationship Id="rId22" Target="../media/image116.png" Type="http://schemas.openxmlformats.org/officeDocument/2006/relationships/image"/><Relationship Id="rId23" Target="../media/image117.svg" Type="http://schemas.openxmlformats.org/officeDocument/2006/relationships/image"/><Relationship Id="rId24" Target="../media/image118.png" Type="http://schemas.openxmlformats.org/officeDocument/2006/relationships/image"/><Relationship Id="rId25" Target="../media/image119.svg" Type="http://schemas.openxmlformats.org/officeDocument/2006/relationships/image"/><Relationship Id="rId26" Target="../media/image13.png" Type="http://schemas.openxmlformats.org/officeDocument/2006/relationships/image"/><Relationship Id="rId3" Target="../media/image97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planalto.gov.br/ccivil_03/leis/leis_2001/l10233.htm" TargetMode="External" Type="http://schemas.openxmlformats.org/officeDocument/2006/relationships/hyperlink"/><Relationship Id="rId11" Target="https://www.planalto.gov.br/ccivil_03/_ato2019-2022/2019/lei/l13848.htm" TargetMode="External" Type="http://schemas.openxmlformats.org/officeDocument/2006/relationships/hyperlink"/><Relationship Id="rId12" Target="../media/image13.png" Type="http://schemas.openxmlformats.org/officeDocument/2006/relationships/image"/><Relationship Id="rId2" Target="../media/image120.png" Type="http://schemas.openxmlformats.org/officeDocument/2006/relationships/image"/><Relationship Id="rId3" Target="../media/image121.svg" Type="http://schemas.openxmlformats.org/officeDocument/2006/relationships/image"/><Relationship Id="rId4" Target="../media/image122.png" Type="http://schemas.openxmlformats.org/officeDocument/2006/relationships/image"/><Relationship Id="rId5" Target="../media/image123.svg" Type="http://schemas.openxmlformats.org/officeDocument/2006/relationships/image"/><Relationship Id="rId6" Target="../media/image124.png" Type="http://schemas.openxmlformats.org/officeDocument/2006/relationships/image"/><Relationship Id="rId7" Target="../media/image125.svg" Type="http://schemas.openxmlformats.org/officeDocument/2006/relationships/image"/><Relationship Id="rId8" Target="../media/image126.png" Type="http://schemas.openxmlformats.org/officeDocument/2006/relationships/image"/><Relationship Id="rId9" Target="../media/image12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8.png" Type="http://schemas.openxmlformats.org/officeDocument/2006/relationships/image"/><Relationship Id="rId3" Target="../media/image129.svg" Type="http://schemas.openxmlformats.org/officeDocument/2006/relationships/image"/><Relationship Id="rId4" Target="../media/image130.png" Type="http://schemas.openxmlformats.org/officeDocument/2006/relationships/image"/><Relationship Id="rId5" Target="../media/image131.svg" Type="http://schemas.openxmlformats.org/officeDocument/2006/relationships/image"/><Relationship Id="rId6" Target="../media/image132.png" Type="http://schemas.openxmlformats.org/officeDocument/2006/relationships/image"/><Relationship Id="rId7" Target="../media/image133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3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4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34.png" Type="http://schemas.openxmlformats.org/officeDocument/2006/relationships/image"/><Relationship Id="rId3" Target="../media/image135.png" Type="http://schemas.openxmlformats.org/officeDocument/2006/relationships/image"/><Relationship Id="rId4" Target="../media/image136.png" Type="http://schemas.openxmlformats.org/officeDocument/2006/relationships/image"/><Relationship Id="rId5" Target="../media/image137.png" Type="http://schemas.openxmlformats.org/officeDocument/2006/relationships/image"/><Relationship Id="rId6" Target="../media/image138.png" Type="http://schemas.openxmlformats.org/officeDocument/2006/relationships/image"/><Relationship Id="rId7" Target="../media/image13.png" Type="http://schemas.openxmlformats.org/officeDocument/2006/relationships/image"/><Relationship Id="rId8" Target="https://www.gov.br/antaq/pt-br/acesso-a-informacao/institucional/reunioes-deliberativas/atas-e-pautas-das-reunioes" TargetMode="External" Type="http://schemas.openxmlformats.org/officeDocument/2006/relationships/hyperlink"/><Relationship Id="rId9" Target="https://www.gov.br/antaq/pt-br/acesso-a-informacao/institucional/reunioes-deliberativas/atas-e-pautas-das-reunioes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140.svg" Type="http://schemas.openxmlformats.org/officeDocument/2006/relationships/image"/><Relationship Id="rId4" Target="../media/image141.png" Type="http://schemas.openxmlformats.org/officeDocument/2006/relationships/image"/><Relationship Id="rId5" Target="../media/image14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sophia.antaq.gov.br/Terminal/acervo/detalhe/6204" TargetMode="External" Type="http://schemas.openxmlformats.org/officeDocument/2006/relationships/hyperlink"/><Relationship Id="rId3" Target="https://sophia.antaq.gov.br/Terminal/acervo/detalhe/39381?guid=1770341354736&amp;returnUrl=%2fTerminal%2fresultado%2flistarlegislacao%3fguid%3d1770341354736%26quantidadePaginas%3d1%26codigoRegistro%3d39381%2339381&amp;i=1" TargetMode="External" Type="http://schemas.openxmlformats.org/officeDocument/2006/relationships/hyperlink"/><Relationship Id="rId4" Target="../media/image143.png" Type="http://schemas.openxmlformats.org/officeDocument/2006/relationships/image"/><Relationship Id="rId5" Target="../media/image144.png" Type="http://schemas.openxmlformats.org/officeDocument/2006/relationships/image"/><Relationship Id="rId6" Target="../media/image14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planalto.gov.br/ccivil_03/_ato2011-2014/2013/decreto/d8033.htm" TargetMode="External" Type="http://schemas.openxmlformats.org/officeDocument/2006/relationships/hyperlink"/><Relationship Id="rId11" Target="https://www.planalto.gov.br/ccivil_03/leis/l9432.htm" TargetMode="External" Type="http://schemas.openxmlformats.org/officeDocument/2006/relationships/hyperlink"/><Relationship Id="rId12" Target="https://www.planalto.gov.br/ccivil_03/_ato2019-2022/2019/lei/l13848.htm" TargetMode="External" Type="http://schemas.openxmlformats.org/officeDocument/2006/relationships/hyperlink"/><Relationship Id="rId13" Target="https://www.planalto.gov.br/ccivil_03/_ato2019-2022/2019/lei/l13848.htm" TargetMode="External" Type="http://schemas.openxmlformats.org/officeDocument/2006/relationships/hyperlink"/><Relationship Id="rId14" Target="https://www.planalto.gov.br/ccivil_03/leis/l8987cons.htm" TargetMode="External" Type="http://schemas.openxmlformats.org/officeDocument/2006/relationships/hyperlink"/><Relationship Id="rId15" Target="https://www.planalto.gov.br/ccivil_03/leis/l8987cons.htm" TargetMode="External" Type="http://schemas.openxmlformats.org/officeDocument/2006/relationships/hyperlink"/><Relationship Id="rId16" Target="https://www.planalto.gov.br/ccivil_03/constituicao/constituicao.htm#:~:text=Art.%20175.%20Incumbe,manter%20servi%C3%A7o%20adequado." TargetMode="External" Type="http://schemas.openxmlformats.org/officeDocument/2006/relationships/hyperlink"/><Relationship Id="rId17" Target="https://www.planalto.gov.br/ccivil_03/_ato2019-2022/2019/lei/L13874.htm" TargetMode="External" Type="http://schemas.openxmlformats.org/officeDocument/2006/relationships/hyperlink"/><Relationship Id="rId18" Target="https://www.planalto.gov.br/ccivil_03/_ato2019-2022/2019/lei/L13874.htm" TargetMode="External" Type="http://schemas.openxmlformats.org/officeDocument/2006/relationships/hyperlink"/><Relationship Id="rId19" Target="https://www.planalto.gov.br/ccivil_03/decreto/2002/d4122.htm" TargetMode="External" Type="http://schemas.openxmlformats.org/officeDocument/2006/relationships/hyperlink"/><Relationship Id="rId2" Target="../media/image146.jpeg" Type="http://schemas.openxmlformats.org/officeDocument/2006/relationships/image"/><Relationship Id="rId20" Target="../media/image13.png" Type="http://schemas.openxmlformats.org/officeDocument/2006/relationships/image"/><Relationship Id="rId3" Target="../media/image147.png" Type="http://schemas.openxmlformats.org/officeDocument/2006/relationships/image"/><Relationship Id="rId4" Target="../media/image148.svg" Type="http://schemas.openxmlformats.org/officeDocument/2006/relationships/image"/><Relationship Id="rId5" Target="https://www.planalto.gov.br/ccivil_03/leis/leis_2001/l10233.htm" TargetMode="External" Type="http://schemas.openxmlformats.org/officeDocument/2006/relationships/hyperlink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https://www.planalto.gov.br/ccivil_03/_ato2011-2014/2013/lei/l12815.htm" TargetMode="External" Type="http://schemas.openxmlformats.org/officeDocument/2006/relationships/hyperlink"/><Relationship Id="rId9" Target="https://www.planalto.gov.br/ccivil_03/_ato2011-2014/2013/decreto/d8033.htm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gov.br/casacivil/pt-br/ocultadas/orgaos/seppi/sobre-o-programa" TargetMode="External" Type="http://schemas.openxmlformats.org/officeDocument/2006/relationships/hyperlink"/><Relationship Id="rId11" Target="https://www.planalto.gov.br/ccivil_03/_ato2023-2026/2024/lei/L14802.htm" TargetMode="External" Type="http://schemas.openxmlformats.org/officeDocument/2006/relationships/hyperlink"/><Relationship Id="rId12" Target="https://www.planalto.gov.br/ccivil_03/_ato2023-2026/2024/lei/L14802.htm" TargetMode="External" Type="http://schemas.openxmlformats.org/officeDocument/2006/relationships/hyperlink"/><Relationship Id="rId13" Target="https://www.planalto.gov.br/ccivil_03/_ato2019-2022/2022/Lei/L14301.htm" TargetMode="External" Type="http://schemas.openxmlformats.org/officeDocument/2006/relationships/hyperlink"/><Relationship Id="rId14" Target="https://www.planalto.gov.br/ccivil_03/_ato2019-2022/2022/Lei/L14301.htm" TargetMode="External" Type="http://schemas.openxmlformats.org/officeDocument/2006/relationships/hyperlink"/><Relationship Id="rId15" Target="http://www.planalto.gov.br/ccivil_03/leis/l9433.htm" TargetMode="External" Type="http://schemas.openxmlformats.org/officeDocument/2006/relationships/hyperlink"/><Relationship Id="rId16" Target="http://www.planalto.gov.br/ccivil_03/leis/l9433.htm" TargetMode="External" Type="http://schemas.openxmlformats.org/officeDocument/2006/relationships/hyperlink"/><Relationship Id="rId17" Target="http://www.planalto.gov.br/ccivil_03/_Ato2004-2006/2005/Decreto/D5377.htm" TargetMode="External" Type="http://schemas.openxmlformats.org/officeDocument/2006/relationships/hyperlink"/><Relationship Id="rId18" Target="http://www.planalto.gov.br/ccivil_03/_Ato2004-2006/2005/Decreto/D5377.htm" TargetMode="External" Type="http://schemas.openxmlformats.org/officeDocument/2006/relationships/hyperlink"/><Relationship Id="rId19" Target="http://www.planalto.gov.br/ccivil_03/_ato2007-2010/2010/lei/l12305.htm" TargetMode="External" Type="http://schemas.openxmlformats.org/officeDocument/2006/relationships/hyperlink"/><Relationship Id="rId2" Target="../media/image149.jpeg" Type="http://schemas.openxmlformats.org/officeDocument/2006/relationships/image"/><Relationship Id="rId20" Target="http://www.planalto.gov.br/ccivil_03/_ato2007-2010/2010/lei/l12305.htm" TargetMode="External" Type="http://schemas.openxmlformats.org/officeDocument/2006/relationships/hyperlink"/><Relationship Id="rId21" Target="http://www.planalto.gov.br/ccivil_03/_ato2011-2014/2013/Lei/L12815.htm" TargetMode="External" Type="http://schemas.openxmlformats.org/officeDocument/2006/relationships/hyperlink"/><Relationship Id="rId22" Target="http://www.planalto.gov.br/ccivil_03/_ato2011-2014/2013/Lei/L12815.htm" TargetMode="External" Type="http://schemas.openxmlformats.org/officeDocument/2006/relationships/hyperlink"/><Relationship Id="rId23" Target="../media/image13.png" Type="http://schemas.openxmlformats.org/officeDocument/2006/relationships/image"/><Relationship Id="rId3" Target="https://www.in.gov.br/materia/-/asset_publisher/Kujrw0TZC2Mb/content/id/8416257/do1-2018-03-29-portaria-n-235-de-28-de-marco-de-2018-8416253" TargetMode="External" Type="http://schemas.openxmlformats.org/officeDocument/2006/relationships/hyperlink"/><Relationship Id="rId4" Target="https://www.in.gov.br/materia/-/asset_publisher/Kujrw0TZC2Mb/content/id/8416257/do1-2018-03-29-portaria-n-235-de-28-de-marco-de-2018-8416253" TargetMode="External" Type="http://schemas.openxmlformats.org/officeDocument/2006/relationships/hyperlink"/><Relationship Id="rId5" Target="https://www.gov.br/transportes/pt-br/assuntos/noticias/2021/10/imagens/resumoExecutivo_PNL2035_ed_105112021.pdf" TargetMode="External" Type="http://schemas.openxmlformats.org/officeDocument/2006/relationships/hyperlink"/><Relationship Id="rId6" Target="https://www.gov.br/transportes/pt-br/assuntos/noticias/2021/10/imagens/resumoExecutivo_PNL2035_ed_105112021.pdf" TargetMode="External" Type="http://schemas.openxmlformats.org/officeDocument/2006/relationships/hyperlink"/><Relationship Id="rId7" Target="https://www.planalto.gov.br/ccivil_03/_ato2023-2026/2024/decreto/d12022.htm" TargetMode="External" Type="http://schemas.openxmlformats.org/officeDocument/2006/relationships/hyperlink"/><Relationship Id="rId8" Target="https://www.planalto.gov.br/ccivil_03/_ato2023-2026/2024/decreto/d12022.htm" TargetMode="External" Type="http://schemas.openxmlformats.org/officeDocument/2006/relationships/hyperlink"/><Relationship Id="rId9" Target="https://www.gov.br/casacivil/pt-br/ocultadas/orgaos/seppi/sobre-o-programa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0.png" Type="http://schemas.openxmlformats.org/officeDocument/2006/relationships/image"/><Relationship Id="rId4" Target="../media/image151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3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4" Target="https://sophia.antaq.gov.br/Terminal/acervo/detalhe/37131?guid=1772677197959&amp;returnUrl=%2fTerminal%2fresultado%2flistarlegislacao%3fguid%3d1772677197959%26quantidadePaginas%3d1%26codigoRegistro%3d37131%2337131&amp;i=1" TargetMode="External" Type="http://schemas.openxmlformats.org/officeDocument/2006/relationships/hyperlink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2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3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4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5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6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4512" y="0"/>
            <a:ext cx="1828628" cy="1715858"/>
            <a:chOff x="0" y="0"/>
            <a:chExt cx="599342" cy="562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3141" y="0"/>
            <a:ext cx="1828628" cy="1715858"/>
            <a:chOff x="0" y="0"/>
            <a:chExt cx="599342" cy="5623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5884" y="0"/>
            <a:ext cx="1828628" cy="1715858"/>
            <a:chOff x="0" y="0"/>
            <a:chExt cx="599342" cy="5623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256" y="0"/>
            <a:ext cx="1828628" cy="1715858"/>
            <a:chOff x="0" y="0"/>
            <a:chExt cx="599342" cy="5623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8628" y="0"/>
            <a:ext cx="1828628" cy="1715858"/>
            <a:chOff x="0" y="0"/>
            <a:chExt cx="599342" cy="5623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628" cy="1715858"/>
            <a:chOff x="0" y="0"/>
            <a:chExt cx="599342" cy="5623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7653" y="0"/>
            <a:ext cx="1828628" cy="1715858"/>
            <a:chOff x="0" y="0"/>
            <a:chExt cx="599342" cy="562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372" y="2489"/>
            <a:ext cx="1828628" cy="1714533"/>
            <a:chOff x="0" y="0"/>
            <a:chExt cx="695396" cy="6520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5396" cy="652007"/>
            </a:xfrm>
            <a:custGeom>
              <a:avLst/>
              <a:gdLst/>
              <a:ahLst/>
              <a:cxnLst/>
              <a:rect r="r" b="b" t="t" l="l"/>
              <a:pathLst>
                <a:path h="652007" w="695396">
                  <a:moveTo>
                    <a:pt x="0" y="652007"/>
                  </a:moveTo>
                  <a:cubicBezTo>
                    <a:pt x="0" y="480294"/>
                    <a:pt x="74177" y="312388"/>
                    <a:pt x="203677" y="190968"/>
                  </a:cubicBezTo>
                  <a:cubicBezTo>
                    <a:pt x="333177" y="69548"/>
                    <a:pt x="512255" y="0"/>
                    <a:pt x="695396" y="0"/>
                  </a:cubicBezTo>
                  <a:lnTo>
                    <a:pt x="695396" y="602525"/>
                  </a:lnTo>
                  <a:cubicBezTo>
                    <a:pt x="695396" y="615649"/>
                    <a:pt x="690182" y="628235"/>
                    <a:pt x="680903" y="637514"/>
                  </a:cubicBezTo>
                  <a:cubicBezTo>
                    <a:pt x="671623" y="646794"/>
                    <a:pt x="659037" y="652007"/>
                    <a:pt x="645914" y="652007"/>
                  </a:cubicBezTo>
                  <a:lnTo>
                    <a:pt x="0" y="652007"/>
                  </a:ln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5458" y="164063"/>
              <a:ext cx="489938" cy="487944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29025" y="0"/>
            <a:ext cx="1828628" cy="1715858"/>
            <a:chOff x="0" y="0"/>
            <a:chExt cx="599342" cy="5623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00397" y="0"/>
            <a:ext cx="1828628" cy="1715858"/>
            <a:chOff x="0" y="0"/>
            <a:chExt cx="599342" cy="5623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1769" y="0"/>
            <a:ext cx="1828628" cy="1715858"/>
            <a:chOff x="0" y="0"/>
            <a:chExt cx="599342" cy="5623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28628" y="8571142"/>
            <a:ext cx="1828628" cy="1715858"/>
            <a:chOff x="0" y="0"/>
            <a:chExt cx="599342" cy="5623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0" y="8571142"/>
            <a:ext cx="1828628" cy="1715858"/>
            <a:chOff x="0" y="0"/>
            <a:chExt cx="599342" cy="562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457653" y="8571142"/>
            <a:ext cx="1828628" cy="1715858"/>
            <a:chOff x="0" y="0"/>
            <a:chExt cx="599342" cy="5623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29025" y="8571142"/>
            <a:ext cx="1828628" cy="1715858"/>
            <a:chOff x="0" y="0"/>
            <a:chExt cx="599342" cy="5623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28628" y="1715858"/>
            <a:ext cx="1828628" cy="1715858"/>
            <a:chOff x="0" y="0"/>
            <a:chExt cx="599342" cy="5623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0" y="1715858"/>
            <a:ext cx="1828628" cy="1715858"/>
            <a:chOff x="0" y="0"/>
            <a:chExt cx="599342" cy="5623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372" y="1715858"/>
            <a:ext cx="1828628" cy="1715858"/>
            <a:chOff x="0" y="0"/>
            <a:chExt cx="599342" cy="56238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630744" y="1714533"/>
            <a:ext cx="1828628" cy="1715858"/>
            <a:chOff x="0" y="0"/>
            <a:chExt cx="599342" cy="5623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15372" y="1715858"/>
            <a:ext cx="1828628" cy="1715858"/>
            <a:chOff x="0" y="0"/>
            <a:chExt cx="599342" cy="5623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486744" y="1715858"/>
            <a:ext cx="1828628" cy="1715858"/>
            <a:chOff x="0" y="0"/>
            <a:chExt cx="599342" cy="56238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971769" y="8571142"/>
            <a:ext cx="1828628" cy="1715858"/>
            <a:chOff x="0" y="0"/>
            <a:chExt cx="599342" cy="5623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3141" y="8571142"/>
            <a:ext cx="1828628" cy="1715858"/>
            <a:chOff x="0" y="0"/>
            <a:chExt cx="599342" cy="5623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574263" y="2199395"/>
            <a:ext cx="2462316" cy="806211"/>
          </a:xfrm>
          <a:custGeom>
            <a:avLst/>
            <a:gdLst/>
            <a:ahLst/>
            <a:cxnLst/>
            <a:rect r="r" b="b" t="t" l="l"/>
            <a:pathLst>
              <a:path h="806211" w="2462316">
                <a:moveTo>
                  <a:pt x="0" y="0"/>
                </a:moveTo>
                <a:lnTo>
                  <a:pt x="2462315" y="0"/>
                </a:lnTo>
                <a:lnTo>
                  <a:pt x="2462315" y="806211"/>
                </a:lnTo>
                <a:lnTo>
                  <a:pt x="0" y="80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9144000" y="1714533"/>
            <a:ext cx="1827769" cy="1717183"/>
            <a:chOff x="0" y="0"/>
            <a:chExt cx="361041" cy="33919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1041" cy="339197"/>
            </a:xfrm>
            <a:custGeom>
              <a:avLst/>
              <a:gdLst/>
              <a:ahLst/>
              <a:cxnLst/>
              <a:rect r="r" b="b" t="t" l="l"/>
              <a:pathLst>
                <a:path h="339197" w="361041">
                  <a:moveTo>
                    <a:pt x="57182" y="0"/>
                  </a:moveTo>
                  <a:lnTo>
                    <a:pt x="154769" y="0"/>
                  </a:lnTo>
                  <a:cubicBezTo>
                    <a:pt x="266110" y="0"/>
                    <a:pt x="361041" y="75932"/>
                    <a:pt x="361041" y="169598"/>
                  </a:cubicBezTo>
                  <a:cubicBezTo>
                    <a:pt x="361041" y="263265"/>
                    <a:pt x="266110" y="339197"/>
                    <a:pt x="154769" y="339197"/>
                  </a:cubicBezTo>
                  <a:lnTo>
                    <a:pt x="57182" y="339197"/>
                  </a:lnTo>
                  <a:cubicBezTo>
                    <a:pt x="42017" y="339197"/>
                    <a:pt x="27472" y="333172"/>
                    <a:pt x="16748" y="322448"/>
                  </a:cubicBezTo>
                  <a:cubicBezTo>
                    <a:pt x="6025" y="311725"/>
                    <a:pt x="0" y="297180"/>
                    <a:pt x="0" y="282014"/>
                  </a:cubicBezTo>
                  <a:lnTo>
                    <a:pt x="0" y="57182"/>
                  </a:lnTo>
                  <a:cubicBezTo>
                    <a:pt x="0" y="42017"/>
                    <a:pt x="6025" y="27472"/>
                    <a:pt x="16748" y="16748"/>
                  </a:cubicBezTo>
                  <a:cubicBezTo>
                    <a:pt x="27472" y="6025"/>
                    <a:pt x="42017" y="0"/>
                    <a:pt x="57182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25400" y="-28575"/>
              <a:ext cx="132441" cy="367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-10800000">
            <a:off x="7316231" y="8571142"/>
            <a:ext cx="1827769" cy="1717183"/>
            <a:chOff x="0" y="0"/>
            <a:chExt cx="361041" cy="33919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1041" cy="339197"/>
            </a:xfrm>
            <a:custGeom>
              <a:avLst/>
              <a:gdLst/>
              <a:ahLst/>
              <a:cxnLst/>
              <a:rect r="r" b="b" t="t" l="l"/>
              <a:pathLst>
                <a:path h="339197" w="361041">
                  <a:moveTo>
                    <a:pt x="57182" y="0"/>
                  </a:moveTo>
                  <a:lnTo>
                    <a:pt x="154769" y="0"/>
                  </a:lnTo>
                  <a:cubicBezTo>
                    <a:pt x="266110" y="0"/>
                    <a:pt x="361041" y="75932"/>
                    <a:pt x="361041" y="169598"/>
                  </a:cubicBezTo>
                  <a:cubicBezTo>
                    <a:pt x="361041" y="263265"/>
                    <a:pt x="266110" y="339197"/>
                    <a:pt x="154769" y="339197"/>
                  </a:cubicBezTo>
                  <a:lnTo>
                    <a:pt x="57182" y="339197"/>
                  </a:lnTo>
                  <a:cubicBezTo>
                    <a:pt x="42017" y="339197"/>
                    <a:pt x="27472" y="333172"/>
                    <a:pt x="16748" y="322448"/>
                  </a:cubicBezTo>
                  <a:cubicBezTo>
                    <a:pt x="6025" y="311725"/>
                    <a:pt x="0" y="297180"/>
                    <a:pt x="0" y="282014"/>
                  </a:cubicBezTo>
                  <a:lnTo>
                    <a:pt x="0" y="57182"/>
                  </a:lnTo>
                  <a:cubicBezTo>
                    <a:pt x="0" y="42017"/>
                    <a:pt x="6025" y="27472"/>
                    <a:pt x="16748" y="16748"/>
                  </a:cubicBezTo>
                  <a:cubicBezTo>
                    <a:pt x="27472" y="6025"/>
                    <a:pt x="42017" y="0"/>
                    <a:pt x="57182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25400" y="-28575"/>
              <a:ext cx="132441" cy="367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7314512" y="0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4629025" y="1714533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0971564" y="2489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2"/>
                </a:lnTo>
                <a:lnTo>
                  <a:pt x="0" y="1714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true" flipV="true" rot="0">
            <a:off x="1943239" y="0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1714533" y="1714533"/>
                </a:moveTo>
                <a:lnTo>
                  <a:pt x="0" y="1714533"/>
                </a:lnTo>
                <a:lnTo>
                  <a:pt x="0" y="0"/>
                </a:lnTo>
                <a:lnTo>
                  <a:pt x="1714533" y="0"/>
                </a:lnTo>
                <a:lnTo>
                  <a:pt x="1714533" y="171453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true" flipV="true" rot="0">
            <a:off x="14743120" y="8573792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1714533" y="1714533"/>
                </a:moveTo>
                <a:lnTo>
                  <a:pt x="0" y="1714533"/>
                </a:lnTo>
                <a:lnTo>
                  <a:pt x="0" y="0"/>
                </a:lnTo>
                <a:lnTo>
                  <a:pt x="1714533" y="0"/>
                </a:lnTo>
                <a:lnTo>
                  <a:pt x="1714533" y="171453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516" y="3429066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0" y="0"/>
                </a:moveTo>
                <a:lnTo>
                  <a:pt x="1713011" y="0"/>
                </a:lnTo>
                <a:lnTo>
                  <a:pt x="1713011" y="1713011"/>
                </a:lnTo>
                <a:lnTo>
                  <a:pt x="0" y="17130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true" flipV="false" rot="0">
            <a:off x="516" y="5142077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true" flipV="false" rot="0">
            <a:off x="0" y="6855088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-10800000">
            <a:off x="16574473" y="6860781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0" y="0"/>
                </a:moveTo>
                <a:lnTo>
                  <a:pt x="1713011" y="0"/>
                </a:lnTo>
                <a:lnTo>
                  <a:pt x="1713011" y="1713011"/>
                </a:lnTo>
                <a:lnTo>
                  <a:pt x="0" y="17130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true" flipV="false" rot="-10800000">
            <a:off x="16574473" y="5147770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true" flipV="false" rot="-10800000">
            <a:off x="16574989" y="3434759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829798" y="4609442"/>
            <a:ext cx="14744675" cy="3079062"/>
            <a:chOff x="0" y="0"/>
            <a:chExt cx="19659566" cy="4105416"/>
          </a:xfrm>
        </p:grpSpPr>
        <p:sp>
          <p:nvSpPr>
            <p:cNvPr name="TextBox 90" id="90"/>
            <p:cNvSpPr txBox="true"/>
            <p:nvPr/>
          </p:nvSpPr>
          <p:spPr>
            <a:xfrm rot="0">
              <a:off x="0" y="306327"/>
              <a:ext cx="18328963" cy="1590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006"/>
                </a:lnSpc>
              </a:pPr>
              <a:r>
                <a:rPr lang="en-US" sz="7147" b="true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Gov</a:t>
              </a:r>
              <a:r>
                <a:rPr lang="en-US" sz="7147" b="true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ernança e competências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0" y="-180975"/>
              <a:ext cx="19659566" cy="3341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127"/>
                </a:lnSpc>
              </a:pPr>
            </a:p>
            <a:p>
              <a:pPr algn="l">
                <a:lnSpc>
                  <a:spcPts val="6999"/>
                </a:lnSpc>
              </a:pPr>
              <a:r>
                <a:rPr lang="en-US" sz="4999" b="true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Trilha de Formação Inicial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0" y="3322249"/>
              <a:ext cx="12754344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00"/>
                </a:lnSpc>
              </a:pPr>
              <a:r>
                <a:rPr lang="en-US" sz="3500" b="true">
                  <a:solidFill>
                    <a:srgbClr val="72BAE3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Junho de </a:t>
              </a:r>
              <a:r>
                <a:rPr lang="en-US" b="true" sz="3500">
                  <a:solidFill>
                    <a:srgbClr val="72BAE3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2026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829798" y="8573792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6349" y="3830162"/>
            <a:ext cx="9172951" cy="283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Governança pública é o conjunto de mecanismos de liderança, estratégia e controle colocados em prática para direcionar, avaliar e monitorar a atuação da organização pública, com o </a:t>
            </a:r>
            <a:r>
              <a:rPr lang="en-US" b="true" sz="2700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de </a:t>
            </a:r>
            <a:r>
              <a:rPr lang="en-US" b="true" sz="2700" u="sng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gerar valor</a:t>
            </a:r>
            <a:r>
              <a:rPr lang="en-US" b="true" sz="2700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para a sociedade.</a:t>
            </a:r>
          </a:p>
          <a:p>
            <a:pPr algn="just">
              <a:lnSpc>
                <a:spcPts val="37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064760" y="798938"/>
            <a:ext cx="10072792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>
                <a:solidFill>
                  <a:srgbClr val="004C9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 QUE É A GOVERNANÇA PÚBLICA?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6594530" cy="10287000"/>
          </a:xfrm>
          <a:custGeom>
            <a:avLst/>
            <a:gdLst/>
            <a:ahLst/>
            <a:cxnLst/>
            <a:rect r="r" b="b" t="t" l="l"/>
            <a:pathLst>
              <a:path h="10287000" w="6594530">
                <a:moveTo>
                  <a:pt x="0" y="0"/>
                </a:moveTo>
                <a:lnTo>
                  <a:pt x="6594530" y="0"/>
                </a:lnTo>
                <a:lnTo>
                  <a:pt x="65945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24" t="0" r="-7466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64760" y="6619081"/>
            <a:ext cx="9172951" cy="33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Em termos mais diretos: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b="true" sz="2700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 a forma como a alta administração organiza e conduz a atuação do órgão para garantir que ele </a:t>
            </a:r>
            <a:r>
              <a:rPr lang="en-US" b="true" sz="2700" u="sng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cumpra sua missão com resultados, integridade e transparência</a:t>
            </a:r>
            <a:r>
              <a:rPr lang="en-US" b="true" sz="2700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just">
              <a:lnSpc>
                <a:spcPts val="378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585" y="3367707"/>
            <a:ext cx="9172951" cy="664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Governança e gestão são diferentes, assim como, em um condomínio, são diferentes os papéis dos proprietários e do síndico.</a:t>
            </a:r>
          </a:p>
          <a:p>
            <a:pPr algn="just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Os proprietários (governança) detêm o poder maior: definem regras, diretrizes e objetivos do condomínio.</a:t>
            </a:r>
          </a:p>
          <a:p>
            <a:pPr algn="just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O síndico (gestão) executa essas diretrizes: administra recursos, toma decisões operacionais e faz o condomínio funcionar, sempre prestando contas.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b="true" sz="2700">
                <a:solidFill>
                  <a:srgbClr val="004C9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síntese:</a:t>
            </a:r>
          </a:p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4C98"/>
                </a:solidFill>
                <a:latin typeface="Montserrat"/>
                <a:ea typeface="Montserrat"/>
                <a:cs typeface="Montserrat"/>
                <a:sym typeface="Montserrat"/>
              </a:rPr>
              <a:t>Governança define o que deve ser feito e supervisiona; gestão executa o que foi definido.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8140" y="936377"/>
            <a:ext cx="917295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6000">
                <a:solidFill>
                  <a:srgbClr val="004C9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GOVERNANÇA É O MESMO QUE GESTÃO?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99843" y="0"/>
            <a:ext cx="6588157" cy="10276607"/>
          </a:xfrm>
          <a:custGeom>
            <a:avLst/>
            <a:gdLst/>
            <a:ahLst/>
            <a:cxnLst/>
            <a:rect r="r" b="b" t="t" l="l"/>
            <a:pathLst>
              <a:path h="10276607" w="6588157">
                <a:moveTo>
                  <a:pt x="0" y="0"/>
                </a:moveTo>
                <a:lnTo>
                  <a:pt x="6588157" y="0"/>
                </a:lnTo>
                <a:lnTo>
                  <a:pt x="6588157" y="10276607"/>
                </a:lnTo>
                <a:lnTo>
                  <a:pt x="0" y="10276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" t="0" r="-133846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9635" y="3017450"/>
            <a:ext cx="14011195" cy="5219170"/>
          </a:xfrm>
          <a:custGeom>
            <a:avLst/>
            <a:gdLst/>
            <a:ahLst/>
            <a:cxnLst/>
            <a:rect r="r" b="b" t="t" l="l"/>
            <a:pathLst>
              <a:path h="5219170" w="14011195">
                <a:moveTo>
                  <a:pt x="0" y="0"/>
                </a:moveTo>
                <a:lnTo>
                  <a:pt x="14011195" y="0"/>
                </a:lnTo>
                <a:lnTo>
                  <a:pt x="14011195" y="5219170"/>
                </a:lnTo>
                <a:lnTo>
                  <a:pt x="0" y="5219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682" y="1284153"/>
            <a:ext cx="17271321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04C9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RELAÇÃO ENTRE GOVERNANÇA E GESTÃO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40169" y="8188995"/>
            <a:ext cx="12990662" cy="93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Fonte: Referencial Básico de Governança Organizacional, 3a. Edição </a:t>
            </a:r>
          </a:p>
          <a:p>
            <a:pPr algn="just">
              <a:lnSpc>
                <a:spcPts val="378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463" y="1460247"/>
            <a:ext cx="7772074" cy="8364667"/>
          </a:xfrm>
          <a:custGeom>
            <a:avLst/>
            <a:gdLst/>
            <a:ahLst/>
            <a:cxnLst/>
            <a:rect r="r" b="b" t="t" l="l"/>
            <a:pathLst>
              <a:path h="8364667" w="7772074">
                <a:moveTo>
                  <a:pt x="0" y="0"/>
                </a:moveTo>
                <a:lnTo>
                  <a:pt x="7772075" y="0"/>
                </a:lnTo>
                <a:lnTo>
                  <a:pt x="7772075" y="8364667"/>
                </a:lnTo>
                <a:lnTo>
                  <a:pt x="0" y="836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463" y="660147"/>
            <a:ext cx="17271321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004C9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 DE G&amp;G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54" y="9859000"/>
            <a:ext cx="12990662" cy="65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Fonte: Referencial Básico de Governança Organizacional, 3a. Edição </a:t>
            </a:r>
          </a:p>
          <a:p>
            <a:pPr algn="just">
              <a:lnSpc>
                <a:spcPts val="26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801590" y="1745897"/>
            <a:ext cx="9172951" cy="830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 modelo diferenc</a:t>
            </a: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ia governança e gestão, mas reconhece que elas se conecta</a:t>
            </a: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m e podem se sobrepor em alguns pontos.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Governança: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Define a direção (o que deve ser feito);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Estabelece diretrizes para o planejamento;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Monitora resultados com base em informações recebidas.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Gestão: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Executa o planejamento;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Realiza o controle das atividades;</a:t>
            </a:r>
          </a:p>
          <a:p>
            <a:pPr algn="just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Gera informações sobre desempenho e riscos.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sz="25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síntese: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Governança define e acompanha; gestão executa e informa — e ambas se conectam continuamente para ajustar o rumo da organização</a:t>
            </a:r>
          </a:p>
          <a:p>
            <a:pPr algn="just">
              <a:lnSpc>
                <a:spcPts val="35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9448" y="4547501"/>
            <a:ext cx="10742813" cy="5103304"/>
            <a:chOff x="0" y="0"/>
            <a:chExt cx="1497126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7126" cy="711200"/>
            </a:xfrm>
            <a:custGeom>
              <a:avLst/>
              <a:gdLst/>
              <a:ahLst/>
              <a:cxnLst/>
              <a:rect r="r" b="b" t="t" l="l"/>
              <a:pathLst>
                <a:path h="711200" w="1497126">
                  <a:moveTo>
                    <a:pt x="748563" y="0"/>
                  </a:moveTo>
                  <a:lnTo>
                    <a:pt x="1497126" y="711200"/>
                  </a:lnTo>
                  <a:lnTo>
                    <a:pt x="0" y="711200"/>
                  </a:lnTo>
                  <a:lnTo>
                    <a:pt x="748563" y="0"/>
                  </a:lnTo>
                  <a:close/>
                </a:path>
              </a:pathLst>
            </a:custGeom>
            <a:solidFill>
              <a:srgbClr val="E8E8E8">
                <a:alpha val="4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33926" y="339725"/>
              <a:ext cx="1029274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539448" y="1995849"/>
            <a:ext cx="10742813" cy="5103304"/>
            <a:chOff x="0" y="0"/>
            <a:chExt cx="1497126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7126" cy="711200"/>
            </a:xfrm>
            <a:custGeom>
              <a:avLst/>
              <a:gdLst/>
              <a:ahLst/>
              <a:cxnLst/>
              <a:rect r="r" b="b" t="t" l="l"/>
              <a:pathLst>
                <a:path h="711200" w="1497126">
                  <a:moveTo>
                    <a:pt x="748563" y="0"/>
                  </a:moveTo>
                  <a:lnTo>
                    <a:pt x="1497126" y="711200"/>
                  </a:lnTo>
                  <a:lnTo>
                    <a:pt x="0" y="711200"/>
                  </a:lnTo>
                  <a:lnTo>
                    <a:pt x="748563" y="0"/>
                  </a:lnTo>
                  <a:close/>
                </a:path>
              </a:pathLst>
            </a:custGeom>
            <a:solidFill>
              <a:srgbClr val="DFEFF8">
                <a:alpha val="5686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33926" y="339725"/>
              <a:ext cx="1029274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1749" y="2938273"/>
            <a:ext cx="3576202" cy="1861391"/>
            <a:chOff x="0" y="0"/>
            <a:chExt cx="1290329" cy="671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0329" cy="671608"/>
            </a:xfrm>
            <a:custGeom>
              <a:avLst/>
              <a:gdLst/>
              <a:ahLst/>
              <a:cxnLst/>
              <a:rect r="r" b="b" t="t" l="l"/>
              <a:pathLst>
                <a:path h="671608" w="1290329">
                  <a:moveTo>
                    <a:pt x="73605" y="0"/>
                  </a:moveTo>
                  <a:lnTo>
                    <a:pt x="1216724" y="0"/>
                  </a:lnTo>
                  <a:cubicBezTo>
                    <a:pt x="1236245" y="0"/>
                    <a:pt x="1254967" y="7755"/>
                    <a:pt x="1268771" y="21558"/>
                  </a:cubicBezTo>
                  <a:cubicBezTo>
                    <a:pt x="1282574" y="35362"/>
                    <a:pt x="1290329" y="54084"/>
                    <a:pt x="1290329" y="73605"/>
                  </a:cubicBezTo>
                  <a:lnTo>
                    <a:pt x="1290329" y="598004"/>
                  </a:lnTo>
                  <a:cubicBezTo>
                    <a:pt x="1290329" y="638654"/>
                    <a:pt x="1257375" y="671608"/>
                    <a:pt x="1216724" y="671608"/>
                  </a:cubicBezTo>
                  <a:lnTo>
                    <a:pt x="73605" y="671608"/>
                  </a:lnTo>
                  <a:cubicBezTo>
                    <a:pt x="54084" y="671608"/>
                    <a:pt x="35362" y="663853"/>
                    <a:pt x="21558" y="650050"/>
                  </a:cubicBezTo>
                  <a:cubicBezTo>
                    <a:pt x="7755" y="636246"/>
                    <a:pt x="0" y="617525"/>
                    <a:pt x="0" y="598004"/>
                  </a:cubicBezTo>
                  <a:lnTo>
                    <a:pt x="0" y="73605"/>
                  </a:lnTo>
                  <a:cubicBezTo>
                    <a:pt x="0" y="32954"/>
                    <a:pt x="32954" y="0"/>
                    <a:pt x="7360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4546A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290329" cy="662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1749" y="2937801"/>
            <a:ext cx="3576202" cy="452660"/>
            <a:chOff x="0" y="0"/>
            <a:chExt cx="1029924" cy="1303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9924" cy="130363"/>
            </a:xfrm>
            <a:custGeom>
              <a:avLst/>
              <a:gdLst/>
              <a:ahLst/>
              <a:cxnLst/>
              <a:rect r="r" b="b" t="t" l="l"/>
              <a:pathLst>
                <a:path h="130363" w="1029924">
                  <a:moveTo>
                    <a:pt x="65182" y="0"/>
                  </a:moveTo>
                  <a:lnTo>
                    <a:pt x="964742" y="0"/>
                  </a:lnTo>
                  <a:cubicBezTo>
                    <a:pt x="1000741" y="0"/>
                    <a:pt x="1029924" y="29183"/>
                    <a:pt x="1029924" y="65182"/>
                  </a:cubicBezTo>
                  <a:lnTo>
                    <a:pt x="1029924" y="65182"/>
                  </a:lnTo>
                  <a:cubicBezTo>
                    <a:pt x="1029924" y="101180"/>
                    <a:pt x="1000741" y="130363"/>
                    <a:pt x="964742" y="130363"/>
                  </a:cubicBezTo>
                  <a:lnTo>
                    <a:pt x="65182" y="130363"/>
                  </a:lnTo>
                  <a:cubicBezTo>
                    <a:pt x="29183" y="130363"/>
                    <a:pt x="0" y="101180"/>
                    <a:pt x="0" y="65182"/>
                  </a:cubicBezTo>
                  <a:lnTo>
                    <a:pt x="0" y="65182"/>
                  </a:lnTo>
                  <a:cubicBezTo>
                    <a:pt x="0" y="29183"/>
                    <a:pt x="29183" y="0"/>
                    <a:pt x="65182" y="0"/>
                  </a:cubicBezTo>
                  <a:close/>
                </a:path>
              </a:pathLst>
            </a:custGeom>
            <a:solidFill>
              <a:srgbClr val="4454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029924" cy="101788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1749" y="3118645"/>
            <a:ext cx="3576202" cy="271816"/>
            <a:chOff x="0" y="0"/>
            <a:chExt cx="1290329" cy="980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0329" cy="98074"/>
            </a:xfrm>
            <a:custGeom>
              <a:avLst/>
              <a:gdLst/>
              <a:ahLst/>
              <a:cxnLst/>
              <a:rect r="r" b="b" t="t" l="l"/>
              <a:pathLst>
                <a:path h="98074" w="1290329">
                  <a:moveTo>
                    <a:pt x="0" y="0"/>
                  </a:moveTo>
                  <a:lnTo>
                    <a:pt x="1290329" y="0"/>
                  </a:lnTo>
                  <a:lnTo>
                    <a:pt x="1290329" y="98074"/>
                  </a:lnTo>
                  <a:lnTo>
                    <a:pt x="0" y="98074"/>
                  </a:lnTo>
                  <a:close/>
                </a:path>
              </a:pathLst>
            </a:custGeom>
            <a:solidFill>
              <a:srgbClr val="44546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290329" cy="69499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78054" y="3100568"/>
            <a:ext cx="2523591" cy="1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"/>
              </a:lnSpc>
              <a:spcBef>
                <a:spcPct val="0"/>
              </a:spcBef>
            </a:pPr>
            <a:r>
              <a:rPr lang="en-US" b="true" sz="1100">
                <a:solidFill>
                  <a:srgbClr val="FCFE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Instâncias externas de governança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3695" y="3527665"/>
            <a:ext cx="2872310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Agentes políticos (Poderes Executivo, Legislativo e Judiciário)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Comitê Interministerial de Governança (CIG)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Controladoria-Geral da União (CGU)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Tribunal de Contas da União (TCU)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Ministério Público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51749" y="5841008"/>
            <a:ext cx="3576202" cy="1816392"/>
            <a:chOff x="0" y="0"/>
            <a:chExt cx="1290329" cy="6553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0329" cy="655372"/>
            </a:xfrm>
            <a:custGeom>
              <a:avLst/>
              <a:gdLst/>
              <a:ahLst/>
              <a:cxnLst/>
              <a:rect r="r" b="b" t="t" l="l"/>
              <a:pathLst>
                <a:path h="655372" w="1290329">
                  <a:moveTo>
                    <a:pt x="73605" y="0"/>
                  </a:moveTo>
                  <a:lnTo>
                    <a:pt x="1216724" y="0"/>
                  </a:lnTo>
                  <a:cubicBezTo>
                    <a:pt x="1236245" y="0"/>
                    <a:pt x="1254967" y="7755"/>
                    <a:pt x="1268771" y="21558"/>
                  </a:cubicBezTo>
                  <a:cubicBezTo>
                    <a:pt x="1282574" y="35362"/>
                    <a:pt x="1290329" y="54084"/>
                    <a:pt x="1290329" y="73605"/>
                  </a:cubicBezTo>
                  <a:lnTo>
                    <a:pt x="1290329" y="581767"/>
                  </a:lnTo>
                  <a:cubicBezTo>
                    <a:pt x="1290329" y="622418"/>
                    <a:pt x="1257375" y="655372"/>
                    <a:pt x="1216724" y="655372"/>
                  </a:cubicBezTo>
                  <a:lnTo>
                    <a:pt x="73605" y="655372"/>
                  </a:lnTo>
                  <a:cubicBezTo>
                    <a:pt x="54084" y="655372"/>
                    <a:pt x="35362" y="647617"/>
                    <a:pt x="21558" y="633814"/>
                  </a:cubicBezTo>
                  <a:cubicBezTo>
                    <a:pt x="7755" y="620010"/>
                    <a:pt x="0" y="601289"/>
                    <a:pt x="0" y="581767"/>
                  </a:cubicBezTo>
                  <a:lnTo>
                    <a:pt x="0" y="73605"/>
                  </a:lnTo>
                  <a:cubicBezTo>
                    <a:pt x="0" y="32954"/>
                    <a:pt x="32954" y="0"/>
                    <a:pt x="7360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44546A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1290329" cy="645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1749" y="5840537"/>
            <a:ext cx="3576202" cy="452660"/>
            <a:chOff x="0" y="0"/>
            <a:chExt cx="1029924" cy="1303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9924" cy="130363"/>
            </a:xfrm>
            <a:custGeom>
              <a:avLst/>
              <a:gdLst/>
              <a:ahLst/>
              <a:cxnLst/>
              <a:rect r="r" b="b" t="t" l="l"/>
              <a:pathLst>
                <a:path h="130363" w="1029924">
                  <a:moveTo>
                    <a:pt x="65182" y="0"/>
                  </a:moveTo>
                  <a:lnTo>
                    <a:pt x="964742" y="0"/>
                  </a:lnTo>
                  <a:cubicBezTo>
                    <a:pt x="1000741" y="0"/>
                    <a:pt x="1029924" y="29183"/>
                    <a:pt x="1029924" y="65182"/>
                  </a:cubicBezTo>
                  <a:lnTo>
                    <a:pt x="1029924" y="65182"/>
                  </a:lnTo>
                  <a:cubicBezTo>
                    <a:pt x="1029924" y="101180"/>
                    <a:pt x="1000741" y="130363"/>
                    <a:pt x="964742" y="130363"/>
                  </a:cubicBezTo>
                  <a:lnTo>
                    <a:pt x="65182" y="130363"/>
                  </a:lnTo>
                  <a:cubicBezTo>
                    <a:pt x="29183" y="130363"/>
                    <a:pt x="0" y="101180"/>
                    <a:pt x="0" y="65182"/>
                  </a:cubicBezTo>
                  <a:lnTo>
                    <a:pt x="0" y="65182"/>
                  </a:lnTo>
                  <a:cubicBezTo>
                    <a:pt x="0" y="29183"/>
                    <a:pt x="29183" y="0"/>
                    <a:pt x="65182" y="0"/>
                  </a:cubicBezTo>
                  <a:close/>
                </a:path>
              </a:pathLst>
            </a:custGeom>
            <a:solidFill>
              <a:srgbClr val="4454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029924" cy="101788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1749" y="6021381"/>
            <a:ext cx="3576202" cy="271816"/>
            <a:chOff x="0" y="0"/>
            <a:chExt cx="1290329" cy="98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90329" cy="98074"/>
            </a:xfrm>
            <a:custGeom>
              <a:avLst/>
              <a:gdLst/>
              <a:ahLst/>
              <a:cxnLst/>
              <a:rect r="r" b="b" t="t" l="l"/>
              <a:pathLst>
                <a:path h="98074" w="1290329">
                  <a:moveTo>
                    <a:pt x="0" y="0"/>
                  </a:moveTo>
                  <a:lnTo>
                    <a:pt x="1290329" y="0"/>
                  </a:lnTo>
                  <a:lnTo>
                    <a:pt x="1290329" y="98074"/>
                  </a:lnTo>
                  <a:lnTo>
                    <a:pt x="0" y="98074"/>
                  </a:lnTo>
                  <a:close/>
                </a:path>
              </a:pathLst>
            </a:custGeom>
            <a:solidFill>
              <a:srgbClr val="44546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290329" cy="69499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99713" y="2670553"/>
            <a:ext cx="2822284" cy="1287418"/>
            <a:chOff x="0" y="0"/>
            <a:chExt cx="1018308" cy="4645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8308" cy="464513"/>
            </a:xfrm>
            <a:custGeom>
              <a:avLst/>
              <a:gdLst/>
              <a:ahLst/>
              <a:cxnLst/>
              <a:rect r="r" b="b" t="t" l="l"/>
              <a:pathLst>
                <a:path h="464513" w="1018308">
                  <a:moveTo>
                    <a:pt x="98753" y="0"/>
                  </a:moveTo>
                  <a:lnTo>
                    <a:pt x="919555" y="0"/>
                  </a:lnTo>
                  <a:cubicBezTo>
                    <a:pt x="945746" y="0"/>
                    <a:pt x="970864" y="10404"/>
                    <a:pt x="989384" y="28924"/>
                  </a:cubicBezTo>
                  <a:cubicBezTo>
                    <a:pt x="1007904" y="47444"/>
                    <a:pt x="1018308" y="72562"/>
                    <a:pt x="1018308" y="98753"/>
                  </a:cubicBezTo>
                  <a:lnTo>
                    <a:pt x="1018308" y="365760"/>
                  </a:lnTo>
                  <a:cubicBezTo>
                    <a:pt x="1018308" y="391951"/>
                    <a:pt x="1007904" y="417069"/>
                    <a:pt x="989384" y="435589"/>
                  </a:cubicBezTo>
                  <a:cubicBezTo>
                    <a:pt x="970864" y="454109"/>
                    <a:pt x="945746" y="464513"/>
                    <a:pt x="919555" y="464513"/>
                  </a:cubicBezTo>
                  <a:lnTo>
                    <a:pt x="98753" y="464513"/>
                  </a:lnTo>
                  <a:cubicBezTo>
                    <a:pt x="72562" y="464513"/>
                    <a:pt x="47444" y="454109"/>
                    <a:pt x="28924" y="435589"/>
                  </a:cubicBezTo>
                  <a:cubicBezTo>
                    <a:pt x="10404" y="417069"/>
                    <a:pt x="0" y="391951"/>
                    <a:pt x="0" y="365760"/>
                  </a:cubicBezTo>
                  <a:lnTo>
                    <a:pt x="0" y="98753"/>
                  </a:lnTo>
                  <a:cubicBezTo>
                    <a:pt x="0" y="72562"/>
                    <a:pt x="10404" y="47444"/>
                    <a:pt x="28924" y="28924"/>
                  </a:cubicBezTo>
                  <a:cubicBezTo>
                    <a:pt x="47444" y="10404"/>
                    <a:pt x="72562" y="0"/>
                    <a:pt x="98753" y="0"/>
                  </a:cubicBezTo>
                  <a:close/>
                </a:path>
              </a:pathLst>
            </a:custGeom>
            <a:solidFill>
              <a:srgbClr val="A5C7DB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1018308" cy="45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697491" y="7189540"/>
            <a:ext cx="2423810" cy="935720"/>
            <a:chOff x="0" y="0"/>
            <a:chExt cx="1018308" cy="3931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8308" cy="393121"/>
            </a:xfrm>
            <a:custGeom>
              <a:avLst/>
              <a:gdLst/>
              <a:ahLst/>
              <a:cxnLst/>
              <a:rect r="r" b="b" t="t" l="l"/>
              <a:pathLst>
                <a:path h="393121" w="1018308">
                  <a:moveTo>
                    <a:pt x="89435" y="0"/>
                  </a:moveTo>
                  <a:lnTo>
                    <a:pt x="928873" y="0"/>
                  </a:lnTo>
                  <a:cubicBezTo>
                    <a:pt x="952593" y="0"/>
                    <a:pt x="975341" y="9423"/>
                    <a:pt x="992113" y="26195"/>
                  </a:cubicBezTo>
                  <a:cubicBezTo>
                    <a:pt x="1008885" y="42967"/>
                    <a:pt x="1018308" y="65715"/>
                    <a:pt x="1018308" y="89435"/>
                  </a:cubicBezTo>
                  <a:lnTo>
                    <a:pt x="1018308" y="303686"/>
                  </a:lnTo>
                  <a:cubicBezTo>
                    <a:pt x="1018308" y="327406"/>
                    <a:pt x="1008885" y="350154"/>
                    <a:pt x="992113" y="366926"/>
                  </a:cubicBezTo>
                  <a:cubicBezTo>
                    <a:pt x="975341" y="383699"/>
                    <a:pt x="952593" y="393121"/>
                    <a:pt x="928873" y="393121"/>
                  </a:cubicBezTo>
                  <a:lnTo>
                    <a:pt x="89435" y="393121"/>
                  </a:lnTo>
                  <a:cubicBezTo>
                    <a:pt x="65715" y="393121"/>
                    <a:pt x="42967" y="383699"/>
                    <a:pt x="26195" y="366926"/>
                  </a:cubicBezTo>
                  <a:cubicBezTo>
                    <a:pt x="9423" y="350154"/>
                    <a:pt x="0" y="327406"/>
                    <a:pt x="0" y="303686"/>
                  </a:cubicBezTo>
                  <a:lnTo>
                    <a:pt x="0" y="89435"/>
                  </a:lnTo>
                  <a:cubicBezTo>
                    <a:pt x="0" y="65715"/>
                    <a:pt x="9423" y="42967"/>
                    <a:pt x="26195" y="26195"/>
                  </a:cubicBezTo>
                  <a:cubicBezTo>
                    <a:pt x="42967" y="9423"/>
                    <a:pt x="65715" y="0"/>
                    <a:pt x="89435" y="0"/>
                  </a:cubicBezTo>
                  <a:close/>
                </a:path>
              </a:pathLst>
            </a:custGeom>
            <a:solidFill>
              <a:srgbClr val="002450">
                <a:alpha val="13725"/>
              </a:srgbClr>
            </a:solidFill>
            <a:ln w="28575" cap="rnd">
              <a:solidFill>
                <a:srgbClr val="002450">
                  <a:alpha val="13725"/>
                </a:srgbClr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1018308" cy="38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697491" y="8262597"/>
            <a:ext cx="2423810" cy="1317180"/>
            <a:chOff x="0" y="0"/>
            <a:chExt cx="1018308" cy="5533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8308" cy="553383"/>
            </a:xfrm>
            <a:custGeom>
              <a:avLst/>
              <a:gdLst/>
              <a:ahLst/>
              <a:cxnLst/>
              <a:rect r="r" b="b" t="t" l="l"/>
              <a:pathLst>
                <a:path h="553383" w="1018308">
                  <a:moveTo>
                    <a:pt x="89435" y="0"/>
                  </a:moveTo>
                  <a:lnTo>
                    <a:pt x="928873" y="0"/>
                  </a:lnTo>
                  <a:cubicBezTo>
                    <a:pt x="952593" y="0"/>
                    <a:pt x="975341" y="9423"/>
                    <a:pt x="992113" y="26195"/>
                  </a:cubicBezTo>
                  <a:cubicBezTo>
                    <a:pt x="1008885" y="42967"/>
                    <a:pt x="1018308" y="65715"/>
                    <a:pt x="1018308" y="89435"/>
                  </a:cubicBezTo>
                  <a:lnTo>
                    <a:pt x="1018308" y="463948"/>
                  </a:lnTo>
                  <a:cubicBezTo>
                    <a:pt x="1018308" y="487667"/>
                    <a:pt x="1008885" y="510416"/>
                    <a:pt x="992113" y="527188"/>
                  </a:cubicBezTo>
                  <a:cubicBezTo>
                    <a:pt x="975341" y="543960"/>
                    <a:pt x="952593" y="553383"/>
                    <a:pt x="928873" y="553383"/>
                  </a:cubicBezTo>
                  <a:lnTo>
                    <a:pt x="89435" y="553383"/>
                  </a:lnTo>
                  <a:cubicBezTo>
                    <a:pt x="65715" y="553383"/>
                    <a:pt x="42967" y="543960"/>
                    <a:pt x="26195" y="527188"/>
                  </a:cubicBezTo>
                  <a:cubicBezTo>
                    <a:pt x="9423" y="510416"/>
                    <a:pt x="0" y="487667"/>
                    <a:pt x="0" y="463948"/>
                  </a:cubicBezTo>
                  <a:lnTo>
                    <a:pt x="0" y="89435"/>
                  </a:lnTo>
                  <a:cubicBezTo>
                    <a:pt x="0" y="65715"/>
                    <a:pt x="9423" y="42967"/>
                    <a:pt x="26195" y="26195"/>
                  </a:cubicBezTo>
                  <a:cubicBezTo>
                    <a:pt x="42967" y="9423"/>
                    <a:pt x="65715" y="0"/>
                    <a:pt x="89435" y="0"/>
                  </a:cubicBezTo>
                  <a:close/>
                </a:path>
              </a:pathLst>
            </a:custGeom>
            <a:solidFill>
              <a:srgbClr val="002450">
                <a:alpha val="13725"/>
              </a:srgbClr>
            </a:solidFill>
            <a:ln w="28575" cap="rnd">
              <a:solidFill>
                <a:srgbClr val="002450">
                  <a:alpha val="13725"/>
                </a:srgbClr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018308" cy="543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6910855" y="3957970"/>
            <a:ext cx="0" cy="200025"/>
          </a:xfrm>
          <a:prstGeom prst="line">
            <a:avLst/>
          </a:prstGeom>
          <a:ln cap="flat" w="9525">
            <a:solidFill>
              <a:srgbClr val="5F778C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 flipH="true">
            <a:off x="6909395" y="7056190"/>
            <a:ext cx="0" cy="133350"/>
          </a:xfrm>
          <a:prstGeom prst="line">
            <a:avLst/>
          </a:prstGeom>
          <a:ln cap="flat" w="9525">
            <a:solidFill>
              <a:srgbClr val="5F778C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6909395" y="8125260"/>
            <a:ext cx="0" cy="137336"/>
          </a:xfrm>
          <a:prstGeom prst="line">
            <a:avLst/>
          </a:prstGeom>
          <a:ln cap="flat" w="9525">
            <a:solidFill>
              <a:srgbClr val="5F778C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5213256" y="4157995"/>
            <a:ext cx="7913528" cy="2898195"/>
            <a:chOff x="0" y="0"/>
            <a:chExt cx="3324687" cy="12176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24687" cy="1217610"/>
            </a:xfrm>
            <a:custGeom>
              <a:avLst/>
              <a:gdLst/>
              <a:ahLst/>
              <a:cxnLst/>
              <a:rect r="r" b="b" t="t" l="l"/>
              <a:pathLst>
                <a:path h="1217610" w="3324687">
                  <a:moveTo>
                    <a:pt x="39133" y="0"/>
                  </a:moveTo>
                  <a:lnTo>
                    <a:pt x="3285554" y="0"/>
                  </a:lnTo>
                  <a:cubicBezTo>
                    <a:pt x="3307167" y="0"/>
                    <a:pt x="3324687" y="17520"/>
                    <a:pt x="3324687" y="39133"/>
                  </a:cubicBezTo>
                  <a:lnTo>
                    <a:pt x="3324687" y="1178477"/>
                  </a:lnTo>
                  <a:cubicBezTo>
                    <a:pt x="3324687" y="1200090"/>
                    <a:pt x="3307167" y="1217610"/>
                    <a:pt x="3285554" y="1217610"/>
                  </a:cubicBezTo>
                  <a:lnTo>
                    <a:pt x="39133" y="1217610"/>
                  </a:lnTo>
                  <a:cubicBezTo>
                    <a:pt x="17520" y="1217610"/>
                    <a:pt x="0" y="1200090"/>
                    <a:pt x="0" y="1178477"/>
                  </a:cubicBezTo>
                  <a:lnTo>
                    <a:pt x="0" y="39133"/>
                  </a:lnTo>
                  <a:cubicBezTo>
                    <a:pt x="0" y="17520"/>
                    <a:pt x="17520" y="0"/>
                    <a:pt x="39133" y="0"/>
                  </a:cubicBezTo>
                  <a:close/>
                </a:path>
              </a:pathLst>
            </a:custGeom>
            <a:solidFill>
              <a:srgbClr val="D2D7DD">
                <a:alpha val="6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3324687" cy="1208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44873" y="4367597"/>
            <a:ext cx="3576202" cy="2479462"/>
            <a:chOff x="0" y="0"/>
            <a:chExt cx="1290329" cy="8946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90329" cy="894614"/>
            </a:xfrm>
            <a:custGeom>
              <a:avLst/>
              <a:gdLst/>
              <a:ahLst/>
              <a:cxnLst/>
              <a:rect r="r" b="b" t="t" l="l"/>
              <a:pathLst>
                <a:path h="894614" w="1290329">
                  <a:moveTo>
                    <a:pt x="73605" y="0"/>
                  </a:moveTo>
                  <a:lnTo>
                    <a:pt x="1216724" y="0"/>
                  </a:lnTo>
                  <a:cubicBezTo>
                    <a:pt x="1236245" y="0"/>
                    <a:pt x="1254967" y="7755"/>
                    <a:pt x="1268771" y="21558"/>
                  </a:cubicBezTo>
                  <a:cubicBezTo>
                    <a:pt x="1282574" y="35362"/>
                    <a:pt x="1290329" y="54084"/>
                    <a:pt x="1290329" y="73605"/>
                  </a:cubicBezTo>
                  <a:lnTo>
                    <a:pt x="1290329" y="821010"/>
                  </a:lnTo>
                  <a:cubicBezTo>
                    <a:pt x="1290329" y="840531"/>
                    <a:pt x="1282574" y="859252"/>
                    <a:pt x="1268771" y="873056"/>
                  </a:cubicBezTo>
                  <a:cubicBezTo>
                    <a:pt x="1254967" y="886860"/>
                    <a:pt x="1236245" y="894614"/>
                    <a:pt x="1216724" y="894614"/>
                  </a:cubicBezTo>
                  <a:lnTo>
                    <a:pt x="73605" y="894614"/>
                  </a:lnTo>
                  <a:cubicBezTo>
                    <a:pt x="32954" y="894614"/>
                    <a:pt x="0" y="861660"/>
                    <a:pt x="0" y="821010"/>
                  </a:cubicBezTo>
                  <a:lnTo>
                    <a:pt x="0" y="73605"/>
                  </a:lnTo>
                  <a:cubicBezTo>
                    <a:pt x="0" y="32954"/>
                    <a:pt x="32954" y="0"/>
                    <a:pt x="7360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4C98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1290329" cy="885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44873" y="4367126"/>
            <a:ext cx="3576202" cy="452660"/>
            <a:chOff x="0" y="0"/>
            <a:chExt cx="1029924" cy="1303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9924" cy="130363"/>
            </a:xfrm>
            <a:custGeom>
              <a:avLst/>
              <a:gdLst/>
              <a:ahLst/>
              <a:cxnLst/>
              <a:rect r="r" b="b" t="t" l="l"/>
              <a:pathLst>
                <a:path h="130363" w="1029924">
                  <a:moveTo>
                    <a:pt x="65182" y="0"/>
                  </a:moveTo>
                  <a:lnTo>
                    <a:pt x="964742" y="0"/>
                  </a:lnTo>
                  <a:cubicBezTo>
                    <a:pt x="1000741" y="0"/>
                    <a:pt x="1029924" y="29183"/>
                    <a:pt x="1029924" y="65182"/>
                  </a:cubicBezTo>
                  <a:lnTo>
                    <a:pt x="1029924" y="65182"/>
                  </a:lnTo>
                  <a:cubicBezTo>
                    <a:pt x="1029924" y="101180"/>
                    <a:pt x="1000741" y="130363"/>
                    <a:pt x="964742" y="130363"/>
                  </a:cubicBezTo>
                  <a:lnTo>
                    <a:pt x="65182" y="130363"/>
                  </a:lnTo>
                  <a:cubicBezTo>
                    <a:pt x="29183" y="130363"/>
                    <a:pt x="0" y="101180"/>
                    <a:pt x="0" y="65182"/>
                  </a:cubicBezTo>
                  <a:lnTo>
                    <a:pt x="0" y="65182"/>
                  </a:lnTo>
                  <a:cubicBezTo>
                    <a:pt x="0" y="29183"/>
                    <a:pt x="29183" y="0"/>
                    <a:pt x="65182" y="0"/>
                  </a:cubicBezTo>
                  <a:close/>
                </a:path>
              </a:pathLst>
            </a:custGeom>
            <a:solidFill>
              <a:srgbClr val="004C9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28575"/>
              <a:ext cx="1029924" cy="101788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44873" y="4547970"/>
            <a:ext cx="3576202" cy="271816"/>
            <a:chOff x="0" y="0"/>
            <a:chExt cx="1290329" cy="9807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0329" cy="98074"/>
            </a:xfrm>
            <a:custGeom>
              <a:avLst/>
              <a:gdLst/>
              <a:ahLst/>
              <a:cxnLst/>
              <a:rect r="r" b="b" t="t" l="l"/>
              <a:pathLst>
                <a:path h="98074" w="1290329">
                  <a:moveTo>
                    <a:pt x="0" y="0"/>
                  </a:moveTo>
                  <a:lnTo>
                    <a:pt x="1290329" y="0"/>
                  </a:lnTo>
                  <a:lnTo>
                    <a:pt x="1290329" y="98074"/>
                  </a:lnTo>
                  <a:lnTo>
                    <a:pt x="0" y="98074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28575"/>
              <a:ext cx="1290329" cy="69499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554954" y="4529893"/>
            <a:ext cx="2956040" cy="1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"/>
              </a:lnSpc>
              <a:spcBef>
                <a:spcPct val="0"/>
              </a:spcBef>
            </a:pPr>
            <a:r>
              <a:rPr lang="en-US" b="true" sz="1100">
                <a:solidFill>
                  <a:srgbClr val="FCFE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Instâncias internas de apoio à governança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596819" y="4962661"/>
            <a:ext cx="2872310" cy="162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Auditoria Interna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Ouvidoria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Gabinete do Diretor-Geral 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Procuradoria-Federal junto à Antaq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Corregedoria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Assessorias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Secretaria-Geral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Secretaria Especial de Licitações e Concessões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Unidade Setorial da Integridade (USI) </a:t>
            </a:r>
          </a:p>
          <a:p>
            <a:pPr algn="ctr">
              <a:lnSpc>
                <a:spcPts val="1330"/>
              </a:lnSpc>
            </a:pPr>
            <a:r>
              <a:rPr lang="en-US" sz="10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Colegiados (comissões e comitês)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5499713" y="4668502"/>
            <a:ext cx="2956040" cy="1442141"/>
            <a:chOff x="0" y="0"/>
            <a:chExt cx="1066568" cy="5203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6568" cy="520339"/>
            </a:xfrm>
            <a:custGeom>
              <a:avLst/>
              <a:gdLst/>
              <a:ahLst/>
              <a:cxnLst/>
              <a:rect r="r" b="b" t="t" l="l"/>
              <a:pathLst>
                <a:path h="520339" w="1066568">
                  <a:moveTo>
                    <a:pt x="89047" y="0"/>
                  </a:moveTo>
                  <a:lnTo>
                    <a:pt x="977522" y="0"/>
                  </a:lnTo>
                  <a:cubicBezTo>
                    <a:pt x="1001138" y="0"/>
                    <a:pt x="1023788" y="9382"/>
                    <a:pt x="1040487" y="26081"/>
                  </a:cubicBezTo>
                  <a:cubicBezTo>
                    <a:pt x="1057187" y="42781"/>
                    <a:pt x="1066568" y="65430"/>
                    <a:pt x="1066568" y="89047"/>
                  </a:cubicBezTo>
                  <a:lnTo>
                    <a:pt x="1066568" y="431292"/>
                  </a:lnTo>
                  <a:cubicBezTo>
                    <a:pt x="1066568" y="454909"/>
                    <a:pt x="1057187" y="477558"/>
                    <a:pt x="1040487" y="494257"/>
                  </a:cubicBezTo>
                  <a:cubicBezTo>
                    <a:pt x="1023788" y="510957"/>
                    <a:pt x="1001138" y="520339"/>
                    <a:pt x="977522" y="520339"/>
                  </a:cubicBezTo>
                  <a:lnTo>
                    <a:pt x="89047" y="520339"/>
                  </a:lnTo>
                  <a:cubicBezTo>
                    <a:pt x="65430" y="520339"/>
                    <a:pt x="42781" y="510957"/>
                    <a:pt x="26081" y="494257"/>
                  </a:cubicBezTo>
                  <a:cubicBezTo>
                    <a:pt x="9382" y="477558"/>
                    <a:pt x="0" y="454909"/>
                    <a:pt x="0" y="431292"/>
                  </a:cubicBezTo>
                  <a:lnTo>
                    <a:pt x="0" y="89047"/>
                  </a:lnTo>
                  <a:cubicBezTo>
                    <a:pt x="0" y="65430"/>
                    <a:pt x="9382" y="42781"/>
                    <a:pt x="26081" y="26081"/>
                  </a:cubicBezTo>
                  <a:cubicBezTo>
                    <a:pt x="42781" y="9382"/>
                    <a:pt x="65430" y="0"/>
                    <a:pt x="8904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4C98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1066568" cy="510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499713" y="4668031"/>
            <a:ext cx="2956040" cy="452660"/>
            <a:chOff x="0" y="0"/>
            <a:chExt cx="851321" cy="1303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1321" cy="130363"/>
            </a:xfrm>
            <a:custGeom>
              <a:avLst/>
              <a:gdLst/>
              <a:ahLst/>
              <a:cxnLst/>
              <a:rect r="r" b="b" t="t" l="l"/>
              <a:pathLst>
                <a:path h="130363" w="851321">
                  <a:moveTo>
                    <a:pt x="65182" y="0"/>
                  </a:moveTo>
                  <a:lnTo>
                    <a:pt x="786139" y="0"/>
                  </a:lnTo>
                  <a:cubicBezTo>
                    <a:pt x="822138" y="0"/>
                    <a:pt x="851321" y="29183"/>
                    <a:pt x="851321" y="65182"/>
                  </a:cubicBezTo>
                  <a:lnTo>
                    <a:pt x="851321" y="65182"/>
                  </a:lnTo>
                  <a:cubicBezTo>
                    <a:pt x="851321" y="101180"/>
                    <a:pt x="822138" y="130363"/>
                    <a:pt x="786139" y="130363"/>
                  </a:cubicBezTo>
                  <a:lnTo>
                    <a:pt x="65182" y="130363"/>
                  </a:lnTo>
                  <a:cubicBezTo>
                    <a:pt x="29183" y="130363"/>
                    <a:pt x="0" y="101180"/>
                    <a:pt x="0" y="65182"/>
                  </a:cubicBezTo>
                  <a:lnTo>
                    <a:pt x="0" y="65182"/>
                  </a:lnTo>
                  <a:cubicBezTo>
                    <a:pt x="0" y="29183"/>
                    <a:pt x="29183" y="0"/>
                    <a:pt x="65182" y="0"/>
                  </a:cubicBezTo>
                  <a:close/>
                </a:path>
              </a:pathLst>
            </a:custGeom>
            <a:solidFill>
              <a:srgbClr val="004C9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28575"/>
              <a:ext cx="851321" cy="101788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499713" y="4848875"/>
            <a:ext cx="2956040" cy="271816"/>
            <a:chOff x="0" y="0"/>
            <a:chExt cx="1066568" cy="9807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6568" cy="98074"/>
            </a:xfrm>
            <a:custGeom>
              <a:avLst/>
              <a:gdLst/>
              <a:ahLst/>
              <a:cxnLst/>
              <a:rect r="r" b="b" t="t" l="l"/>
              <a:pathLst>
                <a:path h="98074" w="1066568">
                  <a:moveTo>
                    <a:pt x="0" y="0"/>
                  </a:moveTo>
                  <a:lnTo>
                    <a:pt x="1066568" y="0"/>
                  </a:lnTo>
                  <a:lnTo>
                    <a:pt x="1066568" y="98074"/>
                  </a:lnTo>
                  <a:lnTo>
                    <a:pt x="0" y="98074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28575"/>
              <a:ext cx="1066568" cy="69499"/>
            </a:xfrm>
            <a:prstGeom prst="rect">
              <a:avLst/>
            </a:prstGeom>
          </p:spPr>
          <p:txBody>
            <a:bodyPr anchor="ctr" rtlCol="false" tIns="37082" lIns="37082" bIns="37082" rIns="37082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499713" y="4830797"/>
            <a:ext cx="2956040" cy="1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"/>
              </a:lnSpc>
              <a:spcBef>
                <a:spcPct val="0"/>
              </a:spcBef>
            </a:pPr>
            <a:r>
              <a:rPr lang="en-US" b="true" sz="1100">
                <a:solidFill>
                  <a:srgbClr val="FCFE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Instância interna de governança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193111" y="5301321"/>
            <a:ext cx="1569244" cy="1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  <a:spcBef>
                <a:spcPct val="0"/>
              </a:spcBef>
            </a:pPr>
            <a:r>
              <a:rPr lang="en-US" b="true" sz="1299">
                <a:solidFill>
                  <a:srgbClr val="1C3F6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Alta administração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008886" y="5617043"/>
            <a:ext cx="1937694" cy="28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"/>
              </a:lnSpc>
              <a:spcBef>
                <a:spcPct val="0"/>
              </a:spcBef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Diretoria Colegiada - autoridade máxima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254731" y="2177326"/>
            <a:ext cx="2122838" cy="2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b="true" sz="17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GOVERNANÇA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54731" y="9215591"/>
            <a:ext cx="2122838" cy="2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b="true" sz="17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13855" y="6003303"/>
            <a:ext cx="3051990" cy="14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"/>
              </a:lnSpc>
              <a:spcBef>
                <a:spcPct val="0"/>
              </a:spcBef>
            </a:pPr>
            <a:r>
              <a:rPr lang="en-US" b="true" sz="1100">
                <a:solidFill>
                  <a:srgbClr val="FCFE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Instâncias externas de apoio à governança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3695" y="6426547"/>
            <a:ext cx="2872310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Ministério de Portos e Aeroportos (MPOR)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Conselho Consultivo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Conselho de Usuários de Serviços Públicos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Comissão de Ética Pública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Organismos e fóruns internacionais</a:t>
            </a:r>
          </a:p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Outras instâncias de controle social organizado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494806" y="2861274"/>
            <a:ext cx="832098" cy="1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  <a:spcBef>
                <a:spcPct val="0"/>
              </a:spcBef>
            </a:pPr>
            <a:r>
              <a:rPr lang="en-US" b="true" sz="1299">
                <a:solidFill>
                  <a:srgbClr val="1C3F6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Sociedade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792662" y="3162262"/>
            <a:ext cx="2230643" cy="53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Cidadãos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Empresas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Outras partes interessadas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362601" y="7354679"/>
            <a:ext cx="1093589" cy="1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  <a:spcBef>
                <a:spcPct val="0"/>
              </a:spcBef>
            </a:pPr>
            <a:r>
              <a:rPr lang="en-US" b="true" sz="1299">
                <a:solidFill>
                  <a:srgbClr val="1C3F6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tática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949078" y="7610481"/>
            <a:ext cx="1915701" cy="35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Superintendências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Unidades equivalentes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111308" y="8408686"/>
            <a:ext cx="1590526" cy="1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  <a:spcBef>
                <a:spcPct val="0"/>
              </a:spcBef>
            </a:pPr>
            <a:r>
              <a:rPr lang="en-US" b="true" sz="1299">
                <a:solidFill>
                  <a:srgbClr val="1C3F6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operacional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946254" y="8645437"/>
            <a:ext cx="1915701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Gerências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Coordenadorias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Seções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Divisões</a:t>
            </a:r>
          </a:p>
          <a:p>
            <a:pPr algn="ctr">
              <a:lnSpc>
                <a:spcPts val="1463"/>
              </a:lnSpc>
            </a:pPr>
            <a:r>
              <a:rPr lang="en-US" sz="1100">
                <a:solidFill>
                  <a:srgbClr val="1C3F69"/>
                </a:solidFill>
                <a:latin typeface="Open Sans 1"/>
                <a:ea typeface="Open Sans 1"/>
                <a:cs typeface="Open Sans 1"/>
                <a:sym typeface="Open Sans 1"/>
              </a:rPr>
              <a:t>Serviços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499713" y="6410564"/>
            <a:ext cx="1538883" cy="1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  <a:spcBef>
                <a:spcPct val="0"/>
              </a:spcBef>
            </a:pPr>
            <a:r>
              <a:rPr lang="en-US" b="true" sz="1299">
                <a:solidFill>
                  <a:srgbClr val="1C3F6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estratégica</a:t>
            </a:r>
          </a:p>
        </p:txBody>
      </p:sp>
      <p:sp>
        <p:nvSpPr>
          <p:cNvPr name="AutoShape 77" id="77"/>
          <p:cNvSpPr/>
          <p:nvPr/>
        </p:nvSpPr>
        <p:spPr>
          <a:xfrm flipV="true">
            <a:off x="8455752" y="5384717"/>
            <a:ext cx="789121" cy="4620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8" id="78"/>
          <p:cNvSpPr/>
          <p:nvPr/>
        </p:nvSpPr>
        <p:spPr>
          <a:xfrm>
            <a:off x="4727951" y="3868732"/>
            <a:ext cx="213843" cy="2982947"/>
          </a:xfrm>
          <a:custGeom>
            <a:avLst/>
            <a:gdLst/>
            <a:ahLst/>
            <a:cxnLst/>
            <a:rect r="r" b="b" t="t" l="l"/>
            <a:pathLst>
              <a:path h="2982947" w="213843">
                <a:moveTo>
                  <a:pt x="0" y="0"/>
                </a:moveTo>
                <a:lnTo>
                  <a:pt x="106921" y="0"/>
                </a:lnTo>
                <a:cubicBezTo>
                  <a:pt x="135279" y="0"/>
                  <a:pt x="162475" y="11265"/>
                  <a:pt x="182526" y="31317"/>
                </a:cubicBezTo>
                <a:cubicBezTo>
                  <a:pt x="202578" y="51369"/>
                  <a:pt x="213843" y="78565"/>
                  <a:pt x="213843" y="106922"/>
                </a:cubicBezTo>
                <a:lnTo>
                  <a:pt x="213843" y="2876026"/>
                </a:lnTo>
                <a:cubicBezTo>
                  <a:pt x="213843" y="2935078"/>
                  <a:pt x="165972" y="2982947"/>
                  <a:pt x="106921" y="2982947"/>
                </a:cubicBezTo>
                <a:lnTo>
                  <a:pt x="0" y="2982947"/>
                </a:lnTo>
              </a:path>
            </a:pathLst>
          </a:custGeom>
          <a:ln cap="flat" w="9525">
            <a:solidFill>
              <a:srgbClr val="4454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>
            <a:off x="4946398" y="5389337"/>
            <a:ext cx="553315" cy="0"/>
          </a:xfrm>
          <a:prstGeom prst="line">
            <a:avLst/>
          </a:prstGeom>
          <a:ln cap="flat" w="9525">
            <a:solidFill>
              <a:srgbClr val="4454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0" id="8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6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77254" y="1042714"/>
            <a:ext cx="497189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de governança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773911" y="1929174"/>
            <a:ext cx="3662791" cy="746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No </a:t>
            </a:r>
            <a:r>
              <a:rPr lang="en-US" sz="1299" b="true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controle externo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há os órgãos de controle, e na estrutura externa de apoio à governança é composta principalmente pelo MPOR e pelo Conselho dos Usuários de Serviço Público, que representam o controle social organizado, em conformidade com o disposto no 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  <a:hlinkClick r:id="rId2" tooltip="http://www.planalto.gov.br/ccivil_03/_ato2019-2022/2020/decreto/D10228.htm"/>
              </a:rPr>
              <a:t>Decreto nº 10.228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</a:rPr>
              <a:t>, de 5 de fevereiro de 2020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Nas</a:t>
            </a:r>
            <a:r>
              <a:rPr lang="en-US" sz="1299" b="true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instâncias internas de apoio à governança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além dos comitês, contamos com unidades organizacionais que exercem função de suporte à decisão, contribuindo para o assessoramento técnico, jurídico e estratégico da alta administração. Destaque para a Auditoria Interna da Antaq (AUD) que se vincula normativamente à Diretoria Colegiada e, funcionalmente, à Diretoria-Geral. É supervisionada técnica e normativamente pela Secretaria Federal de Controle Interno/CGU, órgão central do Sistema de Controle Interno do Poder Executivo Federal. A Auditoria Interna  desempenha papel relevante no fortalecimento da governança, integridade e gestão de riscos, ao avaliar a efetividade dos controles internos implementados pelos gestores, contribuindo para o aprimoramento contínuo da administração.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930" y="2277426"/>
            <a:ext cx="7806525" cy="7521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estr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atégia é um component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 indissociável da governança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relação funciona como um fluxo lógico: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Governança define o rumo: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→ missão, visão, objetivos de alto nível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Estratégia detalha o caminho: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planos, metas, projetos e indicadores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Gestão executa a estratégia;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Governança monitora os resultados: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→avalia se a estratégia está funcionando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Ajustes são feitos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revisão da estratégia ou da própria direção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 uma frase: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Governança define onde chegar; estratégia define como chegar.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092565" y="3697393"/>
            <a:ext cx="51435" cy="4114800"/>
          </a:xfrm>
          <a:custGeom>
            <a:avLst/>
            <a:gdLst/>
            <a:ahLst/>
            <a:cxnLst/>
            <a:rect r="r" b="b" t="t" l="l"/>
            <a:pathLst>
              <a:path h="4114800" w="51435">
                <a:moveTo>
                  <a:pt x="0" y="0"/>
                </a:moveTo>
                <a:lnTo>
                  <a:pt x="51435" y="0"/>
                </a:lnTo>
                <a:lnTo>
                  <a:pt x="51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446" y="753426"/>
            <a:ext cx="1727132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>
                <a:solidFill>
                  <a:srgbClr val="32437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QUAL A RELAÇÃO ENTRE GOVERNANÇA E ESTRATÉGIA?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20450" y="3321686"/>
            <a:ext cx="7806525" cy="584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Resumindo: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 governança:</a:t>
            </a:r>
          </a:p>
          <a:p>
            <a:pPr algn="just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estratégia pode ficar desalinhada do interesse público;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 estratégia:</a:t>
            </a:r>
          </a:p>
          <a:p>
            <a:pPr algn="just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governança fica abstrata, sem execução;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 ambas integradas:</a:t>
            </a:r>
          </a:p>
          <a:p>
            <a:pPr algn="just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há coerência, foco e monitoramento de resultados.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4812" y="615234"/>
            <a:ext cx="4911930" cy="9693186"/>
          </a:xfrm>
          <a:custGeom>
            <a:avLst/>
            <a:gdLst/>
            <a:ahLst/>
            <a:cxnLst/>
            <a:rect r="r" b="b" t="t" l="l"/>
            <a:pathLst>
              <a:path h="9693186" w="4911930">
                <a:moveTo>
                  <a:pt x="0" y="0"/>
                </a:moveTo>
                <a:lnTo>
                  <a:pt x="4911930" y="0"/>
                </a:lnTo>
                <a:lnTo>
                  <a:pt x="4911930" y="9693187"/>
                </a:lnTo>
                <a:lnTo>
                  <a:pt x="0" y="9693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453" t="0" r="-745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7087" y="1042158"/>
            <a:ext cx="1121481" cy="963773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3035" y="0"/>
              <a:ext cx="786730" cy="698500"/>
            </a:xfrm>
            <a:custGeom>
              <a:avLst/>
              <a:gdLst/>
              <a:ahLst/>
              <a:cxnLst/>
              <a:rect r="r" b="b" t="t" l="l"/>
              <a:pathLst>
                <a:path h="698500" w="786730">
                  <a:moveTo>
                    <a:pt x="775464" y="391018"/>
                  </a:moveTo>
                  <a:lnTo>
                    <a:pt x="620866" y="656732"/>
                  </a:lnTo>
                  <a:cubicBezTo>
                    <a:pt x="605821" y="682591"/>
                    <a:pt x="578160" y="698500"/>
                    <a:pt x="548242" y="698500"/>
                  </a:cubicBezTo>
                  <a:lnTo>
                    <a:pt x="238488" y="698500"/>
                  </a:lnTo>
                  <a:cubicBezTo>
                    <a:pt x="208570" y="698500"/>
                    <a:pt x="180909" y="682591"/>
                    <a:pt x="165864" y="656732"/>
                  </a:cubicBezTo>
                  <a:lnTo>
                    <a:pt x="11266" y="391018"/>
                  </a:lnTo>
                  <a:cubicBezTo>
                    <a:pt x="-3756" y="365199"/>
                    <a:pt x="-3756" y="333301"/>
                    <a:pt x="11266" y="307482"/>
                  </a:cubicBezTo>
                  <a:lnTo>
                    <a:pt x="165864" y="41768"/>
                  </a:lnTo>
                  <a:cubicBezTo>
                    <a:pt x="180909" y="15909"/>
                    <a:pt x="208570" y="0"/>
                    <a:pt x="238488" y="0"/>
                  </a:cubicBezTo>
                  <a:lnTo>
                    <a:pt x="548242" y="0"/>
                  </a:lnTo>
                  <a:cubicBezTo>
                    <a:pt x="578160" y="0"/>
                    <a:pt x="605821" y="15909"/>
                    <a:pt x="620866" y="41768"/>
                  </a:cubicBezTo>
                  <a:lnTo>
                    <a:pt x="775464" y="307482"/>
                  </a:lnTo>
                  <a:cubicBezTo>
                    <a:pt x="790486" y="333301"/>
                    <a:pt x="790486" y="365199"/>
                    <a:pt x="775464" y="391018"/>
                  </a:cubicBezTo>
                  <a:close/>
                </a:path>
              </a:pathLst>
            </a:custGeom>
            <a:ln w="9525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6600" y="1179239"/>
            <a:ext cx="802454" cy="689609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8217" y="0"/>
              <a:ext cx="776366" cy="698500"/>
            </a:xfrm>
            <a:custGeom>
              <a:avLst/>
              <a:gdLst/>
              <a:ahLst/>
              <a:cxnLst/>
              <a:rect r="r" b="b" t="t" l="l"/>
              <a:pathLst>
                <a:path h="698500" w="776366">
                  <a:moveTo>
                    <a:pt x="760620" y="407623"/>
                  </a:moveTo>
                  <a:lnTo>
                    <a:pt x="625346" y="640127"/>
                  </a:lnTo>
                  <a:cubicBezTo>
                    <a:pt x="604319" y="676267"/>
                    <a:pt x="565661" y="698500"/>
                    <a:pt x="523848" y="698500"/>
                  </a:cubicBezTo>
                  <a:lnTo>
                    <a:pt x="252518" y="698500"/>
                  </a:lnTo>
                  <a:cubicBezTo>
                    <a:pt x="210705" y="698500"/>
                    <a:pt x="172047" y="676267"/>
                    <a:pt x="151020" y="640127"/>
                  </a:cubicBezTo>
                  <a:lnTo>
                    <a:pt x="15746" y="407623"/>
                  </a:lnTo>
                  <a:cubicBezTo>
                    <a:pt x="-5249" y="371539"/>
                    <a:pt x="-5249" y="326961"/>
                    <a:pt x="15746" y="290877"/>
                  </a:cubicBezTo>
                  <a:lnTo>
                    <a:pt x="151020" y="58373"/>
                  </a:lnTo>
                  <a:cubicBezTo>
                    <a:pt x="172047" y="22233"/>
                    <a:pt x="210705" y="0"/>
                    <a:pt x="252518" y="0"/>
                  </a:cubicBezTo>
                  <a:lnTo>
                    <a:pt x="523848" y="0"/>
                  </a:lnTo>
                  <a:cubicBezTo>
                    <a:pt x="565661" y="0"/>
                    <a:pt x="604319" y="22233"/>
                    <a:pt x="625346" y="58373"/>
                  </a:cubicBezTo>
                  <a:lnTo>
                    <a:pt x="760620" y="290877"/>
                  </a:lnTo>
                  <a:cubicBezTo>
                    <a:pt x="781615" y="326961"/>
                    <a:pt x="781615" y="371539"/>
                    <a:pt x="760620" y="407623"/>
                  </a:cubicBezTo>
                  <a:close/>
                </a:path>
              </a:pathLst>
            </a:custGeom>
            <a:solidFill>
              <a:srgbClr val="FDFD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 flipV="true">
            <a:off x="1142505" y="2005931"/>
            <a:ext cx="0" cy="7494126"/>
          </a:xfrm>
          <a:prstGeom prst="line">
            <a:avLst/>
          </a:prstGeom>
          <a:ln cap="flat" w="9525">
            <a:solidFill>
              <a:srgbClr val="FDFD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11566" y="1312544"/>
            <a:ext cx="422997" cy="422997"/>
          </a:xfrm>
          <a:custGeom>
            <a:avLst/>
            <a:gdLst/>
            <a:ahLst/>
            <a:cxnLst/>
            <a:rect r="r" b="b" t="t" l="l"/>
            <a:pathLst>
              <a:path h="422997" w="422997">
                <a:moveTo>
                  <a:pt x="0" y="0"/>
                </a:moveTo>
                <a:lnTo>
                  <a:pt x="422997" y="0"/>
                </a:lnTo>
                <a:lnTo>
                  <a:pt x="422997" y="422997"/>
                </a:lnTo>
                <a:lnTo>
                  <a:pt x="0" y="422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7786" y="1042714"/>
            <a:ext cx="3515671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Referencial </a:t>
            </a:r>
            <a:r>
              <a:rPr lang="en-US" b="true" sz="2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estratégico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8568" y="2374365"/>
            <a:ext cx="81810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Negócio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142505" y="593814"/>
            <a:ext cx="0" cy="448344"/>
          </a:xfrm>
          <a:prstGeom prst="line">
            <a:avLst/>
          </a:prstGeom>
          <a:ln cap="flat" w="9525">
            <a:solidFill>
              <a:srgbClr val="FDFD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88568" y="2698493"/>
            <a:ext cx="88927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sz="1000" i="true">
                <a:solidFill>
                  <a:srgbClr val="FDFDFC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O que fazemos?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8568" y="4624606"/>
            <a:ext cx="70410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Missão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88568" y="4948734"/>
            <a:ext cx="104513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sz="1000" i="true">
                <a:solidFill>
                  <a:srgbClr val="FDFDFC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Por que existimos?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8568" y="5322527"/>
            <a:ext cx="4971894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Promovemos o desenvolvimento sustentável do setor de transportes aquaviários, beneficiando a sociedade através da regulação eficiente, fiscalização responsiva, outorgas estratégicas e estudos inovadores.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8568" y="6874847"/>
            <a:ext cx="54366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568" y="7198975"/>
            <a:ext cx="10144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sz="1000" i="true">
                <a:solidFill>
                  <a:srgbClr val="FDFDFC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O que queremos?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8568" y="7572768"/>
            <a:ext cx="4971894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Ser uma Agência efetiva, independente e inovadora em sua atuação por um setor aquaviário eficiente, seguro e sustentável.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01092" y="2374365"/>
            <a:ext cx="239300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Valores organizacionais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01092" y="2698493"/>
            <a:ext cx="2286953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sz="1000" i="true">
                <a:solidFill>
                  <a:srgbClr val="FDFDFC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Quais princípios pautam nossa atuação?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01092" y="3072286"/>
            <a:ext cx="4971894" cy="613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: buscamos resultados que assegurem o cumprimento da missão e a excelência da imagem institucional.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Transparência e integridade: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comunicamos nossas ações e decisões de forma objetiva e transparente e promovemos a escuta ativa do mercado regulado.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Decisões baseadas em conhecimento: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valorizamos o conhecimento como alicerce de nossa atuação, com atualizações constantes em prol da excelência técnica e de gestão. Utilizamos o conhecimento para introduzir inovações, tanto na execução de políticas públicas quanto em nossos procedimentos internos.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Inovação e sustentabilidade: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buscamos soluções e abordagens inovadoras para melhorar o setor aquaviário, contribuindo para desenvolvimento econômico, social e ambiental do país.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Profissionalismo: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atuamos de forma técnica, competente, responsável, imparcial, coerente, objetiva e comprometida com a missão institucional.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8568" y="3072286"/>
            <a:ext cx="4971894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Regulamos as atividades de prestação de serviços e de exploração da infraestrutura de transportes aquaviários, assegurando a observância do interesse público e o adequado funcionamento do setor.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65131" y="8875098"/>
            <a:ext cx="1306738" cy="146050"/>
            <a:chOff x="0" y="0"/>
            <a:chExt cx="1742317" cy="194733"/>
          </a:xfrm>
        </p:grpSpPr>
        <p:sp>
          <p:nvSpPr>
            <p:cNvPr name="Freeform 27" id="27"/>
            <p:cNvSpPr/>
            <p:nvPr/>
          </p:nvSpPr>
          <p:spPr>
            <a:xfrm flipH="true" flipV="false" rot="0">
              <a:off x="0" y="25049"/>
              <a:ext cx="182702" cy="169684"/>
            </a:xfrm>
            <a:custGeom>
              <a:avLst/>
              <a:gdLst/>
              <a:ahLst/>
              <a:cxnLst/>
              <a:rect r="r" b="b" t="t" l="l"/>
              <a:pathLst>
                <a:path h="169684" w="182702">
                  <a:moveTo>
                    <a:pt x="182702" y="0"/>
                  </a:moveTo>
                  <a:lnTo>
                    <a:pt x="0" y="0"/>
                  </a:lnTo>
                  <a:lnTo>
                    <a:pt x="0" y="169684"/>
                  </a:lnTo>
                  <a:lnTo>
                    <a:pt x="182702" y="169684"/>
                  </a:lnTo>
                  <a:lnTo>
                    <a:pt x="182702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26201" y="-19050"/>
              <a:ext cx="1516116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i="true">
                  <a:solidFill>
                    <a:srgbClr val="FFFFFF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Porto de Santos (SP)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971550"/>
            <a:ext cx="497189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</a:t>
            </a: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ano Estratégico Institucional 2025-2028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48535"/>
            <a:ext cx="4971894" cy="613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 Plano Estratégico Institucional (PEI) é o instrumento por meio do qual explicitamos nossos objetivos estratégicos, metas e resultados a serem alcançados. Em observância ao art. 4º da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  <a:hlinkClick r:id="rId2" tooltip="https://www.in.gov.br/en/web/dou/-/instrucao-normativa-n-24-de-18-de-marco-de-2020-251068261"/>
              </a:rPr>
              <a:t>Instrução Normativa do Ministério da Economia nº 24/2020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no PEI 2025-2028, procuramos consolidar a conexão entre os objetivos estratégicos e os compromissos governamentais assumidos no 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  <a:hlinkClick r:id="rId3" tooltip="https://www.planalto.gov.br/ccivil_03/_ato2023-2026/2024/lei/L14802.htm"/>
              </a:rPr>
              <a:t>Plano Plurianual (PPA 2024–2027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)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</a:rPr>
              <a:t>,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na 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  <a:hlinkClick r:id="rId4" tooltip="https://www.gov.br/gestao/pt-br/assuntos/gestao/estrategia-federal-de-desenvolvimento"/>
              </a:rPr>
              <a:t>E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5" tooltip="https://www.gov.br/gestao/pt-br/assuntos/gestao/estrategia-federal-de-desenvolvimento"/>
              </a:rPr>
              <a:t>stratégia Federal de Desenvolvimento (EFD 2020-2031</a:t>
            </a:r>
            <a:r>
              <a:rPr lang="en-US" sz="1299" u="sng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6" tooltip="https://www.gov.br/gestao/pt-br/assuntos/gestao/estrategia-federal-de-desenvolvimento"/>
              </a:rPr>
              <a:t>)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na 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7" tooltip="https://www.gov.br/transportes/pt-br/centrais-de-conteudo/resumo_executivo_pnt_portugues.pdf"/>
              </a:rPr>
              <a:t>Política Nacional de Transportes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no 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8" tooltip="https://www.gov.br/transportes/pt-br/assuntos/noticias/2021/10/imagens/resumoExecutivo_PNL2035_ed_105112021.pdf"/>
              </a:rPr>
              <a:t>Plano Nacional de Logística 2035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bem como na 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9" tooltip="https://bibliotecadigital.gestao.gov.br/bitstream/123456789/1058/1/estrategia_nacional_v3.pdf"/>
              </a:rPr>
              <a:t>Estratégia Nacional de Desenvolvimento Econômico e Social (Endes)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e nos 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0" tooltip="https://brasil.un.org/pt-br/sdgs"/>
              </a:rPr>
              <a:t>Objetivos de Desenvolvimento Sustentável (ODS)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Esse arranjo promove uma conexão direta entre a estratégia organizacional e a entrega de valor público, assegurando que os esforços de gestão contribuam para os compromissos pactuados pelo Estado.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Os objetivos estratégicos representam as conquistas almejadas para o cumprimento de nossa missão institucional e para o alcance da visão de futuro para o quadriênio 2025-2028, desdobrados em metas e resultados a serem alcançados.</a:t>
            </a:r>
          </a:p>
          <a:p>
            <a:pPr algn="l">
              <a:lnSpc>
                <a:spcPts val="210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6425968" y="1452880"/>
            <a:ext cx="10073636" cy="7842705"/>
            <a:chOff x="0" y="0"/>
            <a:chExt cx="13431515" cy="1045694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140324" y="354184"/>
              <a:ext cx="6285305" cy="1726856"/>
              <a:chOff x="0" y="0"/>
              <a:chExt cx="1241542" cy="34110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447444" y="0"/>
              <a:ext cx="5671065" cy="597126"/>
              <a:chOff x="0" y="0"/>
              <a:chExt cx="1120210" cy="11795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306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2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354184"/>
              <a:ext cx="6285305" cy="1726856"/>
              <a:chOff x="0" y="0"/>
              <a:chExt cx="1241542" cy="34110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07120" y="0"/>
              <a:ext cx="5671065" cy="597126"/>
              <a:chOff x="0" y="0"/>
              <a:chExt cx="1120210" cy="11795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1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7140324" y="3145605"/>
              <a:ext cx="6285305" cy="1726856"/>
              <a:chOff x="0" y="0"/>
              <a:chExt cx="1241542" cy="3411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447444" y="2791421"/>
              <a:ext cx="5671065" cy="597126"/>
              <a:chOff x="0" y="0"/>
              <a:chExt cx="1120210" cy="1179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336FA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4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3145605"/>
              <a:ext cx="6285305" cy="1726856"/>
              <a:chOff x="0" y="0"/>
              <a:chExt cx="1241542" cy="34110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07120" y="2791421"/>
              <a:ext cx="5671065" cy="597126"/>
              <a:chOff x="0" y="0"/>
              <a:chExt cx="1120210" cy="11795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3F93B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3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7146210" y="5937844"/>
              <a:ext cx="6285305" cy="1726856"/>
              <a:chOff x="0" y="0"/>
              <a:chExt cx="1241542" cy="34110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7453330" y="5583661"/>
              <a:ext cx="5671065" cy="597126"/>
              <a:chOff x="0" y="0"/>
              <a:chExt cx="1120210" cy="11795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6FAD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6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5886" y="5937844"/>
              <a:ext cx="6285305" cy="1726856"/>
              <a:chOff x="0" y="0"/>
              <a:chExt cx="1241542" cy="34110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13005" y="5583661"/>
              <a:ext cx="5671065" cy="597126"/>
              <a:chOff x="0" y="0"/>
              <a:chExt cx="1120210" cy="11795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52A2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5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624043" y="8730084"/>
              <a:ext cx="6285305" cy="1726856"/>
              <a:chOff x="0" y="0"/>
              <a:chExt cx="1241542" cy="34110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241542" cy="341107"/>
              </a:xfrm>
              <a:custGeom>
                <a:avLst/>
                <a:gdLst/>
                <a:ahLst/>
                <a:cxnLst/>
                <a:rect r="r" b="b" t="t" l="l"/>
                <a:pathLst>
                  <a:path h="341107" w="1241542">
                    <a:moveTo>
                      <a:pt x="45985" y="0"/>
                    </a:moveTo>
                    <a:lnTo>
                      <a:pt x="1195556" y="0"/>
                    </a:lnTo>
                    <a:cubicBezTo>
                      <a:pt x="1220953" y="0"/>
                      <a:pt x="1241542" y="20588"/>
                      <a:pt x="1241542" y="45985"/>
                    </a:cubicBezTo>
                    <a:lnTo>
                      <a:pt x="1241542" y="295122"/>
                    </a:lnTo>
                    <a:cubicBezTo>
                      <a:pt x="1241542" y="320519"/>
                      <a:pt x="1220953" y="341107"/>
                      <a:pt x="1195556" y="341107"/>
                    </a:cubicBezTo>
                    <a:lnTo>
                      <a:pt x="45985" y="341107"/>
                    </a:lnTo>
                    <a:cubicBezTo>
                      <a:pt x="33789" y="341107"/>
                      <a:pt x="22093" y="336262"/>
                      <a:pt x="13469" y="327639"/>
                    </a:cubicBezTo>
                    <a:cubicBezTo>
                      <a:pt x="4845" y="319015"/>
                      <a:pt x="0" y="307318"/>
                      <a:pt x="0" y="295122"/>
                    </a:cubicBezTo>
                    <a:lnTo>
                      <a:pt x="0" y="45985"/>
                    </a:lnTo>
                    <a:cubicBezTo>
                      <a:pt x="0" y="33789"/>
                      <a:pt x="4845" y="22093"/>
                      <a:pt x="13469" y="13469"/>
                    </a:cubicBezTo>
                    <a:cubicBezTo>
                      <a:pt x="22093" y="4845"/>
                      <a:pt x="33789" y="0"/>
                      <a:pt x="45985" y="0"/>
                    </a:cubicBezTo>
                    <a:close/>
                  </a:path>
                </a:pathLst>
              </a:custGeom>
              <a:ln w="9525" cap="rnd">
                <a:solidFill>
                  <a:srgbClr val="004C98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1241542" cy="369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931162" y="8375900"/>
              <a:ext cx="5671065" cy="597126"/>
              <a:chOff x="0" y="0"/>
              <a:chExt cx="1120210" cy="11795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20210" cy="117951"/>
              </a:xfrm>
              <a:custGeom>
                <a:avLst/>
                <a:gdLst/>
                <a:ahLst/>
                <a:cxnLst/>
                <a:rect r="r" b="b" t="t" l="l"/>
                <a:pathLst>
                  <a:path h="117951" w="1120210">
                    <a:moveTo>
                      <a:pt x="27303" y="0"/>
                    </a:moveTo>
                    <a:lnTo>
                      <a:pt x="1092907" y="0"/>
                    </a:lnTo>
                    <a:cubicBezTo>
                      <a:pt x="1100149" y="0"/>
                      <a:pt x="1107093" y="2877"/>
                      <a:pt x="1112214" y="7997"/>
                    </a:cubicBezTo>
                    <a:cubicBezTo>
                      <a:pt x="1117334" y="13117"/>
                      <a:pt x="1120210" y="20062"/>
                      <a:pt x="1120210" y="27303"/>
                    </a:cubicBezTo>
                    <a:lnTo>
                      <a:pt x="1120210" y="90648"/>
                    </a:lnTo>
                    <a:cubicBezTo>
                      <a:pt x="1120210" y="105727"/>
                      <a:pt x="1107986" y="117951"/>
                      <a:pt x="1092907" y="117951"/>
                    </a:cubicBezTo>
                    <a:lnTo>
                      <a:pt x="27303" y="117951"/>
                    </a:lnTo>
                    <a:cubicBezTo>
                      <a:pt x="20062" y="117951"/>
                      <a:pt x="13117" y="115074"/>
                      <a:pt x="7997" y="109954"/>
                    </a:cubicBezTo>
                    <a:cubicBezTo>
                      <a:pt x="2877" y="104834"/>
                      <a:pt x="0" y="97889"/>
                      <a:pt x="0" y="90648"/>
                    </a:cubicBezTo>
                    <a:lnTo>
                      <a:pt x="0" y="27303"/>
                    </a:lnTo>
                    <a:cubicBezTo>
                      <a:pt x="0" y="12224"/>
                      <a:pt x="12224" y="0"/>
                      <a:pt x="27303" y="0"/>
                    </a:cubicBezTo>
                    <a:close/>
                  </a:path>
                </a:pathLst>
              </a:custGeom>
              <a:solidFill>
                <a:srgbClr val="9ECA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120210" cy="1274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OBJETIVO ESTRATÉGICO 7</a:t>
                </a: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7790620" y="819241"/>
              <a:ext cx="4996484" cy="90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Garanti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 a regulação efetiva do setor aquaviário, participando ativamente da formulação de políticas públicas de transportes e logística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650296" y="819241"/>
              <a:ext cx="4996484" cy="603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Promove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 a transição para um setor aquaviário mais sustentável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7790620" y="3610663"/>
              <a:ext cx="4996484" cy="603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Prom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over o desenvolvimento da navegação interior na região amazônica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650296" y="3610663"/>
              <a:ext cx="4996484" cy="90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Amplia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 a participação do modal aquaviário na matriz de transportes, promovendo a integração e a competitividade da infraestrutura logística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7796506" y="6402902"/>
              <a:ext cx="4996484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Fom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entar cultura organizacional de inovação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656182" y="6402902"/>
              <a:ext cx="4996484" cy="603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Aprimo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rar o modelo de governança com foco em resultados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274339" y="9195142"/>
              <a:ext cx="4996484" cy="90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Racionaliz</a:t>
              </a:r>
              <a:r>
                <a:rPr lang="en-US" sz="1299">
                  <a:solidFill>
                    <a:srgbClr val="3D3D3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ar os processos de trabalho e os sistemas por meio da transformação digital e da integração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28700" y="8533472"/>
            <a:ext cx="3742029" cy="353276"/>
            <a:chOff x="0" y="0"/>
            <a:chExt cx="4989372" cy="471035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1472036" y="0"/>
              <a:ext cx="3517337" cy="471035"/>
              <a:chOff x="0" y="0"/>
              <a:chExt cx="497245" cy="6659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97245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497245">
                    <a:moveTo>
                      <a:pt x="22928" y="0"/>
                    </a:moveTo>
                    <a:lnTo>
                      <a:pt x="474317" y="0"/>
                    </a:lnTo>
                    <a:cubicBezTo>
                      <a:pt x="480398" y="0"/>
                      <a:pt x="486230" y="2416"/>
                      <a:pt x="490530" y="6715"/>
                    </a:cubicBezTo>
                    <a:cubicBezTo>
                      <a:pt x="494830" y="11015"/>
                      <a:pt x="497245" y="16847"/>
                      <a:pt x="497245" y="22928"/>
                    </a:cubicBezTo>
                    <a:lnTo>
                      <a:pt x="497245" y="43662"/>
                    </a:lnTo>
                    <a:cubicBezTo>
                      <a:pt x="497245" y="49743"/>
                      <a:pt x="494830" y="55575"/>
                      <a:pt x="490530" y="59875"/>
                    </a:cubicBezTo>
                    <a:cubicBezTo>
                      <a:pt x="486230" y="64175"/>
                      <a:pt x="480398" y="66590"/>
                      <a:pt x="474317" y="66590"/>
                    </a:cubicBezTo>
                    <a:lnTo>
                      <a:pt x="22928" y="66590"/>
                    </a:lnTo>
                    <a:cubicBezTo>
                      <a:pt x="10265" y="66590"/>
                      <a:pt x="0" y="56325"/>
                      <a:pt x="0" y="43662"/>
                    </a:cubicBezTo>
                    <a:lnTo>
                      <a:pt x="0" y="22928"/>
                    </a:lnTo>
                    <a:cubicBezTo>
                      <a:pt x="0" y="16847"/>
                      <a:pt x="2416" y="11015"/>
                      <a:pt x="6715" y="6715"/>
                    </a:cubicBezTo>
                    <a:cubicBezTo>
                      <a:pt x="11015" y="2416"/>
                      <a:pt x="16847" y="0"/>
                      <a:pt x="22928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19050"/>
                <a:ext cx="497245" cy="85640"/>
              </a:xfrm>
              <a:prstGeom prst="rect">
                <a:avLst/>
              </a:prstGeom>
            </p:spPr>
            <p:txBody>
              <a:bodyPr anchor="ctr" rtlCol="false" tIns="165100" lIns="165100" bIns="165100" rIns="165100"/>
              <a:lstStyle/>
              <a:p>
                <a:pPr algn="ctr">
                  <a:lnSpc>
                    <a:spcPts val="1539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0"/>
              <a:ext cx="4503551" cy="471035"/>
              <a:chOff x="0" y="0"/>
              <a:chExt cx="636666" cy="6659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636666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636666">
                    <a:moveTo>
                      <a:pt x="16116" y="0"/>
                    </a:moveTo>
                    <a:lnTo>
                      <a:pt x="620550" y="0"/>
                    </a:lnTo>
                    <a:cubicBezTo>
                      <a:pt x="629451" y="0"/>
                      <a:pt x="636666" y="7216"/>
                      <a:pt x="636666" y="16116"/>
                    </a:cubicBezTo>
                    <a:lnTo>
                      <a:pt x="636666" y="50474"/>
                    </a:lnTo>
                    <a:cubicBezTo>
                      <a:pt x="636666" y="54748"/>
                      <a:pt x="634968" y="58847"/>
                      <a:pt x="631946" y="61870"/>
                    </a:cubicBezTo>
                    <a:cubicBezTo>
                      <a:pt x="628923" y="64892"/>
                      <a:pt x="624824" y="66590"/>
                      <a:pt x="620550" y="66590"/>
                    </a:cubicBezTo>
                    <a:lnTo>
                      <a:pt x="16116" y="66590"/>
                    </a:lnTo>
                    <a:cubicBezTo>
                      <a:pt x="11842" y="66590"/>
                      <a:pt x="7743" y="64892"/>
                      <a:pt x="4720" y="61870"/>
                    </a:cubicBezTo>
                    <a:cubicBezTo>
                      <a:pt x="1698" y="58847"/>
                      <a:pt x="0" y="54748"/>
                      <a:pt x="0" y="50474"/>
                    </a:cubicBezTo>
                    <a:lnTo>
                      <a:pt x="0" y="16116"/>
                    </a:lnTo>
                    <a:cubicBezTo>
                      <a:pt x="0" y="11842"/>
                      <a:pt x="1698" y="7743"/>
                      <a:pt x="4720" y="4720"/>
                    </a:cubicBezTo>
                    <a:cubicBezTo>
                      <a:pt x="7743" y="1698"/>
                      <a:pt x="11842" y="0"/>
                      <a:pt x="161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636666" cy="85640"/>
              </a:xfrm>
              <a:prstGeom prst="rect">
                <a:avLst/>
              </a:prstGeom>
            </p:spPr>
            <p:txBody>
              <a:bodyPr anchor="ctr" rtlCol="false" tIns="76200" lIns="76200" bIns="76200" rIns="76200"/>
              <a:lstStyle/>
              <a:p>
                <a:pPr algn="ctr">
                  <a:lnSpc>
                    <a:spcPts val="1399"/>
                  </a:lnSpc>
                </a:pPr>
                <a:r>
                  <a:rPr lang="en-US" sz="999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  <a:hlinkClick r:id="rId11" tooltip="https://www.gov.br/antaq/pt-br/acesso-a-informacao/acoes-e-programas/programas-projetos-acoes-obras-e-atividades/copy_of_PEI2025282edio_v01_compressed.pdf"/>
                  </a:rPr>
                  <a:t>Acesse o PEI 2025-2028</a:t>
                </a:r>
                <a:r>
                  <a:rPr lang="en-US" sz="999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 na íntegra</a:t>
                </a:r>
              </a:p>
            </p:txBody>
          </p:sp>
        </p:grpSp>
        <p:sp>
          <p:nvSpPr>
            <p:cNvPr name="Freeform 62" id="62"/>
            <p:cNvSpPr/>
            <p:nvPr/>
          </p:nvSpPr>
          <p:spPr>
            <a:xfrm flipH="false" flipV="false" rot="0">
              <a:off x="4589508" y="134818"/>
              <a:ext cx="201399" cy="201399"/>
            </a:xfrm>
            <a:custGeom>
              <a:avLst/>
              <a:gdLst/>
              <a:ahLst/>
              <a:cxnLst/>
              <a:rect r="r" b="b" t="t" l="l"/>
              <a:pathLst>
                <a:path h="201399" w="201399">
                  <a:moveTo>
                    <a:pt x="0" y="0"/>
                  </a:moveTo>
                  <a:lnTo>
                    <a:pt x="201399" y="0"/>
                  </a:lnTo>
                  <a:lnTo>
                    <a:pt x="201399" y="201399"/>
                  </a:lnTo>
                  <a:lnTo>
                    <a:pt x="0" y="201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0628" y="8674899"/>
            <a:ext cx="3742029" cy="353276"/>
            <a:chOff x="0" y="0"/>
            <a:chExt cx="4989372" cy="47103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472036" y="0"/>
              <a:ext cx="3517337" cy="471035"/>
              <a:chOff x="0" y="0"/>
              <a:chExt cx="497245" cy="665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7245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497245">
                    <a:moveTo>
                      <a:pt x="22928" y="0"/>
                    </a:moveTo>
                    <a:lnTo>
                      <a:pt x="474317" y="0"/>
                    </a:lnTo>
                    <a:cubicBezTo>
                      <a:pt x="480398" y="0"/>
                      <a:pt x="486230" y="2416"/>
                      <a:pt x="490530" y="6715"/>
                    </a:cubicBezTo>
                    <a:cubicBezTo>
                      <a:pt x="494830" y="11015"/>
                      <a:pt x="497245" y="16847"/>
                      <a:pt x="497245" y="22928"/>
                    </a:cubicBezTo>
                    <a:lnTo>
                      <a:pt x="497245" y="43662"/>
                    </a:lnTo>
                    <a:cubicBezTo>
                      <a:pt x="497245" y="49743"/>
                      <a:pt x="494830" y="55575"/>
                      <a:pt x="490530" y="59875"/>
                    </a:cubicBezTo>
                    <a:cubicBezTo>
                      <a:pt x="486230" y="64175"/>
                      <a:pt x="480398" y="66590"/>
                      <a:pt x="474317" y="66590"/>
                    </a:cubicBezTo>
                    <a:lnTo>
                      <a:pt x="22928" y="66590"/>
                    </a:lnTo>
                    <a:cubicBezTo>
                      <a:pt x="10265" y="66590"/>
                      <a:pt x="0" y="56325"/>
                      <a:pt x="0" y="43662"/>
                    </a:cubicBezTo>
                    <a:lnTo>
                      <a:pt x="0" y="22928"/>
                    </a:lnTo>
                    <a:cubicBezTo>
                      <a:pt x="0" y="16847"/>
                      <a:pt x="2416" y="11015"/>
                      <a:pt x="6715" y="6715"/>
                    </a:cubicBezTo>
                    <a:cubicBezTo>
                      <a:pt x="11015" y="2416"/>
                      <a:pt x="16847" y="0"/>
                      <a:pt x="22928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497245" cy="85640"/>
              </a:xfrm>
              <a:prstGeom prst="rect">
                <a:avLst/>
              </a:prstGeom>
            </p:spPr>
            <p:txBody>
              <a:bodyPr anchor="ctr" rtlCol="false" tIns="165100" lIns="165100" bIns="165100" rIns="165100"/>
              <a:lstStyle/>
              <a:p>
                <a:pPr algn="ctr">
                  <a:lnSpc>
                    <a:spcPts val="153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4503551" cy="471035"/>
              <a:chOff x="0" y="0"/>
              <a:chExt cx="636666" cy="665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6666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636666">
                    <a:moveTo>
                      <a:pt x="16116" y="0"/>
                    </a:moveTo>
                    <a:lnTo>
                      <a:pt x="620550" y="0"/>
                    </a:lnTo>
                    <a:cubicBezTo>
                      <a:pt x="629451" y="0"/>
                      <a:pt x="636666" y="7216"/>
                      <a:pt x="636666" y="16116"/>
                    </a:cubicBezTo>
                    <a:lnTo>
                      <a:pt x="636666" y="50474"/>
                    </a:lnTo>
                    <a:cubicBezTo>
                      <a:pt x="636666" y="54748"/>
                      <a:pt x="634968" y="58847"/>
                      <a:pt x="631946" y="61870"/>
                    </a:cubicBezTo>
                    <a:cubicBezTo>
                      <a:pt x="628923" y="64892"/>
                      <a:pt x="624824" y="66590"/>
                      <a:pt x="620550" y="66590"/>
                    </a:cubicBezTo>
                    <a:lnTo>
                      <a:pt x="16116" y="66590"/>
                    </a:lnTo>
                    <a:cubicBezTo>
                      <a:pt x="11842" y="66590"/>
                      <a:pt x="7743" y="64892"/>
                      <a:pt x="4720" y="61870"/>
                    </a:cubicBezTo>
                    <a:cubicBezTo>
                      <a:pt x="1698" y="58847"/>
                      <a:pt x="0" y="54748"/>
                      <a:pt x="0" y="50474"/>
                    </a:cubicBezTo>
                    <a:lnTo>
                      <a:pt x="0" y="16116"/>
                    </a:lnTo>
                    <a:cubicBezTo>
                      <a:pt x="0" y="11842"/>
                      <a:pt x="1698" y="7743"/>
                      <a:pt x="4720" y="4720"/>
                    </a:cubicBezTo>
                    <a:cubicBezTo>
                      <a:pt x="7743" y="1698"/>
                      <a:pt x="11842" y="0"/>
                      <a:pt x="161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636666" cy="85640"/>
              </a:xfrm>
              <a:prstGeom prst="rect">
                <a:avLst/>
              </a:prstGeom>
            </p:spPr>
            <p:txBody>
              <a:bodyPr anchor="ctr" rtlCol="false" tIns="76200" lIns="76200" bIns="76200" rIns="76200"/>
              <a:lstStyle/>
              <a:p>
                <a:pPr algn="ctr">
                  <a:lnSpc>
                    <a:spcPts val="1399"/>
                  </a:lnSpc>
                </a:pPr>
                <a:r>
                  <a:rPr lang="en-US" sz="999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  <a:hlinkClick r:id="rId2" tooltip="https://www.gov.br/antaq/pt-br/acesso-a-informacao/acoes-e-programas/programas-projetos-acoes-obras-e-atividades/planejamento-estrategico-1"/>
                  </a:rPr>
                  <a:t>Acesse o Portal do Planejamento</a:t>
                </a: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4589508" y="134818"/>
              <a:ext cx="201399" cy="201399"/>
            </a:xfrm>
            <a:custGeom>
              <a:avLst/>
              <a:gdLst/>
              <a:ahLst/>
              <a:cxnLst/>
              <a:rect r="r" b="b" t="t" l="l"/>
              <a:pathLst>
                <a:path h="201399" w="201399">
                  <a:moveTo>
                    <a:pt x="0" y="0"/>
                  </a:moveTo>
                  <a:lnTo>
                    <a:pt x="201399" y="0"/>
                  </a:lnTo>
                  <a:lnTo>
                    <a:pt x="201399" y="201399"/>
                  </a:lnTo>
                  <a:lnTo>
                    <a:pt x="0" y="201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7254" y="1042714"/>
            <a:ext cx="845044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planejamos nossa estratégia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7254" y="1930400"/>
            <a:ext cx="16268778" cy="133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Para o quadriênio 2025–2028, adotamos uma nova estratégia de governança e gestão, integrando a metodologia de Objetivos e Resultados-Chave (OKR). Essa decisão, alinhada ao nosso </a:t>
            </a:r>
            <a:r>
              <a:rPr lang="en-US" sz="1299" b="true">
                <a:solidFill>
                  <a:srgbClr val="004284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5" tooltip="https://www.gov.br/anatel/pt-br/acesso-a-informacao/servidores/espaco-servidor/pgd-2.0"/>
              </a:rPr>
              <a:t>Programa de Gestão e Desempenho (PGD 2.0)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busca aprimorar nosso alinhamento interno e consolidar uma cultura organizacional voltada para agilidade, transparência e engajamento institucional.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Estruturamos nosso planejamento a partir de três perguntas fundamentais: onde estamos, aonde queremos chegar e como chegaremos lá? Essas diretrizes orientam nossas ferramentas de gestão, distribuídas em três níveis organizacionais interdependentes: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747" y="7338995"/>
            <a:ext cx="16268778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Sinteticamente,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evoluímos para um modelo de monitoramento focado em resultados mensuráveis, posto que a principal função dos resultados-chave é tornar os objetivos estratégicos quantificáveis, permitindo o monitoramento e a avaliação do alcance dos objetivos. Ao final de 2028, avaliaremos o sucesso de nosso PEI 2025-2028 com base no cumprimento das metas estabelecidas – e constantemente revisadas – em nossos KRs estratégicos.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58222" y="3949470"/>
            <a:ext cx="1075718" cy="924445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531" y="0"/>
              <a:ext cx="781739" cy="698500"/>
            </a:xfrm>
            <a:custGeom>
              <a:avLst/>
              <a:gdLst/>
              <a:ahLst/>
              <a:cxnLst/>
              <a:rect r="r" b="b" t="t" l="l"/>
              <a:pathLst>
                <a:path h="698500" w="781739">
                  <a:moveTo>
                    <a:pt x="768315" y="399016"/>
                  </a:moveTo>
                  <a:lnTo>
                    <a:pt x="623024" y="648734"/>
                  </a:lnTo>
                  <a:cubicBezTo>
                    <a:pt x="605097" y="679545"/>
                    <a:pt x="572140" y="698500"/>
                    <a:pt x="536493" y="698500"/>
                  </a:cubicBezTo>
                  <a:lnTo>
                    <a:pt x="245245" y="698500"/>
                  </a:lnTo>
                  <a:cubicBezTo>
                    <a:pt x="209598" y="698500"/>
                    <a:pt x="176641" y="679545"/>
                    <a:pt x="158714" y="648734"/>
                  </a:cubicBezTo>
                  <a:lnTo>
                    <a:pt x="13424" y="399016"/>
                  </a:lnTo>
                  <a:cubicBezTo>
                    <a:pt x="-4475" y="368253"/>
                    <a:pt x="-4475" y="330248"/>
                    <a:pt x="13424" y="299484"/>
                  </a:cubicBezTo>
                  <a:lnTo>
                    <a:pt x="158714" y="49766"/>
                  </a:lnTo>
                  <a:cubicBezTo>
                    <a:pt x="176641" y="18955"/>
                    <a:pt x="209598" y="0"/>
                    <a:pt x="245245" y="0"/>
                  </a:cubicBezTo>
                  <a:lnTo>
                    <a:pt x="536493" y="0"/>
                  </a:lnTo>
                  <a:cubicBezTo>
                    <a:pt x="572140" y="0"/>
                    <a:pt x="605097" y="18955"/>
                    <a:pt x="623024" y="49766"/>
                  </a:cubicBezTo>
                  <a:lnTo>
                    <a:pt x="768315" y="299484"/>
                  </a:lnTo>
                  <a:cubicBezTo>
                    <a:pt x="786213" y="330248"/>
                    <a:pt x="786213" y="368253"/>
                    <a:pt x="768315" y="399016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66485" y="3947033"/>
            <a:ext cx="1078554" cy="926883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490" y="0"/>
              <a:ext cx="78182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20">
                  <a:moveTo>
                    <a:pt x="768432" y="398885"/>
                  </a:moveTo>
                  <a:lnTo>
                    <a:pt x="622988" y="648865"/>
                  </a:lnTo>
                  <a:cubicBezTo>
                    <a:pt x="605109" y="679595"/>
                    <a:pt x="572238" y="698500"/>
                    <a:pt x="536686" y="698500"/>
                  </a:cubicBezTo>
                  <a:lnTo>
                    <a:pt x="245134" y="698500"/>
                  </a:lnTo>
                  <a:cubicBezTo>
                    <a:pt x="209582" y="698500"/>
                    <a:pt x="176711" y="679595"/>
                    <a:pt x="158832" y="648865"/>
                  </a:cubicBezTo>
                  <a:lnTo>
                    <a:pt x="13388" y="398885"/>
                  </a:lnTo>
                  <a:cubicBezTo>
                    <a:pt x="-4463" y="368203"/>
                    <a:pt x="-4463" y="330297"/>
                    <a:pt x="13388" y="299615"/>
                  </a:cubicBezTo>
                  <a:lnTo>
                    <a:pt x="158832" y="49635"/>
                  </a:lnTo>
                  <a:cubicBezTo>
                    <a:pt x="176711" y="18905"/>
                    <a:pt x="209582" y="0"/>
                    <a:pt x="245134" y="0"/>
                  </a:cubicBezTo>
                  <a:lnTo>
                    <a:pt x="536686" y="0"/>
                  </a:lnTo>
                  <a:cubicBezTo>
                    <a:pt x="572238" y="0"/>
                    <a:pt x="605109" y="18905"/>
                    <a:pt x="622988" y="49635"/>
                  </a:cubicBezTo>
                  <a:lnTo>
                    <a:pt x="768432" y="299615"/>
                  </a:lnTo>
                  <a:cubicBezTo>
                    <a:pt x="786283" y="330297"/>
                    <a:pt x="786283" y="368203"/>
                    <a:pt x="768432" y="398885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4287" y="3947033"/>
            <a:ext cx="1078554" cy="926883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490" y="0"/>
              <a:ext cx="781820" cy="698500"/>
            </a:xfrm>
            <a:custGeom>
              <a:avLst/>
              <a:gdLst/>
              <a:ahLst/>
              <a:cxnLst/>
              <a:rect r="r" b="b" t="t" l="l"/>
              <a:pathLst>
                <a:path h="698500" w="781820">
                  <a:moveTo>
                    <a:pt x="768432" y="398885"/>
                  </a:moveTo>
                  <a:lnTo>
                    <a:pt x="622988" y="648865"/>
                  </a:lnTo>
                  <a:cubicBezTo>
                    <a:pt x="605109" y="679595"/>
                    <a:pt x="572238" y="698500"/>
                    <a:pt x="536686" y="698500"/>
                  </a:cubicBezTo>
                  <a:lnTo>
                    <a:pt x="245134" y="698500"/>
                  </a:lnTo>
                  <a:cubicBezTo>
                    <a:pt x="209582" y="698500"/>
                    <a:pt x="176711" y="679595"/>
                    <a:pt x="158832" y="648865"/>
                  </a:cubicBezTo>
                  <a:lnTo>
                    <a:pt x="13388" y="398885"/>
                  </a:lnTo>
                  <a:cubicBezTo>
                    <a:pt x="-4463" y="368203"/>
                    <a:pt x="-4463" y="330297"/>
                    <a:pt x="13388" y="299615"/>
                  </a:cubicBezTo>
                  <a:lnTo>
                    <a:pt x="158832" y="49635"/>
                  </a:lnTo>
                  <a:cubicBezTo>
                    <a:pt x="176711" y="18905"/>
                    <a:pt x="209582" y="0"/>
                    <a:pt x="245134" y="0"/>
                  </a:cubicBezTo>
                  <a:lnTo>
                    <a:pt x="536686" y="0"/>
                  </a:lnTo>
                  <a:cubicBezTo>
                    <a:pt x="572238" y="0"/>
                    <a:pt x="605109" y="18905"/>
                    <a:pt x="622988" y="49635"/>
                  </a:cubicBezTo>
                  <a:lnTo>
                    <a:pt x="768432" y="299615"/>
                  </a:lnTo>
                  <a:cubicBezTo>
                    <a:pt x="786283" y="330297"/>
                    <a:pt x="786283" y="368203"/>
                    <a:pt x="768432" y="398885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207979" y="4173589"/>
            <a:ext cx="376203" cy="476207"/>
          </a:xfrm>
          <a:custGeom>
            <a:avLst/>
            <a:gdLst/>
            <a:ahLst/>
            <a:cxnLst/>
            <a:rect r="r" b="b" t="t" l="l"/>
            <a:pathLst>
              <a:path h="476207" w="376203">
                <a:moveTo>
                  <a:pt x="0" y="0"/>
                </a:moveTo>
                <a:lnTo>
                  <a:pt x="376204" y="0"/>
                </a:lnTo>
                <a:lnTo>
                  <a:pt x="376204" y="476207"/>
                </a:lnTo>
                <a:lnTo>
                  <a:pt x="0" y="4762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67659" y="4173589"/>
            <a:ext cx="476207" cy="476207"/>
          </a:xfrm>
          <a:custGeom>
            <a:avLst/>
            <a:gdLst/>
            <a:ahLst/>
            <a:cxnLst/>
            <a:rect r="r" b="b" t="t" l="l"/>
            <a:pathLst>
              <a:path h="476207" w="476207">
                <a:moveTo>
                  <a:pt x="0" y="0"/>
                </a:moveTo>
                <a:lnTo>
                  <a:pt x="476206" y="0"/>
                </a:lnTo>
                <a:lnTo>
                  <a:pt x="476206" y="476207"/>
                </a:lnTo>
                <a:lnTo>
                  <a:pt x="0" y="476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33937" y="4160848"/>
            <a:ext cx="499254" cy="499254"/>
          </a:xfrm>
          <a:custGeom>
            <a:avLst/>
            <a:gdLst/>
            <a:ahLst/>
            <a:cxnLst/>
            <a:rect r="r" b="b" t="t" l="l"/>
            <a:pathLst>
              <a:path h="499254" w="499254">
                <a:moveTo>
                  <a:pt x="0" y="0"/>
                </a:moveTo>
                <a:lnTo>
                  <a:pt x="499254" y="0"/>
                </a:lnTo>
                <a:lnTo>
                  <a:pt x="499254" y="499253"/>
                </a:lnTo>
                <a:lnTo>
                  <a:pt x="0" y="499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589541" y="3899408"/>
            <a:ext cx="2781925" cy="317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Neste nível, estabelecemos o PEI 2025–2028 como o guia principal da Agência, em consonância com o art. 2º do</a:t>
            </a:r>
            <a:r>
              <a:rPr lang="en-US" sz="11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1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2" tooltip="https://www.planalto.gov.br/ccivil_03/_ato2019-2022/2019/decreto/d9739.htm"/>
              </a:rPr>
              <a:t>Decreto nº 9.739, de 28 de março de 2019</a:t>
            </a:r>
            <a:r>
              <a:rPr lang="en-US" sz="1100" u="sng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  <a:hlinkClick r:id="rId13" tooltip="https://www.planalto.gov.br/ccivil_03/_ato2019-2022/2019/decreto/d9739.htm"/>
              </a:rPr>
              <a:t>.</a:t>
            </a: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Com uma vigência de quatro anos e aprovação da nossa Diretoria Colegiada, o plano define nossos direcionadores, objetivos estratégicos e os resultados-chave estratégicos (KRs). Sua estrutura foi desenhada para alinhar nossas iniciativas prioritárias, reduzir riscos e elevar a probabilidade de alcançarmos nossa visão de futuro.</a:t>
            </a:r>
          </a:p>
          <a:p>
            <a:pPr algn="l">
              <a:lnSpc>
                <a:spcPts val="187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813324" y="3899408"/>
            <a:ext cx="2781925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Para colocar nossa estratégia em prática, utilizamos a carteira de entregas estratégicas, dispostas no </a:t>
            </a:r>
            <a:r>
              <a:rPr lang="en-US" sz="11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4" tooltip="https://aquarela.antaq.gov.br/single/?appid=24d25b52-ab64-4d81-9b5c-91b5cbc755b9&amp;sheet=becacd24-2e41-4745-bd5c-8e20f5e901ed&amp;opt=currsel%2Cctxmenu"/>
              </a:rPr>
              <a:t>Painel de Iniciativas Estratégicas</a:t>
            </a:r>
            <a:r>
              <a:rPr lang="en-US" sz="11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Nele, apresentamos os desdobramentos dos objetivos estratégicos até o nível operacional, apresentando o cronograma e a evolução dos projetos e iniciativas estratégicas do quadriênio.</a:t>
            </a:r>
          </a:p>
          <a:p>
            <a:pPr algn="l">
              <a:lnSpc>
                <a:spcPts val="187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200640" y="3901845"/>
            <a:ext cx="2931105" cy="317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No patamar tático, detalhamos os resultados-chave estratégicos (PEI 2025-2028) por meio dos Planos de Gestão Anuais (PGAs), em consonância com o </a:t>
            </a:r>
            <a:r>
              <a:rPr lang="en-US" sz="11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5" tooltip="https://www.planalto.gov.br/ccivil_03/_ato2019-2022/2019/decreto/d9739.htm"/>
              </a:rPr>
              <a:t>Decreto nº 9.739, de 2019</a:t>
            </a: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e a Instrução Normativa nº 24, de 18 de março de 2020. Os resultados-chave táticos dispostos nos PGAs do quadriênio 2025-2028 desdobram as metas do PEI, o que nos permite direcionar a atuação de cada unidade organizacional com precisão ao longo de cada exercício, revisando constantemente as metas e o alinhamento dos planos institucionais.</a:t>
            </a:r>
          </a:p>
          <a:p>
            <a:pPr algn="l">
              <a:lnSpc>
                <a:spcPts val="187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28035" y="4924108"/>
            <a:ext cx="1111058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NÍVEL ESTRATÉGICO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57009" y="4924108"/>
            <a:ext cx="1278145" cy="1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NÍVEL TÁTICO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37705" y="4924108"/>
            <a:ext cx="1336115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NÍVEL OPERACIONAL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54144"/>
            <a:ext cx="1264144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Alinhamento das agendas e dos planos institucionais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1953260"/>
            <a:ext cx="16268778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Com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 principal instrumento de planejamento da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Antaq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o PEI 2025-2028 funciona como uma bússola para os demais instrumentos de gestão e planejamento institucional e o método OKR fomenta o alinhamento das agendas institucionais e a sinergia entre as áreas. 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Esse alinhamento não representa uma escolha de nossa gestão, mas um imperativo legal que fortalece a integração e a coesão operacional da Agência.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42815" y="3712718"/>
            <a:ext cx="14602370" cy="5350584"/>
            <a:chOff x="0" y="0"/>
            <a:chExt cx="19469826" cy="7134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8383755" y="1881295"/>
              <a:ext cx="331078" cy="331078"/>
            </a:xfrm>
            <a:custGeom>
              <a:avLst/>
              <a:gdLst/>
              <a:ahLst/>
              <a:cxnLst/>
              <a:rect r="r" b="b" t="t" l="l"/>
              <a:pathLst>
                <a:path h="331078" w="331078">
                  <a:moveTo>
                    <a:pt x="0" y="0"/>
                  </a:moveTo>
                  <a:lnTo>
                    <a:pt x="331078" y="0"/>
                  </a:lnTo>
                  <a:lnTo>
                    <a:pt x="331078" y="331078"/>
                  </a:lnTo>
                  <a:lnTo>
                    <a:pt x="0" y="331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>
              <a:hlinkClick r:id="rId4" tooltip="https://www.planalto.gov.br/ccivil_03/_ato2019-2022/2019/decreto/D9991.htm"/>
            </p:cNvPr>
            <p:cNvSpPr/>
            <p:nvPr/>
          </p:nvSpPr>
          <p:spPr>
            <a:xfrm flipH="false" flipV="false" rot="0">
              <a:off x="18383755" y="5396979"/>
              <a:ext cx="331078" cy="331078"/>
            </a:xfrm>
            <a:custGeom>
              <a:avLst/>
              <a:gdLst/>
              <a:ahLst/>
              <a:cxnLst/>
              <a:rect r="r" b="b" t="t" l="l"/>
              <a:pathLst>
                <a:path h="331078" w="331078">
                  <a:moveTo>
                    <a:pt x="0" y="0"/>
                  </a:moveTo>
                  <a:lnTo>
                    <a:pt x="331078" y="0"/>
                  </a:lnTo>
                  <a:lnTo>
                    <a:pt x="331078" y="331078"/>
                  </a:lnTo>
                  <a:lnTo>
                    <a:pt x="0" y="331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8" id="8"/>
            <p:cNvSpPr/>
            <p:nvPr/>
          </p:nvSpPr>
          <p:spPr>
            <a:xfrm>
              <a:off x="4031592" y="556943"/>
              <a:ext cx="4036157" cy="0"/>
            </a:xfrm>
            <a:prstGeom prst="line">
              <a:avLst/>
            </a:prstGeom>
            <a:ln cap="flat" w="67181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5617297" y="1966848"/>
              <a:ext cx="2450451" cy="0"/>
            </a:xfrm>
            <a:prstGeom prst="line">
              <a:avLst/>
            </a:prstGeom>
            <a:ln cap="flat" w="67181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6038098" y="3570907"/>
              <a:ext cx="2029651" cy="0"/>
            </a:xfrm>
            <a:prstGeom prst="line">
              <a:avLst/>
            </a:prstGeom>
            <a:ln cap="flat" w="67181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83159" y="2248725"/>
              <a:ext cx="5266590" cy="4746514"/>
            </a:xfrm>
            <a:custGeom>
              <a:avLst/>
              <a:gdLst/>
              <a:ahLst/>
              <a:cxnLst/>
              <a:rect r="r" b="b" t="t" l="l"/>
              <a:pathLst>
                <a:path h="4746514" w="5266590">
                  <a:moveTo>
                    <a:pt x="0" y="0"/>
                  </a:moveTo>
                  <a:lnTo>
                    <a:pt x="5266590" y="0"/>
                  </a:lnTo>
                  <a:lnTo>
                    <a:pt x="5266590" y="4746514"/>
                  </a:lnTo>
                  <a:lnTo>
                    <a:pt x="0" y="4746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3000"/>
              </a:blip>
              <a:stretch>
                <a:fillRect l="0" t="0" r="0" b="0"/>
              </a:stretch>
            </a:blipFill>
          </p:spPr>
        </p:sp>
        <p:sp>
          <p:nvSpPr>
            <p:cNvPr name="AutoShape 12" id="12"/>
            <p:cNvSpPr/>
            <p:nvPr/>
          </p:nvSpPr>
          <p:spPr>
            <a:xfrm>
              <a:off x="5617297" y="5178924"/>
              <a:ext cx="2450451" cy="0"/>
            </a:xfrm>
            <a:prstGeom prst="line">
              <a:avLst/>
            </a:prstGeom>
            <a:ln cap="flat" w="67181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031592" y="6577170"/>
              <a:ext cx="4036157" cy="0"/>
            </a:xfrm>
            <a:prstGeom prst="line">
              <a:avLst/>
            </a:prstGeom>
            <a:ln cap="flat" w="67181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0" y="1003618"/>
              <a:ext cx="5134579" cy="513457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080">
                      <a:alpha val="100000"/>
                    </a:srgbClr>
                  </a:gs>
                  <a:gs pos="100000">
                    <a:srgbClr val="005D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62012" lIns="62012" bIns="62012" rIns="62012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931508" y="1935126"/>
              <a:ext cx="3271563" cy="3271563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76ED">
                      <a:alpha val="100000"/>
                    </a:srgbClr>
                  </a:gs>
                  <a:gs pos="100000">
                    <a:srgbClr val="55CDFA">
                      <a:alpha val="67000"/>
                    </a:srgbClr>
                  </a:gs>
                </a:gsLst>
                <a:lin ang="0"/>
              </a:gra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62012" lIns="62012" bIns="62012" rIns="62012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5400000">
              <a:off x="949567" y="1947097"/>
              <a:ext cx="6495243" cy="3247621"/>
            </a:xfrm>
            <a:custGeom>
              <a:avLst/>
              <a:gdLst/>
              <a:ahLst/>
              <a:cxnLst/>
              <a:rect r="r" b="b" t="t" l="l"/>
              <a:pathLst>
                <a:path h="3247621" w="6495243">
                  <a:moveTo>
                    <a:pt x="0" y="0"/>
                  </a:moveTo>
                  <a:lnTo>
                    <a:pt x="6495243" y="0"/>
                  </a:lnTo>
                  <a:lnTo>
                    <a:pt x="6495243" y="3247621"/>
                  </a:lnTo>
                  <a:lnTo>
                    <a:pt x="0" y="3247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3548874" y="6335811"/>
              <a:ext cx="482718" cy="48271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1BCE3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555380" y="3329548"/>
              <a:ext cx="482718" cy="48271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134579" y="4937566"/>
              <a:ext cx="482718" cy="482718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9BD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548874" y="315584"/>
              <a:ext cx="482718" cy="482718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765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5134579" y="1725489"/>
              <a:ext cx="482718" cy="48271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C97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635235" y="0"/>
              <a:ext cx="1113885" cy="1113885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765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8635235" y="1409905"/>
              <a:ext cx="1113885" cy="111388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C97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8635235" y="4621982"/>
              <a:ext cx="1113885" cy="111388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9BD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8635235" y="6020227"/>
              <a:ext cx="1113885" cy="111388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1BCE3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8635235" y="3013965"/>
              <a:ext cx="1113885" cy="1113885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0C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9713" lIns="59713" bIns="59713" rIns="5971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sp>
          <p:nvSpPr>
            <p:cNvPr name="AutoShape 51" id="51"/>
            <p:cNvSpPr/>
            <p:nvPr/>
          </p:nvSpPr>
          <p:spPr>
            <a:xfrm flipV="true">
              <a:off x="12530949" y="185485"/>
              <a:ext cx="0" cy="742916"/>
            </a:xfrm>
            <a:prstGeom prst="line">
              <a:avLst/>
            </a:prstGeom>
            <a:ln cap="rnd" w="26872">
              <a:solidFill>
                <a:srgbClr val="00376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2530949" y="1595390"/>
              <a:ext cx="0" cy="742916"/>
            </a:xfrm>
            <a:prstGeom prst="line">
              <a:avLst/>
            </a:prstGeom>
            <a:ln cap="flat" w="26872">
              <a:solidFill>
                <a:srgbClr val="004C9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V="true">
              <a:off x="12530949" y="3186270"/>
              <a:ext cx="0" cy="742916"/>
            </a:xfrm>
            <a:prstGeom prst="line">
              <a:avLst/>
            </a:prstGeom>
            <a:ln cap="flat" w="26872">
              <a:solidFill>
                <a:srgbClr val="0070C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12530949" y="6205712"/>
              <a:ext cx="0" cy="742916"/>
            </a:xfrm>
            <a:prstGeom prst="line">
              <a:avLst/>
            </a:prstGeom>
            <a:ln cap="flat" w="26872">
              <a:solidFill>
                <a:srgbClr val="71BCE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V="true">
              <a:off x="12530949" y="4807467"/>
              <a:ext cx="0" cy="742916"/>
            </a:xfrm>
            <a:prstGeom prst="line">
              <a:avLst/>
            </a:prstGeom>
            <a:ln cap="flat" w="26872">
              <a:solidFill>
                <a:srgbClr val="5B9BD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8957764" y="283308"/>
              <a:ext cx="468827" cy="547269"/>
            </a:xfrm>
            <a:custGeom>
              <a:avLst/>
              <a:gdLst/>
              <a:ahLst/>
              <a:cxnLst/>
              <a:rect r="r" b="b" t="t" l="l"/>
              <a:pathLst>
                <a:path h="547269" w="468827">
                  <a:moveTo>
                    <a:pt x="0" y="0"/>
                  </a:moveTo>
                  <a:lnTo>
                    <a:pt x="468827" y="0"/>
                  </a:lnTo>
                  <a:lnTo>
                    <a:pt x="468827" y="547269"/>
                  </a:lnTo>
                  <a:lnTo>
                    <a:pt x="0" y="547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8848051" y="4973665"/>
              <a:ext cx="688253" cy="477475"/>
            </a:xfrm>
            <a:custGeom>
              <a:avLst/>
              <a:gdLst/>
              <a:ahLst/>
              <a:cxnLst/>
              <a:rect r="r" b="b" t="t" l="l"/>
              <a:pathLst>
                <a:path h="477475" w="688253">
                  <a:moveTo>
                    <a:pt x="0" y="0"/>
                  </a:moveTo>
                  <a:lnTo>
                    <a:pt x="688253" y="0"/>
                  </a:lnTo>
                  <a:lnTo>
                    <a:pt x="688253" y="477475"/>
                  </a:lnTo>
                  <a:lnTo>
                    <a:pt x="0" y="477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8941646" y="1738343"/>
              <a:ext cx="501062" cy="457010"/>
            </a:xfrm>
            <a:custGeom>
              <a:avLst/>
              <a:gdLst/>
              <a:ahLst/>
              <a:cxnLst/>
              <a:rect r="r" b="b" t="t" l="l"/>
              <a:pathLst>
                <a:path h="457010" w="501062">
                  <a:moveTo>
                    <a:pt x="0" y="0"/>
                  </a:moveTo>
                  <a:lnTo>
                    <a:pt x="501062" y="0"/>
                  </a:lnTo>
                  <a:lnTo>
                    <a:pt x="501062" y="457010"/>
                  </a:lnTo>
                  <a:lnTo>
                    <a:pt x="0" y="457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8947604" y="3285997"/>
              <a:ext cx="489146" cy="573778"/>
            </a:xfrm>
            <a:custGeom>
              <a:avLst/>
              <a:gdLst/>
              <a:ahLst/>
              <a:cxnLst/>
              <a:rect r="r" b="b" t="t" l="l"/>
              <a:pathLst>
                <a:path h="573778" w="489146">
                  <a:moveTo>
                    <a:pt x="0" y="0"/>
                  </a:moveTo>
                  <a:lnTo>
                    <a:pt x="489146" y="0"/>
                  </a:lnTo>
                  <a:lnTo>
                    <a:pt x="489146" y="573778"/>
                  </a:lnTo>
                  <a:lnTo>
                    <a:pt x="0" y="573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8904595" y="6358248"/>
              <a:ext cx="575165" cy="437845"/>
            </a:xfrm>
            <a:custGeom>
              <a:avLst/>
              <a:gdLst/>
              <a:ahLst/>
              <a:cxnLst/>
              <a:rect r="r" b="b" t="t" l="l"/>
              <a:pathLst>
                <a:path h="437845" w="575165">
                  <a:moveTo>
                    <a:pt x="0" y="0"/>
                  </a:moveTo>
                  <a:lnTo>
                    <a:pt x="575165" y="0"/>
                  </a:lnTo>
                  <a:lnTo>
                    <a:pt x="575165" y="437844"/>
                  </a:lnTo>
                  <a:lnTo>
                    <a:pt x="0" y="437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 rot="0">
              <a:off x="483159" y="2577158"/>
              <a:ext cx="4168262" cy="1273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PLANO </a:t>
              </a:r>
            </a:p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ESTRATÉGICO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0149240" y="288452"/>
              <a:ext cx="2044502" cy="536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1"/>
                </a:lnSpc>
                <a:spcBef>
                  <a:spcPct val="0"/>
                </a:spcBef>
              </a:pPr>
              <a:r>
                <a:rPr lang="en-US" b="true" sz="1367">
                  <a:solidFill>
                    <a:srgbClr val="003765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Plan</a:t>
              </a:r>
              <a:r>
                <a:rPr lang="en-US" b="true" sz="1367">
                  <a:solidFill>
                    <a:srgbClr val="003765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o de Gestão Anual (PGA)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0149240" y="1698358"/>
              <a:ext cx="2044502" cy="536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1"/>
                </a:lnSpc>
                <a:spcBef>
                  <a:spcPct val="0"/>
                </a:spcBef>
              </a:pPr>
              <a:r>
                <a:rPr lang="en-US" b="true" sz="1367">
                  <a:solidFill>
                    <a:srgbClr val="004C97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Age</a:t>
              </a:r>
              <a:r>
                <a:rPr lang="en-US" b="true" sz="1367">
                  <a:solidFill>
                    <a:srgbClr val="004C97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n</a:t>
              </a:r>
              <a:r>
                <a:rPr lang="en-US" b="true" sz="1367">
                  <a:solidFill>
                    <a:srgbClr val="004C97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da Regulatória (AR)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0149240" y="3302417"/>
              <a:ext cx="2044502" cy="536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1"/>
                </a:lnSpc>
                <a:spcBef>
                  <a:spcPct val="0"/>
                </a:spcBef>
              </a:pPr>
              <a:r>
                <a:rPr lang="en-US" b="true" sz="1367">
                  <a:solidFill>
                    <a:srgbClr val="0070C0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Plano</a:t>
              </a:r>
              <a:r>
                <a:rPr lang="en-US" b="true" sz="1367">
                  <a:solidFill>
                    <a:srgbClr val="0070C0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 Diretor de TIC (PDTIC)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0149240" y="4776189"/>
              <a:ext cx="2044502" cy="80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1"/>
                </a:lnSpc>
                <a:spcBef>
                  <a:spcPct val="0"/>
                </a:spcBef>
              </a:pPr>
              <a:r>
                <a:rPr lang="en-US" b="true" sz="1367">
                  <a:solidFill>
                    <a:srgbClr val="5B9BD5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Plano </a:t>
              </a:r>
              <a:r>
                <a:rPr lang="en-US" b="true" sz="1367">
                  <a:solidFill>
                    <a:srgbClr val="5B9BD5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de Contratação Anual (PCA)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0149240" y="6174434"/>
              <a:ext cx="2044502" cy="805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41"/>
                </a:lnSpc>
                <a:spcBef>
                  <a:spcPct val="0"/>
                </a:spcBef>
              </a:pPr>
              <a:r>
                <a:rPr lang="en-US" b="true" sz="1367">
                  <a:solidFill>
                    <a:srgbClr val="71BCE3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Pla</a:t>
              </a:r>
              <a:r>
                <a:rPr lang="en-US" b="true" sz="1367">
                  <a:solidFill>
                    <a:srgbClr val="71BCE3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no </a:t>
              </a:r>
              <a:r>
                <a:rPr lang="en-US" b="true" sz="1367">
                  <a:solidFill>
                    <a:srgbClr val="71BCE3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de Desenvolvimento de Pessoas (PDP)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2941581" y="225278"/>
              <a:ext cx="6528245" cy="644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b="true" sz="1119">
                  <a:solidFill>
                    <a:srgbClr val="8585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Base Legal: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8" tooltip="https://www.planalto.gov.br/ccivil_03/_ato2019-2022/2019/lei/l13848.htm#:~:text=Art.%2018.%20O,s%C3%ADtio%20na%20internet."/>
                </a:rPr>
                <a:t>L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9" tooltip="https://www.planalto.gov.br/ccivil_03/_ato2019-2022/2019/lei/l13848.htm#:~:text=Art.%2018.%20O,s%C3%ADtio%20na%20internet."/>
                </a:rPr>
                <a:t>ei nº 13.848/2019, Art. 18.</a:t>
              </a:r>
            </a:p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"</a:t>
              </a: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Art. 18. O plano de gestão anual, editado pela diretoria colegiada, deverá: I - ser alinhado ao plano estratégico;"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12941581" y="1524629"/>
              <a:ext cx="6528245" cy="859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b="true" sz="1119">
                  <a:solidFill>
                    <a:srgbClr val="8585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Base Legal: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0" tooltip="https://www.planalto.gov.br/ccivil_03/_ato2019-2022/2019/lei/l13848.htm#:~:text=Art.%2021.%20A,de%20gest%C3%A3o%20anual."/>
                </a:rPr>
                <a:t>L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1" tooltip="https://www.planalto.gov.br/ccivil_03/_ato2019-2022/2019/lei/l13848.htm#:~:text=Art.%2021.%20A,de%20gest%C3%A3o%20anual."/>
                </a:rPr>
                <a:t>ei nº 13.848/2019, Art. 21, § 1º.</a:t>
              </a:r>
            </a:p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"Art. 21. [...] § 1º A agenda regulatória deverá ser alinhada com o plano estratégico e conterá o elenco dos temas prioritários a serem regulados pela agência durante sua vigência."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12941581" y="3013965"/>
              <a:ext cx="6528245" cy="1074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b="true" sz="1119">
                  <a:solidFill>
                    <a:srgbClr val="8585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Base Legal: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2" tooltip="https://www.planalto.gov.br/ccivil_03/_ato2023-2026/2024/decreto/D12069.htm"/>
                </a:rPr>
                <a:t>Decr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3" tooltip="https://www.planalto.gov.br/ccivil_03/_ato2023-2026/2024/decreto/D12069.htm"/>
                </a:rPr>
                <a:t>eto nº 12.069/ 2024 (Estr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4" tooltip="https://www.planalto.gov.br/ccivil_03/_ato2023-2026/2024/decreto/D12069.htm"/>
                </a:rPr>
                <a:t>a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5" tooltip="https://www.planalto.gov.br/ccivil_03/_ato2023-2026/2024/decreto/D12069.htm"/>
                </a:rPr>
                <a:t>t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6" tooltip="https://www.planalto.gov.br/ccivil_03/_ato2023-2026/2024/decreto/D12069.htm"/>
                </a:rPr>
                <a:t>égia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7" tooltip="https://www.planalto.gov.br/ccivil_03/_ato2023-2026/2024/decreto/D12069.htm"/>
                </a:rPr>
                <a:t>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8" tooltip="https://www.planalto.gov.br/ccivil_03/_ato2023-2026/2024/decreto/D12069.htm"/>
                </a:rPr>
                <a:t>de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29" tooltip="https://www.planalto.gov.br/ccivil_03/_ato2023-2026/2024/decreto/D12069.htm"/>
                </a:rPr>
                <a:t>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0" tooltip="https://www.planalto.gov.br/ccivil_03/_ato2023-2026/2024/decreto/D12069.htm"/>
                </a:rPr>
                <a:t>Gover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1" tooltip="https://www.planalto.gov.br/ccivil_03/_ato2023-2026/2024/decreto/D12069.htm"/>
                </a:rPr>
                <a:t>no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2" tooltip="https://www.planalto.gov.br/ccivil_03/_ato2023-2026/2024/decreto/D12069.htm"/>
                </a:rPr>
                <a:t>Digital).</a:t>
              </a:r>
            </a:p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creto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est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abelece que os órg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ão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 devem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el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bor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PDTICs qu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supor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em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obj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tivos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tra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tégi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s. Conform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o Gu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ia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 SISP: </a:t>
              </a: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"O PDTIC deve ser estratégica e operacionalmente alinhado ao PEI para garantir que a tecnologia suporte os resultados finalísticos."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12941581" y="4736705"/>
              <a:ext cx="6528245" cy="859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b="true" sz="1119">
                  <a:solidFill>
                    <a:srgbClr val="8585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Base Legal: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3" tooltip="https://www.planalto.gov.br/ccivil_03/_ato2019-2022/2022/decreto/d10947.htm#:~:text=Art.%205%C2%BA%20%C2%A0A,incrementar%20a%20competitividade."/>
                </a:rPr>
                <a:t>Decr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4" tooltip="https://www.planalto.gov.br/ccivil_03/_ato2019-2022/2022/decreto/d10947.htm#:~:text=Art.%205%C2%BA%20%C2%A0A,incrementar%20a%20competitividade."/>
                </a:rPr>
                <a:t>eto nº 10.947/2022, Art. 5º, inciso II.</a:t>
              </a:r>
            </a:p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"Art. 5º O PCA [...] deverá observar: II - o alinhamento com o planejamento estratégico institucional, com os planos diretores de logística e de tecnologia da informação e com os planos setoriais."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2941581" y="6020227"/>
              <a:ext cx="6528245" cy="1074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b="true" sz="1119">
                  <a:solidFill>
                    <a:srgbClr val="858585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Base Legal: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5" tooltip="https://www.planalto.gov.br/ccivil_03/_ato2019-2022/2019/decreto/d9991.htm#:~:text=Art.%203%C2%BA%20%C2%A0Cada%20%C3%B3rg%C3%A3o%20e%20entidade%20integrante%20do%20SIPEC%20elaborar%C3%A1%20anualmente%20o%20respectivo%20PDP%2C%20que%20vigorar%C3%A1%20no%20exerc%C3%ADcio%20seguinte%2C%20a%20partir%20do%20levantamento%20das%20necessidades%20de%20desenvolvimento%20relacionadas%20%C3%A0%20consecu%C3%A7%C3%A3o%20dos%20objetivos%20institucionais."/>
                </a:rPr>
                <a:t>D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6" tooltip="https://www.planalto.gov.br/ccivil_03/_ato2019-2022/2019/decreto/d9991.htm#:~:text=Art.%203%C2%BA%20%C2%A0Cada%20%C3%B3rg%C3%A3o%20e%20entidade%20integrante%20do%20SIPEC%20elaborar%C3%A1%20anualmente%20o%20respectivo%20PDP%2C%20que%20vigorar%C3%A1%20no%20exerc%C3%ADcio%20seguinte%2C%20a%20partir%20do%20levantamento%20das%20necessidades%20de%20desenvolvimento%20relacionadas%20%C3%A0%20consecu%C3%A7%C3%A3o%20dos%20objetivos%20institucionais."/>
                </a:rPr>
                <a:t>ecreto nº 9.991/2019, Art. 3º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e </a:t>
              </a:r>
              <a:r>
                <a:rPr lang="en-US" b="true" sz="111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37" tooltip="https://www.google.com/search?q=https://www.in.gov.br/en/web/dou/-/instrucao-normativa-sgp-enap/sedgg/me-n-21-de-1-de-fevereiro-de-2021-301876610"/>
                </a:rPr>
                <a:t>IN 21/2021.</a:t>
              </a:r>
            </a:p>
            <a:p>
              <a:pPr algn="l">
                <a:lnSpc>
                  <a:spcPts val="1343"/>
                </a:lnSpc>
                <a:spcBef>
                  <a:spcPct val="0"/>
                </a:spcBef>
              </a:pP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 Art.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3º do Decreto 9.991/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2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0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9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define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que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PNDP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 como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retri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z:</a:t>
              </a: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 "I - o alinhamento das ações de desenvolvimento com a estratégia da organização"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.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 IN 21 reforça que o PDP dev</a:t>
              </a:r>
              <a:r>
                <a:rPr lang="en-US" sz="1119">
                  <a:solidFill>
                    <a:srgbClr val="858585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 conter o </a:t>
              </a:r>
              <a:r>
                <a:rPr lang="en-US" sz="1119" i="true">
                  <a:solidFill>
                    <a:srgbClr val="858585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"alinhamento das necessidades de desenvolvimento com os objetivos estratégicos".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489247" y="3910680"/>
              <a:ext cx="416826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INSTITUCIONAL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2790" y="2016804"/>
            <a:ext cx="14784721" cy="6833726"/>
            <a:chOff x="0" y="0"/>
            <a:chExt cx="19712961" cy="9111634"/>
          </a:xfrm>
        </p:grpSpPr>
        <p:sp>
          <p:nvSpPr>
            <p:cNvPr name="AutoShape 3" id="3"/>
            <p:cNvSpPr/>
            <p:nvPr/>
          </p:nvSpPr>
          <p:spPr>
            <a:xfrm>
              <a:off x="3553836" y="1382818"/>
              <a:ext cx="5942691" cy="0"/>
            </a:xfrm>
            <a:prstGeom prst="line">
              <a:avLst/>
            </a:prstGeom>
            <a:ln cap="flat" w="25400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V="true">
              <a:off x="3553836" y="7826620"/>
              <a:ext cx="5942691" cy="2666"/>
            </a:xfrm>
            <a:prstGeom prst="line">
              <a:avLst/>
            </a:prstGeom>
            <a:ln cap="flat" w="25400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5259298" y="4607385"/>
              <a:ext cx="4237229" cy="5331"/>
            </a:xfrm>
            <a:prstGeom prst="line">
              <a:avLst/>
            </a:prstGeom>
            <a:ln cap="flat" w="25400">
              <a:solidFill>
                <a:srgbClr val="E8E8E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982895" y="113798"/>
              <a:ext cx="5037028" cy="8997836"/>
            </a:xfrm>
            <a:custGeom>
              <a:avLst/>
              <a:gdLst/>
              <a:ahLst/>
              <a:cxnLst/>
              <a:rect r="r" b="b" t="t" l="l"/>
              <a:pathLst>
                <a:path h="8997836" w="5037028">
                  <a:moveTo>
                    <a:pt x="0" y="0"/>
                  </a:moveTo>
                  <a:lnTo>
                    <a:pt x="5037028" y="0"/>
                  </a:lnTo>
                  <a:lnTo>
                    <a:pt x="5037028" y="8997836"/>
                  </a:lnTo>
                  <a:lnTo>
                    <a:pt x="0" y="8997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0994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9496527" y="2984291"/>
              <a:ext cx="10216434" cy="4081489"/>
              <a:chOff x="0" y="0"/>
              <a:chExt cx="2018061" cy="80622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18061" cy="806220"/>
              </a:xfrm>
              <a:custGeom>
                <a:avLst/>
                <a:gdLst/>
                <a:ahLst/>
                <a:cxnLst/>
                <a:rect r="r" b="b" t="t" l="l"/>
                <a:pathLst>
                  <a:path h="806220" w="2018061">
                    <a:moveTo>
                      <a:pt x="28291" y="0"/>
                    </a:moveTo>
                    <a:lnTo>
                      <a:pt x="1989770" y="0"/>
                    </a:lnTo>
                    <a:cubicBezTo>
                      <a:pt x="2005395" y="0"/>
                      <a:pt x="2018061" y="12666"/>
                      <a:pt x="2018061" y="28291"/>
                    </a:cubicBezTo>
                    <a:lnTo>
                      <a:pt x="2018061" y="777929"/>
                    </a:lnTo>
                    <a:cubicBezTo>
                      <a:pt x="2018061" y="785432"/>
                      <a:pt x="2015080" y="792628"/>
                      <a:pt x="2009775" y="797934"/>
                    </a:cubicBezTo>
                    <a:cubicBezTo>
                      <a:pt x="2004469" y="803239"/>
                      <a:pt x="1997273" y="806220"/>
                      <a:pt x="1989770" y="806220"/>
                    </a:cubicBezTo>
                    <a:lnTo>
                      <a:pt x="28291" y="806220"/>
                    </a:lnTo>
                    <a:cubicBezTo>
                      <a:pt x="12666" y="806220"/>
                      <a:pt x="0" y="793554"/>
                      <a:pt x="0" y="777929"/>
                    </a:cubicBezTo>
                    <a:lnTo>
                      <a:pt x="0" y="28291"/>
                    </a:lnTo>
                    <a:cubicBezTo>
                      <a:pt x="0" y="12666"/>
                      <a:pt x="12666" y="0"/>
                      <a:pt x="28291" y="0"/>
                    </a:cubicBezTo>
                    <a:close/>
                  </a:path>
                </a:pathLst>
              </a:custGeom>
              <a:ln w="9525" cap="rnd">
                <a:solidFill>
                  <a:srgbClr val="2493D4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2018061" cy="8062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9732979" y="3228246"/>
              <a:ext cx="2946335" cy="1138676"/>
              <a:chOff x="0" y="0"/>
              <a:chExt cx="581992" cy="22492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81992" cy="224924"/>
              </a:xfrm>
              <a:custGeom>
                <a:avLst/>
                <a:gdLst/>
                <a:ahLst/>
                <a:cxnLst/>
                <a:rect r="r" b="b" t="t" l="l"/>
                <a:pathLst>
                  <a:path h="224924" w="581992">
                    <a:moveTo>
                      <a:pt x="70070" y="0"/>
                    </a:moveTo>
                    <a:lnTo>
                      <a:pt x="511922" y="0"/>
                    </a:lnTo>
                    <a:cubicBezTo>
                      <a:pt x="530506" y="0"/>
                      <a:pt x="548328" y="7382"/>
                      <a:pt x="561469" y="20523"/>
                    </a:cubicBezTo>
                    <a:cubicBezTo>
                      <a:pt x="574610" y="33664"/>
                      <a:pt x="581992" y="51487"/>
                      <a:pt x="581992" y="70070"/>
                    </a:cubicBezTo>
                    <a:lnTo>
                      <a:pt x="581992" y="154853"/>
                    </a:lnTo>
                    <a:cubicBezTo>
                      <a:pt x="581992" y="173437"/>
                      <a:pt x="574610" y="191260"/>
                      <a:pt x="561469" y="204401"/>
                    </a:cubicBezTo>
                    <a:cubicBezTo>
                      <a:pt x="548328" y="217541"/>
                      <a:pt x="530506" y="224924"/>
                      <a:pt x="511922" y="224924"/>
                    </a:cubicBezTo>
                    <a:lnTo>
                      <a:pt x="70070" y="224924"/>
                    </a:lnTo>
                    <a:cubicBezTo>
                      <a:pt x="51487" y="224924"/>
                      <a:pt x="33664" y="217541"/>
                      <a:pt x="20523" y="204401"/>
                    </a:cubicBezTo>
                    <a:cubicBezTo>
                      <a:pt x="7382" y="191260"/>
                      <a:pt x="0" y="173437"/>
                      <a:pt x="0" y="154853"/>
                    </a:cubicBezTo>
                    <a:lnTo>
                      <a:pt x="0" y="70070"/>
                    </a:lnTo>
                    <a:cubicBezTo>
                      <a:pt x="0" y="51487"/>
                      <a:pt x="7382" y="33664"/>
                      <a:pt x="20523" y="20523"/>
                    </a:cubicBezTo>
                    <a:cubicBezTo>
                      <a:pt x="33664" y="7382"/>
                      <a:pt x="51487" y="0"/>
                      <a:pt x="70070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581992" cy="224924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Agenda Regulatória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9732979" y="4494950"/>
              <a:ext cx="2946335" cy="1098311"/>
              <a:chOff x="0" y="0"/>
              <a:chExt cx="581992" cy="21695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199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581992">
                    <a:moveTo>
                      <a:pt x="70070" y="0"/>
                    </a:moveTo>
                    <a:lnTo>
                      <a:pt x="511922" y="0"/>
                    </a:lnTo>
                    <a:cubicBezTo>
                      <a:pt x="530506" y="0"/>
                      <a:pt x="548328" y="7382"/>
                      <a:pt x="561469" y="20523"/>
                    </a:cubicBezTo>
                    <a:cubicBezTo>
                      <a:pt x="574610" y="33664"/>
                      <a:pt x="581992" y="51487"/>
                      <a:pt x="581992" y="70070"/>
                    </a:cubicBezTo>
                    <a:lnTo>
                      <a:pt x="581992" y="146880"/>
                    </a:lnTo>
                    <a:cubicBezTo>
                      <a:pt x="581992" y="165464"/>
                      <a:pt x="574610" y="183286"/>
                      <a:pt x="561469" y="196427"/>
                    </a:cubicBezTo>
                    <a:cubicBezTo>
                      <a:pt x="548328" y="209568"/>
                      <a:pt x="530506" y="216950"/>
                      <a:pt x="511922" y="216950"/>
                    </a:cubicBezTo>
                    <a:lnTo>
                      <a:pt x="70070" y="216950"/>
                    </a:lnTo>
                    <a:cubicBezTo>
                      <a:pt x="31372" y="216950"/>
                      <a:pt x="0" y="185579"/>
                      <a:pt x="0" y="146880"/>
                    </a:cubicBezTo>
                    <a:lnTo>
                      <a:pt x="0" y="70070"/>
                    </a:lnTo>
                    <a:cubicBezTo>
                      <a:pt x="0" y="51487"/>
                      <a:pt x="7382" y="33664"/>
                      <a:pt x="20523" y="20523"/>
                    </a:cubicBezTo>
                    <a:cubicBezTo>
                      <a:pt x="33664" y="7382"/>
                      <a:pt x="51487" y="0"/>
                      <a:pt x="70070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58199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Agenda Plurianual de Estudos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2870083" y="3228246"/>
              <a:ext cx="3207963" cy="1098311"/>
              <a:chOff x="0" y="0"/>
              <a:chExt cx="633672" cy="2169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367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594"/>
                    </a:lnTo>
                    <a:cubicBezTo>
                      <a:pt x="633672" y="169663"/>
                      <a:pt x="626891" y="186032"/>
                      <a:pt x="614822" y="198101"/>
                    </a:cubicBezTo>
                    <a:cubicBezTo>
                      <a:pt x="602753" y="210170"/>
                      <a:pt x="586384" y="216950"/>
                      <a:pt x="569316" y="216950"/>
                    </a:cubicBezTo>
                    <a:lnTo>
                      <a:pt x="64356" y="216950"/>
                    </a:lnTo>
                    <a:cubicBezTo>
                      <a:pt x="47288" y="216950"/>
                      <a:pt x="30918" y="210170"/>
                      <a:pt x="18849" y="198101"/>
                    </a:cubicBezTo>
                    <a:cubicBezTo>
                      <a:pt x="6780" y="186032"/>
                      <a:pt x="0" y="169663"/>
                      <a:pt x="0" y="15259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63367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Diretor de Tecnologia da Informação (PDTIC)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870083" y="4500281"/>
              <a:ext cx="3207963" cy="1098311"/>
              <a:chOff x="0" y="0"/>
              <a:chExt cx="633672" cy="2169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367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594"/>
                    </a:lnTo>
                    <a:cubicBezTo>
                      <a:pt x="633672" y="169663"/>
                      <a:pt x="626891" y="186032"/>
                      <a:pt x="614822" y="198101"/>
                    </a:cubicBezTo>
                    <a:cubicBezTo>
                      <a:pt x="602753" y="210170"/>
                      <a:pt x="586384" y="216950"/>
                      <a:pt x="569316" y="216950"/>
                    </a:cubicBezTo>
                    <a:lnTo>
                      <a:pt x="64356" y="216950"/>
                    </a:lnTo>
                    <a:cubicBezTo>
                      <a:pt x="47288" y="216950"/>
                      <a:pt x="30918" y="210170"/>
                      <a:pt x="18849" y="198101"/>
                    </a:cubicBezTo>
                    <a:cubicBezTo>
                      <a:pt x="6780" y="186032"/>
                      <a:pt x="0" y="169663"/>
                      <a:pt x="0" y="15259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63367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de Desenvolvimento de Pessoas (PDP)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6268546" y="3228246"/>
              <a:ext cx="3207963" cy="1098311"/>
              <a:chOff x="0" y="0"/>
              <a:chExt cx="633672" cy="21695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367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594"/>
                    </a:lnTo>
                    <a:cubicBezTo>
                      <a:pt x="633672" y="169663"/>
                      <a:pt x="626891" y="186032"/>
                      <a:pt x="614822" y="198101"/>
                    </a:cubicBezTo>
                    <a:cubicBezTo>
                      <a:pt x="602753" y="210170"/>
                      <a:pt x="586384" y="216950"/>
                      <a:pt x="569316" y="216950"/>
                    </a:cubicBezTo>
                    <a:lnTo>
                      <a:pt x="64356" y="216950"/>
                    </a:lnTo>
                    <a:cubicBezTo>
                      <a:pt x="47288" y="216950"/>
                      <a:pt x="30918" y="210170"/>
                      <a:pt x="18849" y="198101"/>
                    </a:cubicBezTo>
                    <a:cubicBezTo>
                      <a:pt x="6780" y="186032"/>
                      <a:pt x="0" y="169663"/>
                      <a:pt x="0" y="15259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63367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Agenda Ambiental de Segurança Aquaviária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268546" y="4494950"/>
              <a:ext cx="3207963" cy="1098311"/>
              <a:chOff x="0" y="0"/>
              <a:chExt cx="633672" cy="2169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367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594"/>
                    </a:lnTo>
                    <a:cubicBezTo>
                      <a:pt x="633672" y="169663"/>
                      <a:pt x="626891" y="186032"/>
                      <a:pt x="614822" y="198101"/>
                    </a:cubicBezTo>
                    <a:cubicBezTo>
                      <a:pt x="602753" y="210170"/>
                      <a:pt x="586384" y="216950"/>
                      <a:pt x="569316" y="216950"/>
                    </a:cubicBezTo>
                    <a:lnTo>
                      <a:pt x="64356" y="216950"/>
                    </a:lnTo>
                    <a:cubicBezTo>
                      <a:pt x="47288" y="216950"/>
                      <a:pt x="30918" y="210170"/>
                      <a:pt x="18849" y="198101"/>
                    </a:cubicBezTo>
                    <a:cubicBezTo>
                      <a:pt x="6780" y="186032"/>
                      <a:pt x="0" y="169663"/>
                      <a:pt x="0" y="15259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63367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Anual de Fiscalização (PAF)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266102" y="5723515"/>
              <a:ext cx="3207963" cy="1096234"/>
              <a:chOff x="0" y="0"/>
              <a:chExt cx="633672" cy="2165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3672" cy="216540"/>
              </a:xfrm>
              <a:custGeom>
                <a:avLst/>
                <a:gdLst/>
                <a:ahLst/>
                <a:cxnLst/>
                <a:rect r="r" b="b" t="t" l="l"/>
                <a:pathLst>
                  <a:path h="21654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184"/>
                    </a:lnTo>
                    <a:cubicBezTo>
                      <a:pt x="633672" y="169252"/>
                      <a:pt x="626891" y="185622"/>
                      <a:pt x="614822" y="197691"/>
                    </a:cubicBezTo>
                    <a:cubicBezTo>
                      <a:pt x="602753" y="209760"/>
                      <a:pt x="586384" y="216540"/>
                      <a:pt x="569316" y="216540"/>
                    </a:cubicBezTo>
                    <a:lnTo>
                      <a:pt x="64356" y="216540"/>
                    </a:lnTo>
                    <a:cubicBezTo>
                      <a:pt x="47288" y="216540"/>
                      <a:pt x="30918" y="209760"/>
                      <a:pt x="18849" y="197691"/>
                    </a:cubicBezTo>
                    <a:cubicBezTo>
                      <a:pt x="6780" y="185622"/>
                      <a:pt x="0" y="169252"/>
                      <a:pt x="0" y="15218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633672" cy="21654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de Integridade (PI)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4664564" y="5723515"/>
              <a:ext cx="3207963" cy="1098311"/>
              <a:chOff x="0" y="0"/>
              <a:chExt cx="633672" cy="21695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3672" cy="216950"/>
              </a:xfrm>
              <a:custGeom>
                <a:avLst/>
                <a:gdLst/>
                <a:ahLst/>
                <a:cxnLst/>
                <a:rect r="r" b="b" t="t" l="l"/>
                <a:pathLst>
                  <a:path h="21695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594"/>
                    </a:lnTo>
                    <a:cubicBezTo>
                      <a:pt x="633672" y="169663"/>
                      <a:pt x="626891" y="186032"/>
                      <a:pt x="614822" y="198101"/>
                    </a:cubicBezTo>
                    <a:cubicBezTo>
                      <a:pt x="602753" y="210170"/>
                      <a:pt x="586384" y="216950"/>
                      <a:pt x="569316" y="216950"/>
                    </a:cubicBezTo>
                    <a:lnTo>
                      <a:pt x="64356" y="216950"/>
                    </a:lnTo>
                    <a:cubicBezTo>
                      <a:pt x="47288" y="216950"/>
                      <a:pt x="30918" y="210170"/>
                      <a:pt x="18849" y="198101"/>
                    </a:cubicBezTo>
                    <a:cubicBezTo>
                      <a:pt x="6780" y="186032"/>
                      <a:pt x="0" y="169663"/>
                      <a:pt x="0" y="15259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0"/>
                <a:ext cx="633672" cy="21695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de Contratação Anual (PCA)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496527" y="0"/>
              <a:ext cx="7263641" cy="2765636"/>
              <a:chOff x="0" y="0"/>
              <a:chExt cx="1434793" cy="54629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34793" cy="546298"/>
              </a:xfrm>
              <a:custGeom>
                <a:avLst/>
                <a:gdLst/>
                <a:ahLst/>
                <a:cxnLst/>
                <a:rect r="r" b="b" t="t" l="l"/>
                <a:pathLst>
                  <a:path h="546298" w="1434793">
                    <a:moveTo>
                      <a:pt x="39792" y="0"/>
                    </a:moveTo>
                    <a:lnTo>
                      <a:pt x="1395002" y="0"/>
                    </a:lnTo>
                    <a:cubicBezTo>
                      <a:pt x="1405555" y="0"/>
                      <a:pt x="1415676" y="4192"/>
                      <a:pt x="1423139" y="11655"/>
                    </a:cubicBezTo>
                    <a:cubicBezTo>
                      <a:pt x="1430601" y="19117"/>
                      <a:pt x="1434793" y="29238"/>
                      <a:pt x="1434793" y="39792"/>
                    </a:cubicBezTo>
                    <a:lnTo>
                      <a:pt x="1434793" y="506507"/>
                    </a:lnTo>
                    <a:cubicBezTo>
                      <a:pt x="1434793" y="528483"/>
                      <a:pt x="1416978" y="546298"/>
                      <a:pt x="1395002" y="546298"/>
                    </a:cubicBezTo>
                    <a:lnTo>
                      <a:pt x="39792" y="546298"/>
                    </a:lnTo>
                    <a:cubicBezTo>
                      <a:pt x="17815" y="546298"/>
                      <a:pt x="0" y="528483"/>
                      <a:pt x="0" y="506507"/>
                    </a:cubicBezTo>
                    <a:lnTo>
                      <a:pt x="0" y="39792"/>
                    </a:lnTo>
                    <a:cubicBezTo>
                      <a:pt x="0" y="17815"/>
                      <a:pt x="17815" y="0"/>
                      <a:pt x="39792" y="0"/>
                    </a:cubicBezTo>
                    <a:close/>
                  </a:path>
                </a:pathLst>
              </a:custGeom>
              <a:ln w="9525" cap="rnd">
                <a:solidFill>
                  <a:srgbClr val="71B9E4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1434793" cy="546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981979" y="251045"/>
              <a:ext cx="3518729" cy="2263546"/>
              <a:chOff x="0" y="0"/>
              <a:chExt cx="695058" cy="44712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95058" cy="447120"/>
              </a:xfrm>
              <a:custGeom>
                <a:avLst/>
                <a:gdLst/>
                <a:ahLst/>
                <a:cxnLst/>
                <a:rect r="r" b="b" t="t" l="l"/>
                <a:pathLst>
                  <a:path h="447120" w="695058">
                    <a:moveTo>
                      <a:pt x="58672" y="0"/>
                    </a:moveTo>
                    <a:lnTo>
                      <a:pt x="636386" y="0"/>
                    </a:lnTo>
                    <a:cubicBezTo>
                      <a:pt x="651946" y="0"/>
                      <a:pt x="666870" y="6182"/>
                      <a:pt x="677873" y="17185"/>
                    </a:cubicBezTo>
                    <a:cubicBezTo>
                      <a:pt x="688876" y="28188"/>
                      <a:pt x="695058" y="43111"/>
                      <a:pt x="695058" y="58672"/>
                    </a:cubicBezTo>
                    <a:lnTo>
                      <a:pt x="695058" y="388448"/>
                    </a:lnTo>
                    <a:cubicBezTo>
                      <a:pt x="695058" y="404009"/>
                      <a:pt x="688876" y="418932"/>
                      <a:pt x="677873" y="429936"/>
                    </a:cubicBezTo>
                    <a:cubicBezTo>
                      <a:pt x="666870" y="440939"/>
                      <a:pt x="651946" y="447120"/>
                      <a:pt x="636386" y="447120"/>
                    </a:cubicBezTo>
                    <a:lnTo>
                      <a:pt x="58672" y="447120"/>
                    </a:lnTo>
                    <a:cubicBezTo>
                      <a:pt x="43111" y="447120"/>
                      <a:pt x="28188" y="440939"/>
                      <a:pt x="17185" y="429936"/>
                    </a:cubicBezTo>
                    <a:cubicBezTo>
                      <a:pt x="6182" y="418932"/>
                      <a:pt x="0" y="404009"/>
                      <a:pt x="0" y="388448"/>
                    </a:cubicBezTo>
                    <a:lnTo>
                      <a:pt x="0" y="58672"/>
                    </a:lnTo>
                    <a:cubicBezTo>
                      <a:pt x="0" y="43111"/>
                      <a:pt x="6182" y="28188"/>
                      <a:pt x="17185" y="17185"/>
                    </a:cubicBezTo>
                    <a:cubicBezTo>
                      <a:pt x="28188" y="6182"/>
                      <a:pt x="43111" y="0"/>
                      <a:pt x="58672" y="0"/>
                    </a:cubicBezTo>
                    <a:close/>
                  </a:path>
                </a:pathLst>
              </a:custGeom>
              <a:solidFill>
                <a:srgbClr val="A3D4F1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695058" cy="4471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9750527" y="725712"/>
              <a:ext cx="2946335" cy="1314211"/>
              <a:chOff x="0" y="0"/>
              <a:chExt cx="581992" cy="2595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81992" cy="259597"/>
              </a:xfrm>
              <a:custGeom>
                <a:avLst/>
                <a:gdLst/>
                <a:ahLst/>
                <a:cxnLst/>
                <a:rect r="r" b="b" t="t" l="l"/>
                <a:pathLst>
                  <a:path h="259597" w="581992">
                    <a:moveTo>
                      <a:pt x="70070" y="0"/>
                    </a:moveTo>
                    <a:lnTo>
                      <a:pt x="511922" y="0"/>
                    </a:lnTo>
                    <a:cubicBezTo>
                      <a:pt x="530506" y="0"/>
                      <a:pt x="548328" y="7382"/>
                      <a:pt x="561469" y="20523"/>
                    </a:cubicBezTo>
                    <a:cubicBezTo>
                      <a:pt x="574610" y="33664"/>
                      <a:pt x="581992" y="51487"/>
                      <a:pt x="581992" y="70070"/>
                    </a:cubicBezTo>
                    <a:lnTo>
                      <a:pt x="581992" y="189527"/>
                    </a:lnTo>
                    <a:cubicBezTo>
                      <a:pt x="581992" y="208111"/>
                      <a:pt x="574610" y="225933"/>
                      <a:pt x="561469" y="239074"/>
                    </a:cubicBezTo>
                    <a:cubicBezTo>
                      <a:pt x="548328" y="252215"/>
                      <a:pt x="530506" y="259597"/>
                      <a:pt x="511922" y="259597"/>
                    </a:cubicBezTo>
                    <a:lnTo>
                      <a:pt x="70070" y="259597"/>
                    </a:lnTo>
                    <a:cubicBezTo>
                      <a:pt x="51487" y="259597"/>
                      <a:pt x="33664" y="252215"/>
                      <a:pt x="20523" y="239074"/>
                    </a:cubicBezTo>
                    <a:cubicBezTo>
                      <a:pt x="7382" y="225933"/>
                      <a:pt x="0" y="208111"/>
                      <a:pt x="0" y="189527"/>
                    </a:cubicBezTo>
                    <a:lnTo>
                      <a:pt x="0" y="70070"/>
                    </a:lnTo>
                    <a:cubicBezTo>
                      <a:pt x="0" y="51487"/>
                      <a:pt x="7382" y="33664"/>
                      <a:pt x="20523" y="20523"/>
                    </a:cubicBezTo>
                    <a:cubicBezTo>
                      <a:pt x="33664" y="7382"/>
                      <a:pt x="51487" y="0"/>
                      <a:pt x="70070" y="0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581992" cy="259597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sz="1100" b="true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Estratégico Institucional (PEI) </a:t>
                </a:r>
              </a:p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2025-2028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231365" y="441669"/>
              <a:ext cx="3019957" cy="329171"/>
              <a:chOff x="0" y="0"/>
              <a:chExt cx="596535" cy="6502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96535" cy="65021"/>
              </a:xfrm>
              <a:custGeom>
                <a:avLst/>
                <a:gdLst/>
                <a:ahLst/>
                <a:cxnLst/>
                <a:rect r="r" b="b" t="t" l="l"/>
                <a:pathLst>
                  <a:path h="65021" w="596535">
                    <a:moveTo>
                      <a:pt x="32511" y="0"/>
                    </a:moveTo>
                    <a:lnTo>
                      <a:pt x="564024" y="0"/>
                    </a:lnTo>
                    <a:cubicBezTo>
                      <a:pt x="572646" y="0"/>
                      <a:pt x="580916" y="3425"/>
                      <a:pt x="587013" y="9522"/>
                    </a:cubicBezTo>
                    <a:cubicBezTo>
                      <a:pt x="593110" y="15619"/>
                      <a:pt x="596535" y="23888"/>
                      <a:pt x="596535" y="32511"/>
                    </a:cubicBezTo>
                    <a:lnTo>
                      <a:pt x="596535" y="32511"/>
                    </a:lnTo>
                    <a:cubicBezTo>
                      <a:pt x="596535" y="41133"/>
                      <a:pt x="593110" y="49402"/>
                      <a:pt x="587013" y="55499"/>
                    </a:cubicBezTo>
                    <a:cubicBezTo>
                      <a:pt x="580916" y="61596"/>
                      <a:pt x="572646" y="65021"/>
                      <a:pt x="564024" y="65021"/>
                    </a:cubicBezTo>
                    <a:lnTo>
                      <a:pt x="32511" y="65021"/>
                    </a:lnTo>
                    <a:cubicBezTo>
                      <a:pt x="23888" y="65021"/>
                      <a:pt x="15619" y="61596"/>
                      <a:pt x="9522" y="55499"/>
                    </a:cubicBezTo>
                    <a:cubicBezTo>
                      <a:pt x="3425" y="49402"/>
                      <a:pt x="0" y="41133"/>
                      <a:pt x="0" y="32511"/>
                    </a:cubicBezTo>
                    <a:lnTo>
                      <a:pt x="0" y="32511"/>
                    </a:lnTo>
                    <a:cubicBezTo>
                      <a:pt x="0" y="23888"/>
                      <a:pt x="3425" y="15619"/>
                      <a:pt x="9522" y="9522"/>
                    </a:cubicBezTo>
                    <a:cubicBezTo>
                      <a:pt x="15619" y="3425"/>
                      <a:pt x="23888" y="0"/>
                      <a:pt x="32511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596535" cy="65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 de Gestão Anual (PGA)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3231365" y="897839"/>
              <a:ext cx="1446947" cy="648142"/>
              <a:chOff x="0" y="0"/>
              <a:chExt cx="169373" cy="7586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69373" cy="75868"/>
              </a:xfrm>
              <a:custGeom>
                <a:avLst/>
                <a:gdLst/>
                <a:ahLst/>
                <a:cxnLst/>
                <a:rect r="r" b="b" t="t" l="l"/>
                <a:pathLst>
                  <a:path h="75868" w="169373">
                    <a:moveTo>
                      <a:pt x="37934" y="0"/>
                    </a:moveTo>
                    <a:lnTo>
                      <a:pt x="131439" y="0"/>
                    </a:lnTo>
                    <a:cubicBezTo>
                      <a:pt x="141499" y="0"/>
                      <a:pt x="151148" y="3997"/>
                      <a:pt x="158262" y="11111"/>
                    </a:cubicBezTo>
                    <a:cubicBezTo>
                      <a:pt x="165376" y="18225"/>
                      <a:pt x="169373" y="27873"/>
                      <a:pt x="169373" y="37934"/>
                    </a:cubicBezTo>
                    <a:lnTo>
                      <a:pt x="169373" y="37934"/>
                    </a:lnTo>
                    <a:cubicBezTo>
                      <a:pt x="169373" y="58885"/>
                      <a:pt x="152389" y="75868"/>
                      <a:pt x="131439" y="75868"/>
                    </a:cubicBezTo>
                    <a:lnTo>
                      <a:pt x="37934" y="75868"/>
                    </a:lnTo>
                    <a:cubicBezTo>
                      <a:pt x="27873" y="75868"/>
                      <a:pt x="18225" y="71872"/>
                      <a:pt x="11111" y="64758"/>
                    </a:cubicBezTo>
                    <a:cubicBezTo>
                      <a:pt x="3997" y="57644"/>
                      <a:pt x="0" y="47995"/>
                      <a:pt x="0" y="37934"/>
                    </a:cubicBezTo>
                    <a:lnTo>
                      <a:pt x="0" y="37934"/>
                    </a:lnTo>
                    <a:cubicBezTo>
                      <a:pt x="0" y="27873"/>
                      <a:pt x="3997" y="18225"/>
                      <a:pt x="11111" y="11111"/>
                    </a:cubicBezTo>
                    <a:cubicBezTo>
                      <a:pt x="18225" y="3997"/>
                      <a:pt x="27873" y="0"/>
                      <a:pt x="37934" y="0"/>
                    </a:cubicBezTo>
                    <a:close/>
                  </a:path>
                </a:pathLst>
              </a:custGeom>
              <a:solidFill>
                <a:srgbClr val="A3D4F1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169373" cy="7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PGA 2025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4804376" y="897839"/>
              <a:ext cx="1446947" cy="648142"/>
              <a:chOff x="0" y="0"/>
              <a:chExt cx="169373" cy="7586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69373" cy="75868"/>
              </a:xfrm>
              <a:custGeom>
                <a:avLst/>
                <a:gdLst/>
                <a:ahLst/>
                <a:cxnLst/>
                <a:rect r="r" b="b" t="t" l="l"/>
                <a:pathLst>
                  <a:path h="75868" w="169373">
                    <a:moveTo>
                      <a:pt x="37934" y="0"/>
                    </a:moveTo>
                    <a:lnTo>
                      <a:pt x="131439" y="0"/>
                    </a:lnTo>
                    <a:cubicBezTo>
                      <a:pt x="141499" y="0"/>
                      <a:pt x="151148" y="3997"/>
                      <a:pt x="158262" y="11111"/>
                    </a:cubicBezTo>
                    <a:cubicBezTo>
                      <a:pt x="165376" y="18225"/>
                      <a:pt x="169373" y="27873"/>
                      <a:pt x="169373" y="37934"/>
                    </a:cubicBezTo>
                    <a:lnTo>
                      <a:pt x="169373" y="37934"/>
                    </a:lnTo>
                    <a:cubicBezTo>
                      <a:pt x="169373" y="58885"/>
                      <a:pt x="152389" y="75868"/>
                      <a:pt x="131439" y="75868"/>
                    </a:cubicBezTo>
                    <a:lnTo>
                      <a:pt x="37934" y="75868"/>
                    </a:lnTo>
                    <a:cubicBezTo>
                      <a:pt x="27873" y="75868"/>
                      <a:pt x="18225" y="71872"/>
                      <a:pt x="11111" y="64758"/>
                    </a:cubicBezTo>
                    <a:cubicBezTo>
                      <a:pt x="3997" y="57644"/>
                      <a:pt x="0" y="47995"/>
                      <a:pt x="0" y="37934"/>
                    </a:cubicBezTo>
                    <a:lnTo>
                      <a:pt x="0" y="37934"/>
                    </a:lnTo>
                    <a:cubicBezTo>
                      <a:pt x="0" y="27873"/>
                      <a:pt x="3997" y="18225"/>
                      <a:pt x="11111" y="11111"/>
                    </a:cubicBezTo>
                    <a:cubicBezTo>
                      <a:pt x="18225" y="3997"/>
                      <a:pt x="27873" y="0"/>
                      <a:pt x="37934" y="0"/>
                    </a:cubicBezTo>
                    <a:close/>
                  </a:path>
                </a:pathLst>
              </a:custGeom>
              <a:solidFill>
                <a:srgbClr val="A3D4F1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0"/>
                <a:ext cx="169373" cy="7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PGA 2026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4804376" y="1675825"/>
              <a:ext cx="1446947" cy="648142"/>
              <a:chOff x="0" y="0"/>
              <a:chExt cx="169373" cy="7586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69373" cy="75868"/>
              </a:xfrm>
              <a:custGeom>
                <a:avLst/>
                <a:gdLst/>
                <a:ahLst/>
                <a:cxnLst/>
                <a:rect r="r" b="b" t="t" l="l"/>
                <a:pathLst>
                  <a:path h="75868" w="169373">
                    <a:moveTo>
                      <a:pt x="37934" y="0"/>
                    </a:moveTo>
                    <a:lnTo>
                      <a:pt x="131439" y="0"/>
                    </a:lnTo>
                    <a:cubicBezTo>
                      <a:pt x="141499" y="0"/>
                      <a:pt x="151148" y="3997"/>
                      <a:pt x="158262" y="11111"/>
                    </a:cubicBezTo>
                    <a:cubicBezTo>
                      <a:pt x="165376" y="18225"/>
                      <a:pt x="169373" y="27873"/>
                      <a:pt x="169373" y="37934"/>
                    </a:cubicBezTo>
                    <a:lnTo>
                      <a:pt x="169373" y="37934"/>
                    </a:lnTo>
                    <a:cubicBezTo>
                      <a:pt x="169373" y="58885"/>
                      <a:pt x="152389" y="75868"/>
                      <a:pt x="131439" y="75868"/>
                    </a:cubicBezTo>
                    <a:lnTo>
                      <a:pt x="37934" y="75868"/>
                    </a:lnTo>
                    <a:cubicBezTo>
                      <a:pt x="27873" y="75868"/>
                      <a:pt x="18225" y="71872"/>
                      <a:pt x="11111" y="64758"/>
                    </a:cubicBezTo>
                    <a:cubicBezTo>
                      <a:pt x="3997" y="57644"/>
                      <a:pt x="0" y="47995"/>
                      <a:pt x="0" y="37934"/>
                    </a:cubicBezTo>
                    <a:lnTo>
                      <a:pt x="0" y="37934"/>
                    </a:lnTo>
                    <a:cubicBezTo>
                      <a:pt x="0" y="27873"/>
                      <a:pt x="3997" y="18225"/>
                      <a:pt x="11111" y="11111"/>
                    </a:cubicBezTo>
                    <a:cubicBezTo>
                      <a:pt x="18225" y="3997"/>
                      <a:pt x="27873" y="0"/>
                      <a:pt x="37934" y="0"/>
                    </a:cubicBezTo>
                    <a:close/>
                  </a:path>
                </a:pathLst>
              </a:custGeom>
              <a:solidFill>
                <a:srgbClr val="A3D4F1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69373" cy="7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PGA 2028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3231365" y="1675825"/>
              <a:ext cx="1446947" cy="648142"/>
              <a:chOff x="0" y="0"/>
              <a:chExt cx="169373" cy="75868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69373" cy="75868"/>
              </a:xfrm>
              <a:custGeom>
                <a:avLst/>
                <a:gdLst/>
                <a:ahLst/>
                <a:cxnLst/>
                <a:rect r="r" b="b" t="t" l="l"/>
                <a:pathLst>
                  <a:path h="75868" w="169373">
                    <a:moveTo>
                      <a:pt x="37934" y="0"/>
                    </a:moveTo>
                    <a:lnTo>
                      <a:pt x="131439" y="0"/>
                    </a:lnTo>
                    <a:cubicBezTo>
                      <a:pt x="141499" y="0"/>
                      <a:pt x="151148" y="3997"/>
                      <a:pt x="158262" y="11111"/>
                    </a:cubicBezTo>
                    <a:cubicBezTo>
                      <a:pt x="165376" y="18225"/>
                      <a:pt x="169373" y="27873"/>
                      <a:pt x="169373" y="37934"/>
                    </a:cubicBezTo>
                    <a:lnTo>
                      <a:pt x="169373" y="37934"/>
                    </a:lnTo>
                    <a:cubicBezTo>
                      <a:pt x="169373" y="58885"/>
                      <a:pt x="152389" y="75868"/>
                      <a:pt x="131439" y="75868"/>
                    </a:cubicBezTo>
                    <a:lnTo>
                      <a:pt x="37934" y="75868"/>
                    </a:lnTo>
                    <a:cubicBezTo>
                      <a:pt x="27873" y="75868"/>
                      <a:pt x="18225" y="71872"/>
                      <a:pt x="11111" y="64758"/>
                    </a:cubicBezTo>
                    <a:cubicBezTo>
                      <a:pt x="3997" y="57644"/>
                      <a:pt x="0" y="47995"/>
                      <a:pt x="0" y="37934"/>
                    </a:cubicBezTo>
                    <a:lnTo>
                      <a:pt x="0" y="37934"/>
                    </a:lnTo>
                    <a:cubicBezTo>
                      <a:pt x="0" y="27873"/>
                      <a:pt x="3997" y="18225"/>
                      <a:pt x="11111" y="11111"/>
                    </a:cubicBezTo>
                    <a:cubicBezTo>
                      <a:pt x="18225" y="3997"/>
                      <a:pt x="27873" y="0"/>
                      <a:pt x="37934" y="0"/>
                    </a:cubicBezTo>
                    <a:close/>
                  </a:path>
                </a:pathLst>
              </a:custGeom>
              <a:solidFill>
                <a:srgbClr val="A3D4F1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0"/>
                <a:ext cx="169373" cy="7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PGA 2027</a:t>
                </a:r>
              </a:p>
            </p:txBody>
          </p:sp>
        </p:grpSp>
        <p:sp>
          <p:nvSpPr>
            <p:cNvPr name="AutoShape 58" id="58"/>
            <p:cNvSpPr/>
            <p:nvPr/>
          </p:nvSpPr>
          <p:spPr>
            <a:xfrm>
              <a:off x="12696862" y="1382818"/>
              <a:ext cx="285117" cy="0"/>
            </a:xfrm>
            <a:prstGeom prst="line">
              <a:avLst/>
            </a:prstGeom>
            <a:ln cap="flat" w="25400">
              <a:solidFill>
                <a:srgbClr val="71B9E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9" id="59"/>
            <p:cNvGrpSpPr/>
            <p:nvPr/>
          </p:nvGrpSpPr>
          <p:grpSpPr>
            <a:xfrm rot="0">
              <a:off x="0" y="4507716"/>
              <a:ext cx="3553836" cy="963967"/>
              <a:chOff x="0" y="0"/>
              <a:chExt cx="878374" cy="238256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78374" cy="238256"/>
              </a:xfrm>
              <a:custGeom>
                <a:avLst/>
                <a:gdLst/>
                <a:ahLst/>
                <a:cxnLst/>
                <a:rect r="r" b="b" t="t" l="l"/>
                <a:pathLst>
                  <a:path h="238256" w="878374">
                    <a:moveTo>
                      <a:pt x="119128" y="0"/>
                    </a:moveTo>
                    <a:lnTo>
                      <a:pt x="759246" y="0"/>
                    </a:lnTo>
                    <a:cubicBezTo>
                      <a:pt x="825039" y="0"/>
                      <a:pt x="878374" y="53336"/>
                      <a:pt x="878374" y="119128"/>
                    </a:cubicBezTo>
                    <a:lnTo>
                      <a:pt x="878374" y="119128"/>
                    </a:lnTo>
                    <a:cubicBezTo>
                      <a:pt x="878374" y="184921"/>
                      <a:pt x="825039" y="238256"/>
                      <a:pt x="759246" y="238256"/>
                    </a:cubicBezTo>
                    <a:lnTo>
                      <a:pt x="119128" y="238256"/>
                    </a:lnTo>
                    <a:cubicBezTo>
                      <a:pt x="53336" y="238256"/>
                      <a:pt x="0" y="184921"/>
                      <a:pt x="0" y="119128"/>
                    </a:cubicBezTo>
                    <a:lnTo>
                      <a:pt x="0" y="119128"/>
                    </a:lnTo>
                    <a:cubicBezTo>
                      <a:pt x="0" y="53336"/>
                      <a:pt x="53336" y="0"/>
                      <a:pt x="119128" y="0"/>
                    </a:cubicBezTo>
                    <a:close/>
                  </a:path>
                </a:pathLst>
              </a:custGeom>
              <a:solidFill>
                <a:srgbClr val="2493D4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0"/>
                <a:ext cx="878374" cy="238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47724" y="4631511"/>
              <a:ext cx="716376" cy="716376"/>
              <a:chOff x="0" y="0"/>
              <a:chExt cx="812800" cy="8128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DB3EF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Freeform 65" id="65"/>
            <p:cNvSpPr/>
            <p:nvPr/>
          </p:nvSpPr>
          <p:spPr>
            <a:xfrm flipH="false" flipV="false" rot="0">
              <a:off x="371240" y="4819229"/>
              <a:ext cx="269343" cy="340941"/>
            </a:xfrm>
            <a:custGeom>
              <a:avLst/>
              <a:gdLst/>
              <a:ahLst/>
              <a:cxnLst/>
              <a:rect r="r" b="b" t="t" l="l"/>
              <a:pathLst>
                <a:path h="340941" w="269343">
                  <a:moveTo>
                    <a:pt x="0" y="0"/>
                  </a:moveTo>
                  <a:lnTo>
                    <a:pt x="269344" y="0"/>
                  </a:lnTo>
                  <a:lnTo>
                    <a:pt x="269344" y="340941"/>
                  </a:lnTo>
                  <a:lnTo>
                    <a:pt x="0" y="340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 rot="0">
              <a:off x="1187644" y="4731506"/>
              <a:ext cx="1203523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Nível tático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187644" y="5060568"/>
              <a:ext cx="892969" cy="17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"/>
                </a:lnSpc>
                <a:spcBef>
                  <a:spcPct val="0"/>
                </a:spcBef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médio prazo</a:t>
              </a:r>
            </a:p>
          </p:txBody>
        </p:sp>
        <p:grpSp>
          <p:nvGrpSpPr>
            <p:cNvPr name="Group 68" id="68"/>
            <p:cNvGrpSpPr/>
            <p:nvPr/>
          </p:nvGrpSpPr>
          <p:grpSpPr>
            <a:xfrm rot="0">
              <a:off x="0" y="7347303"/>
              <a:ext cx="3553836" cy="963967"/>
              <a:chOff x="0" y="0"/>
              <a:chExt cx="878374" cy="238256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78374" cy="238256"/>
              </a:xfrm>
              <a:custGeom>
                <a:avLst/>
                <a:gdLst/>
                <a:ahLst/>
                <a:cxnLst/>
                <a:rect r="r" b="b" t="t" l="l"/>
                <a:pathLst>
                  <a:path h="238256" w="878374">
                    <a:moveTo>
                      <a:pt x="119128" y="0"/>
                    </a:moveTo>
                    <a:lnTo>
                      <a:pt x="759246" y="0"/>
                    </a:lnTo>
                    <a:cubicBezTo>
                      <a:pt x="825039" y="0"/>
                      <a:pt x="878374" y="53336"/>
                      <a:pt x="878374" y="119128"/>
                    </a:cubicBezTo>
                    <a:lnTo>
                      <a:pt x="878374" y="119128"/>
                    </a:lnTo>
                    <a:cubicBezTo>
                      <a:pt x="878374" y="184921"/>
                      <a:pt x="825039" y="238256"/>
                      <a:pt x="759246" y="238256"/>
                    </a:cubicBezTo>
                    <a:lnTo>
                      <a:pt x="119128" y="238256"/>
                    </a:lnTo>
                    <a:cubicBezTo>
                      <a:pt x="53336" y="238256"/>
                      <a:pt x="0" y="184921"/>
                      <a:pt x="0" y="119128"/>
                    </a:cubicBezTo>
                    <a:lnTo>
                      <a:pt x="0" y="119128"/>
                    </a:lnTo>
                    <a:cubicBezTo>
                      <a:pt x="0" y="53336"/>
                      <a:pt x="53336" y="0"/>
                      <a:pt x="119128" y="0"/>
                    </a:cubicBezTo>
                    <a:close/>
                  </a:path>
                </a:pathLst>
              </a:custGeom>
              <a:solidFill>
                <a:srgbClr val="004C98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0"/>
                <a:ext cx="878374" cy="238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47724" y="7471098"/>
              <a:ext cx="716376" cy="716376"/>
              <a:chOff x="0" y="0"/>
              <a:chExt cx="812800" cy="812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D659D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Freeform 74" id="74"/>
            <p:cNvSpPr/>
            <p:nvPr/>
          </p:nvSpPr>
          <p:spPr>
            <a:xfrm flipH="false" flipV="false" rot="0">
              <a:off x="305472" y="7631947"/>
              <a:ext cx="394679" cy="394679"/>
            </a:xfrm>
            <a:custGeom>
              <a:avLst/>
              <a:gdLst/>
              <a:ahLst/>
              <a:cxnLst/>
              <a:rect r="r" b="b" t="t" l="l"/>
              <a:pathLst>
                <a:path h="394679" w="394679">
                  <a:moveTo>
                    <a:pt x="0" y="0"/>
                  </a:moveTo>
                  <a:lnTo>
                    <a:pt x="394679" y="0"/>
                  </a:lnTo>
                  <a:lnTo>
                    <a:pt x="394679" y="394678"/>
                  </a:lnTo>
                  <a:lnTo>
                    <a:pt x="0" y="394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 rot="0">
              <a:off x="1187644" y="7571093"/>
              <a:ext cx="1851422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Nível operacional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187644" y="7900155"/>
              <a:ext cx="817761" cy="17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"/>
                </a:lnSpc>
                <a:spcBef>
                  <a:spcPct val="0"/>
                </a:spcBef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curto prazo</a:t>
              </a:r>
            </a:p>
          </p:txBody>
        </p:sp>
        <p:grpSp>
          <p:nvGrpSpPr>
            <p:cNvPr name="Group 77" id="77"/>
            <p:cNvGrpSpPr/>
            <p:nvPr/>
          </p:nvGrpSpPr>
          <p:grpSpPr>
            <a:xfrm rot="0">
              <a:off x="0" y="1668129"/>
              <a:ext cx="3553836" cy="963967"/>
              <a:chOff x="0" y="0"/>
              <a:chExt cx="878374" cy="238256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78374" cy="238256"/>
              </a:xfrm>
              <a:custGeom>
                <a:avLst/>
                <a:gdLst/>
                <a:ahLst/>
                <a:cxnLst/>
                <a:rect r="r" b="b" t="t" l="l"/>
                <a:pathLst>
                  <a:path h="238256" w="878374">
                    <a:moveTo>
                      <a:pt x="119128" y="0"/>
                    </a:moveTo>
                    <a:lnTo>
                      <a:pt x="759246" y="0"/>
                    </a:lnTo>
                    <a:cubicBezTo>
                      <a:pt x="825039" y="0"/>
                      <a:pt x="878374" y="53336"/>
                      <a:pt x="878374" y="119128"/>
                    </a:cubicBezTo>
                    <a:lnTo>
                      <a:pt x="878374" y="119128"/>
                    </a:lnTo>
                    <a:cubicBezTo>
                      <a:pt x="878374" y="184921"/>
                      <a:pt x="825039" y="238256"/>
                      <a:pt x="759246" y="238256"/>
                    </a:cubicBezTo>
                    <a:lnTo>
                      <a:pt x="119128" y="238256"/>
                    </a:lnTo>
                    <a:cubicBezTo>
                      <a:pt x="53336" y="238256"/>
                      <a:pt x="0" y="184921"/>
                      <a:pt x="0" y="119128"/>
                    </a:cubicBezTo>
                    <a:lnTo>
                      <a:pt x="0" y="119128"/>
                    </a:lnTo>
                    <a:cubicBezTo>
                      <a:pt x="0" y="53336"/>
                      <a:pt x="53336" y="0"/>
                      <a:pt x="119128" y="0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0"/>
                <a:ext cx="878374" cy="238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147724" y="1791924"/>
              <a:ext cx="716376" cy="716376"/>
              <a:chOff x="0" y="0"/>
              <a:chExt cx="812800" cy="8128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3D4F1"/>
              </a:solid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</a:p>
            </p:txBody>
          </p:sp>
        </p:grpSp>
        <p:sp>
          <p:nvSpPr>
            <p:cNvPr name="Freeform 83" id="83"/>
            <p:cNvSpPr/>
            <p:nvPr/>
          </p:nvSpPr>
          <p:spPr>
            <a:xfrm flipH="false" flipV="false" rot="0">
              <a:off x="293793" y="1937993"/>
              <a:ext cx="424237" cy="424237"/>
            </a:xfrm>
            <a:custGeom>
              <a:avLst/>
              <a:gdLst/>
              <a:ahLst/>
              <a:cxnLst/>
              <a:rect r="r" b="b" t="t" l="l"/>
              <a:pathLst>
                <a:path h="424237" w="424237">
                  <a:moveTo>
                    <a:pt x="0" y="0"/>
                  </a:moveTo>
                  <a:lnTo>
                    <a:pt x="424238" y="0"/>
                  </a:lnTo>
                  <a:lnTo>
                    <a:pt x="424238" y="424238"/>
                  </a:lnTo>
                  <a:lnTo>
                    <a:pt x="0" y="424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 rot="0">
              <a:off x="1187644" y="1891919"/>
              <a:ext cx="1781175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b="true" sz="1300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Nível estratégico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1187644" y="2220981"/>
              <a:ext cx="840978" cy="17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"/>
                </a:lnSpc>
                <a:spcBef>
                  <a:spcPct val="0"/>
                </a:spcBef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longo prazo</a:t>
              </a:r>
            </a:p>
          </p:txBody>
        </p:sp>
        <p:grpSp>
          <p:nvGrpSpPr>
            <p:cNvPr name="Group 86" id="86"/>
            <p:cNvGrpSpPr/>
            <p:nvPr/>
          </p:nvGrpSpPr>
          <p:grpSpPr>
            <a:xfrm rot="0">
              <a:off x="9496527" y="7278504"/>
              <a:ext cx="3207963" cy="1096234"/>
              <a:chOff x="0" y="0"/>
              <a:chExt cx="633672" cy="21654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633672" cy="216540"/>
              </a:xfrm>
              <a:custGeom>
                <a:avLst/>
                <a:gdLst/>
                <a:ahLst/>
                <a:cxnLst/>
                <a:rect r="r" b="b" t="t" l="l"/>
                <a:pathLst>
                  <a:path h="216540" w="633672">
                    <a:moveTo>
                      <a:pt x="64356" y="0"/>
                    </a:moveTo>
                    <a:lnTo>
                      <a:pt x="569316" y="0"/>
                    </a:lnTo>
                    <a:cubicBezTo>
                      <a:pt x="586384" y="0"/>
                      <a:pt x="602753" y="6780"/>
                      <a:pt x="614822" y="18849"/>
                    </a:cubicBezTo>
                    <a:cubicBezTo>
                      <a:pt x="626891" y="30918"/>
                      <a:pt x="633672" y="47288"/>
                      <a:pt x="633672" y="64356"/>
                    </a:cubicBezTo>
                    <a:lnTo>
                      <a:pt x="633672" y="152184"/>
                    </a:lnTo>
                    <a:cubicBezTo>
                      <a:pt x="633672" y="169252"/>
                      <a:pt x="626891" y="185622"/>
                      <a:pt x="614822" y="197691"/>
                    </a:cubicBezTo>
                    <a:cubicBezTo>
                      <a:pt x="602753" y="209760"/>
                      <a:pt x="586384" y="216540"/>
                      <a:pt x="569316" y="216540"/>
                    </a:cubicBezTo>
                    <a:lnTo>
                      <a:pt x="64356" y="216540"/>
                    </a:lnTo>
                    <a:cubicBezTo>
                      <a:pt x="47288" y="216540"/>
                      <a:pt x="30918" y="209760"/>
                      <a:pt x="18849" y="197691"/>
                    </a:cubicBezTo>
                    <a:cubicBezTo>
                      <a:pt x="6780" y="185622"/>
                      <a:pt x="0" y="169252"/>
                      <a:pt x="0" y="152184"/>
                    </a:cubicBezTo>
                    <a:lnTo>
                      <a:pt x="0" y="64356"/>
                    </a:lnTo>
                    <a:cubicBezTo>
                      <a:pt x="0" y="47288"/>
                      <a:pt x="6780" y="30918"/>
                      <a:pt x="18849" y="18849"/>
                    </a:cubicBezTo>
                    <a:cubicBezTo>
                      <a:pt x="30918" y="6780"/>
                      <a:pt x="47288" y="0"/>
                      <a:pt x="64356" y="0"/>
                    </a:cubicBezTo>
                    <a:close/>
                  </a:path>
                </a:pathLst>
              </a:custGeom>
              <a:solidFill>
                <a:srgbClr val="004C98"/>
              </a:solid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0"/>
                <a:ext cx="633672" cy="216540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>
                  <a:lnSpc>
                    <a:spcPts val="1320"/>
                  </a:lnSpc>
                </a:pPr>
                <a:r>
                  <a:rPr lang="en-US" b="true" sz="1100">
                    <a:solidFill>
                      <a:srgbClr val="FFFFFF"/>
                    </a:solidFill>
                    <a:latin typeface="Open Sans 1 Semi-Bold"/>
                    <a:ea typeface="Open Sans 1 Semi-Bold"/>
                    <a:cs typeface="Open Sans 1 Semi-Bold"/>
                    <a:sym typeface="Open Sans 1 Semi-Bold"/>
                  </a:rPr>
                  <a:t>Planos de Entrega (PdE)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12587528" y="7539458"/>
            <a:ext cx="4458503" cy="1878571"/>
            <a:chOff x="0" y="0"/>
            <a:chExt cx="1174256" cy="4947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74256" cy="494768"/>
            </a:xfrm>
            <a:custGeom>
              <a:avLst/>
              <a:gdLst/>
              <a:ahLst/>
              <a:cxnLst/>
              <a:rect r="r" b="b" t="t" l="l"/>
              <a:pathLst>
                <a:path h="494768" w="1174256">
                  <a:moveTo>
                    <a:pt x="48620" y="0"/>
                  </a:moveTo>
                  <a:lnTo>
                    <a:pt x="1125636" y="0"/>
                  </a:lnTo>
                  <a:cubicBezTo>
                    <a:pt x="1138531" y="0"/>
                    <a:pt x="1150897" y="5122"/>
                    <a:pt x="1160015" y="14241"/>
                  </a:cubicBezTo>
                  <a:cubicBezTo>
                    <a:pt x="1169133" y="23359"/>
                    <a:pt x="1174256" y="35725"/>
                    <a:pt x="1174256" y="48620"/>
                  </a:cubicBezTo>
                  <a:lnTo>
                    <a:pt x="1174256" y="446147"/>
                  </a:lnTo>
                  <a:cubicBezTo>
                    <a:pt x="1174256" y="472999"/>
                    <a:pt x="1152488" y="494768"/>
                    <a:pt x="1125636" y="494768"/>
                  </a:cubicBezTo>
                  <a:lnTo>
                    <a:pt x="48620" y="494768"/>
                  </a:lnTo>
                  <a:cubicBezTo>
                    <a:pt x="35725" y="494768"/>
                    <a:pt x="23359" y="489645"/>
                    <a:pt x="14241" y="480527"/>
                  </a:cubicBezTo>
                  <a:cubicBezTo>
                    <a:pt x="5122" y="471409"/>
                    <a:pt x="0" y="459042"/>
                    <a:pt x="0" y="446147"/>
                  </a:cubicBezTo>
                  <a:lnTo>
                    <a:pt x="0" y="48620"/>
                  </a:lnTo>
                  <a:cubicBezTo>
                    <a:pt x="0" y="21768"/>
                    <a:pt x="21768" y="0"/>
                    <a:pt x="48620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1174256" cy="551918"/>
            </a:xfrm>
            <a:prstGeom prst="rect">
              <a:avLst/>
            </a:prstGeom>
          </p:spPr>
          <p:txBody>
            <a:bodyPr anchor="ctr" rtlCol="false" tIns="419100" lIns="419100" bIns="419100" rIns="419100"/>
            <a:lstStyle/>
            <a:p>
              <a:pPr algn="ctr">
                <a:lnSpc>
                  <a:spcPts val="1700"/>
                </a:lnSpc>
              </a:pPr>
              <a:r>
                <a:rPr lang="en-US" sz="1000">
                  <a:solidFill>
                    <a:srgbClr val="4E4D4D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Há um encadeamento duplo: de cima para baixo, com as diretrizes estratégicas orientando planos e ações mais específicas, e de baixo para cima, com a execução operacional retroalimentando e ajustando os níveis superiores. Assim, os instrumentos de planejamento são interdependentes, garantindo coerência entre estratégia, gestão e execução.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3845545" y="8997549"/>
            <a:ext cx="3797681" cy="672590"/>
          </a:xfrm>
          <a:custGeom>
            <a:avLst/>
            <a:gdLst/>
            <a:ahLst/>
            <a:cxnLst/>
            <a:rect r="r" b="b" t="t" l="l"/>
            <a:pathLst>
              <a:path h="672590" w="3797681">
                <a:moveTo>
                  <a:pt x="0" y="0"/>
                </a:moveTo>
                <a:lnTo>
                  <a:pt x="3797681" y="0"/>
                </a:lnTo>
                <a:lnTo>
                  <a:pt x="3797681" y="672589"/>
                </a:lnTo>
                <a:lnTo>
                  <a:pt x="0" y="672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8000"/>
            </a:blip>
            <a:stretch>
              <a:fillRect l="0" t="-5950" r="0" b="-5950"/>
            </a:stretch>
          </a:blipFill>
        </p:spPr>
      </p:sp>
      <p:sp>
        <p:nvSpPr>
          <p:cNvPr name="TextBox 93" id="9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12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77254" y="1054144"/>
            <a:ext cx="939163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Encadeamento dos instrumentos </a:t>
            </a:r>
            <a:r>
              <a:rPr lang="en-US" sz="2600">
                <a:solidFill>
                  <a:srgbClr val="72BAE3"/>
                </a:solidFill>
                <a:latin typeface="Open Sans 1"/>
                <a:ea typeface="Open Sans 1"/>
                <a:cs typeface="Open Sans 1"/>
                <a:sym typeface="Open Sans 1"/>
              </a:rPr>
              <a:t>institucionais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5968" y="555390"/>
            <a:ext cx="11862032" cy="9731610"/>
            <a:chOff x="0" y="0"/>
            <a:chExt cx="3124157" cy="25630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4157" cy="2563058"/>
            </a:xfrm>
            <a:custGeom>
              <a:avLst/>
              <a:gdLst/>
              <a:ahLst/>
              <a:cxnLst/>
              <a:rect r="r" b="b" t="t" l="l"/>
              <a:pathLst>
                <a:path h="2563058" w="3124157">
                  <a:moveTo>
                    <a:pt x="0" y="0"/>
                  </a:moveTo>
                  <a:lnTo>
                    <a:pt x="3124157" y="0"/>
                  </a:lnTo>
                  <a:lnTo>
                    <a:pt x="3124157" y="2563058"/>
                  </a:lnTo>
                  <a:lnTo>
                    <a:pt x="0" y="2563058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4157" cy="2591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66071" y="1102350"/>
            <a:ext cx="4109759" cy="3548097"/>
            <a:chOff x="0" y="0"/>
            <a:chExt cx="1043477" cy="900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3477" cy="900870"/>
            </a:xfrm>
            <a:custGeom>
              <a:avLst/>
              <a:gdLst/>
              <a:ahLst/>
              <a:cxnLst/>
              <a:rect r="r" b="b" t="t" l="l"/>
              <a:pathLst>
                <a:path h="900870" w="1043477">
                  <a:moveTo>
                    <a:pt x="33908" y="0"/>
                  </a:moveTo>
                  <a:lnTo>
                    <a:pt x="1009569" y="0"/>
                  </a:lnTo>
                  <a:cubicBezTo>
                    <a:pt x="1018562" y="0"/>
                    <a:pt x="1027187" y="3572"/>
                    <a:pt x="1033546" y="9931"/>
                  </a:cubicBezTo>
                  <a:cubicBezTo>
                    <a:pt x="1039905" y="16291"/>
                    <a:pt x="1043477" y="24915"/>
                    <a:pt x="1043477" y="33908"/>
                  </a:cubicBezTo>
                  <a:lnTo>
                    <a:pt x="1043477" y="866962"/>
                  </a:lnTo>
                  <a:cubicBezTo>
                    <a:pt x="1043477" y="875955"/>
                    <a:pt x="1039905" y="884580"/>
                    <a:pt x="1033546" y="890939"/>
                  </a:cubicBezTo>
                  <a:cubicBezTo>
                    <a:pt x="1027187" y="897298"/>
                    <a:pt x="1018562" y="900870"/>
                    <a:pt x="1009569" y="900870"/>
                  </a:cubicBezTo>
                  <a:lnTo>
                    <a:pt x="33908" y="900870"/>
                  </a:lnTo>
                  <a:cubicBezTo>
                    <a:pt x="24915" y="900870"/>
                    <a:pt x="16291" y="897298"/>
                    <a:pt x="9931" y="890939"/>
                  </a:cubicBezTo>
                  <a:cubicBezTo>
                    <a:pt x="3572" y="884580"/>
                    <a:pt x="0" y="875955"/>
                    <a:pt x="0" y="866962"/>
                  </a:cubicBezTo>
                  <a:lnTo>
                    <a:pt x="0" y="33908"/>
                  </a:lnTo>
                  <a:cubicBezTo>
                    <a:pt x="0" y="24915"/>
                    <a:pt x="3572" y="16291"/>
                    <a:pt x="9931" y="9931"/>
                  </a:cubicBezTo>
                  <a:cubicBezTo>
                    <a:pt x="16291" y="3572"/>
                    <a:pt x="24915" y="0"/>
                    <a:pt x="33908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43477" cy="92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54357" y="1102350"/>
            <a:ext cx="4109759" cy="3548097"/>
            <a:chOff x="0" y="0"/>
            <a:chExt cx="1043477" cy="900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477" cy="900870"/>
            </a:xfrm>
            <a:custGeom>
              <a:avLst/>
              <a:gdLst/>
              <a:ahLst/>
              <a:cxnLst/>
              <a:rect r="r" b="b" t="t" l="l"/>
              <a:pathLst>
                <a:path h="900870" w="1043477">
                  <a:moveTo>
                    <a:pt x="33908" y="0"/>
                  </a:moveTo>
                  <a:lnTo>
                    <a:pt x="1009569" y="0"/>
                  </a:lnTo>
                  <a:cubicBezTo>
                    <a:pt x="1018562" y="0"/>
                    <a:pt x="1027187" y="3572"/>
                    <a:pt x="1033546" y="9931"/>
                  </a:cubicBezTo>
                  <a:cubicBezTo>
                    <a:pt x="1039905" y="16291"/>
                    <a:pt x="1043477" y="24915"/>
                    <a:pt x="1043477" y="33908"/>
                  </a:cubicBezTo>
                  <a:lnTo>
                    <a:pt x="1043477" y="866962"/>
                  </a:lnTo>
                  <a:cubicBezTo>
                    <a:pt x="1043477" y="875955"/>
                    <a:pt x="1039905" y="884580"/>
                    <a:pt x="1033546" y="890939"/>
                  </a:cubicBezTo>
                  <a:cubicBezTo>
                    <a:pt x="1027187" y="897298"/>
                    <a:pt x="1018562" y="900870"/>
                    <a:pt x="1009569" y="900870"/>
                  </a:cubicBezTo>
                  <a:lnTo>
                    <a:pt x="33908" y="900870"/>
                  </a:lnTo>
                  <a:cubicBezTo>
                    <a:pt x="24915" y="900870"/>
                    <a:pt x="16291" y="897298"/>
                    <a:pt x="9931" y="890939"/>
                  </a:cubicBezTo>
                  <a:cubicBezTo>
                    <a:pt x="3572" y="884580"/>
                    <a:pt x="0" y="875955"/>
                    <a:pt x="0" y="866962"/>
                  </a:cubicBezTo>
                  <a:lnTo>
                    <a:pt x="0" y="33908"/>
                  </a:lnTo>
                  <a:cubicBezTo>
                    <a:pt x="0" y="24915"/>
                    <a:pt x="3572" y="16291"/>
                    <a:pt x="9931" y="9931"/>
                  </a:cubicBezTo>
                  <a:cubicBezTo>
                    <a:pt x="16291" y="3572"/>
                    <a:pt x="24915" y="0"/>
                    <a:pt x="33908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43477" cy="92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48486" y="5710203"/>
            <a:ext cx="4109759" cy="3548097"/>
            <a:chOff x="0" y="0"/>
            <a:chExt cx="1043477" cy="900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3477" cy="900870"/>
            </a:xfrm>
            <a:custGeom>
              <a:avLst/>
              <a:gdLst/>
              <a:ahLst/>
              <a:cxnLst/>
              <a:rect r="r" b="b" t="t" l="l"/>
              <a:pathLst>
                <a:path h="900870" w="1043477">
                  <a:moveTo>
                    <a:pt x="33908" y="0"/>
                  </a:moveTo>
                  <a:lnTo>
                    <a:pt x="1009569" y="0"/>
                  </a:lnTo>
                  <a:cubicBezTo>
                    <a:pt x="1018562" y="0"/>
                    <a:pt x="1027187" y="3572"/>
                    <a:pt x="1033546" y="9931"/>
                  </a:cubicBezTo>
                  <a:cubicBezTo>
                    <a:pt x="1039905" y="16291"/>
                    <a:pt x="1043477" y="24915"/>
                    <a:pt x="1043477" y="33908"/>
                  </a:cubicBezTo>
                  <a:lnTo>
                    <a:pt x="1043477" y="866962"/>
                  </a:lnTo>
                  <a:cubicBezTo>
                    <a:pt x="1043477" y="875955"/>
                    <a:pt x="1039905" y="884580"/>
                    <a:pt x="1033546" y="890939"/>
                  </a:cubicBezTo>
                  <a:cubicBezTo>
                    <a:pt x="1027187" y="897298"/>
                    <a:pt x="1018562" y="900870"/>
                    <a:pt x="1009569" y="900870"/>
                  </a:cubicBezTo>
                  <a:lnTo>
                    <a:pt x="33908" y="900870"/>
                  </a:lnTo>
                  <a:cubicBezTo>
                    <a:pt x="24915" y="900870"/>
                    <a:pt x="16291" y="897298"/>
                    <a:pt x="9931" y="890939"/>
                  </a:cubicBezTo>
                  <a:cubicBezTo>
                    <a:pt x="3572" y="884580"/>
                    <a:pt x="0" y="875955"/>
                    <a:pt x="0" y="866962"/>
                  </a:cubicBezTo>
                  <a:lnTo>
                    <a:pt x="0" y="33908"/>
                  </a:lnTo>
                  <a:cubicBezTo>
                    <a:pt x="0" y="24915"/>
                    <a:pt x="3572" y="16291"/>
                    <a:pt x="9931" y="9931"/>
                  </a:cubicBezTo>
                  <a:cubicBezTo>
                    <a:pt x="16291" y="3572"/>
                    <a:pt x="24915" y="0"/>
                    <a:pt x="33908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43477" cy="92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37546" y="5987628"/>
            <a:ext cx="3398034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2" tooltip="http://www.planalto.gov.br/ccivil_03/_ato2007-2010/2010/lei/l12305.htm"/>
              </a:rPr>
              <a:t>PROMOVER SERV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3" tooltip="http://www.planalto.gov.br/ccivil_03/_ato2007-2010/2010/lei/l12305.htm"/>
              </a:rPr>
              <a:t>IÇOS EFICIENTES, SEGUROS E SUSTENTÁVEIS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54917" y="6670745"/>
            <a:ext cx="3380664" cy="20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Zelamos pelo desenvolvimento econômico e soci</a:t>
            </a: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al de forma sustentável. Por meio da nossa normatização e fiscalização, asseguramos padrões elevados de segurança e qualidade na prestação dos serviços e na operação das instalações portuárias, utilizando indicadores de desempenho para estimular a melhoria contínua do setor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366071" y="5710203"/>
            <a:ext cx="4109759" cy="3548097"/>
            <a:chOff x="0" y="0"/>
            <a:chExt cx="1043477" cy="9008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3477" cy="900870"/>
            </a:xfrm>
            <a:custGeom>
              <a:avLst/>
              <a:gdLst/>
              <a:ahLst/>
              <a:cxnLst/>
              <a:rect r="r" b="b" t="t" l="l"/>
              <a:pathLst>
                <a:path h="900870" w="1043477">
                  <a:moveTo>
                    <a:pt x="33908" y="0"/>
                  </a:moveTo>
                  <a:lnTo>
                    <a:pt x="1009569" y="0"/>
                  </a:lnTo>
                  <a:cubicBezTo>
                    <a:pt x="1018562" y="0"/>
                    <a:pt x="1027187" y="3572"/>
                    <a:pt x="1033546" y="9931"/>
                  </a:cubicBezTo>
                  <a:cubicBezTo>
                    <a:pt x="1039905" y="16291"/>
                    <a:pt x="1043477" y="24915"/>
                    <a:pt x="1043477" y="33908"/>
                  </a:cubicBezTo>
                  <a:lnTo>
                    <a:pt x="1043477" y="866962"/>
                  </a:lnTo>
                  <a:cubicBezTo>
                    <a:pt x="1043477" y="875955"/>
                    <a:pt x="1039905" y="884580"/>
                    <a:pt x="1033546" y="890939"/>
                  </a:cubicBezTo>
                  <a:cubicBezTo>
                    <a:pt x="1027187" y="897298"/>
                    <a:pt x="1018562" y="900870"/>
                    <a:pt x="1009569" y="900870"/>
                  </a:cubicBezTo>
                  <a:lnTo>
                    <a:pt x="33908" y="900870"/>
                  </a:lnTo>
                  <a:cubicBezTo>
                    <a:pt x="24915" y="900870"/>
                    <a:pt x="16291" y="897298"/>
                    <a:pt x="9931" y="890939"/>
                  </a:cubicBezTo>
                  <a:cubicBezTo>
                    <a:pt x="3572" y="884580"/>
                    <a:pt x="0" y="875955"/>
                    <a:pt x="0" y="866962"/>
                  </a:cubicBezTo>
                  <a:lnTo>
                    <a:pt x="0" y="33908"/>
                  </a:lnTo>
                  <a:cubicBezTo>
                    <a:pt x="0" y="24915"/>
                    <a:pt x="3572" y="16291"/>
                    <a:pt x="9931" y="9931"/>
                  </a:cubicBezTo>
                  <a:cubicBezTo>
                    <a:pt x="16291" y="3572"/>
                    <a:pt x="24915" y="0"/>
                    <a:pt x="33908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43477" cy="929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379203" y="4929506"/>
            <a:ext cx="1186203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868396" y="4445130"/>
            <a:ext cx="1105110" cy="949704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118" y="0"/>
              <a:ext cx="782565" cy="698500"/>
            </a:xfrm>
            <a:custGeom>
              <a:avLst/>
              <a:gdLst/>
              <a:ahLst/>
              <a:cxnLst/>
              <a:rect r="r" b="b" t="t" l="l"/>
              <a:pathLst>
                <a:path h="698500" w="782565">
                  <a:moveTo>
                    <a:pt x="769498" y="397692"/>
                  </a:moveTo>
                  <a:lnTo>
                    <a:pt x="622666" y="650058"/>
                  </a:lnTo>
                  <a:cubicBezTo>
                    <a:pt x="605217" y="680049"/>
                    <a:pt x="573136" y="698500"/>
                    <a:pt x="538437" y="698500"/>
                  </a:cubicBezTo>
                  <a:lnTo>
                    <a:pt x="244127" y="698500"/>
                  </a:lnTo>
                  <a:cubicBezTo>
                    <a:pt x="209428" y="698500"/>
                    <a:pt x="177347" y="680049"/>
                    <a:pt x="159898" y="650058"/>
                  </a:cubicBezTo>
                  <a:lnTo>
                    <a:pt x="13066" y="397692"/>
                  </a:lnTo>
                  <a:cubicBezTo>
                    <a:pt x="-4356" y="367747"/>
                    <a:pt x="-4356" y="330753"/>
                    <a:pt x="13066" y="300808"/>
                  </a:cubicBezTo>
                  <a:lnTo>
                    <a:pt x="159898" y="48442"/>
                  </a:lnTo>
                  <a:cubicBezTo>
                    <a:pt x="177347" y="18451"/>
                    <a:pt x="209428" y="0"/>
                    <a:pt x="244127" y="0"/>
                  </a:cubicBezTo>
                  <a:lnTo>
                    <a:pt x="538437" y="0"/>
                  </a:lnTo>
                  <a:cubicBezTo>
                    <a:pt x="573136" y="0"/>
                    <a:pt x="605217" y="18451"/>
                    <a:pt x="622666" y="48442"/>
                  </a:cubicBezTo>
                  <a:lnTo>
                    <a:pt x="769498" y="300808"/>
                  </a:lnTo>
                  <a:cubicBezTo>
                    <a:pt x="786920" y="330753"/>
                    <a:pt x="786920" y="367747"/>
                    <a:pt x="769498" y="397692"/>
                  </a:cubicBezTo>
                  <a:close/>
                </a:path>
              </a:pathLst>
            </a:custGeom>
            <a:solidFill>
              <a:srgbClr val="52A2D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65367" y="4445130"/>
            <a:ext cx="1105110" cy="949704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118" y="0"/>
              <a:ext cx="782565" cy="698500"/>
            </a:xfrm>
            <a:custGeom>
              <a:avLst/>
              <a:gdLst/>
              <a:ahLst/>
              <a:cxnLst/>
              <a:rect r="r" b="b" t="t" l="l"/>
              <a:pathLst>
                <a:path h="698500" w="782565">
                  <a:moveTo>
                    <a:pt x="769498" y="397692"/>
                  </a:moveTo>
                  <a:lnTo>
                    <a:pt x="622666" y="650058"/>
                  </a:lnTo>
                  <a:cubicBezTo>
                    <a:pt x="605217" y="680049"/>
                    <a:pt x="573136" y="698500"/>
                    <a:pt x="538437" y="698500"/>
                  </a:cubicBezTo>
                  <a:lnTo>
                    <a:pt x="244127" y="698500"/>
                  </a:lnTo>
                  <a:cubicBezTo>
                    <a:pt x="209428" y="698500"/>
                    <a:pt x="177347" y="680049"/>
                    <a:pt x="159898" y="650058"/>
                  </a:cubicBezTo>
                  <a:lnTo>
                    <a:pt x="13066" y="397692"/>
                  </a:lnTo>
                  <a:cubicBezTo>
                    <a:pt x="-4356" y="367747"/>
                    <a:pt x="-4356" y="330753"/>
                    <a:pt x="13066" y="300808"/>
                  </a:cubicBezTo>
                  <a:lnTo>
                    <a:pt x="159898" y="48442"/>
                  </a:lnTo>
                  <a:cubicBezTo>
                    <a:pt x="177347" y="18451"/>
                    <a:pt x="209428" y="0"/>
                    <a:pt x="244127" y="0"/>
                  </a:cubicBezTo>
                  <a:lnTo>
                    <a:pt x="538437" y="0"/>
                  </a:lnTo>
                  <a:cubicBezTo>
                    <a:pt x="573136" y="0"/>
                    <a:pt x="605217" y="18451"/>
                    <a:pt x="622666" y="48442"/>
                  </a:cubicBezTo>
                  <a:lnTo>
                    <a:pt x="769498" y="300808"/>
                  </a:lnTo>
                  <a:cubicBezTo>
                    <a:pt x="786920" y="330753"/>
                    <a:pt x="786920" y="367747"/>
                    <a:pt x="769498" y="397692"/>
                  </a:cubicBezTo>
                  <a:close/>
                </a:path>
              </a:pathLst>
            </a:custGeom>
            <a:solidFill>
              <a:srgbClr val="52A2D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6425968" y="9549036"/>
            <a:ext cx="1186203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8862525" y="9064659"/>
            <a:ext cx="1105110" cy="949704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5118" y="0"/>
              <a:ext cx="782565" cy="698500"/>
            </a:xfrm>
            <a:custGeom>
              <a:avLst/>
              <a:gdLst/>
              <a:ahLst/>
              <a:cxnLst/>
              <a:rect r="r" b="b" t="t" l="l"/>
              <a:pathLst>
                <a:path h="698500" w="782565">
                  <a:moveTo>
                    <a:pt x="769498" y="397692"/>
                  </a:moveTo>
                  <a:lnTo>
                    <a:pt x="622666" y="650058"/>
                  </a:lnTo>
                  <a:cubicBezTo>
                    <a:pt x="605217" y="680049"/>
                    <a:pt x="573136" y="698500"/>
                    <a:pt x="538437" y="698500"/>
                  </a:cubicBezTo>
                  <a:lnTo>
                    <a:pt x="244127" y="698500"/>
                  </a:lnTo>
                  <a:cubicBezTo>
                    <a:pt x="209428" y="698500"/>
                    <a:pt x="177347" y="680049"/>
                    <a:pt x="159898" y="650058"/>
                  </a:cubicBezTo>
                  <a:lnTo>
                    <a:pt x="13066" y="397692"/>
                  </a:lnTo>
                  <a:cubicBezTo>
                    <a:pt x="-4356" y="367747"/>
                    <a:pt x="-4356" y="330753"/>
                    <a:pt x="13066" y="300808"/>
                  </a:cubicBezTo>
                  <a:lnTo>
                    <a:pt x="159898" y="48442"/>
                  </a:lnTo>
                  <a:cubicBezTo>
                    <a:pt x="177347" y="18451"/>
                    <a:pt x="209428" y="0"/>
                    <a:pt x="244127" y="0"/>
                  </a:cubicBezTo>
                  <a:lnTo>
                    <a:pt x="538437" y="0"/>
                  </a:lnTo>
                  <a:cubicBezTo>
                    <a:pt x="573136" y="0"/>
                    <a:pt x="605217" y="18451"/>
                    <a:pt x="622666" y="48442"/>
                  </a:cubicBezTo>
                  <a:lnTo>
                    <a:pt x="769498" y="300808"/>
                  </a:lnTo>
                  <a:cubicBezTo>
                    <a:pt x="786920" y="330753"/>
                    <a:pt x="786920" y="367747"/>
                    <a:pt x="769498" y="397692"/>
                  </a:cubicBezTo>
                  <a:close/>
                </a:path>
              </a:pathLst>
            </a:custGeom>
            <a:solidFill>
              <a:srgbClr val="52A2D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12132" y="9064659"/>
            <a:ext cx="1105110" cy="949704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5118" y="0"/>
              <a:ext cx="782565" cy="698500"/>
            </a:xfrm>
            <a:custGeom>
              <a:avLst/>
              <a:gdLst/>
              <a:ahLst/>
              <a:cxnLst/>
              <a:rect r="r" b="b" t="t" l="l"/>
              <a:pathLst>
                <a:path h="698500" w="782565">
                  <a:moveTo>
                    <a:pt x="769498" y="397692"/>
                  </a:moveTo>
                  <a:lnTo>
                    <a:pt x="622666" y="650058"/>
                  </a:lnTo>
                  <a:cubicBezTo>
                    <a:pt x="605217" y="680049"/>
                    <a:pt x="573136" y="698500"/>
                    <a:pt x="538437" y="698500"/>
                  </a:cubicBezTo>
                  <a:lnTo>
                    <a:pt x="244127" y="698500"/>
                  </a:lnTo>
                  <a:cubicBezTo>
                    <a:pt x="209428" y="698500"/>
                    <a:pt x="177347" y="680049"/>
                    <a:pt x="159898" y="650058"/>
                  </a:cubicBezTo>
                  <a:lnTo>
                    <a:pt x="13066" y="397692"/>
                  </a:lnTo>
                  <a:cubicBezTo>
                    <a:pt x="-4356" y="367747"/>
                    <a:pt x="-4356" y="330753"/>
                    <a:pt x="13066" y="300808"/>
                  </a:cubicBezTo>
                  <a:lnTo>
                    <a:pt x="159898" y="48442"/>
                  </a:lnTo>
                  <a:cubicBezTo>
                    <a:pt x="177347" y="18451"/>
                    <a:pt x="209428" y="0"/>
                    <a:pt x="244127" y="0"/>
                  </a:cubicBezTo>
                  <a:lnTo>
                    <a:pt x="538437" y="0"/>
                  </a:lnTo>
                  <a:cubicBezTo>
                    <a:pt x="573136" y="0"/>
                    <a:pt x="605217" y="18451"/>
                    <a:pt x="622666" y="48442"/>
                  </a:cubicBezTo>
                  <a:lnTo>
                    <a:pt x="769498" y="300808"/>
                  </a:lnTo>
                  <a:cubicBezTo>
                    <a:pt x="786920" y="330753"/>
                    <a:pt x="786920" y="367747"/>
                    <a:pt x="769498" y="397692"/>
                  </a:cubicBezTo>
                  <a:close/>
                </a:path>
              </a:pathLst>
            </a:custGeom>
            <a:solidFill>
              <a:srgbClr val="52A2D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28575"/>
              <a:ext cx="5842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121430" y="4707112"/>
            <a:ext cx="599042" cy="444789"/>
          </a:xfrm>
          <a:custGeom>
            <a:avLst/>
            <a:gdLst/>
            <a:ahLst/>
            <a:cxnLst/>
            <a:rect r="r" b="b" t="t" l="l"/>
            <a:pathLst>
              <a:path h="444789" w="599042">
                <a:moveTo>
                  <a:pt x="0" y="0"/>
                </a:moveTo>
                <a:lnTo>
                  <a:pt x="599041" y="0"/>
                </a:lnTo>
                <a:lnTo>
                  <a:pt x="599041" y="444789"/>
                </a:lnTo>
                <a:lnTo>
                  <a:pt x="0" y="44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773038" y="4684623"/>
            <a:ext cx="489766" cy="489766"/>
          </a:xfrm>
          <a:custGeom>
            <a:avLst/>
            <a:gdLst/>
            <a:ahLst/>
            <a:cxnLst/>
            <a:rect r="r" b="b" t="t" l="l"/>
            <a:pathLst>
              <a:path h="489766" w="489766">
                <a:moveTo>
                  <a:pt x="0" y="0"/>
                </a:moveTo>
                <a:lnTo>
                  <a:pt x="489767" y="0"/>
                </a:lnTo>
                <a:lnTo>
                  <a:pt x="489767" y="489767"/>
                </a:lnTo>
                <a:lnTo>
                  <a:pt x="0" y="4897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180187" y="9307847"/>
            <a:ext cx="469787" cy="463328"/>
          </a:xfrm>
          <a:custGeom>
            <a:avLst/>
            <a:gdLst/>
            <a:ahLst/>
            <a:cxnLst/>
            <a:rect r="r" b="b" t="t" l="l"/>
            <a:pathLst>
              <a:path h="463328" w="469787">
                <a:moveTo>
                  <a:pt x="0" y="0"/>
                </a:moveTo>
                <a:lnTo>
                  <a:pt x="469787" y="0"/>
                </a:lnTo>
                <a:lnTo>
                  <a:pt x="469787" y="463328"/>
                </a:lnTo>
                <a:lnTo>
                  <a:pt x="0" y="463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802486" y="9287819"/>
            <a:ext cx="524400" cy="522434"/>
          </a:xfrm>
          <a:custGeom>
            <a:avLst/>
            <a:gdLst/>
            <a:ahLst/>
            <a:cxnLst/>
            <a:rect r="r" b="b" t="t" l="l"/>
            <a:pathLst>
              <a:path h="522434" w="524400">
                <a:moveTo>
                  <a:pt x="0" y="0"/>
                </a:moveTo>
                <a:lnTo>
                  <a:pt x="524400" y="0"/>
                </a:lnTo>
                <a:lnTo>
                  <a:pt x="524400" y="522434"/>
                </a:lnTo>
                <a:lnTo>
                  <a:pt x="0" y="522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7254" y="1042714"/>
            <a:ext cx="353824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Como geramos valor?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77254" y="1930400"/>
            <a:ext cx="4971894" cy="373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C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riar valor público consiste em fornecer produtos e resultados oriundos das atividades de uma organização que atendam, de maneira eficaz e útil, às necessidades ou demandas de interesse público. Esse processo deve gerar mudanças significativas na</a:t>
            </a:r>
            <a:r>
              <a:rPr lang="en-US" sz="1299" u="none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s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ociedade</a:t>
            </a:r>
            <a:r>
              <a:rPr lang="en-US" sz="1299" u="none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o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u em grupos específicos reconhecidos como legítimos beneficiários de bens e serviços públicos, estabelecido pelo 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  <a:hlinkClick r:id="rId12" tooltip="https://www.planalto.gov.br/ccivil_03/_ato2015-2018/2017/decreto/d9203.htm"/>
              </a:rPr>
              <a:t>Decreto nº 9.203, de 22 de novembro de 2017</a:t>
            </a:r>
            <a:r>
              <a:rPr lang="en-US" sz="1299">
                <a:solidFill>
                  <a:srgbClr val="004686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Nesse cenário, geramos valor público através da regulação, supervisão e fiscalização dos serviços de transporte aquaviário e da infraestrutura portuária e hidroviária. Trabalhamos diariamente para transformar nossa atuação em benefícios concretos para o país, concentrando nossos esforços em:</a:t>
            </a:r>
          </a:p>
          <a:p>
            <a:pPr algn="l">
              <a:lnSpc>
                <a:spcPts val="2105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7716063" y="1398825"/>
            <a:ext cx="3398034" cy="2955147"/>
            <a:chOff x="0" y="0"/>
            <a:chExt cx="4530712" cy="3940196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19050"/>
              <a:ext cx="4530712" cy="600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47"/>
                </a:lnSpc>
              </a:pPr>
              <a:r>
                <a:rPr lang="en-US" b="true" sz="13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3" tooltip="https://www.gov.br/casacivil/pt-br/ocultadas/orgaos/seppi/sobre-o-programa"/>
                </a:rPr>
                <a:t>PR</a:t>
              </a:r>
              <a:r>
                <a:rPr lang="en-US" b="true" sz="13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4" tooltip="https://www.gov.br/casacivil/pt-br/ocultadas/orgaos/seppi/sobre-o-programa"/>
                </a:rPr>
                <a:t>OVER CONFIANÇA, PREVISIBILIDADE E TRANSPARÊNCIA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161" y="898123"/>
              <a:ext cx="4507551" cy="3042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9"/>
                </a:lnSpc>
              </a:pPr>
              <a:r>
                <a:rPr lang="en-US" sz="129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Fortalecem</a:t>
              </a:r>
              <a:r>
                <a:rPr lang="en-US" sz="129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os o ambiente regulatório ao estabelecermos regras claras e previsíveis. Por meio da elaboração e do monitoramento da nossa Agenda Regulatória, aliada a análises de impacto e consultas públicas, garantimos que a sociedade e os agentes regulados compreendam antecipadamente nossas prioridades e os fundamentos de nossas decisões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310219" y="1379775"/>
            <a:ext cx="3398034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5" tooltip="https://www.planalto.gov.br/ccivil_03/_ato2023-2026/2024/lei/L14802.htm"/>
              </a:rPr>
              <a:t>MITIGAR FALHAS DE MERCAD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6" tooltip="https://www.planalto.gov.br/ccivil_03/_ato2023-2026/2024/lei/L14802.htm"/>
              </a:rPr>
              <a:t>O E REDUZIR ASSIMETRIAS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27590" y="2062892"/>
            <a:ext cx="3380664" cy="160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tuamos para equilibrar o setor aquaviário ao disseminarmos estudos setoriais, dados abertos e indicadores de desempenho. Com essa transparência, permitimos que usuários, operadores e formuladores de políticas públicas tomem decisões mais informadas e seguras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04349" y="5987628"/>
            <a:ext cx="3398034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7" tooltip="http://www.planalto.gov.br/ccivil_03/_ato2011-2014/2013/Lei/L12815.htm"/>
              </a:rPr>
              <a:t>DISSEMIN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8" tooltip="http://www.planalto.gov.br/ccivil_03/_ato2011-2014/2013/Lei/L12815.htm"/>
              </a:rPr>
              <a:t>AR CONHECIMENTO A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QUAVIÁRIO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27590" y="6670745"/>
            <a:ext cx="3380664" cy="160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Produzimos e compartilhamos inteligência se</a:t>
            </a: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torial para subsidiar decisões governamentais, orientar o mercado regulado e ampliar a compreensão da sociedade sobre a importância e o funcionamento do sistema aquaviário nacional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5626" y="2407422"/>
            <a:ext cx="2206100" cy="2086688"/>
            <a:chOff x="0" y="0"/>
            <a:chExt cx="581030" cy="549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030" cy="549581"/>
            </a:xfrm>
            <a:custGeom>
              <a:avLst/>
              <a:gdLst/>
              <a:ahLst/>
              <a:cxnLst/>
              <a:rect r="r" b="b" t="t" l="l"/>
              <a:pathLst>
                <a:path h="549581" w="581030">
                  <a:moveTo>
                    <a:pt x="84224" y="0"/>
                  </a:moveTo>
                  <a:lnTo>
                    <a:pt x="496807" y="0"/>
                  </a:lnTo>
                  <a:cubicBezTo>
                    <a:pt x="543322" y="0"/>
                    <a:pt x="581030" y="37708"/>
                    <a:pt x="581030" y="84224"/>
                  </a:cubicBezTo>
                  <a:lnTo>
                    <a:pt x="581030" y="465357"/>
                  </a:lnTo>
                  <a:cubicBezTo>
                    <a:pt x="581030" y="511872"/>
                    <a:pt x="543322" y="549581"/>
                    <a:pt x="496807" y="549581"/>
                  </a:cubicBezTo>
                  <a:lnTo>
                    <a:pt x="84224" y="549581"/>
                  </a:lnTo>
                  <a:cubicBezTo>
                    <a:pt x="37708" y="549581"/>
                    <a:pt x="0" y="511872"/>
                    <a:pt x="0" y="465357"/>
                  </a:cubicBezTo>
                  <a:lnTo>
                    <a:pt x="0" y="84224"/>
                  </a:lnTo>
                  <a:cubicBezTo>
                    <a:pt x="0" y="37708"/>
                    <a:pt x="37708" y="0"/>
                    <a:pt x="84224" y="0"/>
                  </a:cubicBezTo>
                  <a:close/>
                </a:path>
              </a:pathLst>
            </a:custGeom>
            <a:ln w="47625" cap="rnd">
              <a:solidFill>
                <a:srgbClr val="FFB85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81030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Confiança, previsibilidade e transparência </a:t>
              </a:r>
              <a:r>
                <a:rPr lang="en-US" sz="1300">
                  <a:solidFill>
                    <a:srgbClr val="004C9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no ambiente regulatório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53200" y="2407422"/>
            <a:ext cx="2206100" cy="2086688"/>
            <a:chOff x="0" y="0"/>
            <a:chExt cx="581030" cy="5495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1030" cy="549581"/>
            </a:xfrm>
            <a:custGeom>
              <a:avLst/>
              <a:gdLst/>
              <a:ahLst/>
              <a:cxnLst/>
              <a:rect r="r" b="b" t="t" l="l"/>
              <a:pathLst>
                <a:path h="549581" w="581030">
                  <a:moveTo>
                    <a:pt x="84224" y="0"/>
                  </a:moveTo>
                  <a:lnTo>
                    <a:pt x="496807" y="0"/>
                  </a:lnTo>
                  <a:cubicBezTo>
                    <a:pt x="543322" y="0"/>
                    <a:pt x="581030" y="37708"/>
                    <a:pt x="581030" y="84224"/>
                  </a:cubicBezTo>
                  <a:lnTo>
                    <a:pt x="581030" y="465357"/>
                  </a:lnTo>
                  <a:cubicBezTo>
                    <a:pt x="581030" y="511872"/>
                    <a:pt x="543322" y="549581"/>
                    <a:pt x="496807" y="549581"/>
                  </a:cubicBezTo>
                  <a:lnTo>
                    <a:pt x="84224" y="549581"/>
                  </a:lnTo>
                  <a:cubicBezTo>
                    <a:pt x="37708" y="549581"/>
                    <a:pt x="0" y="511872"/>
                    <a:pt x="0" y="465357"/>
                  </a:cubicBezTo>
                  <a:lnTo>
                    <a:pt x="0" y="84224"/>
                  </a:lnTo>
                  <a:cubicBezTo>
                    <a:pt x="0" y="37708"/>
                    <a:pt x="37708" y="0"/>
                    <a:pt x="84224" y="0"/>
                  </a:cubicBezTo>
                  <a:close/>
                </a:path>
              </a:pathLst>
            </a:custGeom>
            <a:ln w="47625" cap="rnd">
              <a:solidFill>
                <a:srgbClr val="FFB85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581030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Mitigação de falhas de mercado e redução de assimetrias de informações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75626" y="7171612"/>
            <a:ext cx="2206100" cy="2086688"/>
            <a:chOff x="0" y="0"/>
            <a:chExt cx="581030" cy="5495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1030" cy="549581"/>
            </a:xfrm>
            <a:custGeom>
              <a:avLst/>
              <a:gdLst/>
              <a:ahLst/>
              <a:cxnLst/>
              <a:rect r="r" b="b" t="t" l="l"/>
              <a:pathLst>
                <a:path h="549581" w="581030">
                  <a:moveTo>
                    <a:pt x="84224" y="0"/>
                  </a:moveTo>
                  <a:lnTo>
                    <a:pt x="496807" y="0"/>
                  </a:lnTo>
                  <a:cubicBezTo>
                    <a:pt x="543322" y="0"/>
                    <a:pt x="581030" y="37708"/>
                    <a:pt x="581030" y="84224"/>
                  </a:cubicBezTo>
                  <a:lnTo>
                    <a:pt x="581030" y="465357"/>
                  </a:lnTo>
                  <a:cubicBezTo>
                    <a:pt x="581030" y="511872"/>
                    <a:pt x="543322" y="549581"/>
                    <a:pt x="496807" y="549581"/>
                  </a:cubicBezTo>
                  <a:lnTo>
                    <a:pt x="84224" y="549581"/>
                  </a:lnTo>
                  <a:cubicBezTo>
                    <a:pt x="37708" y="549581"/>
                    <a:pt x="0" y="511872"/>
                    <a:pt x="0" y="465357"/>
                  </a:cubicBezTo>
                  <a:lnTo>
                    <a:pt x="0" y="84224"/>
                  </a:lnTo>
                  <a:cubicBezTo>
                    <a:pt x="0" y="37708"/>
                    <a:pt x="37708" y="0"/>
                    <a:pt x="84224" y="0"/>
                  </a:cubicBezTo>
                  <a:close/>
                </a:path>
              </a:pathLst>
            </a:custGeom>
            <a:ln w="47625" cap="rnd">
              <a:solidFill>
                <a:srgbClr val="71408C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81030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Transparência, integridade, cooperação, equidade e sustentabilidade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75626" y="4807925"/>
            <a:ext cx="2206100" cy="2086688"/>
            <a:chOff x="0" y="0"/>
            <a:chExt cx="581030" cy="5495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1030" cy="549581"/>
            </a:xfrm>
            <a:custGeom>
              <a:avLst/>
              <a:gdLst/>
              <a:ahLst/>
              <a:cxnLst/>
              <a:rect r="r" b="b" t="t" l="l"/>
              <a:pathLst>
                <a:path h="549581" w="581030">
                  <a:moveTo>
                    <a:pt x="84224" y="0"/>
                  </a:moveTo>
                  <a:lnTo>
                    <a:pt x="496807" y="0"/>
                  </a:lnTo>
                  <a:cubicBezTo>
                    <a:pt x="543322" y="0"/>
                    <a:pt x="581030" y="37708"/>
                    <a:pt x="581030" y="84224"/>
                  </a:cubicBezTo>
                  <a:lnTo>
                    <a:pt x="581030" y="465357"/>
                  </a:lnTo>
                  <a:cubicBezTo>
                    <a:pt x="581030" y="511872"/>
                    <a:pt x="543322" y="549581"/>
                    <a:pt x="496807" y="549581"/>
                  </a:cubicBezTo>
                  <a:lnTo>
                    <a:pt x="84224" y="549581"/>
                  </a:lnTo>
                  <a:cubicBezTo>
                    <a:pt x="37708" y="549581"/>
                    <a:pt x="0" y="511872"/>
                    <a:pt x="0" y="465357"/>
                  </a:cubicBezTo>
                  <a:lnTo>
                    <a:pt x="0" y="84224"/>
                  </a:lnTo>
                  <a:cubicBezTo>
                    <a:pt x="0" y="37708"/>
                    <a:pt x="37708" y="0"/>
                    <a:pt x="84224" y="0"/>
                  </a:cubicBezTo>
                  <a:close/>
                </a:path>
              </a:pathLst>
            </a:custGeom>
            <a:ln w="47625" cap="rnd">
              <a:solidFill>
                <a:srgbClr val="FFB855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81030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Conhecimento para o desenvolvimento </a:t>
              </a:r>
              <a:r>
                <a:rPr lang="en-US" sz="1300">
                  <a:solidFill>
                    <a:srgbClr val="004C9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do setor aquaviário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4782" y="4807925"/>
            <a:ext cx="2214518" cy="2086688"/>
            <a:chOff x="0" y="0"/>
            <a:chExt cx="583248" cy="549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3248" cy="549581"/>
            </a:xfrm>
            <a:custGeom>
              <a:avLst/>
              <a:gdLst/>
              <a:ahLst/>
              <a:cxnLst/>
              <a:rect r="r" b="b" t="t" l="l"/>
              <a:pathLst>
                <a:path h="549581" w="583248">
                  <a:moveTo>
                    <a:pt x="83904" y="0"/>
                  </a:moveTo>
                  <a:lnTo>
                    <a:pt x="499344" y="0"/>
                  </a:lnTo>
                  <a:cubicBezTo>
                    <a:pt x="521597" y="0"/>
                    <a:pt x="542938" y="8840"/>
                    <a:pt x="558673" y="24575"/>
                  </a:cubicBezTo>
                  <a:cubicBezTo>
                    <a:pt x="574408" y="40310"/>
                    <a:pt x="583248" y="61651"/>
                    <a:pt x="583248" y="83904"/>
                  </a:cubicBezTo>
                  <a:lnTo>
                    <a:pt x="583248" y="465677"/>
                  </a:lnTo>
                  <a:cubicBezTo>
                    <a:pt x="583248" y="512016"/>
                    <a:pt x="545683" y="549581"/>
                    <a:pt x="499344" y="549581"/>
                  </a:cubicBezTo>
                  <a:lnTo>
                    <a:pt x="83904" y="549581"/>
                  </a:lnTo>
                  <a:cubicBezTo>
                    <a:pt x="37565" y="549581"/>
                    <a:pt x="0" y="512016"/>
                    <a:pt x="0" y="465677"/>
                  </a:cubicBezTo>
                  <a:lnTo>
                    <a:pt x="0" y="83904"/>
                  </a:lnTo>
                  <a:cubicBezTo>
                    <a:pt x="0" y="37565"/>
                    <a:pt x="37565" y="0"/>
                    <a:pt x="83904" y="0"/>
                  </a:cubicBezTo>
                  <a:close/>
                </a:path>
              </a:pathLst>
            </a:custGeom>
            <a:ln w="47625" cap="rnd">
              <a:solidFill>
                <a:srgbClr val="FFB855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83248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Oferta de serviços aquaviários eficientes e seguros, </a:t>
              </a:r>
              <a:r>
                <a:rPr lang="en-US" sz="1300">
                  <a:solidFill>
                    <a:srgbClr val="004C9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promovendo o desenvolvimento econômico e social de forma sustentável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053200" y="7171612"/>
            <a:ext cx="2206100" cy="2086688"/>
            <a:chOff x="0" y="0"/>
            <a:chExt cx="581030" cy="5495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1030" cy="549581"/>
            </a:xfrm>
            <a:custGeom>
              <a:avLst/>
              <a:gdLst/>
              <a:ahLst/>
              <a:cxnLst/>
              <a:rect r="r" b="b" t="t" l="l"/>
              <a:pathLst>
                <a:path h="549581" w="581030">
                  <a:moveTo>
                    <a:pt x="84224" y="0"/>
                  </a:moveTo>
                  <a:lnTo>
                    <a:pt x="496807" y="0"/>
                  </a:lnTo>
                  <a:cubicBezTo>
                    <a:pt x="543322" y="0"/>
                    <a:pt x="581030" y="37708"/>
                    <a:pt x="581030" y="84224"/>
                  </a:cubicBezTo>
                  <a:lnTo>
                    <a:pt x="581030" y="465357"/>
                  </a:lnTo>
                  <a:cubicBezTo>
                    <a:pt x="581030" y="511872"/>
                    <a:pt x="543322" y="549581"/>
                    <a:pt x="496807" y="549581"/>
                  </a:cubicBezTo>
                  <a:lnTo>
                    <a:pt x="84224" y="549581"/>
                  </a:lnTo>
                  <a:cubicBezTo>
                    <a:pt x="37708" y="549581"/>
                    <a:pt x="0" y="511872"/>
                    <a:pt x="0" y="465357"/>
                  </a:cubicBezTo>
                  <a:lnTo>
                    <a:pt x="0" y="84224"/>
                  </a:lnTo>
                  <a:cubicBezTo>
                    <a:pt x="0" y="37708"/>
                    <a:pt x="37708" y="0"/>
                    <a:pt x="84224" y="0"/>
                  </a:cubicBezTo>
                  <a:close/>
                </a:path>
              </a:pathLst>
            </a:custGeom>
            <a:ln w="47625" cap="rnd">
              <a:solidFill>
                <a:srgbClr val="70A73A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81030" cy="559105"/>
            </a:xfrm>
            <a:prstGeom prst="rect">
              <a:avLst/>
            </a:prstGeom>
          </p:spPr>
          <p:txBody>
            <a:bodyPr anchor="ctr" rtlCol="false" tIns="228600" lIns="228600" bIns="228600" rIns="228600"/>
            <a:lstStyle/>
            <a:p>
              <a:pPr algn="ctr">
                <a:lnSpc>
                  <a:spcPts val="1560"/>
                </a:lnSpc>
              </a:pPr>
              <a:r>
                <a:rPr lang="en-US" b="true" sz="13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Eficiência, capacitação, modernização e inovação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593814"/>
            <a:ext cx="11442549" cy="9693186"/>
            <a:chOff x="0" y="0"/>
            <a:chExt cx="3013675" cy="25529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13676" cy="2552938"/>
            </a:xfrm>
            <a:custGeom>
              <a:avLst/>
              <a:gdLst/>
              <a:ahLst/>
              <a:cxnLst/>
              <a:rect r="r" b="b" t="t" l="l"/>
              <a:pathLst>
                <a:path h="2552938" w="3013676">
                  <a:moveTo>
                    <a:pt x="0" y="0"/>
                  </a:moveTo>
                  <a:lnTo>
                    <a:pt x="3013676" y="0"/>
                  </a:lnTo>
                  <a:lnTo>
                    <a:pt x="3013676" y="2552938"/>
                  </a:lnTo>
                  <a:lnTo>
                    <a:pt x="0" y="2552938"/>
                  </a:lnTo>
                  <a:close/>
                </a:path>
              </a:pathLst>
            </a:custGeom>
            <a:solidFill>
              <a:srgbClr val="F2FA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013675" cy="2552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381374" y="5122680"/>
            <a:ext cx="1552623" cy="1624809"/>
            <a:chOff x="0" y="0"/>
            <a:chExt cx="776689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26288"/>
              <a:ext cx="758101" cy="760224"/>
            </a:xfrm>
            <a:custGeom>
              <a:avLst/>
              <a:gdLst/>
              <a:ahLst/>
              <a:cxnLst/>
              <a:rect r="r" b="b" t="t" l="l"/>
              <a:pathLst>
                <a:path h="760224" w="758101">
                  <a:moveTo>
                    <a:pt x="744956" y="348379"/>
                  </a:moveTo>
                  <a:lnTo>
                    <a:pt x="402022" y="5445"/>
                  </a:lnTo>
                  <a:cubicBezTo>
                    <a:pt x="396706" y="129"/>
                    <a:pt x="388711" y="-1462"/>
                    <a:pt x="381764" y="1415"/>
                  </a:cubicBezTo>
                  <a:cubicBezTo>
                    <a:pt x="374818" y="4293"/>
                    <a:pt x="370289" y="11071"/>
                    <a:pt x="370289" y="18589"/>
                  </a:cubicBezTo>
                  <a:lnTo>
                    <a:pt x="370289" y="132035"/>
                  </a:lnTo>
                  <a:cubicBezTo>
                    <a:pt x="370289" y="143937"/>
                    <a:pt x="365561" y="155352"/>
                    <a:pt x="357145" y="163768"/>
                  </a:cubicBezTo>
                  <a:cubicBezTo>
                    <a:pt x="348729" y="172184"/>
                    <a:pt x="337314" y="176912"/>
                    <a:pt x="325412" y="176912"/>
                  </a:cubicBezTo>
                  <a:lnTo>
                    <a:pt x="44877" y="176912"/>
                  </a:lnTo>
                  <a:cubicBezTo>
                    <a:pt x="32975" y="176912"/>
                    <a:pt x="21560" y="181640"/>
                    <a:pt x="13144" y="190056"/>
                  </a:cubicBezTo>
                  <a:cubicBezTo>
                    <a:pt x="4728" y="198472"/>
                    <a:pt x="0" y="209887"/>
                    <a:pt x="0" y="221789"/>
                  </a:cubicBezTo>
                  <a:lnTo>
                    <a:pt x="0" y="538435"/>
                  </a:lnTo>
                  <a:cubicBezTo>
                    <a:pt x="0" y="550337"/>
                    <a:pt x="4728" y="561752"/>
                    <a:pt x="13144" y="570168"/>
                  </a:cubicBezTo>
                  <a:cubicBezTo>
                    <a:pt x="21560" y="578584"/>
                    <a:pt x="32975" y="583312"/>
                    <a:pt x="44877" y="583312"/>
                  </a:cubicBezTo>
                  <a:lnTo>
                    <a:pt x="325412" y="583312"/>
                  </a:lnTo>
                  <a:cubicBezTo>
                    <a:pt x="350197" y="583312"/>
                    <a:pt x="370289" y="603404"/>
                    <a:pt x="370289" y="628189"/>
                  </a:cubicBezTo>
                  <a:lnTo>
                    <a:pt x="370289" y="741635"/>
                  </a:lnTo>
                  <a:cubicBezTo>
                    <a:pt x="370289" y="749153"/>
                    <a:pt x="374818" y="755931"/>
                    <a:pt x="381764" y="758809"/>
                  </a:cubicBezTo>
                  <a:cubicBezTo>
                    <a:pt x="388711" y="761686"/>
                    <a:pt x="396706" y="760095"/>
                    <a:pt x="402022" y="754779"/>
                  </a:cubicBezTo>
                  <a:lnTo>
                    <a:pt x="744956" y="411845"/>
                  </a:lnTo>
                  <a:cubicBezTo>
                    <a:pt x="753372" y="403429"/>
                    <a:pt x="758101" y="392014"/>
                    <a:pt x="758101" y="380112"/>
                  </a:cubicBezTo>
                  <a:cubicBezTo>
                    <a:pt x="758101" y="368210"/>
                    <a:pt x="753372" y="356795"/>
                    <a:pt x="744956" y="348379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03200"/>
              <a:ext cx="675089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4264259"/>
            <a:ext cx="9435705" cy="3636654"/>
            <a:chOff x="0" y="0"/>
            <a:chExt cx="2485124" cy="9578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5124" cy="957802"/>
            </a:xfrm>
            <a:custGeom>
              <a:avLst/>
              <a:gdLst/>
              <a:ahLst/>
              <a:cxnLst/>
              <a:rect r="r" b="b" t="t" l="l"/>
              <a:pathLst>
                <a:path h="957802" w="2485124">
                  <a:moveTo>
                    <a:pt x="41845" y="0"/>
                  </a:moveTo>
                  <a:lnTo>
                    <a:pt x="2443279" y="0"/>
                  </a:lnTo>
                  <a:cubicBezTo>
                    <a:pt x="2454377" y="0"/>
                    <a:pt x="2465020" y="4409"/>
                    <a:pt x="2472868" y="12256"/>
                  </a:cubicBezTo>
                  <a:cubicBezTo>
                    <a:pt x="2480715" y="20104"/>
                    <a:pt x="2485124" y="30747"/>
                    <a:pt x="2485124" y="41845"/>
                  </a:cubicBezTo>
                  <a:lnTo>
                    <a:pt x="2485124" y="915957"/>
                  </a:lnTo>
                  <a:cubicBezTo>
                    <a:pt x="2485124" y="927055"/>
                    <a:pt x="2480715" y="937698"/>
                    <a:pt x="2472868" y="945546"/>
                  </a:cubicBezTo>
                  <a:cubicBezTo>
                    <a:pt x="2465020" y="953393"/>
                    <a:pt x="2454377" y="957802"/>
                    <a:pt x="2443279" y="957802"/>
                  </a:cubicBezTo>
                  <a:lnTo>
                    <a:pt x="41845" y="957802"/>
                  </a:lnTo>
                  <a:cubicBezTo>
                    <a:pt x="30747" y="957802"/>
                    <a:pt x="20104" y="953393"/>
                    <a:pt x="12256" y="945546"/>
                  </a:cubicBezTo>
                  <a:cubicBezTo>
                    <a:pt x="4409" y="937698"/>
                    <a:pt x="0" y="927055"/>
                    <a:pt x="0" y="915957"/>
                  </a:cubicBezTo>
                  <a:lnTo>
                    <a:pt x="0" y="41845"/>
                  </a:lnTo>
                  <a:cubicBezTo>
                    <a:pt x="0" y="30747"/>
                    <a:pt x="4409" y="20104"/>
                    <a:pt x="12256" y="12256"/>
                  </a:cubicBezTo>
                  <a:cubicBezTo>
                    <a:pt x="20104" y="4409"/>
                    <a:pt x="30747" y="0"/>
                    <a:pt x="41845" y="0"/>
                  </a:cubicBezTo>
                  <a:close/>
                </a:path>
              </a:pathLst>
            </a:custGeom>
            <a:solidFill>
              <a:srgbClr val="F2FAFF"/>
            </a:solidFill>
            <a:ln w="9525" cap="rnd">
              <a:solidFill>
                <a:srgbClr val="004C98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485124" cy="95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5400000">
            <a:off x="2823658" y="4207598"/>
            <a:ext cx="1435036" cy="4114800"/>
          </a:xfrm>
          <a:custGeom>
            <a:avLst/>
            <a:gdLst/>
            <a:ahLst/>
            <a:cxnLst/>
            <a:rect r="r" b="b" t="t" l="l"/>
            <a:pathLst>
              <a:path h="4114800" w="1435036">
                <a:moveTo>
                  <a:pt x="0" y="0"/>
                </a:moveTo>
                <a:lnTo>
                  <a:pt x="1435036" y="0"/>
                </a:lnTo>
                <a:lnTo>
                  <a:pt x="14350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-5400000">
            <a:off x="6829686" y="4207598"/>
            <a:ext cx="1435036" cy="4114800"/>
          </a:xfrm>
          <a:custGeom>
            <a:avLst/>
            <a:gdLst/>
            <a:ahLst/>
            <a:cxnLst/>
            <a:rect r="r" b="b" t="t" l="l"/>
            <a:pathLst>
              <a:path h="4114800" w="1435036">
                <a:moveTo>
                  <a:pt x="1435036" y="0"/>
                </a:moveTo>
                <a:lnTo>
                  <a:pt x="0" y="0"/>
                </a:lnTo>
                <a:lnTo>
                  <a:pt x="0" y="4114800"/>
                </a:lnTo>
                <a:lnTo>
                  <a:pt x="1435036" y="4114800"/>
                </a:lnTo>
                <a:lnTo>
                  <a:pt x="14350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266880" y="5975356"/>
            <a:ext cx="528597" cy="579284"/>
          </a:xfrm>
          <a:custGeom>
            <a:avLst/>
            <a:gdLst/>
            <a:ahLst/>
            <a:cxnLst/>
            <a:rect r="r" b="b" t="t" l="l"/>
            <a:pathLst>
              <a:path h="579284" w="528597">
                <a:moveTo>
                  <a:pt x="0" y="0"/>
                </a:moveTo>
                <a:lnTo>
                  <a:pt x="528597" y="0"/>
                </a:lnTo>
                <a:lnTo>
                  <a:pt x="528597" y="579285"/>
                </a:lnTo>
                <a:lnTo>
                  <a:pt x="0" y="579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351795" y="5735484"/>
            <a:ext cx="1075204" cy="107520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0A73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633677" y="6009279"/>
            <a:ext cx="511439" cy="511439"/>
          </a:xfrm>
          <a:custGeom>
            <a:avLst/>
            <a:gdLst/>
            <a:ahLst/>
            <a:cxnLst/>
            <a:rect r="r" b="b" t="t" l="l"/>
            <a:pathLst>
              <a:path h="511439" w="511439">
                <a:moveTo>
                  <a:pt x="0" y="0"/>
                </a:moveTo>
                <a:lnTo>
                  <a:pt x="511439" y="0"/>
                </a:lnTo>
                <a:lnTo>
                  <a:pt x="511439" y="511439"/>
                </a:lnTo>
                <a:lnTo>
                  <a:pt x="0" y="511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622529" y="5975356"/>
            <a:ext cx="510494" cy="579284"/>
          </a:xfrm>
          <a:custGeom>
            <a:avLst/>
            <a:gdLst/>
            <a:ahLst/>
            <a:cxnLst/>
            <a:rect r="r" b="b" t="t" l="l"/>
            <a:pathLst>
              <a:path h="579284" w="510494">
                <a:moveTo>
                  <a:pt x="0" y="0"/>
                </a:moveTo>
                <a:lnTo>
                  <a:pt x="510494" y="0"/>
                </a:lnTo>
                <a:lnTo>
                  <a:pt x="510494" y="579285"/>
                </a:lnTo>
                <a:lnTo>
                  <a:pt x="0" y="5792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315979" y="5975356"/>
            <a:ext cx="450394" cy="579284"/>
          </a:xfrm>
          <a:custGeom>
            <a:avLst/>
            <a:gdLst/>
            <a:ahLst/>
            <a:cxnLst/>
            <a:rect r="r" b="b" t="t" l="l"/>
            <a:pathLst>
              <a:path h="579284" w="450394">
                <a:moveTo>
                  <a:pt x="0" y="0"/>
                </a:moveTo>
                <a:lnTo>
                  <a:pt x="450394" y="0"/>
                </a:lnTo>
                <a:lnTo>
                  <a:pt x="450394" y="579285"/>
                </a:lnTo>
                <a:lnTo>
                  <a:pt x="0" y="5792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37507" y="6045037"/>
            <a:ext cx="524890" cy="475681"/>
          </a:xfrm>
          <a:custGeom>
            <a:avLst/>
            <a:gdLst/>
            <a:ahLst/>
            <a:cxnLst/>
            <a:rect r="r" b="b" t="t" l="l"/>
            <a:pathLst>
              <a:path h="475681" w="524890">
                <a:moveTo>
                  <a:pt x="0" y="0"/>
                </a:moveTo>
                <a:lnTo>
                  <a:pt x="524890" y="0"/>
                </a:lnTo>
                <a:lnTo>
                  <a:pt x="524890" y="475681"/>
                </a:lnTo>
                <a:lnTo>
                  <a:pt x="0" y="4756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H="true">
            <a:off x="2190263" y="6982517"/>
            <a:ext cx="0" cy="296907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0" id="40"/>
          <p:cNvSpPr/>
          <p:nvPr/>
        </p:nvSpPr>
        <p:spPr>
          <a:xfrm>
            <a:off x="4877776" y="6982517"/>
            <a:ext cx="0" cy="296907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1" id="41"/>
          <p:cNvSpPr/>
          <p:nvPr/>
        </p:nvSpPr>
        <p:spPr>
          <a:xfrm>
            <a:off x="7556882" y="6982517"/>
            <a:ext cx="0" cy="296907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2" id="42"/>
          <p:cNvSpPr/>
          <p:nvPr/>
        </p:nvSpPr>
        <p:spPr>
          <a:xfrm flipV="true">
            <a:off x="3541176" y="5266748"/>
            <a:ext cx="0" cy="280732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3" id="43"/>
          <p:cNvSpPr/>
          <p:nvPr/>
        </p:nvSpPr>
        <p:spPr>
          <a:xfrm flipV="true">
            <a:off x="6201536" y="5266748"/>
            <a:ext cx="0" cy="280732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4" id="44"/>
          <p:cNvSpPr/>
          <p:nvPr/>
        </p:nvSpPr>
        <p:spPr>
          <a:xfrm flipV="true">
            <a:off x="8866006" y="5266748"/>
            <a:ext cx="0" cy="280732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934544" y="6009279"/>
            <a:ext cx="511439" cy="511439"/>
          </a:xfrm>
          <a:custGeom>
            <a:avLst/>
            <a:gdLst/>
            <a:ahLst/>
            <a:cxnLst/>
            <a:rect r="r" b="b" t="t" l="l"/>
            <a:pathLst>
              <a:path h="511439" w="511439">
                <a:moveTo>
                  <a:pt x="0" y="0"/>
                </a:moveTo>
                <a:lnTo>
                  <a:pt x="511439" y="0"/>
                </a:lnTo>
                <a:lnTo>
                  <a:pt x="511439" y="511439"/>
                </a:lnTo>
                <a:lnTo>
                  <a:pt x="0" y="5114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3351756" y="7653634"/>
            <a:ext cx="4791576" cy="447845"/>
            <a:chOff x="0" y="0"/>
            <a:chExt cx="1261979" cy="1179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61979" cy="117951"/>
            </a:xfrm>
            <a:custGeom>
              <a:avLst/>
              <a:gdLst/>
              <a:ahLst/>
              <a:cxnLst/>
              <a:rect r="r" b="b" t="t" l="l"/>
              <a:pathLst>
                <a:path h="117951" w="1261979">
                  <a:moveTo>
                    <a:pt x="24236" y="0"/>
                  </a:moveTo>
                  <a:lnTo>
                    <a:pt x="1237743" y="0"/>
                  </a:lnTo>
                  <a:cubicBezTo>
                    <a:pt x="1251128" y="0"/>
                    <a:pt x="1261979" y="10851"/>
                    <a:pt x="1261979" y="24236"/>
                  </a:cubicBezTo>
                  <a:lnTo>
                    <a:pt x="1261979" y="93715"/>
                  </a:lnTo>
                  <a:cubicBezTo>
                    <a:pt x="1261979" y="107100"/>
                    <a:pt x="1251128" y="117951"/>
                    <a:pt x="1237743" y="117951"/>
                  </a:cubicBezTo>
                  <a:lnTo>
                    <a:pt x="24236" y="117951"/>
                  </a:lnTo>
                  <a:cubicBezTo>
                    <a:pt x="10851" y="117951"/>
                    <a:pt x="0" y="107100"/>
                    <a:pt x="0" y="93715"/>
                  </a:cubicBezTo>
                  <a:lnTo>
                    <a:pt x="0" y="24236"/>
                  </a:lnTo>
                  <a:cubicBezTo>
                    <a:pt x="0" y="10851"/>
                    <a:pt x="10851" y="0"/>
                    <a:pt x="24236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261979" cy="117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3783542" y="7731189"/>
            <a:ext cx="3875465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Macroprocessos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67666" y="7269898"/>
            <a:ext cx="84519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Regulação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390066" y="7269898"/>
            <a:ext cx="9754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Fiscalização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510160" y="7269898"/>
            <a:ext cx="20934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Governança e estratégia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00360" y="5066723"/>
            <a:ext cx="68163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Outorga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79315" y="4685723"/>
            <a:ext cx="144444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Produção de conhecimento aquaviário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167332" y="5066723"/>
            <a:ext cx="139734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e suporte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4311206" y="8905024"/>
            <a:ext cx="2870693" cy="353276"/>
            <a:chOff x="0" y="0"/>
            <a:chExt cx="3827591" cy="471035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310254" y="0"/>
              <a:ext cx="3517337" cy="471035"/>
              <a:chOff x="0" y="0"/>
              <a:chExt cx="497245" cy="6659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97245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497245">
                    <a:moveTo>
                      <a:pt x="22928" y="0"/>
                    </a:moveTo>
                    <a:lnTo>
                      <a:pt x="474317" y="0"/>
                    </a:lnTo>
                    <a:cubicBezTo>
                      <a:pt x="480398" y="0"/>
                      <a:pt x="486230" y="2416"/>
                      <a:pt x="490530" y="6715"/>
                    </a:cubicBezTo>
                    <a:cubicBezTo>
                      <a:pt x="494830" y="11015"/>
                      <a:pt x="497245" y="16847"/>
                      <a:pt x="497245" y="22928"/>
                    </a:cubicBezTo>
                    <a:lnTo>
                      <a:pt x="497245" y="43662"/>
                    </a:lnTo>
                    <a:cubicBezTo>
                      <a:pt x="497245" y="49743"/>
                      <a:pt x="494830" y="55575"/>
                      <a:pt x="490530" y="59875"/>
                    </a:cubicBezTo>
                    <a:cubicBezTo>
                      <a:pt x="486230" y="64175"/>
                      <a:pt x="480398" y="66590"/>
                      <a:pt x="474317" y="66590"/>
                    </a:cubicBezTo>
                    <a:lnTo>
                      <a:pt x="22928" y="66590"/>
                    </a:lnTo>
                    <a:cubicBezTo>
                      <a:pt x="10265" y="66590"/>
                      <a:pt x="0" y="56325"/>
                      <a:pt x="0" y="43662"/>
                    </a:cubicBezTo>
                    <a:lnTo>
                      <a:pt x="0" y="22928"/>
                    </a:lnTo>
                    <a:cubicBezTo>
                      <a:pt x="0" y="16847"/>
                      <a:pt x="2416" y="11015"/>
                      <a:pt x="6715" y="6715"/>
                    </a:cubicBezTo>
                    <a:cubicBezTo>
                      <a:pt x="11015" y="2416"/>
                      <a:pt x="16847" y="0"/>
                      <a:pt x="22928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497245" cy="85640"/>
              </a:xfrm>
              <a:prstGeom prst="rect">
                <a:avLst/>
              </a:prstGeom>
            </p:spPr>
            <p:txBody>
              <a:bodyPr anchor="ctr" rtlCol="false" tIns="165100" lIns="165100" bIns="165100" rIns="165100"/>
              <a:lstStyle/>
              <a:p>
                <a:pPr algn="ctr">
                  <a:lnSpc>
                    <a:spcPts val="153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0"/>
              <a:ext cx="3341769" cy="471035"/>
              <a:chOff x="0" y="0"/>
              <a:chExt cx="472425" cy="6659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472425" cy="66590"/>
              </a:xfrm>
              <a:custGeom>
                <a:avLst/>
                <a:gdLst/>
                <a:ahLst/>
                <a:cxnLst/>
                <a:rect r="r" b="b" t="t" l="l"/>
                <a:pathLst>
                  <a:path h="66590" w="472425">
                    <a:moveTo>
                      <a:pt x="21719" y="0"/>
                    </a:moveTo>
                    <a:lnTo>
                      <a:pt x="450706" y="0"/>
                    </a:lnTo>
                    <a:cubicBezTo>
                      <a:pt x="456466" y="0"/>
                      <a:pt x="461991" y="2288"/>
                      <a:pt x="466064" y="6361"/>
                    </a:cubicBezTo>
                    <a:cubicBezTo>
                      <a:pt x="470137" y="10435"/>
                      <a:pt x="472425" y="15959"/>
                      <a:pt x="472425" y="21719"/>
                    </a:cubicBezTo>
                    <a:lnTo>
                      <a:pt x="472425" y="44871"/>
                    </a:lnTo>
                    <a:cubicBezTo>
                      <a:pt x="472425" y="50631"/>
                      <a:pt x="470137" y="56156"/>
                      <a:pt x="466064" y="60229"/>
                    </a:cubicBezTo>
                    <a:cubicBezTo>
                      <a:pt x="461991" y="64302"/>
                      <a:pt x="456466" y="66590"/>
                      <a:pt x="450706" y="66590"/>
                    </a:cubicBezTo>
                    <a:lnTo>
                      <a:pt x="21719" y="66590"/>
                    </a:lnTo>
                    <a:cubicBezTo>
                      <a:pt x="15959" y="66590"/>
                      <a:pt x="10435" y="64302"/>
                      <a:pt x="6361" y="60229"/>
                    </a:cubicBezTo>
                    <a:cubicBezTo>
                      <a:pt x="2288" y="56156"/>
                      <a:pt x="0" y="50631"/>
                      <a:pt x="0" y="44871"/>
                    </a:cubicBezTo>
                    <a:lnTo>
                      <a:pt x="0" y="21719"/>
                    </a:lnTo>
                    <a:cubicBezTo>
                      <a:pt x="0" y="15959"/>
                      <a:pt x="2288" y="10435"/>
                      <a:pt x="6361" y="6361"/>
                    </a:cubicBezTo>
                    <a:cubicBezTo>
                      <a:pt x="10435" y="2288"/>
                      <a:pt x="15959" y="0"/>
                      <a:pt x="217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19050"/>
                <a:ext cx="472425" cy="85640"/>
              </a:xfrm>
              <a:prstGeom prst="rect">
                <a:avLst/>
              </a:prstGeom>
            </p:spPr>
            <p:txBody>
              <a:bodyPr anchor="ctr" rtlCol="false" tIns="76200" lIns="76200" bIns="76200" rIns="76200"/>
              <a:lstStyle/>
              <a:p>
                <a:pPr algn="ctr">
                  <a:lnSpc>
                    <a:spcPts val="1399"/>
                  </a:lnSpc>
                </a:pPr>
                <a:r>
                  <a:rPr lang="en-US" sz="999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  <a:hlinkClick r:id="rId18" tooltip="https://www.gov.br/antaq/pt-br/assuntos/gestao-estrategica/cadeia-de-valor"/>
                  </a:rPr>
                  <a:t>Acesse a cadeia de valor na íntegra</a:t>
                </a: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0">
              <a:off x="3427726" y="134818"/>
              <a:ext cx="201399" cy="201399"/>
            </a:xfrm>
            <a:custGeom>
              <a:avLst/>
              <a:gdLst/>
              <a:ahLst/>
              <a:cxnLst/>
              <a:rect r="r" b="b" t="t" l="l"/>
              <a:pathLst>
                <a:path h="201399" w="201399">
                  <a:moveTo>
                    <a:pt x="0" y="0"/>
                  </a:moveTo>
                  <a:lnTo>
                    <a:pt x="201399" y="0"/>
                  </a:lnTo>
                  <a:lnTo>
                    <a:pt x="201399" y="201399"/>
                  </a:lnTo>
                  <a:lnTo>
                    <a:pt x="0" y="201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808241" y="3201548"/>
            <a:ext cx="2478879" cy="819034"/>
            <a:chOff x="0" y="0"/>
            <a:chExt cx="652874" cy="21571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2874" cy="215713"/>
            </a:xfrm>
            <a:custGeom>
              <a:avLst/>
              <a:gdLst/>
              <a:ahLst/>
              <a:cxnLst/>
              <a:rect r="r" b="b" t="t" l="l"/>
              <a:pathLst>
                <a:path h="215713" w="652874">
                  <a:moveTo>
                    <a:pt x="56217" y="0"/>
                  </a:moveTo>
                  <a:lnTo>
                    <a:pt x="596657" y="0"/>
                  </a:lnTo>
                  <a:cubicBezTo>
                    <a:pt x="611566" y="0"/>
                    <a:pt x="625865" y="5923"/>
                    <a:pt x="636408" y="16466"/>
                  </a:cubicBezTo>
                  <a:cubicBezTo>
                    <a:pt x="646951" y="27008"/>
                    <a:pt x="652874" y="41307"/>
                    <a:pt x="652874" y="56217"/>
                  </a:cubicBezTo>
                  <a:lnTo>
                    <a:pt x="652874" y="159496"/>
                  </a:lnTo>
                  <a:cubicBezTo>
                    <a:pt x="652874" y="174406"/>
                    <a:pt x="646951" y="188704"/>
                    <a:pt x="636408" y="199247"/>
                  </a:cubicBezTo>
                  <a:cubicBezTo>
                    <a:pt x="625865" y="209790"/>
                    <a:pt x="611566" y="215713"/>
                    <a:pt x="596657" y="215713"/>
                  </a:cubicBezTo>
                  <a:lnTo>
                    <a:pt x="56217" y="215713"/>
                  </a:lnTo>
                  <a:cubicBezTo>
                    <a:pt x="41307" y="215713"/>
                    <a:pt x="27008" y="209790"/>
                    <a:pt x="16466" y="199247"/>
                  </a:cubicBezTo>
                  <a:cubicBezTo>
                    <a:pt x="5923" y="188704"/>
                    <a:pt x="0" y="174406"/>
                    <a:pt x="0" y="159496"/>
                  </a:cubicBezTo>
                  <a:lnTo>
                    <a:pt x="0" y="56217"/>
                  </a:lnTo>
                  <a:cubicBezTo>
                    <a:pt x="0" y="41307"/>
                    <a:pt x="5923" y="27008"/>
                    <a:pt x="16466" y="16466"/>
                  </a:cubicBezTo>
                  <a:cubicBezTo>
                    <a:pt x="27008" y="5923"/>
                    <a:pt x="41307" y="0"/>
                    <a:pt x="56217" y="0"/>
                  </a:cubicBezTo>
                  <a:close/>
                </a:path>
              </a:pathLst>
            </a:custGeom>
            <a:solidFill>
              <a:srgbClr val="FEB856">
                <a:alpha val="71765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652874" cy="244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705567" y="1546186"/>
            <a:ext cx="432379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Valores públicos gerados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14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94465" y="1062543"/>
            <a:ext cx="518021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Cadeia de valor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4508104" y="3201548"/>
            <a:ext cx="2478879" cy="819034"/>
            <a:chOff x="0" y="0"/>
            <a:chExt cx="652874" cy="21571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2874" cy="215713"/>
            </a:xfrm>
            <a:custGeom>
              <a:avLst/>
              <a:gdLst/>
              <a:ahLst/>
              <a:cxnLst/>
              <a:rect r="r" b="b" t="t" l="l"/>
              <a:pathLst>
                <a:path h="215713" w="652874">
                  <a:moveTo>
                    <a:pt x="56217" y="0"/>
                  </a:moveTo>
                  <a:lnTo>
                    <a:pt x="596657" y="0"/>
                  </a:lnTo>
                  <a:cubicBezTo>
                    <a:pt x="611566" y="0"/>
                    <a:pt x="625865" y="5923"/>
                    <a:pt x="636408" y="16466"/>
                  </a:cubicBezTo>
                  <a:cubicBezTo>
                    <a:pt x="646951" y="27008"/>
                    <a:pt x="652874" y="41307"/>
                    <a:pt x="652874" y="56217"/>
                  </a:cubicBezTo>
                  <a:lnTo>
                    <a:pt x="652874" y="159496"/>
                  </a:lnTo>
                  <a:cubicBezTo>
                    <a:pt x="652874" y="174406"/>
                    <a:pt x="646951" y="188704"/>
                    <a:pt x="636408" y="199247"/>
                  </a:cubicBezTo>
                  <a:cubicBezTo>
                    <a:pt x="625865" y="209790"/>
                    <a:pt x="611566" y="215713"/>
                    <a:pt x="596657" y="215713"/>
                  </a:cubicBezTo>
                  <a:lnTo>
                    <a:pt x="56217" y="215713"/>
                  </a:lnTo>
                  <a:cubicBezTo>
                    <a:pt x="41307" y="215713"/>
                    <a:pt x="27008" y="209790"/>
                    <a:pt x="16466" y="199247"/>
                  </a:cubicBezTo>
                  <a:cubicBezTo>
                    <a:pt x="5923" y="188704"/>
                    <a:pt x="0" y="174406"/>
                    <a:pt x="0" y="159496"/>
                  </a:cubicBezTo>
                  <a:lnTo>
                    <a:pt x="0" y="56217"/>
                  </a:lnTo>
                  <a:cubicBezTo>
                    <a:pt x="0" y="41307"/>
                    <a:pt x="5923" y="27008"/>
                    <a:pt x="16466" y="16466"/>
                  </a:cubicBezTo>
                  <a:cubicBezTo>
                    <a:pt x="27008" y="5923"/>
                    <a:pt x="41307" y="0"/>
                    <a:pt x="56217" y="0"/>
                  </a:cubicBezTo>
                  <a:close/>
                </a:path>
              </a:pathLst>
            </a:custGeom>
            <a:solidFill>
              <a:srgbClr val="71408C">
                <a:alpha val="71765"/>
              </a:srgbClr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652874" cy="244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207966" y="3201548"/>
            <a:ext cx="2478879" cy="819034"/>
            <a:chOff x="0" y="0"/>
            <a:chExt cx="652874" cy="21571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2874" cy="215713"/>
            </a:xfrm>
            <a:custGeom>
              <a:avLst/>
              <a:gdLst/>
              <a:ahLst/>
              <a:cxnLst/>
              <a:rect r="r" b="b" t="t" l="l"/>
              <a:pathLst>
                <a:path h="215713" w="652874">
                  <a:moveTo>
                    <a:pt x="56217" y="0"/>
                  </a:moveTo>
                  <a:lnTo>
                    <a:pt x="596657" y="0"/>
                  </a:lnTo>
                  <a:cubicBezTo>
                    <a:pt x="611566" y="0"/>
                    <a:pt x="625865" y="5923"/>
                    <a:pt x="636408" y="16466"/>
                  </a:cubicBezTo>
                  <a:cubicBezTo>
                    <a:pt x="646951" y="27008"/>
                    <a:pt x="652874" y="41307"/>
                    <a:pt x="652874" y="56217"/>
                  </a:cubicBezTo>
                  <a:lnTo>
                    <a:pt x="652874" y="159496"/>
                  </a:lnTo>
                  <a:cubicBezTo>
                    <a:pt x="652874" y="174406"/>
                    <a:pt x="646951" y="188704"/>
                    <a:pt x="636408" y="199247"/>
                  </a:cubicBezTo>
                  <a:cubicBezTo>
                    <a:pt x="625865" y="209790"/>
                    <a:pt x="611566" y="215713"/>
                    <a:pt x="596657" y="215713"/>
                  </a:cubicBezTo>
                  <a:lnTo>
                    <a:pt x="56217" y="215713"/>
                  </a:lnTo>
                  <a:cubicBezTo>
                    <a:pt x="41307" y="215713"/>
                    <a:pt x="27008" y="209790"/>
                    <a:pt x="16466" y="199247"/>
                  </a:cubicBezTo>
                  <a:cubicBezTo>
                    <a:pt x="5923" y="188704"/>
                    <a:pt x="0" y="174406"/>
                    <a:pt x="0" y="159496"/>
                  </a:cubicBezTo>
                  <a:lnTo>
                    <a:pt x="0" y="56217"/>
                  </a:lnTo>
                  <a:cubicBezTo>
                    <a:pt x="0" y="41307"/>
                    <a:pt x="5923" y="27008"/>
                    <a:pt x="16466" y="16466"/>
                  </a:cubicBezTo>
                  <a:cubicBezTo>
                    <a:pt x="27008" y="5923"/>
                    <a:pt x="41307" y="0"/>
                    <a:pt x="56217" y="0"/>
                  </a:cubicBezTo>
                  <a:close/>
                </a:path>
              </a:pathLst>
            </a:custGeom>
            <a:solidFill>
              <a:srgbClr val="70A73A">
                <a:alpha val="71765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652874" cy="244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535259" y="2510027"/>
            <a:ext cx="4422587" cy="447845"/>
            <a:chOff x="0" y="0"/>
            <a:chExt cx="1164797" cy="11795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64797" cy="117951"/>
            </a:xfrm>
            <a:custGeom>
              <a:avLst/>
              <a:gdLst/>
              <a:ahLst/>
              <a:cxnLst/>
              <a:rect r="r" b="b" t="t" l="l"/>
              <a:pathLst>
                <a:path h="117951" w="1164797">
                  <a:moveTo>
                    <a:pt x="26258" y="0"/>
                  </a:moveTo>
                  <a:lnTo>
                    <a:pt x="1138539" y="0"/>
                  </a:lnTo>
                  <a:cubicBezTo>
                    <a:pt x="1153040" y="0"/>
                    <a:pt x="1164797" y="11756"/>
                    <a:pt x="1164797" y="26258"/>
                  </a:cubicBezTo>
                  <a:lnTo>
                    <a:pt x="1164797" y="91693"/>
                  </a:lnTo>
                  <a:cubicBezTo>
                    <a:pt x="1164797" y="106195"/>
                    <a:pt x="1153040" y="117951"/>
                    <a:pt x="1138539" y="117951"/>
                  </a:cubicBezTo>
                  <a:lnTo>
                    <a:pt x="26258" y="117951"/>
                  </a:lnTo>
                  <a:cubicBezTo>
                    <a:pt x="11756" y="117951"/>
                    <a:pt x="0" y="106195"/>
                    <a:pt x="0" y="91693"/>
                  </a:cubicBezTo>
                  <a:lnTo>
                    <a:pt x="0" y="26258"/>
                  </a:lnTo>
                  <a:cubicBezTo>
                    <a:pt x="0" y="11756"/>
                    <a:pt x="11756" y="0"/>
                    <a:pt x="26258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164797" cy="117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3956559" y="2594429"/>
            <a:ext cx="357702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Classificação dos macroprocessos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541562" y="3503943"/>
            <a:ext cx="10958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Finalísticos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220318" y="3408693"/>
            <a:ext cx="112336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Governança e estratégia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941288" y="3408693"/>
            <a:ext cx="101223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e suporte</a:t>
            </a:r>
          </a:p>
        </p:txBody>
      </p:sp>
      <p:sp>
        <p:nvSpPr>
          <p:cNvPr name="Freeform 83" id="83"/>
          <p:cNvSpPr/>
          <p:nvPr/>
        </p:nvSpPr>
        <p:spPr>
          <a:xfrm>
            <a:off x="3047680" y="2733949"/>
            <a:ext cx="487578" cy="467599"/>
          </a:xfrm>
          <a:custGeom>
            <a:avLst/>
            <a:gdLst/>
            <a:ahLst/>
            <a:cxnLst/>
            <a:rect r="r" b="b" t="t" l="l"/>
            <a:pathLst>
              <a:path h="467599" w="487578">
                <a:moveTo>
                  <a:pt x="0" y="467599"/>
                </a:moveTo>
                <a:lnTo>
                  <a:pt x="0" y="209550"/>
                </a:lnTo>
                <a:cubicBezTo>
                  <a:pt x="0" y="153974"/>
                  <a:pt x="22078" y="100674"/>
                  <a:pt x="61376" y="61376"/>
                </a:cubicBezTo>
                <a:cubicBezTo>
                  <a:pt x="100675" y="22078"/>
                  <a:pt x="153974" y="0"/>
                  <a:pt x="209551" y="0"/>
                </a:cubicBezTo>
                <a:lnTo>
                  <a:pt x="487579" y="0"/>
                </a:lnTo>
              </a:path>
            </a:pathLst>
          </a:custGeom>
          <a:ln cap="flat" w="9525">
            <a:solidFill>
              <a:srgbClr val="D2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4" id="84"/>
          <p:cNvSpPr/>
          <p:nvPr/>
        </p:nvSpPr>
        <p:spPr>
          <a:xfrm>
            <a:off x="7957846" y="2733949"/>
            <a:ext cx="489560" cy="467599"/>
          </a:xfrm>
          <a:custGeom>
            <a:avLst/>
            <a:gdLst/>
            <a:ahLst/>
            <a:cxnLst/>
            <a:rect r="r" b="b" t="t" l="l"/>
            <a:pathLst>
              <a:path h="467599" w="489560">
                <a:moveTo>
                  <a:pt x="489560" y="467599"/>
                </a:moveTo>
                <a:lnTo>
                  <a:pt x="489560" y="209550"/>
                </a:lnTo>
                <a:cubicBezTo>
                  <a:pt x="489560" y="93819"/>
                  <a:pt x="395741" y="0"/>
                  <a:pt x="280010" y="0"/>
                </a:cubicBezTo>
                <a:lnTo>
                  <a:pt x="0" y="0"/>
                </a:lnTo>
              </a:path>
            </a:pathLst>
          </a:custGeom>
          <a:ln cap="flat" w="9525">
            <a:solidFill>
              <a:srgbClr val="D2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 flipV="true">
            <a:off x="5746552" y="2957871"/>
            <a:ext cx="991" cy="243677"/>
          </a:xfrm>
          <a:prstGeom prst="line">
            <a:avLst/>
          </a:prstGeom>
          <a:ln cap="flat" w="9525">
            <a:solidFill>
              <a:srgbClr val="D2D7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6" id="86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16621" y="1494686"/>
            <a:ext cx="9129410" cy="1215938"/>
            <a:chOff x="0" y="0"/>
            <a:chExt cx="12172547" cy="162125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214816"/>
              <a:ext cx="3387313" cy="651642"/>
              <a:chOff x="0" y="0"/>
              <a:chExt cx="669099" cy="12871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9099" cy="128719"/>
              </a:xfrm>
              <a:custGeom>
                <a:avLst/>
                <a:gdLst/>
                <a:ahLst/>
                <a:cxnLst/>
                <a:rect r="r" b="b" t="t" l="l"/>
                <a:pathLst>
                  <a:path h="128719" w="669099">
                    <a:moveTo>
                      <a:pt x="42664" y="0"/>
                    </a:moveTo>
                    <a:lnTo>
                      <a:pt x="626435" y="0"/>
                    </a:lnTo>
                    <a:cubicBezTo>
                      <a:pt x="637750" y="0"/>
                      <a:pt x="648602" y="4495"/>
                      <a:pt x="656603" y="12496"/>
                    </a:cubicBezTo>
                    <a:cubicBezTo>
                      <a:pt x="664604" y="20497"/>
                      <a:pt x="669099" y="31349"/>
                      <a:pt x="669099" y="42664"/>
                    </a:cubicBezTo>
                    <a:lnTo>
                      <a:pt x="669099" y="86056"/>
                    </a:lnTo>
                    <a:cubicBezTo>
                      <a:pt x="669099" y="97371"/>
                      <a:pt x="664604" y="108222"/>
                      <a:pt x="656603" y="116224"/>
                    </a:cubicBezTo>
                    <a:cubicBezTo>
                      <a:pt x="648602" y="124225"/>
                      <a:pt x="637750" y="128719"/>
                      <a:pt x="626435" y="128719"/>
                    </a:cubicBezTo>
                    <a:lnTo>
                      <a:pt x="42664" y="128719"/>
                    </a:lnTo>
                    <a:cubicBezTo>
                      <a:pt x="31349" y="128719"/>
                      <a:pt x="20497" y="124225"/>
                      <a:pt x="12496" y="116224"/>
                    </a:cubicBezTo>
                    <a:cubicBezTo>
                      <a:pt x="4495" y="108222"/>
                      <a:pt x="0" y="97371"/>
                      <a:pt x="0" y="86056"/>
                    </a:cubicBezTo>
                    <a:lnTo>
                      <a:pt x="0" y="42664"/>
                    </a:lnTo>
                    <a:cubicBezTo>
                      <a:pt x="0" y="31349"/>
                      <a:pt x="4495" y="20497"/>
                      <a:pt x="12496" y="12496"/>
                    </a:cubicBezTo>
                    <a:cubicBezTo>
                      <a:pt x="20497" y="4495"/>
                      <a:pt x="31349" y="0"/>
                      <a:pt x="42664" y="0"/>
                    </a:cubicBezTo>
                    <a:close/>
                  </a:path>
                </a:pathLst>
              </a:custGeom>
              <a:solidFill>
                <a:srgbClr val="004C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9099" cy="166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  <a:r>
                  <a:rPr lang="en-US" b="true" sz="1299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Classificação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41361" y="0"/>
              <a:ext cx="4096173" cy="1621250"/>
              <a:chOff x="0" y="0"/>
              <a:chExt cx="809121" cy="3202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09121" cy="320247"/>
              </a:xfrm>
              <a:custGeom>
                <a:avLst/>
                <a:gdLst/>
                <a:ahLst/>
                <a:cxnLst/>
                <a:rect r="r" b="b" t="t" l="l"/>
                <a:pathLst>
                  <a:path h="320247" w="809121">
                    <a:moveTo>
                      <a:pt x="35281" y="0"/>
                    </a:moveTo>
                    <a:lnTo>
                      <a:pt x="773840" y="0"/>
                    </a:lnTo>
                    <a:cubicBezTo>
                      <a:pt x="783197" y="0"/>
                      <a:pt x="792171" y="3717"/>
                      <a:pt x="798787" y="10333"/>
                    </a:cubicBezTo>
                    <a:cubicBezTo>
                      <a:pt x="805404" y="16950"/>
                      <a:pt x="809121" y="25924"/>
                      <a:pt x="809121" y="35281"/>
                    </a:cubicBezTo>
                    <a:lnTo>
                      <a:pt x="809121" y="284966"/>
                    </a:lnTo>
                    <a:cubicBezTo>
                      <a:pt x="809121" y="294323"/>
                      <a:pt x="805404" y="303297"/>
                      <a:pt x="798787" y="309914"/>
                    </a:cubicBezTo>
                    <a:cubicBezTo>
                      <a:pt x="792171" y="316530"/>
                      <a:pt x="783197" y="320247"/>
                      <a:pt x="773840" y="320247"/>
                    </a:cubicBezTo>
                    <a:lnTo>
                      <a:pt x="35281" y="320247"/>
                    </a:lnTo>
                    <a:cubicBezTo>
                      <a:pt x="25924" y="320247"/>
                      <a:pt x="16950" y="316530"/>
                      <a:pt x="10333" y="309914"/>
                    </a:cubicBezTo>
                    <a:cubicBezTo>
                      <a:pt x="3717" y="303297"/>
                      <a:pt x="0" y="294323"/>
                      <a:pt x="0" y="284966"/>
                    </a:cubicBezTo>
                    <a:lnTo>
                      <a:pt x="0" y="35281"/>
                    </a:lnTo>
                    <a:cubicBezTo>
                      <a:pt x="0" y="25924"/>
                      <a:pt x="3717" y="16950"/>
                      <a:pt x="10333" y="10333"/>
                    </a:cubicBezTo>
                    <a:cubicBezTo>
                      <a:pt x="16950" y="3717"/>
                      <a:pt x="25924" y="0"/>
                      <a:pt x="35281" y="0"/>
                    </a:cubicBezTo>
                    <a:close/>
                  </a:path>
                </a:pathLst>
              </a:custGeom>
              <a:solidFill>
                <a:srgbClr val="F2FAFF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09121" cy="358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3387313" y="540637"/>
              <a:ext cx="5507465" cy="0"/>
            </a:xfrm>
            <a:prstGeom prst="line">
              <a:avLst/>
            </a:prstGeom>
            <a:ln cap="flat" w="12700">
              <a:solidFill>
                <a:srgbClr val="004C9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4395791" y="214816"/>
              <a:ext cx="3387313" cy="651642"/>
              <a:chOff x="0" y="0"/>
              <a:chExt cx="669099" cy="12871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9099" cy="128719"/>
              </a:xfrm>
              <a:custGeom>
                <a:avLst/>
                <a:gdLst/>
                <a:ahLst/>
                <a:cxnLst/>
                <a:rect r="r" b="b" t="t" l="l"/>
                <a:pathLst>
                  <a:path h="128719" w="669099">
                    <a:moveTo>
                      <a:pt x="42664" y="0"/>
                    </a:moveTo>
                    <a:lnTo>
                      <a:pt x="626435" y="0"/>
                    </a:lnTo>
                    <a:cubicBezTo>
                      <a:pt x="637750" y="0"/>
                      <a:pt x="648602" y="4495"/>
                      <a:pt x="656603" y="12496"/>
                    </a:cubicBezTo>
                    <a:cubicBezTo>
                      <a:pt x="664604" y="20497"/>
                      <a:pt x="669099" y="31349"/>
                      <a:pt x="669099" y="42664"/>
                    </a:cubicBezTo>
                    <a:lnTo>
                      <a:pt x="669099" y="86056"/>
                    </a:lnTo>
                    <a:cubicBezTo>
                      <a:pt x="669099" y="97371"/>
                      <a:pt x="664604" y="108222"/>
                      <a:pt x="656603" y="116224"/>
                    </a:cubicBezTo>
                    <a:cubicBezTo>
                      <a:pt x="648602" y="124225"/>
                      <a:pt x="637750" y="128719"/>
                      <a:pt x="626435" y="128719"/>
                    </a:cubicBezTo>
                    <a:lnTo>
                      <a:pt x="42664" y="128719"/>
                    </a:lnTo>
                    <a:cubicBezTo>
                      <a:pt x="31349" y="128719"/>
                      <a:pt x="20497" y="124225"/>
                      <a:pt x="12496" y="116224"/>
                    </a:cubicBezTo>
                    <a:cubicBezTo>
                      <a:pt x="4495" y="108222"/>
                      <a:pt x="0" y="97371"/>
                      <a:pt x="0" y="86056"/>
                    </a:cubicBezTo>
                    <a:lnTo>
                      <a:pt x="0" y="42664"/>
                    </a:lnTo>
                    <a:cubicBezTo>
                      <a:pt x="0" y="31349"/>
                      <a:pt x="4495" y="20497"/>
                      <a:pt x="12496" y="12496"/>
                    </a:cubicBezTo>
                    <a:cubicBezTo>
                      <a:pt x="20497" y="4495"/>
                      <a:pt x="31349" y="0"/>
                      <a:pt x="42664" y="0"/>
                    </a:cubicBezTo>
                    <a:close/>
                  </a:path>
                </a:pathLst>
              </a:custGeom>
              <a:solidFill>
                <a:srgbClr val="004C9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69099" cy="166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  <a:r>
                  <a:rPr lang="en-US" b="true" sz="1299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Macroprocessos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95791" y="1080267"/>
              <a:ext cx="3387313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9"/>
                </a:lnSpc>
                <a:spcBef>
                  <a:spcPct val="0"/>
                </a:spcBef>
              </a:pPr>
              <a:r>
                <a:rPr lang="en-US" b="true" sz="12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Processos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8785234" y="214816"/>
              <a:ext cx="3387313" cy="651642"/>
              <a:chOff x="0" y="0"/>
              <a:chExt cx="669099" cy="12871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9099" cy="128719"/>
              </a:xfrm>
              <a:custGeom>
                <a:avLst/>
                <a:gdLst/>
                <a:ahLst/>
                <a:cxnLst/>
                <a:rect r="r" b="b" t="t" l="l"/>
                <a:pathLst>
                  <a:path h="128719" w="669099">
                    <a:moveTo>
                      <a:pt x="42664" y="0"/>
                    </a:moveTo>
                    <a:lnTo>
                      <a:pt x="626435" y="0"/>
                    </a:lnTo>
                    <a:cubicBezTo>
                      <a:pt x="637750" y="0"/>
                      <a:pt x="648602" y="4495"/>
                      <a:pt x="656603" y="12496"/>
                    </a:cubicBezTo>
                    <a:cubicBezTo>
                      <a:pt x="664604" y="20497"/>
                      <a:pt x="669099" y="31349"/>
                      <a:pt x="669099" y="42664"/>
                    </a:cubicBezTo>
                    <a:lnTo>
                      <a:pt x="669099" y="86056"/>
                    </a:lnTo>
                    <a:cubicBezTo>
                      <a:pt x="669099" y="97371"/>
                      <a:pt x="664604" y="108222"/>
                      <a:pt x="656603" y="116224"/>
                    </a:cubicBezTo>
                    <a:cubicBezTo>
                      <a:pt x="648602" y="124225"/>
                      <a:pt x="637750" y="128719"/>
                      <a:pt x="626435" y="128719"/>
                    </a:cubicBezTo>
                    <a:lnTo>
                      <a:pt x="42664" y="128719"/>
                    </a:lnTo>
                    <a:cubicBezTo>
                      <a:pt x="31349" y="128719"/>
                      <a:pt x="20497" y="124225"/>
                      <a:pt x="12496" y="116224"/>
                    </a:cubicBezTo>
                    <a:cubicBezTo>
                      <a:pt x="4495" y="108222"/>
                      <a:pt x="0" y="97371"/>
                      <a:pt x="0" y="86056"/>
                    </a:cubicBezTo>
                    <a:lnTo>
                      <a:pt x="0" y="42664"/>
                    </a:lnTo>
                    <a:cubicBezTo>
                      <a:pt x="0" y="31349"/>
                      <a:pt x="4495" y="20497"/>
                      <a:pt x="12496" y="12496"/>
                    </a:cubicBezTo>
                    <a:cubicBezTo>
                      <a:pt x="20497" y="4495"/>
                      <a:pt x="31349" y="0"/>
                      <a:pt x="42664" y="0"/>
                    </a:cubicBezTo>
                    <a:close/>
                  </a:path>
                </a:pathLst>
              </a:custGeom>
              <a:solidFill>
                <a:srgbClr val="52A2D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9099" cy="166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</a:pPr>
                <a:r>
                  <a:rPr lang="en-US" b="true" sz="1299">
                    <a:solidFill>
                      <a:srgbClr val="FFFFFF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Valores públicos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778344" y="3886648"/>
            <a:ext cx="16268232" cy="1829848"/>
            <a:chOff x="0" y="0"/>
            <a:chExt cx="4284637" cy="4819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84637" cy="481935"/>
            </a:xfrm>
            <a:custGeom>
              <a:avLst/>
              <a:gdLst/>
              <a:ahLst/>
              <a:cxnLst/>
              <a:rect r="r" b="b" t="t" l="l"/>
              <a:pathLst>
                <a:path h="481935" w="4284637">
                  <a:moveTo>
                    <a:pt x="13325" y="0"/>
                  </a:moveTo>
                  <a:lnTo>
                    <a:pt x="4271312" y="0"/>
                  </a:lnTo>
                  <a:cubicBezTo>
                    <a:pt x="4274846" y="0"/>
                    <a:pt x="4278236" y="1404"/>
                    <a:pt x="4280734" y="3903"/>
                  </a:cubicBezTo>
                  <a:cubicBezTo>
                    <a:pt x="4283234" y="6402"/>
                    <a:pt x="4284637" y="9791"/>
                    <a:pt x="4284637" y="13325"/>
                  </a:cubicBezTo>
                  <a:lnTo>
                    <a:pt x="4284637" y="468610"/>
                  </a:lnTo>
                  <a:cubicBezTo>
                    <a:pt x="4284637" y="475970"/>
                    <a:pt x="4278671" y="481935"/>
                    <a:pt x="4271312" y="481935"/>
                  </a:cubicBezTo>
                  <a:lnTo>
                    <a:pt x="13325" y="481935"/>
                  </a:lnTo>
                  <a:cubicBezTo>
                    <a:pt x="5966" y="481935"/>
                    <a:pt x="0" y="475970"/>
                    <a:pt x="0" y="468610"/>
                  </a:cubicBezTo>
                  <a:lnTo>
                    <a:pt x="0" y="13325"/>
                  </a:lnTo>
                  <a:cubicBezTo>
                    <a:pt x="0" y="5966"/>
                    <a:pt x="5966" y="0"/>
                    <a:pt x="133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DFEFF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284637" cy="510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7799" y="1033189"/>
            <a:ext cx="6728379" cy="159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Nossa cadeia de valor reflete, de forma integrada, como nossa atuação coordenada contribui para a geração de valor público no setor aquaviário. Por meio desta representação estruturada, organizamos o conjunto de atividades que desempenhamos — desde a formulação regulatória e a fiscalização até o monitoramento do desempenho setorial e a gestão de concessões e arrendamentos — sem perder de vista os processos de apoio que viabilizam cada uma dessas entregas.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6366" y="4501720"/>
            <a:ext cx="15490552" cy="9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Os macroproc</a:t>
            </a: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essos finalísticos correspondem aos processos associados às atividades-fim de nossa organização, também conhecidos como core business ou processos primários, diretamente relacionados à missão institucional e ao propósito de existir da Agência. No caso da Antaq, os macroprocessos finalísticos compreendem as atividades de regulação, outorga, fiscalização e produção de conhecimento aquaviário, por meio das quais a Agência atua diretamente sobre o setor regulado e gera valor público para a sociedade. Representam as atividades-fim da Agência (regulação, outorga, fiscalização e produção de conhecimento), por meio das quais atuamos diretamente sobre o setor regulado e geramos valor público para a sociedade.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5821" y="4178791"/>
            <a:ext cx="1549055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Macroprocessos finalísticos (o coração do nosso negócio)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7254" y="2841565"/>
            <a:ext cx="16268778" cy="53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Ao percorrermos cada etapa dessa cadeia, demonstramos como transformamos nossas ações institucionais em resultados concretos para a sociedade. Nosso foco é garantir que cada processo interno culmine na promoção da eficiência, segurança, sustentabilidade e competitividade do transporte aquaviário brasileiro, reafirmando nosso papel como indutores do desenvolvimento nacional.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70307" y="1094636"/>
            <a:ext cx="355017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 da cadeia de valor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78344" y="5964378"/>
            <a:ext cx="16268232" cy="1590562"/>
            <a:chOff x="0" y="0"/>
            <a:chExt cx="4284637" cy="4189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84637" cy="418913"/>
            </a:xfrm>
            <a:custGeom>
              <a:avLst/>
              <a:gdLst/>
              <a:ahLst/>
              <a:cxnLst/>
              <a:rect r="r" b="b" t="t" l="l"/>
              <a:pathLst>
                <a:path h="418913" w="4284637">
                  <a:moveTo>
                    <a:pt x="13325" y="0"/>
                  </a:moveTo>
                  <a:lnTo>
                    <a:pt x="4271312" y="0"/>
                  </a:lnTo>
                  <a:cubicBezTo>
                    <a:pt x="4274846" y="0"/>
                    <a:pt x="4278236" y="1404"/>
                    <a:pt x="4280734" y="3903"/>
                  </a:cubicBezTo>
                  <a:cubicBezTo>
                    <a:pt x="4283234" y="6402"/>
                    <a:pt x="4284637" y="9791"/>
                    <a:pt x="4284637" y="13325"/>
                  </a:cubicBezTo>
                  <a:lnTo>
                    <a:pt x="4284637" y="405588"/>
                  </a:lnTo>
                  <a:cubicBezTo>
                    <a:pt x="4284637" y="412948"/>
                    <a:pt x="4278671" y="418913"/>
                    <a:pt x="4271312" y="418913"/>
                  </a:cubicBezTo>
                  <a:lnTo>
                    <a:pt x="13325" y="418913"/>
                  </a:lnTo>
                  <a:cubicBezTo>
                    <a:pt x="5966" y="418913"/>
                    <a:pt x="0" y="412948"/>
                    <a:pt x="0" y="405588"/>
                  </a:cubicBezTo>
                  <a:lnTo>
                    <a:pt x="0" y="13325"/>
                  </a:lnTo>
                  <a:cubicBezTo>
                    <a:pt x="0" y="5966"/>
                    <a:pt x="5966" y="0"/>
                    <a:pt x="133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DFEFF8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284637" cy="447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66912" y="6569345"/>
            <a:ext cx="15490552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R</a:t>
            </a: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eúne os processos transversais responsáveis pelo direcionamento, monitoramento e avaliação dos macroprocessos finalísticos e dos macroprocessos de gestão e suporte. Esse conjunto de processos considera os interesses, as necessidades e os direitos das partes interessadas e da sociedade, regulando as interações entre a Agência, os agentes regulados e o governo. Este grupo de processos garante que nossa atuação seja pautada pelo equilíbrio dos interesses.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6366" y="6246415"/>
            <a:ext cx="1549055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Macroprocesso de governança e estratégia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77799" y="7802823"/>
            <a:ext cx="16268232" cy="1602526"/>
            <a:chOff x="0" y="0"/>
            <a:chExt cx="4284637" cy="4220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84637" cy="422065"/>
            </a:xfrm>
            <a:custGeom>
              <a:avLst/>
              <a:gdLst/>
              <a:ahLst/>
              <a:cxnLst/>
              <a:rect r="r" b="b" t="t" l="l"/>
              <a:pathLst>
                <a:path h="422065" w="4284637">
                  <a:moveTo>
                    <a:pt x="13325" y="0"/>
                  </a:moveTo>
                  <a:lnTo>
                    <a:pt x="4271312" y="0"/>
                  </a:lnTo>
                  <a:cubicBezTo>
                    <a:pt x="4274846" y="0"/>
                    <a:pt x="4278236" y="1404"/>
                    <a:pt x="4280734" y="3903"/>
                  </a:cubicBezTo>
                  <a:cubicBezTo>
                    <a:pt x="4283234" y="6402"/>
                    <a:pt x="4284637" y="9791"/>
                    <a:pt x="4284637" y="13325"/>
                  </a:cubicBezTo>
                  <a:lnTo>
                    <a:pt x="4284637" y="408740"/>
                  </a:lnTo>
                  <a:cubicBezTo>
                    <a:pt x="4284637" y="416099"/>
                    <a:pt x="4278671" y="422065"/>
                    <a:pt x="4271312" y="422065"/>
                  </a:cubicBezTo>
                  <a:lnTo>
                    <a:pt x="13325" y="422065"/>
                  </a:lnTo>
                  <a:cubicBezTo>
                    <a:pt x="5966" y="422065"/>
                    <a:pt x="0" y="416099"/>
                    <a:pt x="0" y="408740"/>
                  </a:cubicBezTo>
                  <a:lnTo>
                    <a:pt x="0" y="13325"/>
                  </a:lnTo>
                  <a:cubicBezTo>
                    <a:pt x="0" y="5966"/>
                    <a:pt x="5966" y="0"/>
                    <a:pt x="133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DFEFF8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284637" cy="450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66639" y="8413772"/>
            <a:ext cx="15490552" cy="69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12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ngloba os processos transversais e multitemáticos que influenciam diretamente nossa capacidade operacional para executar os macroprocessos finalísticos e de governança. Esse grupo abrange, entre outros, os processos de orçamento, finanças, contabilidade e custos, tecnologia da informação, gestão do conhecimento e da informação, administração e logística, que são atividades normatizadas, coordenadas e supervisionadas por órgãos centrais e apoiadas por diferentes sistemas de informação.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6093" y="8090842"/>
            <a:ext cx="1549055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Macroprocesso de gestão e suporte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2142" y="752748"/>
            <a:ext cx="16779333" cy="9261652"/>
          </a:xfrm>
          <a:custGeom>
            <a:avLst/>
            <a:gdLst/>
            <a:ahLst/>
            <a:cxnLst/>
            <a:rect r="r" b="b" t="t" l="l"/>
            <a:pathLst>
              <a:path h="9261652" w="16779333">
                <a:moveTo>
                  <a:pt x="0" y="0"/>
                </a:moveTo>
                <a:lnTo>
                  <a:pt x="16779333" y="0"/>
                </a:lnTo>
                <a:lnTo>
                  <a:pt x="16779333" y="9261652"/>
                </a:lnTo>
                <a:lnTo>
                  <a:pt x="0" y="9261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39" r="0" b="-25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3954" y="1216726"/>
            <a:ext cx="17745185" cy="8562052"/>
          </a:xfrm>
          <a:custGeom>
            <a:avLst/>
            <a:gdLst/>
            <a:ahLst/>
            <a:cxnLst/>
            <a:rect r="r" b="b" t="t" l="l"/>
            <a:pathLst>
              <a:path h="8562052" w="17745185">
                <a:moveTo>
                  <a:pt x="0" y="0"/>
                </a:moveTo>
                <a:lnTo>
                  <a:pt x="17745185" y="0"/>
                </a:lnTo>
                <a:lnTo>
                  <a:pt x="17745185" y="8562052"/>
                </a:lnTo>
                <a:lnTo>
                  <a:pt x="0" y="8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13439" y="2682838"/>
            <a:ext cx="8561263" cy="831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90585" y="2707205"/>
            <a:ext cx="5552301" cy="826886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15157" y="3012350"/>
            <a:ext cx="4607124" cy="4547057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160067" y="2974002"/>
            <a:ext cx="29635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169">
                <a:solidFill>
                  <a:srgbClr val="123C55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MACROPROCESSO FISCALIZAÇÃO</a:t>
            </a:r>
          </a:p>
        </p:txBody>
      </p:sp>
      <p:sp>
        <p:nvSpPr>
          <p:cNvPr name="Freeform 13" id="13"/>
          <p:cNvSpPr/>
          <p:nvPr/>
        </p:nvSpPr>
        <p:spPr>
          <a:xfrm>
            <a:off x="3910743" y="2597951"/>
            <a:ext cx="6036826" cy="1103220"/>
          </a:xfrm>
          <a:custGeom>
            <a:avLst/>
            <a:gdLst/>
            <a:ahLst/>
            <a:cxnLst/>
            <a:rect r="r" b="b" t="t" l="l"/>
            <a:pathLst>
              <a:path h="1103220" w="6036826">
                <a:moveTo>
                  <a:pt x="0" y="1103219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5824988" y="0"/>
                </a:lnTo>
                <a:cubicBezTo>
                  <a:pt x="5881171" y="0"/>
                  <a:pt x="5935053" y="22318"/>
                  <a:pt x="5974781" y="62046"/>
                </a:cubicBezTo>
                <a:cubicBezTo>
                  <a:pt x="6014508" y="101773"/>
                  <a:pt x="6036827" y="155655"/>
                  <a:pt x="6036827" y="211838"/>
                </a:cubicBezTo>
                <a:lnTo>
                  <a:pt x="6036827" y="423676"/>
                </a:lnTo>
              </a:path>
            </a:pathLst>
          </a:custGeom>
          <a:ln cap="flat" w="66675">
            <a:solidFill>
              <a:srgbClr val="1A8C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4" id="14"/>
          <p:cNvSpPr/>
          <p:nvPr/>
        </p:nvSpPr>
        <p:spPr>
          <a:xfrm>
            <a:off x="11939613" y="2486686"/>
            <a:ext cx="3816407" cy="1103220"/>
          </a:xfrm>
          <a:custGeom>
            <a:avLst/>
            <a:gdLst/>
            <a:ahLst/>
            <a:cxnLst/>
            <a:rect r="r" b="b" t="t" l="l"/>
            <a:pathLst>
              <a:path h="1103220" w="3816407">
                <a:moveTo>
                  <a:pt x="0" y="1103220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3623597" y="0"/>
                </a:lnTo>
                <a:cubicBezTo>
                  <a:pt x="3730083" y="0"/>
                  <a:pt x="3816407" y="86324"/>
                  <a:pt x="3816407" y="192810"/>
                </a:cubicBezTo>
                <a:lnTo>
                  <a:pt x="3816407" y="385620"/>
                </a:lnTo>
              </a:path>
            </a:pathLst>
          </a:custGeom>
          <a:ln cap="flat" w="66675">
            <a:solidFill>
              <a:srgbClr val="A1C5D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961093" y="7175480"/>
            <a:ext cx="1104647" cy="1042971"/>
          </a:xfrm>
          <a:custGeom>
            <a:avLst/>
            <a:gdLst/>
            <a:ahLst/>
            <a:cxnLst/>
            <a:rect r="r" b="b" t="t" l="l"/>
            <a:pathLst>
              <a:path h="1042971" w="1104647">
                <a:moveTo>
                  <a:pt x="0" y="0"/>
                </a:moveTo>
                <a:lnTo>
                  <a:pt x="1104646" y="0"/>
                </a:lnTo>
                <a:lnTo>
                  <a:pt x="1104646" y="1042970"/>
                </a:lnTo>
                <a:lnTo>
                  <a:pt x="0" y="1042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18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420" y="765264"/>
            <a:ext cx="16418998" cy="75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b="true" sz="6000" spc="-408">
                <a:solidFill>
                  <a:srgbClr val="123C55"/>
                </a:solidFill>
                <a:latin typeface="Open Sans Hebrew Condensed Bold"/>
                <a:ea typeface="Open Sans Hebrew Condensed Bold"/>
                <a:cs typeface="Open Sans Hebrew Condensed Bold"/>
                <a:sym typeface="Open Sans Hebrew Condensed Bold"/>
              </a:rPr>
              <a:t>DISTRIBUIÇÃO DE ESFORÇO NA AGÊNCIA EM 2025 (PGD)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420" y="1456550"/>
            <a:ext cx="164249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81">
                <a:solidFill>
                  <a:srgbClr val="123C55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TOTAL DE HORAS POR MACROPROCESSO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9841" y="3044687"/>
            <a:ext cx="338584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169">
                <a:solidFill>
                  <a:srgbClr val="123C55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MACROPROCESSOS (557.910 HORAS)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96053" y="3044687"/>
            <a:ext cx="303877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169">
                <a:solidFill>
                  <a:srgbClr val="123C55"/>
                </a:solidFill>
                <a:latin typeface="Open Sans Hebrew Condensed"/>
                <a:ea typeface="Open Sans Hebrew Condensed"/>
                <a:cs typeface="Open Sans Hebrew Condensed"/>
                <a:sym typeface="Open Sans Hebrew Condensed"/>
              </a:rPr>
              <a:t>MACROPROCESSOS FINALÍSTICOS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47804" y="7632700"/>
            <a:ext cx="4291335" cy="248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QUASE </a:t>
            </a:r>
            <a:r>
              <a:rPr lang="en-US" b="true" sz="2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1/3 DE TODO O ESFORÇO DA AGÊNCIA ESTÁ CONCENTRADO NA FISCALIZAÇAO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QUASE 1/4, SÓ NA EXECUÇÃO DA FISCALIZAÇÃO</a:t>
            </a:r>
          </a:p>
          <a:p>
            <a:pPr algn="ctr">
              <a:lnSpc>
                <a:spcPts val="2000"/>
              </a:lnSpc>
              <a:spcBef>
                <a:spcPct val="0"/>
              </a:spcBef>
            </a:pPr>
          </a:p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ISSO MOSTRA UM PESO RELEVANTE DA ATIVIDADE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9778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71769" y="2489"/>
            <a:ext cx="1828628" cy="1715858"/>
            <a:chOff x="0" y="0"/>
            <a:chExt cx="599342" cy="56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1091" y="5140197"/>
            <a:ext cx="1828628" cy="1715858"/>
            <a:chOff x="0" y="0"/>
            <a:chExt cx="599342" cy="562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0397" y="1717021"/>
            <a:ext cx="1828628" cy="1715858"/>
            <a:chOff x="0" y="0"/>
            <a:chExt cx="599342" cy="5623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7653" y="0"/>
            <a:ext cx="1828628" cy="1715858"/>
            <a:chOff x="0" y="0"/>
            <a:chExt cx="599342" cy="562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372" y="2489"/>
            <a:ext cx="1828628" cy="1714533"/>
            <a:chOff x="0" y="0"/>
            <a:chExt cx="695396" cy="6520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5396" cy="652007"/>
            </a:xfrm>
            <a:custGeom>
              <a:avLst/>
              <a:gdLst/>
              <a:ahLst/>
              <a:cxnLst/>
              <a:rect r="r" b="b" t="t" l="l"/>
              <a:pathLst>
                <a:path h="652007" w="695396">
                  <a:moveTo>
                    <a:pt x="0" y="652007"/>
                  </a:moveTo>
                  <a:cubicBezTo>
                    <a:pt x="0" y="480294"/>
                    <a:pt x="74177" y="312388"/>
                    <a:pt x="203677" y="190968"/>
                  </a:cubicBezTo>
                  <a:cubicBezTo>
                    <a:pt x="333177" y="69548"/>
                    <a:pt x="512255" y="0"/>
                    <a:pt x="695396" y="0"/>
                  </a:cubicBezTo>
                  <a:lnTo>
                    <a:pt x="695396" y="602525"/>
                  </a:lnTo>
                  <a:cubicBezTo>
                    <a:pt x="695396" y="615649"/>
                    <a:pt x="690182" y="628235"/>
                    <a:pt x="680903" y="637514"/>
                  </a:cubicBezTo>
                  <a:cubicBezTo>
                    <a:pt x="671623" y="646794"/>
                    <a:pt x="659037" y="652007"/>
                    <a:pt x="645914" y="652007"/>
                  </a:cubicBezTo>
                  <a:lnTo>
                    <a:pt x="0" y="652007"/>
                  </a:ln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5458" y="164063"/>
              <a:ext cx="489938" cy="487944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9025" y="0"/>
            <a:ext cx="1828628" cy="1715858"/>
            <a:chOff x="0" y="0"/>
            <a:chExt cx="599342" cy="5623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0397" y="0"/>
            <a:ext cx="1828628" cy="1715858"/>
            <a:chOff x="0" y="0"/>
            <a:chExt cx="599342" cy="5623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7653" y="8571142"/>
            <a:ext cx="1828628" cy="1715858"/>
            <a:chOff x="0" y="0"/>
            <a:chExt cx="599342" cy="5623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61091" y="6861667"/>
            <a:ext cx="1828628" cy="1715858"/>
            <a:chOff x="0" y="0"/>
            <a:chExt cx="599342" cy="5623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372" y="1715858"/>
            <a:ext cx="1828628" cy="1715858"/>
            <a:chOff x="0" y="0"/>
            <a:chExt cx="599342" cy="5623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30744" y="1714533"/>
            <a:ext cx="1828628" cy="1715858"/>
            <a:chOff x="0" y="0"/>
            <a:chExt cx="599342" cy="562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true" rot="0">
            <a:off x="10971769" y="2489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1714532"/>
                </a:moveTo>
                <a:lnTo>
                  <a:pt x="1714533" y="1714532"/>
                </a:lnTo>
                <a:lnTo>
                  <a:pt x="1714533" y="0"/>
                </a:lnTo>
                <a:lnTo>
                  <a:pt x="0" y="0"/>
                </a:lnTo>
                <a:lnTo>
                  <a:pt x="0" y="17145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629025" y="1714533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630744" y="3422012"/>
            <a:ext cx="1828628" cy="1715858"/>
            <a:chOff x="0" y="0"/>
            <a:chExt cx="599342" cy="562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true" flipV="true" rot="0">
            <a:off x="14746558" y="3423337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1714533" y="1714533"/>
                </a:moveTo>
                <a:lnTo>
                  <a:pt x="0" y="1714533"/>
                </a:lnTo>
                <a:lnTo>
                  <a:pt x="0" y="0"/>
                </a:lnTo>
                <a:lnTo>
                  <a:pt x="1714533" y="0"/>
                </a:lnTo>
                <a:lnTo>
                  <a:pt x="1714533" y="1714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461091" y="6856055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2" y="0"/>
                </a:lnTo>
                <a:lnTo>
                  <a:pt x="1714532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10800000">
            <a:off x="14748080" y="6861667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0" y="0"/>
                </a:moveTo>
                <a:lnTo>
                  <a:pt x="1713011" y="0"/>
                </a:lnTo>
                <a:lnTo>
                  <a:pt x="1713011" y="1713011"/>
                </a:lnTo>
                <a:lnTo>
                  <a:pt x="0" y="1713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-10800000">
            <a:off x="14743120" y="5148656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true" flipV="false" rot="-10800000">
            <a:off x="12917733" y="3422012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77254" y="2191385"/>
            <a:ext cx="5266397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004C98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de gestão em 2025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6457448" y="3422012"/>
            <a:ext cx="1828628" cy="1715858"/>
            <a:chOff x="0" y="0"/>
            <a:chExt cx="599342" cy="5623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77254" y="4034964"/>
            <a:ext cx="4967132" cy="7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 b="true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Análise das diretrizes do Regimento Interno (Resolução nº 116/2024) e do pro</a:t>
            </a:r>
            <a:r>
              <a:rPr lang="en-US" sz="1299" b="true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cess</a:t>
            </a:r>
            <a:r>
              <a:rPr lang="en-US" sz="1299" b="true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de regulamentação de subunidades (Processo SEI nº 50300.013050/2024-26).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55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PROMOVER A TRANSIÇÃO para um setor aquaviário mais sustentável e resiliente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18650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6097143"/>
            <a:ext cx="4328731" cy="319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 b="true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Parceria estratégica Antaq-ABNT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: celebramos o </a:t>
            </a: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2" tooltip="https://sophia.antaq.gov.br/Terminal/Acervo/Detalhe/39228?returnUrl=/Terminal/Home/Index&amp;guid=1747526407132"/>
              </a:rPr>
              <a:t>Memorando de Entendimento (MOU) com a Associação Brasileira de Normas Técnicas (ABNT).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Com esta iniciativa, estabelecemos uma cooperação técnica fundamental voltada à criação da prática recomendada de Inventário de Emissões de Gases de Efeito Estufa do Setor Aquaviário, com o intuito de assegurarmos que o futuro monitoramento de emissões da Agência esteja rigorosamente alinhado às normas internacionais e às melhores práticas técnicas, provendo dados confiáveis para a formulação de políticas de descarbonização no setor.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5563743"/>
            <a:ext cx="4328731" cy="346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Entendemos que a s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u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ste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n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bi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i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da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de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não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é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apenas uma diretriz ambiental, mas um pilar essencial para a longevidade e a competitividade do setor aquaviário brasileiro. Para nós, promover essa transição significa induzir o desenvolvimento econômico em harmonia com o meio ambiente, utilizando a inovação tecnológica como motor para a eficiência energética e a redução de emissões.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Atuamos para fortalecer uma regulação ambiental que estimule a adoção de tecnologias limpas e soluções resilientes, garantindo que o crescimento do setor ocorra de forma responsável.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561136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8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GARANTIR A REGULAMENTAÇÃO DO SETOR, participando ativamente na formulação de políticas públicas de transportes e logística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18650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6097143"/>
            <a:ext cx="4328731" cy="293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Programa Navegue Simples: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avançamos na implementação desta iniciativa conjunta com o Ministério de Portos e Aeroportos (MPOR), focada em reduzir o tempo de tramitação processual e simplificar as autorizações de Terminais de Uso Privado (TUPs).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Modernização de sistemas: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concluímos a etapa crucial de definição dos requisitos para o novo sistema informatizado que operacionalizará o programa.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4763643"/>
            <a:ext cx="4328731" cy="42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Trabalhamos para fort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alecer a atuação coord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enada do Estado diante dos desafios atuais e futuros do setor aquaviário. Entendemos que a complexidade do mercado e a integração dos modais de transporte exigem de nós uma atuação que transcenda a simples aplicação normativa; por isso, contribuímos de forma qualificada para a formulação de políticas públicas eficazes e alinhadas ao planejamento governamental.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Nossa participação ativa nesse processo assegura que a regulamentação setorial esteja fundamentada em evidências e em nossa sólida experiência regulatória. Com isso, promovemos segurança jurídica, inovação e competitividade, impulsionando o desenvolvimento sustentável do sistema nacional de transportes e logística.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561136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06EB6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8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AMPLIAR A PARTICIPAÇÃO DO MODAL AQUAVIÁRIO NA MATRIZ DE TRANSPORTES, promovendo a integração e a competitividade da infraestrutura logística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2939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3963543"/>
            <a:ext cx="4328731" cy="53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Avanço no planejamento hidroviário: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concluímos os documentos de planejamento das concessões das hidrovias do Madeira, Paraguai, Hidrovia Verde (Amazonas e Barra Norte), Tapajós e Tocantins. Esse conjunto de estudos é fundamental para viabilizar os investimentos à modernização desses corredores logísticos.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Destaque para a Hidrovia do Paraguai: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finalizamos o Relatório de Estudo de Viabilidade Técnica, Econômica e Ambiental (EVTEA) e os demais documentos da concessão da Hidrovia do Paraguai. Encaminhamos o material para deliberação da nossa Diretoria Colegiada, cumprindo etapa decisiva para a concretização deste projeto.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Integração multimodal: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com os estudos, há uma maior integração entre os modais, buscando reduzir os gargalos logísticos e potencializar o escoamento de safras e mercadorias por vias navegáveis.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6363843"/>
            <a:ext cx="4328731" cy="266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Atuamos de form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 estr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atégica para que o modal aquaviário ocupe um lugar de destaque na matriz de transportes brasileira. Alinhados ao Plano Nacional de Logística (PNL 2035), reconhecemos que a dependência excessiva do modal rodoviário limita nosso crescimento; por isso, trabalhamos para oferecer soluções que promovam eficiência econômica e a redução das emissões de gases de efeito estufa, garantindo uma logística mais sustentável e competitiva para o país.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347776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F93B2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55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PROMOVER O DESENVOLVIMENTO DA NAVEGAÇÃO INTERIOR, com foco na Região Amazônica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2939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4230243"/>
            <a:ext cx="4328731" cy="479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Escuta ativa dos usuários: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estabelecemos as bases metodológicas para a nossa Pesquisa de Satisfação dos Usuários na região. Concluímos a definição do universo da pesquisa, a seleção da amostra e a estruturação do questionário técnico.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para decisões estratégicas: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com essa metodologia, garantimos que nossas futuras ações regulatórias na Amazônia sejam pautadas pelas reais necessidades de quem utiliza o transporte aquaviário, assegurando maior precisão na melhoria da qualidade dos serviços prestados.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Governança regional: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consolidamos critérios que nos permitem monitorar o impacto social e econômico da navegação interior, alinhando nossa atuação ao PNL 2035 e aos Objetivos de Desenvolvimento Sustentável.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4763643"/>
            <a:ext cx="4328731" cy="42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Reconhecemos a Região Amazônica como um pil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ar estr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atégico para a integração nacional. Com mais de 16 mil quilômetros de vias navegáveis, os rios são as "rodovias" que conectam pessoas e mercados onde a infraestrutura terrestre é limitada. Atuamos para converter esse potencial em realidade, buscando a redução de custos logísticos, o aumento da segurança e a geração de benefícios diretos para a economia local.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Nossa meta é promover um salto qualitativo na regulação regional. Para isso, aprimoramos nossa governança, fomentamos a inovação tecnológica e fortalecemos a cooperação entre os diversos stakeholders, garantindo que a modernização da infraestrutura resulte em crescimento sustentável e melhor atendimento às comunidades locais.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374446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336FA5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55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APRIMORAR MODELO DE GOVERNANÇA com foco em 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2939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4763643"/>
            <a:ext cx="4328731" cy="42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Detalhamento da cadeia de valor: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avançamos na maturidade da nossa gestão por processos ao identificarmos e mapearmos os processos de 4º nível da nossa Cadeia de Valor.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Eficiência operacional: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com esse detalhamento, garantimos uma visão minuciosa de nossas atividades organizacionais, permitindo identificar gargalos, reduzir custos operacionais e padronizar entregas em todas as unidades da Agência.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Cultura de desempenho: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 consolidação deste mapeamento serve como base para o monitoramento de metas mais precisas, conectando o trabalho do dia a dia aos resultados estratégicos que apresentamos neste relatório.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4496943"/>
            <a:ext cx="4328731" cy="453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Implementamos um modelo de governança orientado a resultados que integra, de forma sistêmica, nosso pl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anejamento estr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atégico, a gestão orçamentária e o acompanhamento de desempenho. Nossa meta é alinhar cada processo de negócio às prioridades da Agência, assegurando que os recursos públicos sejam convertidos em entregas de alto valor para a sociedade com a máxima eficiência.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Trabalhamos na harmonização de nossos fluxos de trabalho e na padronização de processos para elevar nossa capacidade de entrega e fortalecer a gestão de riscos. Esse aprimoramento envolve o estabelecimento de métricas claras, o reforço da transparência e da integridade, além do incentivo à participação ativa de nossos colaboradores e de uma articulação estratégica contínua com a sociedade e outras instituições.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427786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52A2D9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26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FOMENTAR CULTURA organizacional de inovação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2939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7948473"/>
            <a:ext cx="4328731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Os resultados associados a esse objetivo são esperados a partir de 2026, considerando o caráter estruturante das iniciativas implementadas.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5281473"/>
            <a:ext cx="4328731" cy="346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Com o objetivo de promover a atualização contínua dos servidores da Agência, incorp</a:t>
            </a: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or</a:t>
            </a: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amos ao Plano de Desenvolvimento de Pessoas ações de capacitação voltadas ao desenvolvimento de competências específicas nas áreas de regulação, tecnologia, gestão e inovação.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Adicionalmente, iniciamos outras entregas estratégicas para o fortalecimento da cultura de inovação, destacando-se a elaboração de uma proposta de inventário de competências e a concepção de uma premiação anual, prevista para realização no primeiro trimestre de 2026.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7462698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6FADD2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254" y="1042714"/>
            <a:ext cx="3515671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ESTRATÉGICO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254" y="2258060"/>
            <a:ext cx="4971894" cy="55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3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RACIONALIZAR OS PROCESSOS DE TRABALHO por meio de transformação digital e sistemas integrados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2939" y="7685623"/>
            <a:ext cx="1265107" cy="30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8"/>
              </a:lnSpc>
              <a:spcBef>
                <a:spcPct val="0"/>
              </a:spcBef>
            </a:pPr>
            <a:r>
              <a:rPr lang="en-US" sz="17999">
                <a:gradFill>
                  <a:gsLst>
                    <a:gs pos="0">
                      <a:srgbClr val="004C98">
                        <a:alpha val="72000"/>
                      </a:srgbClr>
                    </a:gs>
                    <a:gs pos="100000">
                      <a:srgbClr val="FFFFFF">
                        <a:alpha val="72000"/>
                      </a:srgbClr>
                    </a:gs>
                  </a:gsLst>
                  <a:lin ang="5400000"/>
                </a:gra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0397" y="5567900"/>
            <a:ext cx="4328731" cy="213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Modernização com o PROA: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entregamos a Mesa de Trabalho do PROA, um avanço fundamental para a nossa agilidade operacional.</a:t>
            </a:r>
          </a:p>
          <a:p>
            <a:pPr algn="l">
              <a:lnSpc>
                <a:spcPts val="2105"/>
              </a:lnSpc>
            </a:pPr>
          </a:p>
          <a:p>
            <a:pPr algn="l" marL="280669" indent="-140335" lvl="1">
              <a:lnSpc>
                <a:spcPts val="2105"/>
              </a:lnSpc>
              <a:buFont typeface="Arial"/>
              <a:buChar char="•"/>
            </a:pPr>
            <a:r>
              <a:rPr lang="en-US" b="true" sz="12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Refinamento de módulos estratégicos: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concluímos a identificação e o refinamento dos requisitos de seis módulos essenciais, que abrangem áreas críticas como: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45407" y="4230243"/>
            <a:ext cx="4328731" cy="479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Em um cenário que exige alta produtividade e agilidade na tomada de decisões, priorizamos a transformação digital como o 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motor da noss</a:t>
            </a: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a eficiência. Incorporamos a tecnologia e o desenvolvimento humano de forma estruturada para otimizar nossos processos internos. Entendemos que, diante da limitação de recursos, integrar sistemas e capacitar nossos servidores é o caminho para maximizar o retorno dos investimentos e garantir entregas de qualidade à sociedade.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Trabalhamos para implementar soluções que consolidem nossos dados institucionais, reduzindo custos e qualificando as informações que subsidiam nossas decisões. Paralelamente, investimos no desenvolvimento de competências da nossa força de trabalho, assegurando que nossos colaboradores dominem as novas ferramentas e apliquem soluções inovadoras aos desafios do negócio.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397" y="5082125"/>
            <a:ext cx="3527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PRINCIPAIS ENTREGAS E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37658" y="1574966"/>
            <a:ext cx="439739" cy="439077"/>
            <a:chOff x="0" y="0"/>
            <a:chExt cx="115816" cy="115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689388" y="2527244"/>
            <a:ext cx="439739" cy="439077"/>
            <a:chOff x="0" y="0"/>
            <a:chExt cx="115816" cy="1156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12036" y="1099864"/>
            <a:ext cx="439739" cy="439077"/>
            <a:chOff x="0" y="0"/>
            <a:chExt cx="115816" cy="11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5739631" y="1551376"/>
            <a:ext cx="435792" cy="455605"/>
            <a:chOff x="0" y="0"/>
            <a:chExt cx="361041" cy="377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1041" cy="377456"/>
            </a:xfrm>
            <a:custGeom>
              <a:avLst/>
              <a:gdLst/>
              <a:ahLst/>
              <a:cxnLst/>
              <a:rect r="r" b="b" t="t" l="l"/>
              <a:pathLst>
                <a:path h="377456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4496"/>
                    <a:pt x="361041" y="188728"/>
                  </a:cubicBezTo>
                  <a:cubicBezTo>
                    <a:pt x="361041" y="292960"/>
                    <a:pt x="266110" y="377456"/>
                    <a:pt x="154769" y="377456"/>
                  </a:cubicBezTo>
                  <a:lnTo>
                    <a:pt x="77385" y="377456"/>
                  </a:lnTo>
                  <a:cubicBezTo>
                    <a:pt x="56861" y="377456"/>
                    <a:pt x="37178" y="369303"/>
                    <a:pt x="22665" y="354791"/>
                  </a:cubicBezTo>
                  <a:cubicBezTo>
                    <a:pt x="8153" y="340278"/>
                    <a:pt x="0" y="320595"/>
                    <a:pt x="0" y="300071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5400" y="-28575"/>
              <a:ext cx="132441" cy="40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686467" y="2523660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0" y="0"/>
                </a:lnTo>
                <a:lnTo>
                  <a:pt x="442660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05166" y="1094205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0" y="0"/>
                </a:moveTo>
                <a:lnTo>
                  <a:pt x="442661" y="0"/>
                </a:lnTo>
                <a:lnTo>
                  <a:pt x="442661" y="442661"/>
                </a:lnTo>
                <a:lnTo>
                  <a:pt x="0" y="44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263766" y="1099864"/>
            <a:ext cx="439739" cy="439077"/>
            <a:chOff x="0" y="0"/>
            <a:chExt cx="115816" cy="1156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263766" y="1574966"/>
            <a:ext cx="439739" cy="439077"/>
            <a:chOff x="0" y="0"/>
            <a:chExt cx="115816" cy="1156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63766" y="2052143"/>
            <a:ext cx="439739" cy="439077"/>
            <a:chOff x="0" y="0"/>
            <a:chExt cx="115816" cy="1156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true" rot="0">
            <a:off x="15263766" y="2052143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442661"/>
                </a:moveTo>
                <a:lnTo>
                  <a:pt x="0" y="442661"/>
                </a:lnTo>
                <a:lnTo>
                  <a:pt x="0" y="0"/>
                </a:lnTo>
                <a:lnTo>
                  <a:pt x="442661" y="0"/>
                </a:lnTo>
                <a:lnTo>
                  <a:pt x="442661" y="4426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263766" y="2527244"/>
            <a:ext cx="439739" cy="439077"/>
            <a:chOff x="0" y="0"/>
            <a:chExt cx="115816" cy="1156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37658" y="1099864"/>
            <a:ext cx="439739" cy="439077"/>
            <a:chOff x="0" y="0"/>
            <a:chExt cx="115816" cy="1156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737658" y="2052143"/>
            <a:ext cx="439739" cy="439077"/>
            <a:chOff x="0" y="0"/>
            <a:chExt cx="115816" cy="1156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737658" y="2527244"/>
            <a:ext cx="439739" cy="439077"/>
            <a:chOff x="0" y="0"/>
            <a:chExt cx="115816" cy="1156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15497" y="1099864"/>
            <a:ext cx="439739" cy="439077"/>
            <a:chOff x="0" y="0"/>
            <a:chExt cx="115816" cy="1156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16212062" y="1101648"/>
            <a:ext cx="442661" cy="442661"/>
          </a:xfrm>
          <a:custGeom>
            <a:avLst/>
            <a:gdLst/>
            <a:ahLst/>
            <a:cxnLst/>
            <a:rect r="r" b="b" t="t" l="l"/>
            <a:pathLst>
              <a:path h="442661" w="442661">
                <a:moveTo>
                  <a:pt x="442661" y="0"/>
                </a:moveTo>
                <a:lnTo>
                  <a:pt x="0" y="0"/>
                </a:lnTo>
                <a:lnTo>
                  <a:pt x="0" y="442661"/>
                </a:lnTo>
                <a:lnTo>
                  <a:pt x="442661" y="442661"/>
                </a:lnTo>
                <a:lnTo>
                  <a:pt x="4426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6215497" y="1574966"/>
            <a:ext cx="439739" cy="439077"/>
            <a:chOff x="0" y="0"/>
            <a:chExt cx="115816" cy="11564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215497" y="2052143"/>
            <a:ext cx="439739" cy="439077"/>
            <a:chOff x="0" y="0"/>
            <a:chExt cx="115816" cy="1156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215497" y="2527244"/>
            <a:ext cx="439739" cy="439077"/>
            <a:chOff x="0" y="0"/>
            <a:chExt cx="115816" cy="1156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689388" y="1099864"/>
            <a:ext cx="439739" cy="439077"/>
            <a:chOff x="0" y="0"/>
            <a:chExt cx="115816" cy="1156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689388" y="1574966"/>
            <a:ext cx="439739" cy="439077"/>
            <a:chOff x="0" y="0"/>
            <a:chExt cx="115816" cy="1156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689388" y="2052143"/>
            <a:ext cx="439739" cy="439077"/>
            <a:chOff x="0" y="0"/>
            <a:chExt cx="115816" cy="1156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312036" y="1574966"/>
            <a:ext cx="439739" cy="439077"/>
            <a:chOff x="0" y="0"/>
            <a:chExt cx="115816" cy="11564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312036" y="2052143"/>
            <a:ext cx="439739" cy="439077"/>
            <a:chOff x="0" y="0"/>
            <a:chExt cx="115816" cy="1156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312036" y="2523660"/>
            <a:ext cx="435792" cy="442661"/>
            <a:chOff x="0" y="0"/>
            <a:chExt cx="361041" cy="366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85927" y="1099864"/>
            <a:ext cx="439739" cy="439077"/>
            <a:chOff x="0" y="0"/>
            <a:chExt cx="115816" cy="1156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5400000">
            <a:off x="14785927" y="1574211"/>
            <a:ext cx="435792" cy="442661"/>
            <a:chOff x="0" y="0"/>
            <a:chExt cx="361041" cy="3667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041" cy="366732"/>
            </a:xfrm>
            <a:custGeom>
              <a:avLst/>
              <a:gdLst/>
              <a:ahLst/>
              <a:cxnLst/>
              <a:rect r="r" b="b" t="t" l="l"/>
              <a:pathLst>
                <a:path h="366732" w="361041">
                  <a:moveTo>
                    <a:pt x="77385" y="0"/>
                  </a:moveTo>
                  <a:lnTo>
                    <a:pt x="154769" y="0"/>
                  </a:lnTo>
                  <a:cubicBezTo>
                    <a:pt x="266110" y="0"/>
                    <a:pt x="361041" y="82096"/>
                    <a:pt x="361041" y="183366"/>
                  </a:cubicBezTo>
                  <a:cubicBezTo>
                    <a:pt x="361041" y="284636"/>
                    <a:pt x="266110" y="366732"/>
                    <a:pt x="154769" y="366732"/>
                  </a:cubicBezTo>
                  <a:lnTo>
                    <a:pt x="77385" y="366732"/>
                  </a:lnTo>
                  <a:cubicBezTo>
                    <a:pt x="56861" y="366732"/>
                    <a:pt x="37178" y="358579"/>
                    <a:pt x="22665" y="344066"/>
                  </a:cubicBezTo>
                  <a:cubicBezTo>
                    <a:pt x="8153" y="329554"/>
                    <a:pt x="0" y="309871"/>
                    <a:pt x="0" y="289347"/>
                  </a:cubicBezTo>
                  <a:lnTo>
                    <a:pt x="0" y="77385"/>
                  </a:lnTo>
                  <a:cubicBezTo>
                    <a:pt x="0" y="56861"/>
                    <a:pt x="8153" y="37178"/>
                    <a:pt x="22665" y="22665"/>
                  </a:cubicBezTo>
                  <a:cubicBezTo>
                    <a:pt x="37178" y="8153"/>
                    <a:pt x="56861" y="0"/>
                    <a:pt x="77385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25400" y="-28575"/>
              <a:ext cx="132441" cy="395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785927" y="2052143"/>
            <a:ext cx="439739" cy="439077"/>
            <a:chOff x="0" y="0"/>
            <a:chExt cx="115816" cy="11564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85927" y="2527244"/>
            <a:ext cx="439739" cy="439077"/>
            <a:chOff x="0" y="0"/>
            <a:chExt cx="115816" cy="1156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16" cy="115642"/>
            </a:xfrm>
            <a:custGeom>
              <a:avLst/>
              <a:gdLst/>
              <a:ahLst/>
              <a:cxnLst/>
              <a:rect r="r" b="b" t="t" l="l"/>
              <a:pathLst>
                <a:path h="115642" w="115816">
                  <a:moveTo>
                    <a:pt x="57821" y="0"/>
                  </a:moveTo>
                  <a:lnTo>
                    <a:pt x="57995" y="0"/>
                  </a:lnTo>
                  <a:cubicBezTo>
                    <a:pt x="89929" y="0"/>
                    <a:pt x="115816" y="25887"/>
                    <a:pt x="115816" y="57821"/>
                  </a:cubicBezTo>
                  <a:lnTo>
                    <a:pt x="115816" y="57821"/>
                  </a:lnTo>
                  <a:cubicBezTo>
                    <a:pt x="115816" y="89754"/>
                    <a:pt x="89929" y="115642"/>
                    <a:pt x="57995" y="115642"/>
                  </a:cubicBezTo>
                  <a:lnTo>
                    <a:pt x="57821" y="115642"/>
                  </a:lnTo>
                  <a:cubicBezTo>
                    <a:pt x="25887" y="115642"/>
                    <a:pt x="0" y="89754"/>
                    <a:pt x="0" y="57821"/>
                  </a:cubicBezTo>
                  <a:lnTo>
                    <a:pt x="0" y="57821"/>
                  </a:lnTo>
                  <a:cubicBezTo>
                    <a:pt x="0" y="25887"/>
                    <a:pt x="25887" y="0"/>
                    <a:pt x="57821" y="0"/>
                  </a:cubicBezTo>
                  <a:close/>
                </a:path>
              </a:pathLst>
            </a:custGeom>
            <a:solidFill>
              <a:srgbClr val="9ECAE3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15816" cy="144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3238075" y="7809865"/>
            <a:ext cx="3807956" cy="121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- 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Portos Organizados e Instalações Portuárias;</a:t>
            </a:r>
          </a:p>
          <a:p>
            <a:pPr algn="l">
              <a:lnSpc>
                <a:spcPts val="2002"/>
              </a:lnSpc>
            </a:pP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-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Outorgas Eletrônicas e Cadastro Portuário;</a:t>
            </a:r>
          </a:p>
          <a:p>
            <a:pPr algn="l">
              <a:lnSpc>
                <a:spcPts val="2002"/>
              </a:lnSpc>
            </a:pP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-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Reuniões da Diretoria Colegiada;</a:t>
            </a:r>
          </a:p>
          <a:p>
            <a:pPr algn="l">
              <a:lnSpc>
                <a:spcPts val="2002"/>
              </a:lnSpc>
            </a:pP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-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100">
                <a:solidFill>
                  <a:srgbClr val="FDFDFC"/>
                </a:solidFill>
                <a:latin typeface="Open Sans 1"/>
                <a:ea typeface="Open Sans 1"/>
                <a:cs typeface="Open Sans 1"/>
                <a:sym typeface="Open Sans 1"/>
              </a:rPr>
              <a:t>Cadastro de Embarcações e Afretamentos (Navegação Interior e Marítima).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0" y="0"/>
            <a:ext cx="18288000" cy="593814"/>
            <a:chOff x="0" y="0"/>
            <a:chExt cx="3870476" cy="1256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70476" cy="125675"/>
            </a:xfrm>
            <a:custGeom>
              <a:avLst/>
              <a:gdLst/>
              <a:ahLst/>
              <a:cxnLst/>
              <a:rect r="r" b="b" t="t" l="l"/>
              <a:pathLst>
                <a:path h="125675" w="3870476">
                  <a:moveTo>
                    <a:pt x="0" y="0"/>
                  </a:moveTo>
                  <a:lnTo>
                    <a:pt x="3870476" y="0"/>
                  </a:lnTo>
                  <a:lnTo>
                    <a:pt x="3870476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3870476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8183" y="662904"/>
            <a:ext cx="5111132" cy="1882265"/>
            <a:chOff x="0" y="0"/>
            <a:chExt cx="6814842" cy="250968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-7183861">
              <a:off x="2411074" y="151112"/>
              <a:ext cx="2207462" cy="2207462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2169813" y="-90149"/>
              <a:ext cx="2689984" cy="2689984"/>
            </a:xfrm>
            <a:prstGeom prst="rect">
              <a:avLst/>
            </a:prstGeom>
          </p:spPr>
        </p:pic>
        <p:sp>
          <p:nvSpPr>
            <p:cNvPr name="Freeform 5" id="5"/>
            <p:cNvSpPr/>
            <p:nvPr/>
          </p:nvSpPr>
          <p:spPr>
            <a:xfrm>
              <a:off x="4456720" y="1049468"/>
              <a:ext cx="2358122" cy="847680"/>
            </a:xfrm>
            <a:custGeom>
              <a:avLst/>
              <a:gdLst/>
              <a:ahLst/>
              <a:cxnLst/>
              <a:rect r="r" b="b" t="t" l="l"/>
              <a:pathLst>
                <a:path h="847680" w="2358122">
                  <a:moveTo>
                    <a:pt x="0" y="0"/>
                  </a:moveTo>
                  <a:lnTo>
                    <a:pt x="29995" y="0"/>
                  </a:lnTo>
                  <a:cubicBezTo>
                    <a:pt x="37949" y="0"/>
                    <a:pt x="45579" y="3160"/>
                    <a:pt x="51204" y="8785"/>
                  </a:cubicBezTo>
                  <a:cubicBezTo>
                    <a:pt x="56829" y="14410"/>
                    <a:pt x="59989" y="22039"/>
                    <a:pt x="59989" y="29994"/>
                  </a:cubicBezTo>
                  <a:lnTo>
                    <a:pt x="59989" y="548580"/>
                  </a:lnTo>
                  <a:cubicBezTo>
                    <a:pt x="59989" y="627906"/>
                    <a:pt x="91501" y="703984"/>
                    <a:pt x="147593" y="760076"/>
                  </a:cubicBezTo>
                  <a:cubicBezTo>
                    <a:pt x="203685" y="816168"/>
                    <a:pt x="279763" y="847680"/>
                    <a:pt x="359089" y="847680"/>
                  </a:cubicBezTo>
                  <a:lnTo>
                    <a:pt x="2358122" y="847680"/>
                  </a:lnTo>
                </a:path>
              </a:pathLst>
            </a:custGeom>
            <a:ln cap="flat" w="19940">
              <a:solidFill>
                <a:srgbClr val="C0C0C0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4794725" y="525439"/>
              <a:ext cx="48572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6"/>
                </a:lnSpc>
                <a:spcBef>
                  <a:spcPct val="0"/>
                </a:spcBef>
              </a:pPr>
              <a:r>
                <a:rPr lang="en-US" b="true" sz="2512">
                  <a:solidFill>
                    <a:srgbClr val="0F78C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26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280452" y="647732"/>
              <a:ext cx="219029" cy="334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8"/>
                </a:lnSpc>
                <a:spcBef>
                  <a:spcPct val="0"/>
                </a:spcBef>
              </a:pPr>
              <a:r>
                <a:rPr lang="en-US" sz="1570">
                  <a:solidFill>
                    <a:srgbClr val="0F78C4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%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794725" y="1086651"/>
              <a:ext cx="2020117" cy="603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78C4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de atingimento </a:t>
              </a:r>
              <a:r>
                <a:rPr lang="en-US" b="true" sz="1300">
                  <a:solidFill>
                    <a:srgbClr val="0F78C4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esperado </a:t>
              </a:r>
              <a:r>
                <a:rPr lang="en-US" sz="1300">
                  <a:solidFill>
                    <a:srgbClr val="0F78C4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em 2025</a:t>
              </a:r>
            </a:p>
          </p:txBody>
        </p:sp>
        <p:sp>
          <p:nvSpPr>
            <p:cNvPr name="Freeform 9" id="9"/>
            <p:cNvSpPr/>
            <p:nvPr/>
          </p:nvSpPr>
          <p:spPr>
            <a:xfrm>
              <a:off x="0" y="675752"/>
              <a:ext cx="2786499" cy="524960"/>
            </a:xfrm>
            <a:custGeom>
              <a:avLst/>
              <a:gdLst/>
              <a:ahLst/>
              <a:cxnLst/>
              <a:rect r="r" b="b" t="t" l="l"/>
              <a:pathLst>
                <a:path h="524960" w="2786499">
                  <a:moveTo>
                    <a:pt x="2786499" y="524960"/>
                  </a:moveTo>
                  <a:lnTo>
                    <a:pt x="2786499" y="262480"/>
                  </a:lnTo>
                  <a:cubicBezTo>
                    <a:pt x="2786499" y="117516"/>
                    <a:pt x="2668983" y="0"/>
                    <a:pt x="2524020" y="0"/>
                  </a:cubicBezTo>
                  <a:lnTo>
                    <a:pt x="0" y="0"/>
                  </a:lnTo>
                </a:path>
              </a:pathLst>
            </a:custGeom>
            <a:ln cap="flat" w="19940">
              <a:solidFill>
                <a:srgbClr val="C0C0C0"/>
              </a:solidFill>
              <a:prstDash val="solid"/>
              <a:headEnd type="oval" len="lg" w="lg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247224" y="797795"/>
              <a:ext cx="485727" cy="55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16"/>
                </a:lnSpc>
                <a:spcBef>
                  <a:spcPct val="0"/>
                </a:spcBef>
              </a:pPr>
              <a:r>
                <a:rPr lang="en-US" b="true" sz="2512">
                  <a:solidFill>
                    <a:srgbClr val="80B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16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2951" y="920088"/>
              <a:ext cx="219029" cy="334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8"/>
                </a:lnSpc>
                <a:spcBef>
                  <a:spcPct val="0"/>
                </a:spcBef>
              </a:pPr>
              <a:r>
                <a:rPr lang="en-US" sz="1570">
                  <a:solidFill>
                    <a:srgbClr val="80B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%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47224" y="1359006"/>
              <a:ext cx="2058452" cy="603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80B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de atingimento </a:t>
              </a:r>
              <a:r>
                <a:rPr lang="en-US" b="true" sz="1300">
                  <a:solidFill>
                    <a:srgbClr val="80B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alcançado </a:t>
              </a:r>
              <a:r>
                <a:rPr lang="en-US" sz="1300">
                  <a:solidFill>
                    <a:srgbClr val="80B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em 2025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254" y="1042714"/>
            <a:ext cx="74961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Balanço anual do planejamento estratégico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857" y="1699895"/>
            <a:ext cx="5217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2025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2731119" y="1358216"/>
            <a:ext cx="0" cy="1590933"/>
          </a:xfrm>
          <a:prstGeom prst="line">
            <a:avLst/>
          </a:prstGeom>
          <a:ln cap="rnd" w="285750">
            <a:solidFill>
              <a:srgbClr val="C0C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13994" y="2730991"/>
            <a:ext cx="15824229" cy="6851708"/>
            <a:chOff x="0" y="0"/>
            <a:chExt cx="4167698" cy="18045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67698" cy="1804565"/>
            </a:xfrm>
            <a:custGeom>
              <a:avLst/>
              <a:gdLst/>
              <a:ahLst/>
              <a:cxnLst/>
              <a:rect r="r" b="b" t="t" l="l"/>
              <a:pathLst>
                <a:path h="1804565" w="4167698">
                  <a:moveTo>
                    <a:pt x="24951" y="0"/>
                  </a:moveTo>
                  <a:lnTo>
                    <a:pt x="4142747" y="0"/>
                  </a:lnTo>
                  <a:cubicBezTo>
                    <a:pt x="4156527" y="0"/>
                    <a:pt x="4167698" y="11171"/>
                    <a:pt x="4167698" y="24951"/>
                  </a:cubicBezTo>
                  <a:lnTo>
                    <a:pt x="4167698" y="1779614"/>
                  </a:lnTo>
                  <a:cubicBezTo>
                    <a:pt x="4167698" y="1793394"/>
                    <a:pt x="4156527" y="1804565"/>
                    <a:pt x="4142747" y="1804565"/>
                  </a:cubicBezTo>
                  <a:lnTo>
                    <a:pt x="24951" y="1804565"/>
                  </a:lnTo>
                  <a:cubicBezTo>
                    <a:pt x="11171" y="1804565"/>
                    <a:pt x="0" y="1793394"/>
                    <a:pt x="0" y="1779614"/>
                  </a:cubicBezTo>
                  <a:lnTo>
                    <a:pt x="0" y="24951"/>
                  </a:lnTo>
                  <a:cubicBezTo>
                    <a:pt x="0" y="11171"/>
                    <a:pt x="11171" y="0"/>
                    <a:pt x="24951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C0C0C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167698" cy="1833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987899" y="3619006"/>
            <a:ext cx="1348137" cy="1051047"/>
            <a:chOff x="0" y="0"/>
            <a:chExt cx="475055" cy="3703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97CF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4117087" y="3619006"/>
            <a:ext cx="1348137" cy="1051047"/>
            <a:chOff x="0" y="0"/>
            <a:chExt cx="475055" cy="3703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71B9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6233368" y="3619006"/>
            <a:ext cx="1348137" cy="1051047"/>
            <a:chOff x="0" y="0"/>
            <a:chExt cx="475055" cy="3703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30A1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8364560" y="3619006"/>
            <a:ext cx="1348137" cy="1051047"/>
            <a:chOff x="0" y="0"/>
            <a:chExt cx="475055" cy="3703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2493D4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0466423" y="3619006"/>
            <a:ext cx="1348137" cy="1051047"/>
            <a:chOff x="0" y="0"/>
            <a:chExt cx="475055" cy="3703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0566B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10800000">
            <a:off x="12616987" y="3619006"/>
            <a:ext cx="1348137" cy="1051047"/>
            <a:chOff x="0" y="0"/>
            <a:chExt cx="475055" cy="3703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10800000">
            <a:off x="14761722" y="3619006"/>
            <a:ext cx="1348137" cy="1051047"/>
            <a:chOff x="0" y="0"/>
            <a:chExt cx="475055" cy="3703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055" cy="356146"/>
            </a:xfrm>
            <a:custGeom>
              <a:avLst/>
              <a:gdLst/>
              <a:ahLst/>
              <a:cxnLst/>
              <a:rect r="r" b="b" t="t" l="l"/>
              <a:pathLst>
                <a:path h="356146" w="475055">
                  <a:moveTo>
                    <a:pt x="0" y="36789"/>
                  </a:moveTo>
                  <a:lnTo>
                    <a:pt x="0" y="117678"/>
                  </a:lnTo>
                  <a:cubicBezTo>
                    <a:pt x="0" y="141108"/>
                    <a:pt x="9885" y="163452"/>
                    <a:pt x="27224" y="179212"/>
                  </a:cubicBezTo>
                  <a:lnTo>
                    <a:pt x="210304" y="345622"/>
                  </a:lnTo>
                  <a:cubicBezTo>
                    <a:pt x="225741" y="359653"/>
                    <a:pt x="249314" y="359653"/>
                    <a:pt x="264751" y="345622"/>
                  </a:cubicBezTo>
                  <a:lnTo>
                    <a:pt x="447831" y="179212"/>
                  </a:lnTo>
                  <a:cubicBezTo>
                    <a:pt x="465170" y="163452"/>
                    <a:pt x="475055" y="141108"/>
                    <a:pt x="475055" y="117678"/>
                  </a:cubicBezTo>
                  <a:lnTo>
                    <a:pt x="475055" y="36789"/>
                  </a:lnTo>
                  <a:cubicBezTo>
                    <a:pt x="475055" y="16471"/>
                    <a:pt x="458584" y="0"/>
                    <a:pt x="438266" y="0"/>
                  </a:cubicBezTo>
                  <a:lnTo>
                    <a:pt x="36789" y="0"/>
                  </a:lnTo>
                  <a:cubicBezTo>
                    <a:pt x="16471" y="0"/>
                    <a:pt x="0" y="16471"/>
                    <a:pt x="0" y="36789"/>
                  </a:cubicBezTo>
                  <a:close/>
                </a:path>
              </a:pathLst>
            </a:custGeom>
            <a:solidFill>
              <a:srgbClr val="003A70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175"/>
              <a:ext cx="475055" cy="1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0690" y="8123850"/>
            <a:ext cx="1783330" cy="520944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21663" y="8123850"/>
            <a:ext cx="1783330" cy="509758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35792" y="8123850"/>
            <a:ext cx="1783330" cy="509758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34444" y="8123850"/>
            <a:ext cx="1783330" cy="509758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78742" y="8123850"/>
            <a:ext cx="1783330" cy="509758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92871" y="8123850"/>
            <a:ext cx="1783330" cy="509758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674042" y="8071208"/>
            <a:ext cx="1783330" cy="520944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7258038" y="3021419"/>
            <a:ext cx="377192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OBJETIVOS  ESTRATÉGICOS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542068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74038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916589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315891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72752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20592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71256" y="3940509"/>
            <a:ext cx="239799" cy="56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b="true" sz="3307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19301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170274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284403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383055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527353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45590" y="8886190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846346" y="8833548"/>
            <a:ext cx="136576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sz="1099">
                <a:solidFill>
                  <a:srgbClr val="A6A6A6"/>
                </a:solidFill>
                <a:latin typeface="Open Sans 2"/>
                <a:ea typeface="Open Sans 2"/>
                <a:cs typeface="Open Sans 2"/>
                <a:sym typeface="Open Sans 2"/>
              </a:rPr>
              <a:t>do total previsto para 2025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00176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151149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265278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363931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508228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626466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846346" y="8657018"/>
            <a:ext cx="136576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  <a:spcBef>
                <a:spcPct val="0"/>
              </a:spcBef>
            </a:pPr>
            <a:r>
              <a:rPr lang="en-US" b="true" sz="1099">
                <a:solidFill>
                  <a:srgbClr val="99999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REALIZADO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87899" y="4759988"/>
            <a:ext cx="1348137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To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rnar o setor aquaviário sustentável e resiliente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117589" y="4759988"/>
            <a:ext cx="1347635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Garanti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r a regulamentação do setor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233368" y="4759988"/>
            <a:ext cx="1348137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Ampliar 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o uso do transporte aquaviário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364560" y="4759988"/>
            <a:ext cx="1348137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Impul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sionar a navegação interior na Amazônia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466423" y="4759988"/>
            <a:ext cx="1341067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Fo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rtalecer a governança orientada a resultados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616987" y="4759988"/>
            <a:ext cx="1348137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Fom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entar cultura de inovação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61722" y="4759988"/>
            <a:ext cx="1348137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Digitalizar </a:t>
            </a:r>
            <a:r>
              <a:rPr lang="en-US" sz="1000">
                <a:solidFill>
                  <a:srgbClr val="999999"/>
                </a:solidFill>
                <a:latin typeface="Open Sans 2"/>
                <a:ea typeface="Open Sans 2"/>
                <a:cs typeface="Open Sans 2"/>
                <a:sym typeface="Open Sans 2"/>
              </a:rPr>
              <a:t>e integrar processos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13994" y="5668711"/>
            <a:ext cx="15824229" cy="2138454"/>
            <a:chOff x="0" y="0"/>
            <a:chExt cx="4167698" cy="56321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67698" cy="563214"/>
            </a:xfrm>
            <a:custGeom>
              <a:avLst/>
              <a:gdLst/>
              <a:ahLst/>
              <a:cxnLst/>
              <a:rect r="r" b="b" t="t" l="l"/>
              <a:pathLst>
                <a:path h="563214" w="4167698">
                  <a:moveTo>
                    <a:pt x="0" y="0"/>
                  </a:moveTo>
                  <a:lnTo>
                    <a:pt x="4167698" y="0"/>
                  </a:lnTo>
                  <a:lnTo>
                    <a:pt x="4167698" y="563214"/>
                  </a:lnTo>
                  <a:lnTo>
                    <a:pt x="0" y="563214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4167698" cy="591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-728311">
            <a:off x="2048125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3" y="0"/>
                </a:lnTo>
                <a:lnTo>
                  <a:pt x="1174193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352094">
            <a:off x="1991413" y="6626635"/>
            <a:ext cx="1356139" cy="595430"/>
            <a:chOff x="0" y="0"/>
            <a:chExt cx="357172" cy="15682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2041179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2179125" y="6079184"/>
            <a:ext cx="912192" cy="912192"/>
            <a:chOff x="0" y="0"/>
            <a:chExt cx="812800" cy="812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-728311">
            <a:off x="4177815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3" y="0"/>
                </a:lnTo>
                <a:lnTo>
                  <a:pt x="1174193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352094">
            <a:off x="4125306" y="6626850"/>
            <a:ext cx="1356139" cy="513224"/>
            <a:chOff x="0" y="0"/>
            <a:chExt cx="357172" cy="1351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7172" cy="135170"/>
            </a:xfrm>
            <a:custGeom>
              <a:avLst/>
              <a:gdLst/>
              <a:ahLst/>
              <a:cxnLst/>
              <a:rect r="r" b="b" t="t" l="l"/>
              <a:pathLst>
                <a:path h="135170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35170"/>
                  </a:lnTo>
                  <a:lnTo>
                    <a:pt x="0" y="135170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357172" cy="163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4170870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3" y="0"/>
                </a:lnTo>
                <a:lnTo>
                  <a:pt x="1188083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4308815" y="6079184"/>
            <a:ext cx="912192" cy="912192"/>
            <a:chOff x="0" y="0"/>
            <a:chExt cx="812800" cy="812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-728311">
            <a:off x="6280687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3" y="0"/>
                </a:lnTo>
                <a:lnTo>
                  <a:pt x="1174193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352094">
            <a:off x="6223976" y="6626635"/>
            <a:ext cx="1356139" cy="595430"/>
            <a:chOff x="0" y="0"/>
            <a:chExt cx="357172" cy="15682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6273742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6411688" y="6079184"/>
            <a:ext cx="912192" cy="912192"/>
            <a:chOff x="0" y="0"/>
            <a:chExt cx="812800" cy="812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-728311">
            <a:off x="8411879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4" y="0"/>
                </a:lnTo>
                <a:lnTo>
                  <a:pt x="1174194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352094">
            <a:off x="8355168" y="6626635"/>
            <a:ext cx="1356139" cy="595430"/>
            <a:chOff x="0" y="0"/>
            <a:chExt cx="357172" cy="15682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8404934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8542880" y="6079184"/>
            <a:ext cx="912192" cy="912192"/>
            <a:chOff x="0" y="0"/>
            <a:chExt cx="812800" cy="8128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-728311">
            <a:off x="10543072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3" y="0"/>
                </a:lnTo>
                <a:lnTo>
                  <a:pt x="1174193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352094">
            <a:off x="10486360" y="6626635"/>
            <a:ext cx="1356139" cy="595430"/>
            <a:chOff x="0" y="0"/>
            <a:chExt cx="357172" cy="15682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10536126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10674072" y="6079184"/>
            <a:ext cx="912192" cy="912192"/>
            <a:chOff x="0" y="0"/>
            <a:chExt cx="812800" cy="812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20" id="120"/>
          <p:cNvSpPr/>
          <p:nvPr/>
        </p:nvSpPr>
        <p:spPr>
          <a:xfrm flipH="false" flipV="false" rot="-728311">
            <a:off x="12674264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3" y="0"/>
                </a:lnTo>
                <a:lnTo>
                  <a:pt x="1174193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352094">
            <a:off x="12617553" y="6626635"/>
            <a:ext cx="1356139" cy="595430"/>
            <a:chOff x="0" y="0"/>
            <a:chExt cx="357172" cy="15682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24" id="124"/>
          <p:cNvSpPr/>
          <p:nvPr/>
        </p:nvSpPr>
        <p:spPr>
          <a:xfrm flipH="false" flipV="false" rot="0">
            <a:off x="12667319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12805265" y="6079184"/>
            <a:ext cx="912192" cy="912192"/>
            <a:chOff x="0" y="0"/>
            <a:chExt cx="812800" cy="8128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28" id="128"/>
          <p:cNvSpPr/>
          <p:nvPr/>
        </p:nvSpPr>
        <p:spPr>
          <a:xfrm flipH="false" flipV="false" rot="-728311">
            <a:off x="14805456" y="5930793"/>
            <a:ext cx="1174193" cy="1166854"/>
          </a:xfrm>
          <a:custGeom>
            <a:avLst/>
            <a:gdLst/>
            <a:ahLst/>
            <a:cxnLst/>
            <a:rect r="r" b="b" t="t" l="l"/>
            <a:pathLst>
              <a:path h="1166854" w="1174193">
                <a:moveTo>
                  <a:pt x="0" y="0"/>
                </a:moveTo>
                <a:lnTo>
                  <a:pt x="1174194" y="0"/>
                </a:lnTo>
                <a:lnTo>
                  <a:pt x="1174194" y="1166855"/>
                </a:lnTo>
                <a:lnTo>
                  <a:pt x="0" y="11668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352094">
            <a:off x="14748745" y="6626635"/>
            <a:ext cx="1356139" cy="595430"/>
            <a:chOff x="0" y="0"/>
            <a:chExt cx="357172" cy="15682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57172" cy="156821"/>
            </a:xfrm>
            <a:custGeom>
              <a:avLst/>
              <a:gdLst/>
              <a:ahLst/>
              <a:cxnLst/>
              <a:rect r="r" b="b" t="t" l="l"/>
              <a:pathLst>
                <a:path h="156821" w="357172">
                  <a:moveTo>
                    <a:pt x="0" y="0"/>
                  </a:moveTo>
                  <a:lnTo>
                    <a:pt x="357172" y="0"/>
                  </a:lnTo>
                  <a:lnTo>
                    <a:pt x="357172" y="156821"/>
                  </a:lnTo>
                  <a:lnTo>
                    <a:pt x="0" y="156821"/>
                  </a:ln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357172" cy="18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14798511" y="5961803"/>
            <a:ext cx="1188084" cy="1188084"/>
          </a:xfrm>
          <a:custGeom>
            <a:avLst/>
            <a:gdLst/>
            <a:ahLst/>
            <a:cxnLst/>
            <a:rect r="r" b="b" t="t" l="l"/>
            <a:pathLst>
              <a:path h="1188084" w="1188084">
                <a:moveTo>
                  <a:pt x="0" y="0"/>
                </a:moveTo>
                <a:lnTo>
                  <a:pt x="1188084" y="0"/>
                </a:lnTo>
                <a:lnTo>
                  <a:pt x="1188084" y="1188084"/>
                </a:lnTo>
                <a:lnTo>
                  <a:pt x="0" y="11880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4936457" y="6079184"/>
            <a:ext cx="912192" cy="912192"/>
            <a:chOff x="0" y="0"/>
            <a:chExt cx="812800" cy="8128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BFF"/>
            </a:solidFill>
          </p:spPr>
        </p:sp>
        <p:sp>
          <p:nvSpPr>
            <p:cNvPr name="TextBox 135" id="1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136" id="136"/>
          <p:cNvSpPr txBox="true"/>
          <p:nvPr/>
        </p:nvSpPr>
        <p:spPr>
          <a:xfrm rot="0">
            <a:off x="2436759" y="6268476"/>
            <a:ext cx="39692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97CFEF"/>
                </a:solidFill>
                <a:latin typeface="Poppins Bold"/>
                <a:ea typeface="Poppins Bold"/>
                <a:cs typeface="Poppins Bold"/>
                <a:sym typeface="Poppins Bold"/>
              </a:rPr>
              <a:t>50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4612437" y="6310100"/>
            <a:ext cx="3475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71B9E4"/>
                </a:solidFill>
                <a:latin typeface="Poppins Bold"/>
                <a:ea typeface="Poppins Bold"/>
                <a:cs typeface="Poppins Bold"/>
                <a:sym typeface="Poppins Bold"/>
              </a:rPr>
              <a:t>37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6666122" y="6289535"/>
            <a:ext cx="40332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0A1E4"/>
                </a:solidFill>
                <a:latin typeface="Poppins Bold"/>
                <a:ea typeface="Poppins Bold"/>
                <a:cs typeface="Poppins Bold"/>
                <a:sym typeface="Poppins Bold"/>
              </a:rPr>
              <a:t>112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8806169" y="6268476"/>
            <a:ext cx="3856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493D4"/>
                </a:solidFill>
                <a:latin typeface="Poppins Bold"/>
                <a:ea typeface="Poppins Bold"/>
                <a:cs typeface="Poppins Bold"/>
                <a:sym typeface="Poppins Bold"/>
              </a:rPr>
              <a:t>59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0881253" y="6313123"/>
            <a:ext cx="49783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566B8"/>
                </a:solidFill>
                <a:latin typeface="Poppins Bold"/>
                <a:ea typeface="Poppins Bold"/>
                <a:cs typeface="Poppins Bold"/>
                <a:sym typeface="Poppins Bold"/>
              </a:rPr>
              <a:t>103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3179803" y="6268476"/>
            <a:ext cx="16311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4C98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5184194" y="6268476"/>
            <a:ext cx="41671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3A70"/>
                </a:solidFill>
                <a:latin typeface="Poppins Bold"/>
                <a:ea typeface="Poppins Bold"/>
                <a:cs typeface="Poppins Bold"/>
                <a:sym typeface="Poppins Bold"/>
              </a:rPr>
              <a:t>191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2206001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4322282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6438563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8569756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0706315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4966918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2822182" y="7153941"/>
            <a:ext cx="858441" cy="46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ENTREGAS</a:t>
            </a:r>
          </a:p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b="true" sz="1299">
                <a:solidFill>
                  <a:srgbClr val="A1BDD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PREVISTAS</a:t>
            </a:r>
          </a:p>
        </p:txBody>
      </p:sp>
      <p:grpSp>
        <p:nvGrpSpPr>
          <p:cNvPr name="Group 150" id="150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53" id="153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9778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71769" y="2489"/>
            <a:ext cx="1828628" cy="1715858"/>
            <a:chOff x="0" y="0"/>
            <a:chExt cx="599342" cy="56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1091" y="5140197"/>
            <a:ext cx="1828628" cy="1715858"/>
            <a:chOff x="0" y="0"/>
            <a:chExt cx="599342" cy="562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0397" y="1717021"/>
            <a:ext cx="1828628" cy="1715858"/>
            <a:chOff x="0" y="0"/>
            <a:chExt cx="599342" cy="5623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7653" y="0"/>
            <a:ext cx="1828628" cy="1715858"/>
            <a:chOff x="0" y="0"/>
            <a:chExt cx="599342" cy="562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372" y="2489"/>
            <a:ext cx="1828628" cy="1714533"/>
            <a:chOff x="0" y="0"/>
            <a:chExt cx="695396" cy="6520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5396" cy="652007"/>
            </a:xfrm>
            <a:custGeom>
              <a:avLst/>
              <a:gdLst/>
              <a:ahLst/>
              <a:cxnLst/>
              <a:rect r="r" b="b" t="t" l="l"/>
              <a:pathLst>
                <a:path h="652007" w="695396">
                  <a:moveTo>
                    <a:pt x="0" y="652007"/>
                  </a:moveTo>
                  <a:cubicBezTo>
                    <a:pt x="0" y="480294"/>
                    <a:pt x="74177" y="312388"/>
                    <a:pt x="203677" y="190968"/>
                  </a:cubicBezTo>
                  <a:cubicBezTo>
                    <a:pt x="333177" y="69548"/>
                    <a:pt x="512255" y="0"/>
                    <a:pt x="695396" y="0"/>
                  </a:cubicBezTo>
                  <a:lnTo>
                    <a:pt x="695396" y="602525"/>
                  </a:lnTo>
                  <a:cubicBezTo>
                    <a:pt x="695396" y="615649"/>
                    <a:pt x="690182" y="628235"/>
                    <a:pt x="680903" y="637514"/>
                  </a:cubicBezTo>
                  <a:cubicBezTo>
                    <a:pt x="671623" y="646794"/>
                    <a:pt x="659037" y="652007"/>
                    <a:pt x="645914" y="652007"/>
                  </a:cubicBezTo>
                  <a:lnTo>
                    <a:pt x="0" y="652007"/>
                  </a:ln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5458" y="164063"/>
              <a:ext cx="489938" cy="487944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9025" y="0"/>
            <a:ext cx="1828628" cy="1715858"/>
            <a:chOff x="0" y="0"/>
            <a:chExt cx="599342" cy="5623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0397" y="0"/>
            <a:ext cx="1828628" cy="1715858"/>
            <a:chOff x="0" y="0"/>
            <a:chExt cx="599342" cy="5623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7653" y="8571142"/>
            <a:ext cx="1828628" cy="1715858"/>
            <a:chOff x="0" y="0"/>
            <a:chExt cx="599342" cy="5623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61091" y="6861667"/>
            <a:ext cx="1828628" cy="1715858"/>
            <a:chOff x="0" y="0"/>
            <a:chExt cx="599342" cy="5623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372" y="1715858"/>
            <a:ext cx="1828628" cy="1715858"/>
            <a:chOff x="0" y="0"/>
            <a:chExt cx="599342" cy="5623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30744" y="1714533"/>
            <a:ext cx="1828628" cy="1715858"/>
            <a:chOff x="0" y="0"/>
            <a:chExt cx="599342" cy="562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true" rot="0">
            <a:off x="10971769" y="2489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1714532"/>
                </a:moveTo>
                <a:lnTo>
                  <a:pt x="1714533" y="1714532"/>
                </a:lnTo>
                <a:lnTo>
                  <a:pt x="1714533" y="0"/>
                </a:lnTo>
                <a:lnTo>
                  <a:pt x="0" y="0"/>
                </a:lnTo>
                <a:lnTo>
                  <a:pt x="0" y="17145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629025" y="1714533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630744" y="3422012"/>
            <a:ext cx="1828628" cy="1715858"/>
            <a:chOff x="0" y="0"/>
            <a:chExt cx="599342" cy="562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true" flipV="true" rot="0">
            <a:off x="14746558" y="3423337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1714533" y="1714533"/>
                </a:moveTo>
                <a:lnTo>
                  <a:pt x="0" y="1714533"/>
                </a:lnTo>
                <a:lnTo>
                  <a:pt x="0" y="0"/>
                </a:lnTo>
                <a:lnTo>
                  <a:pt x="1714533" y="0"/>
                </a:lnTo>
                <a:lnTo>
                  <a:pt x="1714533" y="1714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461091" y="6856055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2" y="0"/>
                </a:lnTo>
                <a:lnTo>
                  <a:pt x="1714532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10800000">
            <a:off x="14748080" y="6861667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0" y="0"/>
                </a:moveTo>
                <a:lnTo>
                  <a:pt x="1713011" y="0"/>
                </a:lnTo>
                <a:lnTo>
                  <a:pt x="1713011" y="1713011"/>
                </a:lnTo>
                <a:lnTo>
                  <a:pt x="0" y="1713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-10800000">
            <a:off x="14743120" y="5148656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true" flipV="false" rot="-10800000">
            <a:off x="12917733" y="3422012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77254" y="2191385"/>
            <a:ext cx="5266397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004C98"/>
                </a:solidFill>
                <a:latin typeface="Poppins Bold"/>
                <a:ea typeface="Poppins Bold"/>
                <a:cs typeface="Poppins Bold"/>
                <a:sym typeface="Poppins Bold"/>
              </a:rPr>
              <a:t>Competências Organizacionais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6457448" y="3422012"/>
            <a:ext cx="1828628" cy="1715858"/>
            <a:chOff x="0" y="0"/>
            <a:chExt cx="599342" cy="5623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8765" y="3260075"/>
            <a:ext cx="12725770" cy="6330312"/>
            <a:chOff x="0" y="0"/>
            <a:chExt cx="2914689" cy="14498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4689" cy="1449884"/>
            </a:xfrm>
            <a:custGeom>
              <a:avLst/>
              <a:gdLst/>
              <a:ahLst/>
              <a:cxnLst/>
              <a:rect r="r" b="b" t="t" l="l"/>
              <a:pathLst>
                <a:path h="1449884" w="2914689">
                  <a:moveTo>
                    <a:pt x="31027" y="0"/>
                  </a:moveTo>
                  <a:lnTo>
                    <a:pt x="2883663" y="0"/>
                  </a:lnTo>
                  <a:cubicBezTo>
                    <a:pt x="2900798" y="0"/>
                    <a:pt x="2914689" y="13891"/>
                    <a:pt x="2914689" y="31027"/>
                  </a:cubicBezTo>
                  <a:lnTo>
                    <a:pt x="2914689" y="1418858"/>
                  </a:lnTo>
                  <a:cubicBezTo>
                    <a:pt x="2914689" y="1427086"/>
                    <a:pt x="2911421" y="1434978"/>
                    <a:pt x="2905602" y="1440797"/>
                  </a:cubicBezTo>
                  <a:cubicBezTo>
                    <a:pt x="2899783" y="1446615"/>
                    <a:pt x="2891892" y="1449884"/>
                    <a:pt x="2883663" y="1449884"/>
                  </a:cubicBezTo>
                  <a:lnTo>
                    <a:pt x="31027" y="1449884"/>
                  </a:lnTo>
                  <a:cubicBezTo>
                    <a:pt x="13891" y="1449884"/>
                    <a:pt x="0" y="1435993"/>
                    <a:pt x="0" y="1418858"/>
                  </a:cubicBezTo>
                  <a:lnTo>
                    <a:pt x="0" y="31027"/>
                  </a:lnTo>
                  <a:cubicBezTo>
                    <a:pt x="0" y="13891"/>
                    <a:pt x="13891" y="0"/>
                    <a:pt x="31027" y="0"/>
                  </a:cubicBezTo>
                  <a:close/>
                </a:path>
              </a:pathLst>
            </a:custGeom>
            <a:ln w="9525" cap="rnd">
              <a:solidFill>
                <a:srgbClr val="004C9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914689" cy="1478459"/>
            </a:xfrm>
            <a:prstGeom prst="rect">
              <a:avLst/>
            </a:prstGeom>
          </p:spPr>
          <p:txBody>
            <a:bodyPr anchor="ctr" rtlCol="false" tIns="58416" lIns="58416" bIns="58416" rIns="58416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>
            <a:off x="8873658" y="4704847"/>
            <a:ext cx="7720974" cy="774138"/>
          </a:xfrm>
          <a:custGeom>
            <a:avLst/>
            <a:gdLst/>
            <a:ahLst/>
            <a:cxnLst/>
            <a:rect r="r" b="b" t="t" l="l"/>
            <a:pathLst>
              <a:path h="774138" w="7720974">
                <a:moveTo>
                  <a:pt x="0" y="774138"/>
                </a:moveTo>
                <a:lnTo>
                  <a:pt x="0" y="257175"/>
                </a:lnTo>
                <a:cubicBezTo>
                  <a:pt x="0" y="188968"/>
                  <a:pt x="27095" y="123555"/>
                  <a:pt x="75324" y="75325"/>
                </a:cubicBezTo>
                <a:cubicBezTo>
                  <a:pt x="123554" y="27096"/>
                  <a:pt x="188968" y="0"/>
                  <a:pt x="257175" y="0"/>
                </a:cubicBezTo>
                <a:lnTo>
                  <a:pt x="7463799" y="0"/>
                </a:lnTo>
                <a:cubicBezTo>
                  <a:pt x="7605832" y="0"/>
                  <a:pt x="7720974" y="115141"/>
                  <a:pt x="7720974" y="257175"/>
                </a:cubicBezTo>
                <a:lnTo>
                  <a:pt x="7720974" y="727878"/>
                </a:lnTo>
              </a:path>
            </a:pathLst>
          </a:custGeom>
          <a:ln cap="flat" w="19050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2409603" y="3757670"/>
            <a:ext cx="989859" cy="1144609"/>
            <a:chOff x="0" y="0"/>
            <a:chExt cx="698500" cy="807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6229"/>
              <a:ext cx="698500" cy="773992"/>
            </a:xfrm>
            <a:custGeom>
              <a:avLst/>
              <a:gdLst/>
              <a:ahLst/>
              <a:cxnLst/>
              <a:rect r="r" b="b" t="t" l="l"/>
              <a:pathLst>
                <a:path h="773992" w="698500">
                  <a:moveTo>
                    <a:pt x="401619" y="14050"/>
                  </a:moveTo>
                  <a:lnTo>
                    <a:pt x="646131" y="155422"/>
                  </a:lnTo>
                  <a:cubicBezTo>
                    <a:pt x="678540" y="174161"/>
                    <a:pt x="698500" y="208757"/>
                    <a:pt x="698500" y="246193"/>
                  </a:cubicBezTo>
                  <a:lnTo>
                    <a:pt x="698500" y="527799"/>
                  </a:lnTo>
                  <a:cubicBezTo>
                    <a:pt x="698500" y="565235"/>
                    <a:pt x="678540" y="599831"/>
                    <a:pt x="646131" y="618570"/>
                  </a:cubicBezTo>
                  <a:lnTo>
                    <a:pt x="401619" y="759942"/>
                  </a:lnTo>
                  <a:cubicBezTo>
                    <a:pt x="369219" y="778675"/>
                    <a:pt x="329281" y="778675"/>
                    <a:pt x="296881" y="759942"/>
                  </a:cubicBezTo>
                  <a:lnTo>
                    <a:pt x="52369" y="618570"/>
                  </a:lnTo>
                  <a:cubicBezTo>
                    <a:pt x="19960" y="599831"/>
                    <a:pt x="0" y="565235"/>
                    <a:pt x="0" y="527799"/>
                  </a:cubicBezTo>
                  <a:lnTo>
                    <a:pt x="0" y="246193"/>
                  </a:lnTo>
                  <a:cubicBezTo>
                    <a:pt x="0" y="208757"/>
                    <a:pt x="19960" y="174161"/>
                    <a:pt x="52369" y="155422"/>
                  </a:cubicBezTo>
                  <a:lnTo>
                    <a:pt x="296881" y="14050"/>
                  </a:lnTo>
                  <a:cubicBezTo>
                    <a:pt x="329281" y="-4683"/>
                    <a:pt x="369219" y="-4683"/>
                    <a:pt x="401619" y="140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63381" y="4329975"/>
            <a:ext cx="3254348" cy="788508"/>
            <a:chOff x="0" y="0"/>
            <a:chExt cx="625662" cy="1515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5662" cy="151594"/>
            </a:xfrm>
            <a:custGeom>
              <a:avLst/>
              <a:gdLst/>
              <a:ahLst/>
              <a:cxnLst/>
              <a:rect r="r" b="b" t="t" l="l"/>
              <a:pathLst>
                <a:path h="151594" w="625662">
                  <a:moveTo>
                    <a:pt x="45200" y="0"/>
                  </a:moveTo>
                  <a:lnTo>
                    <a:pt x="580462" y="0"/>
                  </a:lnTo>
                  <a:cubicBezTo>
                    <a:pt x="605426" y="0"/>
                    <a:pt x="625662" y="20237"/>
                    <a:pt x="625662" y="45200"/>
                  </a:cubicBezTo>
                  <a:lnTo>
                    <a:pt x="625662" y="106394"/>
                  </a:lnTo>
                  <a:cubicBezTo>
                    <a:pt x="625662" y="118382"/>
                    <a:pt x="620900" y="129879"/>
                    <a:pt x="612424" y="138355"/>
                  </a:cubicBezTo>
                  <a:cubicBezTo>
                    <a:pt x="603947" y="146832"/>
                    <a:pt x="592450" y="151594"/>
                    <a:pt x="580462" y="151594"/>
                  </a:cubicBezTo>
                  <a:lnTo>
                    <a:pt x="45200" y="151594"/>
                  </a:lnTo>
                  <a:cubicBezTo>
                    <a:pt x="20237" y="151594"/>
                    <a:pt x="0" y="131357"/>
                    <a:pt x="0" y="106394"/>
                  </a:cubicBezTo>
                  <a:lnTo>
                    <a:pt x="0" y="45200"/>
                  </a:lnTo>
                  <a:cubicBezTo>
                    <a:pt x="0" y="20237"/>
                    <a:pt x="20237" y="0"/>
                    <a:pt x="452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25662" cy="151594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09603" y="3664596"/>
            <a:ext cx="989859" cy="1144609"/>
            <a:chOff x="0" y="0"/>
            <a:chExt cx="698500" cy="807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6229"/>
              <a:ext cx="698500" cy="773992"/>
            </a:xfrm>
            <a:custGeom>
              <a:avLst/>
              <a:gdLst/>
              <a:ahLst/>
              <a:cxnLst/>
              <a:rect r="r" b="b" t="t" l="l"/>
              <a:pathLst>
                <a:path h="773992" w="698500">
                  <a:moveTo>
                    <a:pt x="401619" y="14050"/>
                  </a:moveTo>
                  <a:lnTo>
                    <a:pt x="646131" y="155422"/>
                  </a:lnTo>
                  <a:cubicBezTo>
                    <a:pt x="678540" y="174161"/>
                    <a:pt x="698500" y="208757"/>
                    <a:pt x="698500" y="246193"/>
                  </a:cubicBezTo>
                  <a:lnTo>
                    <a:pt x="698500" y="527799"/>
                  </a:lnTo>
                  <a:cubicBezTo>
                    <a:pt x="698500" y="565235"/>
                    <a:pt x="678540" y="599831"/>
                    <a:pt x="646131" y="618570"/>
                  </a:cubicBezTo>
                  <a:lnTo>
                    <a:pt x="401619" y="759942"/>
                  </a:lnTo>
                  <a:cubicBezTo>
                    <a:pt x="369219" y="778675"/>
                    <a:pt x="329281" y="778675"/>
                    <a:pt x="296881" y="759942"/>
                  </a:cubicBezTo>
                  <a:lnTo>
                    <a:pt x="52369" y="618570"/>
                  </a:lnTo>
                  <a:cubicBezTo>
                    <a:pt x="19960" y="599831"/>
                    <a:pt x="0" y="565235"/>
                    <a:pt x="0" y="527799"/>
                  </a:cubicBezTo>
                  <a:lnTo>
                    <a:pt x="0" y="246193"/>
                  </a:lnTo>
                  <a:cubicBezTo>
                    <a:pt x="0" y="208757"/>
                    <a:pt x="19960" y="174161"/>
                    <a:pt x="52369" y="155422"/>
                  </a:cubicBezTo>
                  <a:lnTo>
                    <a:pt x="296881" y="14050"/>
                  </a:lnTo>
                  <a:cubicBezTo>
                    <a:pt x="329281" y="-4683"/>
                    <a:pt x="369219" y="-4683"/>
                    <a:pt x="401619" y="140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21394" y="3793863"/>
            <a:ext cx="766279" cy="886075"/>
            <a:chOff x="0" y="0"/>
            <a:chExt cx="698500" cy="807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0964"/>
              <a:ext cx="698500" cy="764521"/>
            </a:xfrm>
            <a:custGeom>
              <a:avLst/>
              <a:gdLst/>
              <a:ahLst/>
              <a:cxnLst/>
              <a:rect r="r" b="b" t="t" l="l"/>
              <a:pathLst>
                <a:path h="764521" w="698500">
                  <a:moveTo>
                    <a:pt x="416899" y="18149"/>
                  </a:moveTo>
                  <a:lnTo>
                    <a:pt x="630851" y="141853"/>
                  </a:lnTo>
                  <a:cubicBezTo>
                    <a:pt x="672716" y="166058"/>
                    <a:pt x="698500" y="210749"/>
                    <a:pt x="698500" y="259108"/>
                  </a:cubicBezTo>
                  <a:lnTo>
                    <a:pt x="698500" y="505414"/>
                  </a:lnTo>
                  <a:cubicBezTo>
                    <a:pt x="698500" y="553773"/>
                    <a:pt x="672716" y="598464"/>
                    <a:pt x="630851" y="622669"/>
                  </a:cubicBezTo>
                  <a:lnTo>
                    <a:pt x="416899" y="746373"/>
                  </a:lnTo>
                  <a:cubicBezTo>
                    <a:pt x="375046" y="770571"/>
                    <a:pt x="323454" y="770571"/>
                    <a:pt x="281601" y="746373"/>
                  </a:cubicBezTo>
                  <a:lnTo>
                    <a:pt x="67649" y="622669"/>
                  </a:lnTo>
                  <a:cubicBezTo>
                    <a:pt x="25784" y="598464"/>
                    <a:pt x="0" y="553773"/>
                    <a:pt x="0" y="505414"/>
                  </a:cubicBezTo>
                  <a:lnTo>
                    <a:pt x="0" y="259108"/>
                  </a:lnTo>
                  <a:cubicBezTo>
                    <a:pt x="0" y="210749"/>
                    <a:pt x="25784" y="166058"/>
                    <a:pt x="67649" y="141853"/>
                  </a:cubicBezTo>
                  <a:lnTo>
                    <a:pt x="281601" y="18149"/>
                  </a:lnTo>
                  <a:cubicBezTo>
                    <a:pt x="323454" y="-6049"/>
                    <a:pt x="375046" y="-6049"/>
                    <a:pt x="416899" y="18149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712123" y="4017630"/>
            <a:ext cx="384820" cy="438541"/>
          </a:xfrm>
          <a:custGeom>
            <a:avLst/>
            <a:gdLst/>
            <a:ahLst/>
            <a:cxnLst/>
            <a:rect r="r" b="b" t="t" l="l"/>
            <a:pathLst>
              <a:path h="438541" w="384820">
                <a:moveTo>
                  <a:pt x="0" y="0"/>
                </a:moveTo>
                <a:lnTo>
                  <a:pt x="384820" y="0"/>
                </a:lnTo>
                <a:lnTo>
                  <a:pt x="384820" y="438541"/>
                </a:lnTo>
                <a:lnTo>
                  <a:pt x="0" y="438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478768" y="5432725"/>
            <a:ext cx="2231729" cy="665465"/>
            <a:chOff x="0" y="0"/>
            <a:chExt cx="466414" cy="1390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6414" cy="139077"/>
            </a:xfrm>
            <a:custGeom>
              <a:avLst/>
              <a:gdLst/>
              <a:ahLst/>
              <a:cxnLst/>
              <a:rect r="r" b="b" t="t" l="l"/>
              <a:pathLst>
                <a:path h="139077" w="466414">
                  <a:moveTo>
                    <a:pt x="65911" y="0"/>
                  </a:moveTo>
                  <a:lnTo>
                    <a:pt x="400502" y="0"/>
                  </a:lnTo>
                  <a:cubicBezTo>
                    <a:pt x="417983" y="0"/>
                    <a:pt x="434748" y="6944"/>
                    <a:pt x="447109" y="19305"/>
                  </a:cubicBezTo>
                  <a:cubicBezTo>
                    <a:pt x="459469" y="31666"/>
                    <a:pt x="466414" y="48431"/>
                    <a:pt x="466414" y="65911"/>
                  </a:cubicBezTo>
                  <a:lnTo>
                    <a:pt x="466414" y="73165"/>
                  </a:lnTo>
                  <a:cubicBezTo>
                    <a:pt x="466414" y="90646"/>
                    <a:pt x="459469" y="107411"/>
                    <a:pt x="447109" y="119772"/>
                  </a:cubicBezTo>
                  <a:cubicBezTo>
                    <a:pt x="434748" y="132133"/>
                    <a:pt x="417983" y="139077"/>
                    <a:pt x="400502" y="139077"/>
                  </a:cubicBezTo>
                  <a:lnTo>
                    <a:pt x="65911" y="139077"/>
                  </a:lnTo>
                  <a:cubicBezTo>
                    <a:pt x="48431" y="139077"/>
                    <a:pt x="31666" y="132133"/>
                    <a:pt x="19305" y="119772"/>
                  </a:cubicBezTo>
                  <a:cubicBezTo>
                    <a:pt x="6944" y="107411"/>
                    <a:pt x="0" y="90646"/>
                    <a:pt x="0" y="73165"/>
                  </a:cubicBezTo>
                  <a:lnTo>
                    <a:pt x="0" y="65911"/>
                  </a:lnTo>
                  <a:cubicBezTo>
                    <a:pt x="0" y="48431"/>
                    <a:pt x="6944" y="31666"/>
                    <a:pt x="19305" y="19305"/>
                  </a:cubicBezTo>
                  <a:cubicBezTo>
                    <a:pt x="31666" y="6944"/>
                    <a:pt x="48431" y="0"/>
                    <a:pt x="6591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A2D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66414" cy="139077"/>
            </a:xfrm>
            <a:prstGeom prst="rect">
              <a:avLst/>
            </a:prstGeom>
          </p:spPr>
          <p:txBody>
            <a:bodyPr anchor="ctr" rtlCol="false" tIns="113634" lIns="113634" bIns="113634" rIns="113634"/>
            <a:lstStyle/>
            <a:p>
              <a:pPr algn="ctr">
                <a:lnSpc>
                  <a:spcPts val="1440"/>
                </a:lnSpc>
              </a:pPr>
              <a:r>
                <a:rPr lang="en-US" b="true" sz="1200">
                  <a:solidFill>
                    <a:srgbClr val="3D3D3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Ministério da Defesa (MD)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60645" y="5478985"/>
            <a:ext cx="2426025" cy="619204"/>
            <a:chOff x="0" y="0"/>
            <a:chExt cx="466414" cy="1190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414" cy="119045"/>
            </a:xfrm>
            <a:custGeom>
              <a:avLst/>
              <a:gdLst/>
              <a:ahLst/>
              <a:cxnLst/>
              <a:rect r="r" b="b" t="t" l="l"/>
              <a:pathLst>
                <a:path h="119045" w="466414">
                  <a:moveTo>
                    <a:pt x="59522" y="0"/>
                  </a:moveTo>
                  <a:lnTo>
                    <a:pt x="406891" y="0"/>
                  </a:lnTo>
                  <a:cubicBezTo>
                    <a:pt x="422678" y="0"/>
                    <a:pt x="437817" y="6271"/>
                    <a:pt x="448980" y="17434"/>
                  </a:cubicBezTo>
                  <a:cubicBezTo>
                    <a:pt x="460143" y="28596"/>
                    <a:pt x="466414" y="43736"/>
                    <a:pt x="466414" y="59522"/>
                  </a:cubicBezTo>
                  <a:lnTo>
                    <a:pt x="466414" y="59522"/>
                  </a:lnTo>
                  <a:cubicBezTo>
                    <a:pt x="466414" y="75309"/>
                    <a:pt x="460143" y="90448"/>
                    <a:pt x="448980" y="101611"/>
                  </a:cubicBezTo>
                  <a:cubicBezTo>
                    <a:pt x="437817" y="112774"/>
                    <a:pt x="422678" y="119045"/>
                    <a:pt x="406891" y="119045"/>
                  </a:cubicBezTo>
                  <a:lnTo>
                    <a:pt x="59522" y="119045"/>
                  </a:lnTo>
                  <a:cubicBezTo>
                    <a:pt x="43736" y="119045"/>
                    <a:pt x="28596" y="112774"/>
                    <a:pt x="17434" y="101611"/>
                  </a:cubicBezTo>
                  <a:cubicBezTo>
                    <a:pt x="6271" y="90448"/>
                    <a:pt x="0" y="75309"/>
                    <a:pt x="0" y="59522"/>
                  </a:cubicBezTo>
                  <a:lnTo>
                    <a:pt x="0" y="59522"/>
                  </a:lnTo>
                  <a:cubicBezTo>
                    <a:pt x="0" y="43736"/>
                    <a:pt x="6271" y="28596"/>
                    <a:pt x="17434" y="17434"/>
                  </a:cubicBezTo>
                  <a:cubicBezTo>
                    <a:pt x="28596" y="6271"/>
                    <a:pt x="43736" y="0"/>
                    <a:pt x="5952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A2D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66414" cy="119045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1440"/>
                </a:lnSpc>
              </a:pPr>
              <a:r>
                <a:rPr lang="en-US" b="true" sz="1200">
                  <a:solidFill>
                    <a:srgbClr val="3D3D3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Ministério de Portos e Aeroportos (MPOR)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87045" y="6224547"/>
            <a:ext cx="3581550" cy="1400662"/>
            <a:chOff x="0" y="0"/>
            <a:chExt cx="821360" cy="3212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1360" cy="321215"/>
            </a:xfrm>
            <a:custGeom>
              <a:avLst/>
              <a:gdLst/>
              <a:ahLst/>
              <a:cxnLst/>
              <a:rect r="r" b="b" t="t" l="l"/>
              <a:pathLst>
                <a:path h="321215" w="821360">
                  <a:moveTo>
                    <a:pt x="41071" y="0"/>
                  </a:moveTo>
                  <a:lnTo>
                    <a:pt x="780289" y="0"/>
                  </a:lnTo>
                  <a:cubicBezTo>
                    <a:pt x="791182" y="0"/>
                    <a:pt x="801628" y="4327"/>
                    <a:pt x="809331" y="12029"/>
                  </a:cubicBezTo>
                  <a:cubicBezTo>
                    <a:pt x="817033" y="19732"/>
                    <a:pt x="821360" y="30178"/>
                    <a:pt x="821360" y="41071"/>
                  </a:cubicBezTo>
                  <a:lnTo>
                    <a:pt x="821360" y="280144"/>
                  </a:lnTo>
                  <a:cubicBezTo>
                    <a:pt x="821360" y="291037"/>
                    <a:pt x="817033" y="301483"/>
                    <a:pt x="809331" y="309186"/>
                  </a:cubicBezTo>
                  <a:cubicBezTo>
                    <a:pt x="801628" y="316888"/>
                    <a:pt x="791182" y="321215"/>
                    <a:pt x="780289" y="321215"/>
                  </a:cubicBezTo>
                  <a:lnTo>
                    <a:pt x="41071" y="321215"/>
                  </a:lnTo>
                  <a:cubicBezTo>
                    <a:pt x="30178" y="321215"/>
                    <a:pt x="19732" y="316888"/>
                    <a:pt x="12029" y="309186"/>
                  </a:cubicBezTo>
                  <a:cubicBezTo>
                    <a:pt x="4327" y="301483"/>
                    <a:pt x="0" y="291037"/>
                    <a:pt x="0" y="280144"/>
                  </a:cubicBezTo>
                  <a:lnTo>
                    <a:pt x="0" y="41071"/>
                  </a:lnTo>
                  <a:cubicBezTo>
                    <a:pt x="0" y="30178"/>
                    <a:pt x="4327" y="19732"/>
                    <a:pt x="12029" y="12029"/>
                  </a:cubicBezTo>
                  <a:cubicBezTo>
                    <a:pt x="19732" y="4327"/>
                    <a:pt x="30178" y="0"/>
                    <a:pt x="41071" y="0"/>
                  </a:cubicBezTo>
                  <a:close/>
                </a:path>
              </a:pathLst>
            </a:custGeom>
            <a:solidFill>
              <a:srgbClr val="72BAE3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21360" cy="330740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27411" y="6407469"/>
            <a:ext cx="2109163" cy="916422"/>
            <a:chOff x="0" y="0"/>
            <a:chExt cx="405496" cy="1761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5496" cy="176186"/>
            </a:xfrm>
            <a:custGeom>
              <a:avLst/>
              <a:gdLst/>
              <a:ahLst/>
              <a:cxnLst/>
              <a:rect r="r" b="b" t="t" l="l"/>
              <a:pathLst>
                <a:path h="176186" w="405496">
                  <a:moveTo>
                    <a:pt x="69742" y="0"/>
                  </a:moveTo>
                  <a:lnTo>
                    <a:pt x="335754" y="0"/>
                  </a:lnTo>
                  <a:cubicBezTo>
                    <a:pt x="354251" y="0"/>
                    <a:pt x="371990" y="7348"/>
                    <a:pt x="385069" y="20427"/>
                  </a:cubicBezTo>
                  <a:cubicBezTo>
                    <a:pt x="398148" y="33506"/>
                    <a:pt x="405496" y="51245"/>
                    <a:pt x="405496" y="69742"/>
                  </a:cubicBezTo>
                  <a:lnTo>
                    <a:pt x="405496" y="106444"/>
                  </a:lnTo>
                  <a:cubicBezTo>
                    <a:pt x="405496" y="144962"/>
                    <a:pt x="374271" y="176186"/>
                    <a:pt x="335754" y="176186"/>
                  </a:cubicBezTo>
                  <a:lnTo>
                    <a:pt x="69742" y="176186"/>
                  </a:lnTo>
                  <a:cubicBezTo>
                    <a:pt x="51245" y="176186"/>
                    <a:pt x="33506" y="168838"/>
                    <a:pt x="20427" y="155759"/>
                  </a:cubicBezTo>
                  <a:cubicBezTo>
                    <a:pt x="7348" y="142680"/>
                    <a:pt x="0" y="124941"/>
                    <a:pt x="0" y="106444"/>
                  </a:cubicBezTo>
                  <a:lnTo>
                    <a:pt x="0" y="69742"/>
                  </a:lnTo>
                  <a:cubicBezTo>
                    <a:pt x="0" y="31224"/>
                    <a:pt x="31224" y="0"/>
                    <a:pt x="6974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05496" cy="176186"/>
            </a:xfrm>
            <a:prstGeom prst="rect">
              <a:avLst/>
            </a:prstGeom>
          </p:spPr>
          <p:txBody>
            <a:bodyPr anchor="ctr" rtlCol="false" tIns="99430" lIns="99430" bIns="99430" rIns="99430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Departamento Nacional de Infraestrutura de Transportes (DNIT)​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64362" y="5972920"/>
            <a:ext cx="608465" cy="703590"/>
            <a:chOff x="0" y="0"/>
            <a:chExt cx="698500" cy="807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26402"/>
              <a:ext cx="698500" cy="753647"/>
            </a:xfrm>
            <a:custGeom>
              <a:avLst/>
              <a:gdLst/>
              <a:ahLst/>
              <a:cxnLst/>
              <a:rect r="r" b="b" t="t" l="l"/>
              <a:pathLst>
                <a:path h="753647" w="698500">
                  <a:moveTo>
                    <a:pt x="434445" y="22856"/>
                  </a:moveTo>
                  <a:lnTo>
                    <a:pt x="613305" y="126270"/>
                  </a:lnTo>
                  <a:cubicBezTo>
                    <a:pt x="666029" y="156754"/>
                    <a:pt x="698500" y="213036"/>
                    <a:pt x="698500" y="273938"/>
                  </a:cubicBezTo>
                  <a:lnTo>
                    <a:pt x="698500" y="479708"/>
                  </a:lnTo>
                  <a:cubicBezTo>
                    <a:pt x="698500" y="540610"/>
                    <a:pt x="666029" y="596892"/>
                    <a:pt x="613305" y="627376"/>
                  </a:cubicBezTo>
                  <a:lnTo>
                    <a:pt x="434445" y="730790"/>
                  </a:lnTo>
                  <a:cubicBezTo>
                    <a:pt x="381736" y="761265"/>
                    <a:pt x="316764" y="761265"/>
                    <a:pt x="264055" y="730790"/>
                  </a:cubicBezTo>
                  <a:lnTo>
                    <a:pt x="85195" y="627376"/>
                  </a:lnTo>
                  <a:cubicBezTo>
                    <a:pt x="32471" y="596892"/>
                    <a:pt x="0" y="540610"/>
                    <a:pt x="0" y="479708"/>
                  </a:cubicBezTo>
                  <a:lnTo>
                    <a:pt x="0" y="273938"/>
                  </a:lnTo>
                  <a:cubicBezTo>
                    <a:pt x="0" y="213036"/>
                    <a:pt x="32471" y="156754"/>
                    <a:pt x="85195" y="126270"/>
                  </a:cubicBezTo>
                  <a:lnTo>
                    <a:pt x="264055" y="22856"/>
                  </a:lnTo>
                  <a:cubicBezTo>
                    <a:pt x="316764" y="-7619"/>
                    <a:pt x="381736" y="-7619"/>
                    <a:pt x="434445" y="22856"/>
                  </a:cubicBezTo>
                  <a:close/>
                </a:path>
              </a:pathLst>
            </a:custGeom>
            <a:solidFill>
              <a:srgbClr val="71B9E4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31824" y="6384690"/>
            <a:ext cx="896404" cy="955307"/>
            <a:chOff x="0" y="0"/>
            <a:chExt cx="205573" cy="2190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5573" cy="219081"/>
            </a:xfrm>
            <a:custGeom>
              <a:avLst/>
              <a:gdLst/>
              <a:ahLst/>
              <a:cxnLst/>
              <a:rect r="r" b="b" t="t" l="l"/>
              <a:pathLst>
                <a:path h="219081" w="205573">
                  <a:moveTo>
                    <a:pt x="102786" y="0"/>
                  </a:moveTo>
                  <a:lnTo>
                    <a:pt x="102786" y="0"/>
                  </a:lnTo>
                  <a:cubicBezTo>
                    <a:pt x="159554" y="0"/>
                    <a:pt x="205573" y="46019"/>
                    <a:pt x="205573" y="102786"/>
                  </a:cubicBezTo>
                  <a:lnTo>
                    <a:pt x="205573" y="116295"/>
                  </a:lnTo>
                  <a:cubicBezTo>
                    <a:pt x="205573" y="173062"/>
                    <a:pt x="159554" y="219081"/>
                    <a:pt x="102786" y="219081"/>
                  </a:cubicBezTo>
                  <a:lnTo>
                    <a:pt x="102786" y="219081"/>
                  </a:lnTo>
                  <a:cubicBezTo>
                    <a:pt x="46019" y="219081"/>
                    <a:pt x="0" y="173062"/>
                    <a:pt x="0" y="116295"/>
                  </a:cubicBezTo>
                  <a:lnTo>
                    <a:pt x="0" y="102786"/>
                  </a:lnTo>
                  <a:cubicBezTo>
                    <a:pt x="0" y="46019"/>
                    <a:pt x="46019" y="0"/>
                    <a:pt x="102786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05573" cy="219081"/>
            </a:xfrm>
            <a:prstGeom prst="rect">
              <a:avLst/>
            </a:prstGeom>
          </p:spPr>
          <p:txBody>
            <a:bodyPr anchor="ctr" rtlCol="false" tIns="99430" lIns="99430" bIns="99430" rIns="99430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</a:t>
              </a: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nfra S.A.​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618869" y="6035949"/>
            <a:ext cx="499451" cy="577533"/>
            <a:chOff x="0" y="0"/>
            <a:chExt cx="698500" cy="807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32164"/>
              <a:ext cx="698500" cy="742121"/>
            </a:xfrm>
            <a:custGeom>
              <a:avLst/>
              <a:gdLst/>
              <a:ahLst/>
              <a:cxnLst/>
              <a:rect r="r" b="b" t="t" l="l"/>
              <a:pathLst>
                <a:path h="742121" w="698500">
                  <a:moveTo>
                    <a:pt x="453040" y="27845"/>
                  </a:moveTo>
                  <a:lnTo>
                    <a:pt x="594710" y="109757"/>
                  </a:lnTo>
                  <a:cubicBezTo>
                    <a:pt x="658942" y="146894"/>
                    <a:pt x="698500" y="215460"/>
                    <a:pt x="698500" y="289655"/>
                  </a:cubicBezTo>
                  <a:lnTo>
                    <a:pt x="698500" y="452467"/>
                  </a:lnTo>
                  <a:cubicBezTo>
                    <a:pt x="698500" y="526662"/>
                    <a:pt x="658942" y="595228"/>
                    <a:pt x="594710" y="632365"/>
                  </a:cubicBezTo>
                  <a:lnTo>
                    <a:pt x="453040" y="714277"/>
                  </a:lnTo>
                  <a:cubicBezTo>
                    <a:pt x="388827" y="751403"/>
                    <a:pt x="309673" y="751403"/>
                    <a:pt x="245460" y="714277"/>
                  </a:cubicBezTo>
                  <a:lnTo>
                    <a:pt x="103790" y="632365"/>
                  </a:lnTo>
                  <a:cubicBezTo>
                    <a:pt x="39558" y="595228"/>
                    <a:pt x="0" y="526662"/>
                    <a:pt x="0" y="452467"/>
                  </a:cubicBezTo>
                  <a:lnTo>
                    <a:pt x="0" y="289655"/>
                  </a:lnTo>
                  <a:cubicBezTo>
                    <a:pt x="0" y="215460"/>
                    <a:pt x="39558" y="146894"/>
                    <a:pt x="103790" y="109757"/>
                  </a:cubicBezTo>
                  <a:lnTo>
                    <a:pt x="245460" y="27845"/>
                  </a:lnTo>
                  <a:cubicBezTo>
                    <a:pt x="309673" y="-9281"/>
                    <a:pt x="388827" y="-9281"/>
                    <a:pt x="453040" y="27845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715330" y="6171450"/>
            <a:ext cx="306530" cy="306530"/>
          </a:xfrm>
          <a:custGeom>
            <a:avLst/>
            <a:gdLst/>
            <a:ahLst/>
            <a:cxnLst/>
            <a:rect r="r" b="b" t="t" l="l"/>
            <a:pathLst>
              <a:path h="306530" w="306530">
                <a:moveTo>
                  <a:pt x="0" y="0"/>
                </a:moveTo>
                <a:lnTo>
                  <a:pt x="306530" y="0"/>
                </a:lnTo>
                <a:lnTo>
                  <a:pt x="306530" y="306530"/>
                </a:lnTo>
                <a:lnTo>
                  <a:pt x="0" y="306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 flipH="true" flipV="true">
            <a:off x="12890555" y="6064163"/>
            <a:ext cx="0" cy="160385"/>
          </a:xfrm>
          <a:prstGeom prst="line">
            <a:avLst/>
          </a:prstGeom>
          <a:ln cap="flat" w="19050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1527411" y="7679662"/>
            <a:ext cx="2109163" cy="716698"/>
            <a:chOff x="0" y="0"/>
            <a:chExt cx="405496" cy="1377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5496" cy="137788"/>
            </a:xfrm>
            <a:custGeom>
              <a:avLst/>
              <a:gdLst/>
              <a:ahLst/>
              <a:cxnLst/>
              <a:rect r="r" b="b" t="t" l="l"/>
              <a:pathLst>
                <a:path h="137788" w="405496">
                  <a:moveTo>
                    <a:pt x="68894" y="0"/>
                  </a:moveTo>
                  <a:lnTo>
                    <a:pt x="336601" y="0"/>
                  </a:lnTo>
                  <a:cubicBezTo>
                    <a:pt x="374651" y="0"/>
                    <a:pt x="405496" y="30845"/>
                    <a:pt x="405496" y="68894"/>
                  </a:cubicBezTo>
                  <a:lnTo>
                    <a:pt x="405496" y="68894"/>
                  </a:lnTo>
                  <a:cubicBezTo>
                    <a:pt x="405496" y="106943"/>
                    <a:pt x="374651" y="137788"/>
                    <a:pt x="336601" y="137788"/>
                  </a:cubicBezTo>
                  <a:lnTo>
                    <a:pt x="68894" y="137788"/>
                  </a:lnTo>
                  <a:cubicBezTo>
                    <a:pt x="30845" y="137788"/>
                    <a:pt x="0" y="106943"/>
                    <a:pt x="0" y="68894"/>
                  </a:cubicBezTo>
                  <a:lnTo>
                    <a:pt x="0" y="68894"/>
                  </a:lnTo>
                  <a:cubicBezTo>
                    <a:pt x="0" y="30845"/>
                    <a:pt x="30845" y="0"/>
                    <a:pt x="68894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05496" cy="137788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Gere</a:t>
              </a: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ncia execução de programas voltados à infraestrutura aquaviária​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25337" y="7539965"/>
            <a:ext cx="513312" cy="279395"/>
            <a:chOff x="0" y="0"/>
            <a:chExt cx="484781" cy="2638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4781" cy="263866"/>
            </a:xfrm>
            <a:custGeom>
              <a:avLst/>
              <a:gdLst/>
              <a:ahLst/>
              <a:cxnLst/>
              <a:rect r="r" b="b" t="t" l="l"/>
              <a:pathLst>
                <a:path h="263866" w="484781">
                  <a:moveTo>
                    <a:pt x="242391" y="0"/>
                  </a:moveTo>
                  <a:lnTo>
                    <a:pt x="484781" y="263866"/>
                  </a:lnTo>
                  <a:lnTo>
                    <a:pt x="0" y="263866"/>
                  </a:lnTo>
                  <a:lnTo>
                    <a:pt x="242391" y="0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5747" y="122509"/>
              <a:ext cx="333287" cy="12250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 flipH="true" flipV="true">
            <a:off x="12890555" y="5118482"/>
            <a:ext cx="0" cy="358955"/>
          </a:xfrm>
          <a:prstGeom prst="line">
            <a:avLst/>
          </a:prstGeom>
          <a:ln cap="flat" w="19050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5270055" y="6216697"/>
            <a:ext cx="2269243" cy="556000"/>
            <a:chOff x="0" y="0"/>
            <a:chExt cx="474254" cy="116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4254" cy="116200"/>
            </a:xfrm>
            <a:custGeom>
              <a:avLst/>
              <a:gdLst/>
              <a:ahLst/>
              <a:cxnLst/>
              <a:rect r="r" b="b" t="t" l="l"/>
              <a:pathLst>
                <a:path h="116200" w="474254">
                  <a:moveTo>
                    <a:pt x="57998" y="0"/>
                  </a:moveTo>
                  <a:lnTo>
                    <a:pt x="416255" y="0"/>
                  </a:lnTo>
                  <a:cubicBezTo>
                    <a:pt x="431638" y="0"/>
                    <a:pt x="446390" y="6111"/>
                    <a:pt x="457267" y="16987"/>
                  </a:cubicBezTo>
                  <a:cubicBezTo>
                    <a:pt x="468143" y="27864"/>
                    <a:pt x="474254" y="42616"/>
                    <a:pt x="474254" y="57998"/>
                  </a:cubicBezTo>
                  <a:lnTo>
                    <a:pt x="474254" y="58201"/>
                  </a:lnTo>
                  <a:cubicBezTo>
                    <a:pt x="474254" y="73583"/>
                    <a:pt x="468143" y="88335"/>
                    <a:pt x="457267" y="99212"/>
                  </a:cubicBezTo>
                  <a:cubicBezTo>
                    <a:pt x="446390" y="110089"/>
                    <a:pt x="431638" y="116200"/>
                    <a:pt x="416255" y="116200"/>
                  </a:cubicBezTo>
                  <a:lnTo>
                    <a:pt x="57998" y="116200"/>
                  </a:lnTo>
                  <a:cubicBezTo>
                    <a:pt x="25967" y="116200"/>
                    <a:pt x="0" y="90233"/>
                    <a:pt x="0" y="58201"/>
                  </a:cubicBezTo>
                  <a:lnTo>
                    <a:pt x="0" y="57998"/>
                  </a:lnTo>
                  <a:cubicBezTo>
                    <a:pt x="0" y="25967"/>
                    <a:pt x="25967" y="0"/>
                    <a:pt x="57998" y="0"/>
                  </a:cubicBezTo>
                  <a:close/>
                </a:path>
              </a:pathLst>
            </a:custGeom>
            <a:solidFill>
              <a:srgbClr val="72BAE3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74254" cy="116200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EFEFE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Marinha do Brasil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814905" y="6216697"/>
            <a:ext cx="4015507" cy="2362455"/>
            <a:chOff x="0" y="0"/>
            <a:chExt cx="771998" cy="4541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1998" cy="454192"/>
            </a:xfrm>
            <a:custGeom>
              <a:avLst/>
              <a:gdLst/>
              <a:ahLst/>
              <a:cxnLst/>
              <a:rect r="r" b="b" t="t" l="l"/>
              <a:pathLst>
                <a:path h="454192" w="771998">
                  <a:moveTo>
                    <a:pt x="36632" y="0"/>
                  </a:moveTo>
                  <a:lnTo>
                    <a:pt x="735366" y="0"/>
                  </a:lnTo>
                  <a:cubicBezTo>
                    <a:pt x="745082" y="0"/>
                    <a:pt x="754399" y="3859"/>
                    <a:pt x="761269" y="10729"/>
                  </a:cubicBezTo>
                  <a:cubicBezTo>
                    <a:pt x="768139" y="17599"/>
                    <a:pt x="771998" y="26917"/>
                    <a:pt x="771998" y="36632"/>
                  </a:cubicBezTo>
                  <a:lnTo>
                    <a:pt x="771998" y="417560"/>
                  </a:lnTo>
                  <a:cubicBezTo>
                    <a:pt x="771998" y="427275"/>
                    <a:pt x="768139" y="436593"/>
                    <a:pt x="761269" y="443463"/>
                  </a:cubicBezTo>
                  <a:cubicBezTo>
                    <a:pt x="754399" y="450333"/>
                    <a:pt x="745082" y="454192"/>
                    <a:pt x="735366" y="454192"/>
                  </a:cubicBezTo>
                  <a:lnTo>
                    <a:pt x="36632" y="454192"/>
                  </a:lnTo>
                  <a:cubicBezTo>
                    <a:pt x="26917" y="454192"/>
                    <a:pt x="17599" y="450333"/>
                    <a:pt x="10729" y="443463"/>
                  </a:cubicBezTo>
                  <a:cubicBezTo>
                    <a:pt x="3859" y="436593"/>
                    <a:pt x="0" y="427275"/>
                    <a:pt x="0" y="417560"/>
                  </a:cubicBezTo>
                  <a:lnTo>
                    <a:pt x="0" y="36632"/>
                  </a:lnTo>
                  <a:cubicBezTo>
                    <a:pt x="0" y="26917"/>
                    <a:pt x="3859" y="17599"/>
                    <a:pt x="10729" y="10729"/>
                  </a:cubicBezTo>
                  <a:cubicBezTo>
                    <a:pt x="17599" y="3859"/>
                    <a:pt x="26917" y="0"/>
                    <a:pt x="36632" y="0"/>
                  </a:cubicBezTo>
                  <a:close/>
                </a:path>
              </a:pathLst>
            </a:custGeom>
            <a:solidFill>
              <a:srgbClr val="72BAE3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771998" cy="463717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1560"/>
                </a:lnSpc>
              </a:pPr>
            </a:p>
          </p:txBody>
        </p:sp>
      </p:grpSp>
      <p:sp>
        <p:nvSpPr>
          <p:cNvPr name="AutoShape 58" id="58"/>
          <p:cNvSpPr/>
          <p:nvPr/>
        </p:nvSpPr>
        <p:spPr>
          <a:xfrm flipH="true" flipV="true">
            <a:off x="8873658" y="6098189"/>
            <a:ext cx="900" cy="300961"/>
          </a:xfrm>
          <a:prstGeom prst="line">
            <a:avLst/>
          </a:prstGeom>
          <a:ln cap="flat" w="19050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1774690" y="5432725"/>
            <a:ext cx="2231729" cy="665465"/>
            <a:chOff x="0" y="0"/>
            <a:chExt cx="466414" cy="13907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6414" cy="139077"/>
            </a:xfrm>
            <a:custGeom>
              <a:avLst/>
              <a:gdLst/>
              <a:ahLst/>
              <a:cxnLst/>
              <a:rect r="r" b="b" t="t" l="l"/>
              <a:pathLst>
                <a:path h="139077" w="466414">
                  <a:moveTo>
                    <a:pt x="65911" y="0"/>
                  </a:moveTo>
                  <a:lnTo>
                    <a:pt x="400502" y="0"/>
                  </a:lnTo>
                  <a:cubicBezTo>
                    <a:pt x="417983" y="0"/>
                    <a:pt x="434748" y="6944"/>
                    <a:pt x="447109" y="19305"/>
                  </a:cubicBezTo>
                  <a:cubicBezTo>
                    <a:pt x="459469" y="31666"/>
                    <a:pt x="466414" y="48431"/>
                    <a:pt x="466414" y="65911"/>
                  </a:cubicBezTo>
                  <a:lnTo>
                    <a:pt x="466414" y="73165"/>
                  </a:lnTo>
                  <a:cubicBezTo>
                    <a:pt x="466414" y="90646"/>
                    <a:pt x="459469" y="107411"/>
                    <a:pt x="447109" y="119772"/>
                  </a:cubicBezTo>
                  <a:cubicBezTo>
                    <a:pt x="434748" y="132133"/>
                    <a:pt x="417983" y="139077"/>
                    <a:pt x="400502" y="139077"/>
                  </a:cubicBezTo>
                  <a:lnTo>
                    <a:pt x="65911" y="139077"/>
                  </a:lnTo>
                  <a:cubicBezTo>
                    <a:pt x="48431" y="139077"/>
                    <a:pt x="31666" y="132133"/>
                    <a:pt x="19305" y="119772"/>
                  </a:cubicBezTo>
                  <a:cubicBezTo>
                    <a:pt x="6944" y="107411"/>
                    <a:pt x="0" y="90646"/>
                    <a:pt x="0" y="73165"/>
                  </a:cubicBezTo>
                  <a:lnTo>
                    <a:pt x="0" y="65911"/>
                  </a:lnTo>
                  <a:cubicBezTo>
                    <a:pt x="0" y="48431"/>
                    <a:pt x="6944" y="31666"/>
                    <a:pt x="19305" y="19305"/>
                  </a:cubicBezTo>
                  <a:cubicBezTo>
                    <a:pt x="31666" y="6944"/>
                    <a:pt x="48431" y="0"/>
                    <a:pt x="6591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A2D9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66414" cy="139077"/>
            </a:xfrm>
            <a:prstGeom prst="rect">
              <a:avLst/>
            </a:prstGeom>
          </p:spPr>
          <p:txBody>
            <a:bodyPr anchor="ctr" rtlCol="false" tIns="113634" lIns="113634" bIns="113634" rIns="113634"/>
            <a:lstStyle/>
            <a:p>
              <a:pPr algn="ctr">
                <a:lnSpc>
                  <a:spcPts val="1440"/>
                </a:lnSpc>
              </a:pPr>
              <a:r>
                <a:rPr lang="en-US" b="true" sz="1200">
                  <a:solidFill>
                    <a:srgbClr val="3D3D3D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Ministério dos Transportes (MT)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31824" y="7671813"/>
            <a:ext cx="896404" cy="724548"/>
            <a:chOff x="0" y="0"/>
            <a:chExt cx="205573" cy="16616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5573" cy="166161"/>
            </a:xfrm>
            <a:custGeom>
              <a:avLst/>
              <a:gdLst/>
              <a:ahLst/>
              <a:cxnLst/>
              <a:rect r="r" b="b" t="t" l="l"/>
              <a:pathLst>
                <a:path h="166161" w="205573">
                  <a:moveTo>
                    <a:pt x="83081" y="0"/>
                  </a:moveTo>
                  <a:lnTo>
                    <a:pt x="122492" y="0"/>
                  </a:lnTo>
                  <a:cubicBezTo>
                    <a:pt x="168377" y="0"/>
                    <a:pt x="205573" y="37196"/>
                    <a:pt x="205573" y="83081"/>
                  </a:cubicBezTo>
                  <a:lnTo>
                    <a:pt x="205573" y="83081"/>
                  </a:lnTo>
                  <a:cubicBezTo>
                    <a:pt x="205573" y="128965"/>
                    <a:pt x="168377" y="166161"/>
                    <a:pt x="122492" y="166161"/>
                  </a:cubicBezTo>
                  <a:lnTo>
                    <a:pt x="83081" y="166161"/>
                  </a:lnTo>
                  <a:cubicBezTo>
                    <a:pt x="37196" y="166161"/>
                    <a:pt x="0" y="128965"/>
                    <a:pt x="0" y="83081"/>
                  </a:cubicBezTo>
                  <a:lnTo>
                    <a:pt x="0" y="83081"/>
                  </a:lnTo>
                  <a:cubicBezTo>
                    <a:pt x="0" y="37196"/>
                    <a:pt x="37196" y="0"/>
                    <a:pt x="83081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05573" cy="166161"/>
            </a:xfrm>
            <a:prstGeom prst="rect">
              <a:avLst/>
            </a:prstGeom>
          </p:spPr>
          <p:txBody>
            <a:bodyPr anchor="ctr" rtlCol="false" tIns="99430" lIns="99430" bIns="99430" rIns="99430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Real</a:t>
              </a: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iza estudos técnicos​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923370" y="7539965"/>
            <a:ext cx="513312" cy="279395"/>
            <a:chOff x="0" y="0"/>
            <a:chExt cx="484781" cy="2638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4781" cy="263866"/>
            </a:xfrm>
            <a:custGeom>
              <a:avLst/>
              <a:gdLst/>
              <a:ahLst/>
              <a:cxnLst/>
              <a:rect r="r" b="b" t="t" l="l"/>
              <a:pathLst>
                <a:path h="263866" w="484781">
                  <a:moveTo>
                    <a:pt x="242391" y="0"/>
                  </a:moveTo>
                  <a:lnTo>
                    <a:pt x="484781" y="263866"/>
                  </a:lnTo>
                  <a:lnTo>
                    <a:pt x="0" y="263866"/>
                  </a:lnTo>
                  <a:lnTo>
                    <a:pt x="242391" y="0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5747" y="122509"/>
              <a:ext cx="333287" cy="12250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208746" y="6142902"/>
            <a:ext cx="608465" cy="703590"/>
            <a:chOff x="0" y="0"/>
            <a:chExt cx="698500" cy="807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26402"/>
              <a:ext cx="698500" cy="753647"/>
            </a:xfrm>
            <a:custGeom>
              <a:avLst/>
              <a:gdLst/>
              <a:ahLst/>
              <a:cxnLst/>
              <a:rect r="r" b="b" t="t" l="l"/>
              <a:pathLst>
                <a:path h="753647" w="698500">
                  <a:moveTo>
                    <a:pt x="434445" y="22856"/>
                  </a:moveTo>
                  <a:lnTo>
                    <a:pt x="613305" y="126270"/>
                  </a:lnTo>
                  <a:cubicBezTo>
                    <a:pt x="666029" y="156754"/>
                    <a:pt x="698500" y="213036"/>
                    <a:pt x="698500" y="273938"/>
                  </a:cubicBezTo>
                  <a:lnTo>
                    <a:pt x="698500" y="479708"/>
                  </a:lnTo>
                  <a:cubicBezTo>
                    <a:pt x="698500" y="540610"/>
                    <a:pt x="666029" y="596892"/>
                    <a:pt x="613305" y="627376"/>
                  </a:cubicBezTo>
                  <a:lnTo>
                    <a:pt x="434445" y="730790"/>
                  </a:lnTo>
                  <a:cubicBezTo>
                    <a:pt x="381736" y="761265"/>
                    <a:pt x="316764" y="761265"/>
                    <a:pt x="264055" y="730790"/>
                  </a:cubicBezTo>
                  <a:lnTo>
                    <a:pt x="85195" y="627376"/>
                  </a:lnTo>
                  <a:cubicBezTo>
                    <a:pt x="32471" y="596892"/>
                    <a:pt x="0" y="540610"/>
                    <a:pt x="0" y="479708"/>
                  </a:cubicBezTo>
                  <a:lnTo>
                    <a:pt x="0" y="273938"/>
                  </a:lnTo>
                  <a:cubicBezTo>
                    <a:pt x="0" y="213036"/>
                    <a:pt x="32471" y="156754"/>
                    <a:pt x="85195" y="126270"/>
                  </a:cubicBezTo>
                  <a:lnTo>
                    <a:pt x="264055" y="22856"/>
                  </a:lnTo>
                  <a:cubicBezTo>
                    <a:pt x="316764" y="-7619"/>
                    <a:pt x="381736" y="-7619"/>
                    <a:pt x="434445" y="22856"/>
                  </a:cubicBezTo>
                  <a:close/>
                </a:path>
              </a:pathLst>
            </a:custGeom>
            <a:solidFill>
              <a:srgbClr val="71B9E4"/>
            </a:solidFill>
            <a:ln cap="sq">
              <a:noFill/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263253" y="6205931"/>
            <a:ext cx="499451" cy="577533"/>
            <a:chOff x="0" y="0"/>
            <a:chExt cx="698500" cy="807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32164"/>
              <a:ext cx="698500" cy="742121"/>
            </a:xfrm>
            <a:custGeom>
              <a:avLst/>
              <a:gdLst/>
              <a:ahLst/>
              <a:cxnLst/>
              <a:rect r="r" b="b" t="t" l="l"/>
              <a:pathLst>
                <a:path h="742121" w="698500">
                  <a:moveTo>
                    <a:pt x="453040" y="27845"/>
                  </a:moveTo>
                  <a:lnTo>
                    <a:pt x="594710" y="109757"/>
                  </a:lnTo>
                  <a:cubicBezTo>
                    <a:pt x="658942" y="146894"/>
                    <a:pt x="698500" y="215460"/>
                    <a:pt x="698500" y="289655"/>
                  </a:cubicBezTo>
                  <a:lnTo>
                    <a:pt x="698500" y="452467"/>
                  </a:lnTo>
                  <a:cubicBezTo>
                    <a:pt x="698500" y="526662"/>
                    <a:pt x="658942" y="595228"/>
                    <a:pt x="594710" y="632365"/>
                  </a:cubicBezTo>
                  <a:lnTo>
                    <a:pt x="453040" y="714277"/>
                  </a:lnTo>
                  <a:cubicBezTo>
                    <a:pt x="388827" y="751403"/>
                    <a:pt x="309673" y="751403"/>
                    <a:pt x="245460" y="714277"/>
                  </a:cubicBezTo>
                  <a:lnTo>
                    <a:pt x="103790" y="632365"/>
                  </a:lnTo>
                  <a:cubicBezTo>
                    <a:pt x="39558" y="595228"/>
                    <a:pt x="0" y="526662"/>
                    <a:pt x="0" y="452467"/>
                  </a:cubicBezTo>
                  <a:lnTo>
                    <a:pt x="0" y="289655"/>
                  </a:lnTo>
                  <a:cubicBezTo>
                    <a:pt x="0" y="215460"/>
                    <a:pt x="39558" y="146894"/>
                    <a:pt x="103790" y="109757"/>
                  </a:cubicBezTo>
                  <a:lnTo>
                    <a:pt x="245460" y="27845"/>
                  </a:lnTo>
                  <a:cubicBezTo>
                    <a:pt x="309673" y="-9281"/>
                    <a:pt x="388827" y="-9281"/>
                    <a:pt x="453040" y="27845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7386344" y="6341432"/>
            <a:ext cx="253270" cy="306530"/>
          </a:xfrm>
          <a:custGeom>
            <a:avLst/>
            <a:gdLst/>
            <a:ahLst/>
            <a:cxnLst/>
            <a:rect r="r" b="b" t="t" l="l"/>
            <a:pathLst>
              <a:path h="306530" w="253270">
                <a:moveTo>
                  <a:pt x="0" y="0"/>
                </a:moveTo>
                <a:lnTo>
                  <a:pt x="253270" y="0"/>
                </a:lnTo>
                <a:lnTo>
                  <a:pt x="253270" y="306530"/>
                </a:lnTo>
                <a:lnTo>
                  <a:pt x="0" y="3065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7053388" y="8626533"/>
            <a:ext cx="1991488" cy="716698"/>
            <a:chOff x="0" y="0"/>
            <a:chExt cx="382872" cy="1377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82872" cy="137788"/>
            </a:xfrm>
            <a:custGeom>
              <a:avLst/>
              <a:gdLst/>
              <a:ahLst/>
              <a:cxnLst/>
              <a:rect r="r" b="b" t="t" l="l"/>
              <a:pathLst>
                <a:path h="137788" w="382872">
                  <a:moveTo>
                    <a:pt x="68894" y="0"/>
                  </a:moveTo>
                  <a:lnTo>
                    <a:pt x="313978" y="0"/>
                  </a:lnTo>
                  <a:cubicBezTo>
                    <a:pt x="352027" y="0"/>
                    <a:pt x="382872" y="30845"/>
                    <a:pt x="382872" y="68894"/>
                  </a:cubicBezTo>
                  <a:lnTo>
                    <a:pt x="382872" y="68894"/>
                  </a:lnTo>
                  <a:cubicBezTo>
                    <a:pt x="382872" y="106943"/>
                    <a:pt x="352027" y="137788"/>
                    <a:pt x="313978" y="137788"/>
                  </a:cubicBezTo>
                  <a:lnTo>
                    <a:pt x="68894" y="137788"/>
                  </a:lnTo>
                  <a:cubicBezTo>
                    <a:pt x="30845" y="137788"/>
                    <a:pt x="0" y="106943"/>
                    <a:pt x="0" y="68894"/>
                  </a:cubicBezTo>
                  <a:lnTo>
                    <a:pt x="0" y="68894"/>
                  </a:lnTo>
                  <a:cubicBezTo>
                    <a:pt x="0" y="30845"/>
                    <a:pt x="30845" y="0"/>
                    <a:pt x="68894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82872" cy="137788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Regul</a:t>
              </a: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 navegação, hidrovias, terminais e portos​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779678" y="8486836"/>
            <a:ext cx="513312" cy="279395"/>
            <a:chOff x="0" y="0"/>
            <a:chExt cx="484781" cy="26386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4781" cy="263866"/>
            </a:xfrm>
            <a:custGeom>
              <a:avLst/>
              <a:gdLst/>
              <a:ahLst/>
              <a:cxnLst/>
              <a:rect r="r" b="b" t="t" l="l"/>
              <a:pathLst>
                <a:path h="263866" w="484781">
                  <a:moveTo>
                    <a:pt x="242391" y="0"/>
                  </a:moveTo>
                  <a:lnTo>
                    <a:pt x="484781" y="263866"/>
                  </a:lnTo>
                  <a:lnTo>
                    <a:pt x="0" y="263866"/>
                  </a:lnTo>
                  <a:lnTo>
                    <a:pt x="242391" y="0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75747" y="122509"/>
              <a:ext cx="333287" cy="12250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526179" y="5926660"/>
            <a:ext cx="608465" cy="703590"/>
            <a:chOff x="0" y="0"/>
            <a:chExt cx="698500" cy="8077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26402"/>
              <a:ext cx="698500" cy="753647"/>
            </a:xfrm>
            <a:custGeom>
              <a:avLst/>
              <a:gdLst/>
              <a:ahLst/>
              <a:cxnLst/>
              <a:rect r="r" b="b" t="t" l="l"/>
              <a:pathLst>
                <a:path h="753647" w="698500">
                  <a:moveTo>
                    <a:pt x="434445" y="22856"/>
                  </a:moveTo>
                  <a:lnTo>
                    <a:pt x="613305" y="126270"/>
                  </a:lnTo>
                  <a:cubicBezTo>
                    <a:pt x="666029" y="156754"/>
                    <a:pt x="698500" y="213036"/>
                    <a:pt x="698500" y="273938"/>
                  </a:cubicBezTo>
                  <a:lnTo>
                    <a:pt x="698500" y="479708"/>
                  </a:lnTo>
                  <a:cubicBezTo>
                    <a:pt x="698500" y="540610"/>
                    <a:pt x="666029" y="596892"/>
                    <a:pt x="613305" y="627376"/>
                  </a:cubicBezTo>
                  <a:lnTo>
                    <a:pt x="434445" y="730790"/>
                  </a:lnTo>
                  <a:cubicBezTo>
                    <a:pt x="381736" y="761265"/>
                    <a:pt x="316764" y="761265"/>
                    <a:pt x="264055" y="730790"/>
                  </a:cubicBezTo>
                  <a:lnTo>
                    <a:pt x="85195" y="627376"/>
                  </a:lnTo>
                  <a:cubicBezTo>
                    <a:pt x="32471" y="596892"/>
                    <a:pt x="0" y="540610"/>
                    <a:pt x="0" y="479708"/>
                  </a:cubicBezTo>
                  <a:lnTo>
                    <a:pt x="0" y="273938"/>
                  </a:lnTo>
                  <a:cubicBezTo>
                    <a:pt x="0" y="213036"/>
                    <a:pt x="32471" y="156754"/>
                    <a:pt x="85195" y="126270"/>
                  </a:cubicBezTo>
                  <a:lnTo>
                    <a:pt x="264055" y="22856"/>
                  </a:lnTo>
                  <a:cubicBezTo>
                    <a:pt x="316764" y="-7619"/>
                    <a:pt x="381736" y="-7619"/>
                    <a:pt x="434445" y="22856"/>
                  </a:cubicBezTo>
                  <a:close/>
                </a:path>
              </a:pathLst>
            </a:custGeom>
            <a:solidFill>
              <a:srgbClr val="71B9E4"/>
            </a:solidFill>
            <a:ln cap="sq">
              <a:noFill/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580686" y="5989688"/>
            <a:ext cx="499451" cy="577533"/>
            <a:chOff x="0" y="0"/>
            <a:chExt cx="698500" cy="807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32164"/>
              <a:ext cx="698500" cy="742121"/>
            </a:xfrm>
            <a:custGeom>
              <a:avLst/>
              <a:gdLst/>
              <a:ahLst/>
              <a:cxnLst/>
              <a:rect r="r" b="b" t="t" l="l"/>
              <a:pathLst>
                <a:path h="742121" w="698500">
                  <a:moveTo>
                    <a:pt x="453040" y="27845"/>
                  </a:moveTo>
                  <a:lnTo>
                    <a:pt x="594710" y="109757"/>
                  </a:lnTo>
                  <a:cubicBezTo>
                    <a:pt x="658942" y="146894"/>
                    <a:pt x="698500" y="215460"/>
                    <a:pt x="698500" y="289655"/>
                  </a:cubicBezTo>
                  <a:lnTo>
                    <a:pt x="698500" y="452467"/>
                  </a:lnTo>
                  <a:cubicBezTo>
                    <a:pt x="698500" y="526662"/>
                    <a:pt x="658942" y="595228"/>
                    <a:pt x="594710" y="632365"/>
                  </a:cubicBezTo>
                  <a:lnTo>
                    <a:pt x="453040" y="714277"/>
                  </a:lnTo>
                  <a:cubicBezTo>
                    <a:pt x="388827" y="751403"/>
                    <a:pt x="309673" y="751403"/>
                    <a:pt x="245460" y="714277"/>
                  </a:cubicBezTo>
                  <a:lnTo>
                    <a:pt x="103790" y="632365"/>
                  </a:lnTo>
                  <a:cubicBezTo>
                    <a:pt x="39558" y="595228"/>
                    <a:pt x="0" y="526662"/>
                    <a:pt x="0" y="452467"/>
                  </a:cubicBezTo>
                  <a:lnTo>
                    <a:pt x="0" y="289655"/>
                  </a:lnTo>
                  <a:cubicBezTo>
                    <a:pt x="0" y="215460"/>
                    <a:pt x="39558" y="146894"/>
                    <a:pt x="103790" y="109757"/>
                  </a:cubicBezTo>
                  <a:lnTo>
                    <a:pt x="245460" y="27845"/>
                  </a:lnTo>
                  <a:cubicBezTo>
                    <a:pt x="309673" y="-9281"/>
                    <a:pt x="388827" y="-9281"/>
                    <a:pt x="453040" y="27845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93716" y="147745"/>
              <a:ext cx="511068" cy="51099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0647207" y="6095250"/>
            <a:ext cx="366410" cy="366410"/>
          </a:xfrm>
          <a:custGeom>
            <a:avLst/>
            <a:gdLst/>
            <a:ahLst/>
            <a:cxnLst/>
            <a:rect r="r" b="b" t="t" l="l"/>
            <a:pathLst>
              <a:path h="366410" w="366410">
                <a:moveTo>
                  <a:pt x="0" y="0"/>
                </a:moveTo>
                <a:lnTo>
                  <a:pt x="366410" y="0"/>
                </a:lnTo>
                <a:lnTo>
                  <a:pt x="366410" y="366410"/>
                </a:lnTo>
                <a:lnTo>
                  <a:pt x="0" y="366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5579669" y="6826390"/>
            <a:ext cx="1629077" cy="716698"/>
            <a:chOff x="0" y="0"/>
            <a:chExt cx="313197" cy="1377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3197" cy="137788"/>
            </a:xfrm>
            <a:custGeom>
              <a:avLst/>
              <a:gdLst/>
              <a:ahLst/>
              <a:cxnLst/>
              <a:rect r="r" b="b" t="t" l="l"/>
              <a:pathLst>
                <a:path h="137788" w="313197">
                  <a:moveTo>
                    <a:pt x="68894" y="0"/>
                  </a:moveTo>
                  <a:lnTo>
                    <a:pt x="244303" y="0"/>
                  </a:lnTo>
                  <a:cubicBezTo>
                    <a:pt x="262575" y="0"/>
                    <a:pt x="280098" y="7258"/>
                    <a:pt x="293018" y="20179"/>
                  </a:cubicBezTo>
                  <a:cubicBezTo>
                    <a:pt x="305939" y="33099"/>
                    <a:pt x="313197" y="50622"/>
                    <a:pt x="313197" y="68894"/>
                  </a:cubicBezTo>
                  <a:lnTo>
                    <a:pt x="313197" y="68894"/>
                  </a:lnTo>
                  <a:cubicBezTo>
                    <a:pt x="313197" y="106943"/>
                    <a:pt x="282352" y="137788"/>
                    <a:pt x="244303" y="137788"/>
                  </a:cubicBezTo>
                  <a:lnTo>
                    <a:pt x="68894" y="137788"/>
                  </a:lnTo>
                  <a:cubicBezTo>
                    <a:pt x="30845" y="137788"/>
                    <a:pt x="0" y="106943"/>
                    <a:pt x="0" y="68894"/>
                  </a:cubicBezTo>
                  <a:lnTo>
                    <a:pt x="0" y="68894"/>
                  </a:lnTo>
                  <a:cubicBezTo>
                    <a:pt x="0" y="30845"/>
                    <a:pt x="30845" y="0"/>
                    <a:pt x="68894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313197" cy="137788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080"/>
                </a:lnSpc>
              </a:pP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Atu</a:t>
              </a:r>
              <a:r>
                <a:rPr lang="en-US" sz="9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 como Autoridade Marítima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 flipH="true" flipV="true">
            <a:off x="16594632" y="6098189"/>
            <a:ext cx="0" cy="396508"/>
          </a:xfrm>
          <a:prstGeom prst="line">
            <a:avLst/>
          </a:prstGeom>
          <a:ln cap="flat" w="19050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2" id="92"/>
          <p:cNvGrpSpPr/>
          <p:nvPr/>
        </p:nvGrpSpPr>
        <p:grpSpPr>
          <a:xfrm rot="0">
            <a:off x="16148020" y="6676510"/>
            <a:ext cx="513312" cy="279395"/>
            <a:chOff x="0" y="0"/>
            <a:chExt cx="484781" cy="26386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4781" cy="263866"/>
            </a:xfrm>
            <a:custGeom>
              <a:avLst/>
              <a:gdLst/>
              <a:ahLst/>
              <a:cxnLst/>
              <a:rect r="r" b="b" t="t" l="l"/>
              <a:pathLst>
                <a:path h="263866" w="484781">
                  <a:moveTo>
                    <a:pt x="242391" y="0"/>
                  </a:moveTo>
                  <a:lnTo>
                    <a:pt x="484781" y="263866"/>
                  </a:lnTo>
                  <a:lnTo>
                    <a:pt x="0" y="263866"/>
                  </a:lnTo>
                  <a:lnTo>
                    <a:pt x="242391" y="0"/>
                  </a:ln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75747" y="122509"/>
              <a:ext cx="333287" cy="122509"/>
            </a:xfrm>
            <a:prstGeom prst="rect">
              <a:avLst/>
            </a:prstGeom>
          </p:spPr>
          <p:txBody>
            <a:bodyPr anchor="ctr" rtlCol="false" tIns="56817" lIns="56817" bIns="56817" rIns="56817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148069" y="7485477"/>
            <a:ext cx="1435917" cy="910884"/>
            <a:chOff x="0" y="0"/>
            <a:chExt cx="303923" cy="19279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3923" cy="192796"/>
            </a:xfrm>
            <a:custGeom>
              <a:avLst/>
              <a:gdLst/>
              <a:ahLst/>
              <a:cxnLst/>
              <a:rect r="r" b="b" t="t" l="l"/>
              <a:pathLst>
                <a:path h="192796" w="303923">
                  <a:moveTo>
                    <a:pt x="96398" y="0"/>
                  </a:moveTo>
                  <a:lnTo>
                    <a:pt x="207525" y="0"/>
                  </a:lnTo>
                  <a:cubicBezTo>
                    <a:pt x="233092" y="0"/>
                    <a:pt x="257611" y="10156"/>
                    <a:pt x="275689" y="28234"/>
                  </a:cubicBezTo>
                  <a:cubicBezTo>
                    <a:pt x="293767" y="46312"/>
                    <a:pt x="303923" y="70832"/>
                    <a:pt x="303923" y="96398"/>
                  </a:cubicBezTo>
                  <a:lnTo>
                    <a:pt x="303923" y="96398"/>
                  </a:lnTo>
                  <a:cubicBezTo>
                    <a:pt x="303923" y="149637"/>
                    <a:pt x="260764" y="192796"/>
                    <a:pt x="207525" y="192796"/>
                  </a:cubicBezTo>
                  <a:lnTo>
                    <a:pt x="96398" y="192796"/>
                  </a:lnTo>
                  <a:cubicBezTo>
                    <a:pt x="70832" y="192796"/>
                    <a:pt x="46312" y="182640"/>
                    <a:pt x="28234" y="164561"/>
                  </a:cubicBezTo>
                  <a:cubicBezTo>
                    <a:pt x="10156" y="146483"/>
                    <a:pt x="0" y="121964"/>
                    <a:pt x="0" y="96398"/>
                  </a:cubicBezTo>
                  <a:lnTo>
                    <a:pt x="0" y="96398"/>
                  </a:lnTo>
                  <a:cubicBezTo>
                    <a:pt x="0" y="70832"/>
                    <a:pt x="10156" y="46312"/>
                    <a:pt x="28234" y="28234"/>
                  </a:cubicBezTo>
                  <a:cubicBezTo>
                    <a:pt x="46312" y="10156"/>
                    <a:pt x="70832" y="0"/>
                    <a:pt x="96398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03923" cy="192796"/>
            </a:xfrm>
            <a:prstGeom prst="rect">
              <a:avLst/>
            </a:prstGeom>
          </p:spPr>
          <p:txBody>
            <a:bodyPr anchor="ctr" rtlCol="false" tIns="242251" lIns="242251" bIns="242251" rIns="242251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Administração dos Portos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061331" y="7485477"/>
            <a:ext cx="1991488" cy="910884"/>
            <a:chOff x="0" y="0"/>
            <a:chExt cx="421514" cy="1927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1514" cy="192796"/>
            </a:xfrm>
            <a:custGeom>
              <a:avLst/>
              <a:gdLst/>
              <a:ahLst/>
              <a:cxnLst/>
              <a:rect r="r" b="b" t="t" l="l"/>
              <a:pathLst>
                <a:path h="192796" w="421514">
                  <a:moveTo>
                    <a:pt x="73863" y="0"/>
                  </a:moveTo>
                  <a:lnTo>
                    <a:pt x="347651" y="0"/>
                  </a:lnTo>
                  <a:cubicBezTo>
                    <a:pt x="367241" y="0"/>
                    <a:pt x="386028" y="7782"/>
                    <a:pt x="399880" y="21634"/>
                  </a:cubicBezTo>
                  <a:cubicBezTo>
                    <a:pt x="413732" y="35486"/>
                    <a:pt x="421514" y="54273"/>
                    <a:pt x="421514" y="73863"/>
                  </a:cubicBezTo>
                  <a:lnTo>
                    <a:pt x="421514" y="118933"/>
                  </a:lnTo>
                  <a:cubicBezTo>
                    <a:pt x="421514" y="159726"/>
                    <a:pt x="388445" y="192796"/>
                    <a:pt x="347651" y="192796"/>
                  </a:cubicBezTo>
                  <a:lnTo>
                    <a:pt x="73863" y="192796"/>
                  </a:lnTo>
                  <a:cubicBezTo>
                    <a:pt x="54273" y="192796"/>
                    <a:pt x="35486" y="185014"/>
                    <a:pt x="21634" y="171162"/>
                  </a:cubicBezTo>
                  <a:cubicBezTo>
                    <a:pt x="7782" y="157310"/>
                    <a:pt x="0" y="138523"/>
                    <a:pt x="0" y="118933"/>
                  </a:cubicBezTo>
                  <a:lnTo>
                    <a:pt x="0" y="73863"/>
                  </a:lnTo>
                  <a:cubicBezTo>
                    <a:pt x="0" y="54273"/>
                    <a:pt x="7782" y="35486"/>
                    <a:pt x="21634" y="21634"/>
                  </a:cubicBezTo>
                  <a:cubicBezTo>
                    <a:pt x="35486" y="7782"/>
                    <a:pt x="54273" y="0"/>
                    <a:pt x="73863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421514" cy="192796"/>
            </a:xfrm>
            <a:prstGeom prst="rect">
              <a:avLst/>
            </a:prstGeom>
          </p:spPr>
          <p:txBody>
            <a:bodyPr anchor="ctr" rtlCol="false" tIns="173036" lIns="173036" bIns="173036" rIns="173036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Agência Nacional de Transportes Aquaviários (Antaq)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061331" y="6399489"/>
            <a:ext cx="3522656" cy="447444"/>
            <a:chOff x="0" y="0"/>
            <a:chExt cx="677246" cy="860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77246" cy="86023"/>
            </a:xfrm>
            <a:custGeom>
              <a:avLst/>
              <a:gdLst/>
              <a:ahLst/>
              <a:cxnLst/>
              <a:rect r="r" b="b" t="t" l="l"/>
              <a:pathLst>
                <a:path h="86023" w="677246">
                  <a:moveTo>
                    <a:pt x="30769" y="0"/>
                  </a:moveTo>
                  <a:lnTo>
                    <a:pt x="646477" y="0"/>
                  </a:lnTo>
                  <a:cubicBezTo>
                    <a:pt x="663470" y="0"/>
                    <a:pt x="677246" y="13776"/>
                    <a:pt x="677246" y="30769"/>
                  </a:cubicBezTo>
                  <a:lnTo>
                    <a:pt x="677246" y="55255"/>
                  </a:lnTo>
                  <a:cubicBezTo>
                    <a:pt x="677246" y="72248"/>
                    <a:pt x="663470" y="86023"/>
                    <a:pt x="646477" y="86023"/>
                  </a:cubicBezTo>
                  <a:lnTo>
                    <a:pt x="30769" y="86023"/>
                  </a:lnTo>
                  <a:cubicBezTo>
                    <a:pt x="13776" y="86023"/>
                    <a:pt x="0" y="72248"/>
                    <a:pt x="0" y="55255"/>
                  </a:cubicBezTo>
                  <a:lnTo>
                    <a:pt x="0" y="30769"/>
                  </a:lnTo>
                  <a:cubicBezTo>
                    <a:pt x="0" y="13776"/>
                    <a:pt x="13776" y="0"/>
                    <a:pt x="307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677246" cy="86023"/>
            </a:xfrm>
            <a:prstGeom prst="rect">
              <a:avLst/>
            </a:prstGeom>
          </p:spPr>
          <p:txBody>
            <a:bodyPr anchor="ctr" rtlCol="false" tIns="99430" lIns="99430" bIns="99430" rIns="99430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Secretaria Nacional de Portos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061331" y="6942483"/>
            <a:ext cx="3522656" cy="447444"/>
            <a:chOff x="0" y="0"/>
            <a:chExt cx="677246" cy="860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7246" cy="86023"/>
            </a:xfrm>
            <a:custGeom>
              <a:avLst/>
              <a:gdLst/>
              <a:ahLst/>
              <a:cxnLst/>
              <a:rect r="r" b="b" t="t" l="l"/>
              <a:pathLst>
                <a:path h="86023" w="677246">
                  <a:moveTo>
                    <a:pt x="30769" y="0"/>
                  </a:moveTo>
                  <a:lnTo>
                    <a:pt x="646477" y="0"/>
                  </a:lnTo>
                  <a:cubicBezTo>
                    <a:pt x="663470" y="0"/>
                    <a:pt x="677246" y="13776"/>
                    <a:pt x="677246" y="30769"/>
                  </a:cubicBezTo>
                  <a:lnTo>
                    <a:pt x="677246" y="55255"/>
                  </a:lnTo>
                  <a:cubicBezTo>
                    <a:pt x="677246" y="72248"/>
                    <a:pt x="663470" y="86023"/>
                    <a:pt x="646477" y="86023"/>
                  </a:cubicBezTo>
                  <a:lnTo>
                    <a:pt x="30769" y="86023"/>
                  </a:lnTo>
                  <a:cubicBezTo>
                    <a:pt x="13776" y="86023"/>
                    <a:pt x="0" y="72248"/>
                    <a:pt x="0" y="55255"/>
                  </a:cubicBezTo>
                  <a:lnTo>
                    <a:pt x="0" y="30769"/>
                  </a:lnTo>
                  <a:cubicBezTo>
                    <a:pt x="0" y="13776"/>
                    <a:pt x="13776" y="0"/>
                    <a:pt x="30769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677246" cy="86023"/>
            </a:xfrm>
            <a:prstGeom prst="rect">
              <a:avLst/>
            </a:prstGeom>
          </p:spPr>
          <p:txBody>
            <a:bodyPr anchor="ctr" rtlCol="false" tIns="99430" lIns="99430" bIns="99430" rIns="99430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Secretaria Nacional de Hidrovias e Navegação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615776" y="7196573"/>
            <a:ext cx="1932433" cy="286851"/>
            <a:chOff x="0" y="0"/>
            <a:chExt cx="508954" cy="755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08954" cy="75549"/>
            </a:xfrm>
            <a:custGeom>
              <a:avLst/>
              <a:gdLst/>
              <a:ahLst/>
              <a:cxnLst/>
              <a:rect r="r" b="b" t="t" l="l"/>
              <a:pathLst>
                <a:path h="75549" w="508954">
                  <a:moveTo>
                    <a:pt x="32050" y="0"/>
                  </a:moveTo>
                  <a:lnTo>
                    <a:pt x="476903" y="0"/>
                  </a:lnTo>
                  <a:cubicBezTo>
                    <a:pt x="485403" y="0"/>
                    <a:pt x="493556" y="3377"/>
                    <a:pt x="499566" y="9387"/>
                  </a:cubicBezTo>
                  <a:cubicBezTo>
                    <a:pt x="505577" y="15398"/>
                    <a:pt x="508954" y="23550"/>
                    <a:pt x="508954" y="32050"/>
                  </a:cubicBezTo>
                  <a:lnTo>
                    <a:pt x="508954" y="43499"/>
                  </a:lnTo>
                  <a:cubicBezTo>
                    <a:pt x="508954" y="61200"/>
                    <a:pt x="494604" y="75549"/>
                    <a:pt x="476903" y="75549"/>
                  </a:cubicBezTo>
                  <a:lnTo>
                    <a:pt x="32050" y="75549"/>
                  </a:lnTo>
                  <a:cubicBezTo>
                    <a:pt x="14349" y="75549"/>
                    <a:pt x="0" y="61200"/>
                    <a:pt x="0" y="43499"/>
                  </a:cubicBezTo>
                  <a:lnTo>
                    <a:pt x="0" y="32050"/>
                  </a:lnTo>
                  <a:cubicBezTo>
                    <a:pt x="0" y="14349"/>
                    <a:pt x="14349" y="0"/>
                    <a:pt x="32050" y="0"/>
                  </a:cubicBezTo>
                  <a:close/>
                </a:path>
              </a:pathLst>
            </a:custGeom>
            <a:solidFill>
              <a:srgbClr val="DFEFF8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508954" cy="7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00"/>
                </a:lnSpc>
              </a:pPr>
              <a:r>
                <a:rPr lang="en-US" sz="750">
                  <a:solidFill>
                    <a:srgbClr val="004C98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Diretoria de Infraestrutura Aquaviária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6814905" y="3626226"/>
            <a:ext cx="5273425" cy="26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800" b="true">
                <a:solidFill>
                  <a:srgbClr val="71B9E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Ecossistema </a:t>
            </a:r>
            <a:r>
              <a:rPr lang="en-US" b="true" sz="1800">
                <a:solidFill>
                  <a:srgbClr val="71B9E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aquaviário brasileiro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672486" y="4641687"/>
            <a:ext cx="2436138" cy="27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</a:pPr>
            <a:r>
              <a:rPr lang="en-US" b="true" sz="1453">
                <a:solidFill>
                  <a:srgbClr val="3D3D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Presidência da República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6425968" y="1872092"/>
            <a:ext cx="5983635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Nos termos da </a:t>
            </a:r>
            <a:r>
              <a:rPr lang="en-US" sz="1299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0" tooltip="https://www.planalto.gov.br/ccivil_03/leis/leis_2001/l10233.htm"/>
              </a:rPr>
              <a:t>Lei nº 10.233, de 2001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que dispõe sobre 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nossa criação e competências, somos encarregados de, dentre outras atribuições, promover estudos, exercer poder normativo, celebrar atos de outorga, de transferência e de extinção de direito, bem como contratos de concessão para a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29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77254" y="1042714"/>
            <a:ext cx="260732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Sobre a Agência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748679" y="1930400"/>
            <a:ext cx="4972886" cy="720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sz="13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Entre as doze agências reguladoras do Brasil, nós, da Agência Nacional de Transportes Aquaviários (Antaq), somos a entidade responsável por regular, supervisionar e fiscalizar os serviços de transporte aquaviário e a exploração da infraestrutura portuária e hidroviária no Brasil. Atuamos, ainda, na implementação de políticas formuladas pelo Ministério de Portos e Aeroportos (MPOR), ao qual somos vinculados, e na mediação de conflitos de interesses entre entes regulados e usuários, garantindo a movimentação de bens e pessoas com eficiência, segurança, regularidade, pontualida</a:t>
            </a:r>
            <a:r>
              <a:rPr lang="en-US" sz="1300" u="none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de </a:t>
            </a:r>
            <a:r>
              <a:rPr lang="en-US" sz="13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 modicidade</a:t>
            </a:r>
            <a:r>
              <a:rPr lang="en-US" sz="1300" u="none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tarifária.</a:t>
            </a:r>
          </a:p>
          <a:p>
            <a:pPr algn="l">
              <a:lnSpc>
                <a:spcPts val="2106"/>
              </a:lnSpc>
            </a:pPr>
          </a:p>
          <a:p>
            <a:pPr algn="l">
              <a:lnSpc>
                <a:spcPts val="2106"/>
              </a:lnSpc>
            </a:pPr>
            <a:r>
              <a:rPr lang="en-US" sz="13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Enquanto autarquia sob regime especial, somos caracterizados pela independência administrativa, pela ausência de subordinação hierárquica, pelo mandato fixo e pela estabilidade de nossos dirigentes, além de dispormos de autonomia funcional, decisória e financeira — aspectos reiterados pela </a:t>
            </a:r>
            <a:r>
              <a:rPr lang="en-US" sz="1300">
                <a:solidFill>
                  <a:srgbClr val="004284"/>
                </a:solidFill>
                <a:latin typeface="Open Sans 1"/>
                <a:ea typeface="Open Sans 1"/>
                <a:cs typeface="Open Sans 1"/>
                <a:sym typeface="Open Sans 1"/>
                <a:hlinkClick r:id="rId11" tooltip="https://www.planalto.gov.br/ccivil_03/_ato2019-2022/2019/lei/l13848.htm"/>
              </a:rPr>
              <a:t>Lei nº 13.848, de 25 de junho de 2019</a:t>
            </a:r>
            <a:r>
              <a:rPr lang="en-US" sz="13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conhecida como Lei das Agências.</a:t>
            </a:r>
          </a:p>
          <a:p>
            <a:pPr algn="l">
              <a:lnSpc>
                <a:spcPts val="2106"/>
              </a:lnSpc>
            </a:pPr>
          </a:p>
          <a:p>
            <a:pPr algn="l">
              <a:lnSpc>
                <a:spcPts val="2106"/>
              </a:lnSpc>
            </a:pPr>
            <a:r>
              <a:rPr lang="en-US" sz="13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Ademais, desempenhamos papel estratégico no fortalecimento da governança do setor aquaviário, contribuindo para o desenvolvimento sustentável da logística nacional, para a ampliação da competitividade do comércio exterior e para a integração dos modais de transporte. Pautados pelos princípios da legalidade, transparência, eficiência e interesse público, buscamos continuamente o aprimoramento regulatório e institucional, em benefício da sociedade brasileira.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581993" y="1872092"/>
            <a:ext cx="5388148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exploração dos portos organizados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marítimos, fluviais e lacustres e da infraestrutura hidroviária. Também promovemos e julgamos licitações e representamos o país junto a organismos internacionais e em convenções, acordos e tratados relacionados ao setor aquaviário.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20" id="120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6413" y="1346935"/>
            <a:ext cx="14826229" cy="6994761"/>
            <a:chOff x="0" y="0"/>
            <a:chExt cx="3395775" cy="1602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5775" cy="1602069"/>
            </a:xfrm>
            <a:custGeom>
              <a:avLst/>
              <a:gdLst/>
              <a:ahLst/>
              <a:cxnLst/>
              <a:rect r="r" b="b" t="t" l="l"/>
              <a:pathLst>
                <a:path h="1602069" w="3395775">
                  <a:moveTo>
                    <a:pt x="26631" y="0"/>
                  </a:moveTo>
                  <a:lnTo>
                    <a:pt x="3369144" y="0"/>
                  </a:lnTo>
                  <a:cubicBezTo>
                    <a:pt x="3383852" y="0"/>
                    <a:pt x="3395775" y="11923"/>
                    <a:pt x="3395775" y="26631"/>
                  </a:cubicBezTo>
                  <a:lnTo>
                    <a:pt x="3395775" y="1575438"/>
                  </a:lnTo>
                  <a:cubicBezTo>
                    <a:pt x="3395775" y="1590145"/>
                    <a:pt x="3383852" y="1602069"/>
                    <a:pt x="3369144" y="1602069"/>
                  </a:cubicBezTo>
                  <a:lnTo>
                    <a:pt x="26631" y="1602069"/>
                  </a:lnTo>
                  <a:cubicBezTo>
                    <a:pt x="11923" y="1602069"/>
                    <a:pt x="0" y="1590145"/>
                    <a:pt x="0" y="1575438"/>
                  </a:cubicBezTo>
                  <a:lnTo>
                    <a:pt x="0" y="26631"/>
                  </a:lnTo>
                  <a:cubicBezTo>
                    <a:pt x="0" y="11923"/>
                    <a:pt x="11923" y="0"/>
                    <a:pt x="26631" y="0"/>
                  </a:cubicBezTo>
                  <a:close/>
                </a:path>
              </a:pathLst>
            </a:custGeom>
            <a:ln w="9525" cap="rnd">
              <a:solidFill>
                <a:srgbClr val="004C9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395775" cy="1630644"/>
            </a:xfrm>
            <a:prstGeom prst="rect">
              <a:avLst/>
            </a:prstGeom>
          </p:spPr>
          <p:txBody>
            <a:bodyPr anchor="ctr" rtlCol="false" tIns="58416" lIns="58416" bIns="58416" rIns="58416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84846" y="1636305"/>
            <a:ext cx="2190598" cy="641799"/>
            <a:chOff x="0" y="0"/>
            <a:chExt cx="1797310" cy="526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026" y="0"/>
              <a:ext cx="1785258" cy="526574"/>
            </a:xfrm>
            <a:custGeom>
              <a:avLst/>
              <a:gdLst/>
              <a:ahLst/>
              <a:cxnLst/>
              <a:rect r="r" b="b" t="t" l="l"/>
              <a:pathLst>
                <a:path h="526574" w="1785258">
                  <a:moveTo>
                    <a:pt x="1570413" y="0"/>
                  </a:moveTo>
                  <a:lnTo>
                    <a:pt x="214845" y="0"/>
                  </a:lnTo>
                  <a:cubicBezTo>
                    <a:pt x="203701" y="0"/>
                    <a:pt x="193186" y="5167"/>
                    <a:pt x="186378" y="13989"/>
                  </a:cubicBezTo>
                  <a:lnTo>
                    <a:pt x="4770" y="249298"/>
                  </a:lnTo>
                  <a:cubicBezTo>
                    <a:pt x="-1590" y="257539"/>
                    <a:pt x="-1590" y="269034"/>
                    <a:pt x="4770" y="277276"/>
                  </a:cubicBezTo>
                  <a:lnTo>
                    <a:pt x="186378" y="512585"/>
                  </a:lnTo>
                  <a:cubicBezTo>
                    <a:pt x="193186" y="521407"/>
                    <a:pt x="203701" y="526574"/>
                    <a:pt x="214845" y="526574"/>
                  </a:cubicBezTo>
                  <a:lnTo>
                    <a:pt x="1570413" y="526574"/>
                  </a:lnTo>
                  <a:cubicBezTo>
                    <a:pt x="1581557" y="526574"/>
                    <a:pt x="1592071" y="521407"/>
                    <a:pt x="1598880" y="512585"/>
                  </a:cubicBezTo>
                  <a:lnTo>
                    <a:pt x="1780487" y="277276"/>
                  </a:lnTo>
                  <a:cubicBezTo>
                    <a:pt x="1786848" y="269034"/>
                    <a:pt x="1786848" y="257539"/>
                    <a:pt x="1780487" y="249298"/>
                  </a:cubicBezTo>
                  <a:lnTo>
                    <a:pt x="1598880" y="13989"/>
                  </a:lnTo>
                  <a:cubicBezTo>
                    <a:pt x="1592071" y="5167"/>
                    <a:pt x="1581557" y="0"/>
                    <a:pt x="15704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29554" y="1728968"/>
            <a:ext cx="544443" cy="456473"/>
            <a:chOff x="0" y="0"/>
            <a:chExt cx="756432" cy="634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826" y="0"/>
              <a:ext cx="714781" cy="634209"/>
            </a:xfrm>
            <a:custGeom>
              <a:avLst/>
              <a:gdLst/>
              <a:ahLst/>
              <a:cxnLst/>
              <a:rect r="r" b="b" t="t" l="l"/>
              <a:pathLst>
                <a:path h="634209" w="714781">
                  <a:moveTo>
                    <a:pt x="697246" y="376968"/>
                  </a:moveTo>
                  <a:lnTo>
                    <a:pt x="570766" y="574345"/>
                  </a:lnTo>
                  <a:cubicBezTo>
                    <a:pt x="546864" y="611647"/>
                    <a:pt x="505610" y="634209"/>
                    <a:pt x="461307" y="634209"/>
                  </a:cubicBezTo>
                  <a:lnTo>
                    <a:pt x="253473" y="634209"/>
                  </a:lnTo>
                  <a:cubicBezTo>
                    <a:pt x="209170" y="634209"/>
                    <a:pt x="167917" y="611647"/>
                    <a:pt x="144014" y="574345"/>
                  </a:cubicBezTo>
                  <a:lnTo>
                    <a:pt x="17534" y="376968"/>
                  </a:lnTo>
                  <a:cubicBezTo>
                    <a:pt x="-5845" y="340483"/>
                    <a:pt x="-5845" y="293726"/>
                    <a:pt x="17534" y="257241"/>
                  </a:cubicBezTo>
                  <a:lnTo>
                    <a:pt x="144014" y="59863"/>
                  </a:lnTo>
                  <a:cubicBezTo>
                    <a:pt x="167917" y="22561"/>
                    <a:pt x="209170" y="0"/>
                    <a:pt x="253473" y="0"/>
                  </a:cubicBezTo>
                  <a:lnTo>
                    <a:pt x="461307" y="0"/>
                  </a:lnTo>
                  <a:cubicBezTo>
                    <a:pt x="505610" y="0"/>
                    <a:pt x="546864" y="22561"/>
                    <a:pt x="570766" y="59863"/>
                  </a:cubicBezTo>
                  <a:lnTo>
                    <a:pt x="697246" y="257241"/>
                  </a:lnTo>
                  <a:cubicBezTo>
                    <a:pt x="720625" y="293726"/>
                    <a:pt x="720625" y="340483"/>
                    <a:pt x="697246" y="376968"/>
                  </a:cubicBezTo>
                  <a:close/>
                </a:path>
              </a:pathLst>
            </a:custGeom>
            <a:solidFill>
              <a:srgbClr val="71408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28575"/>
              <a:ext cx="527832" cy="662784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218591" y="1800543"/>
            <a:ext cx="166369" cy="311698"/>
          </a:xfrm>
          <a:custGeom>
            <a:avLst/>
            <a:gdLst/>
            <a:ahLst/>
            <a:cxnLst/>
            <a:rect r="r" b="b" t="t" l="l"/>
            <a:pathLst>
              <a:path h="311698" w="166369">
                <a:moveTo>
                  <a:pt x="0" y="0"/>
                </a:moveTo>
                <a:lnTo>
                  <a:pt x="166369" y="0"/>
                </a:lnTo>
                <a:lnTo>
                  <a:pt x="166369" y="311697"/>
                </a:lnTo>
                <a:lnTo>
                  <a:pt x="0" y="311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56410" y="1752733"/>
            <a:ext cx="1271332" cy="38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  <a:spcBef>
                <a:spcPct val="0"/>
              </a:spcBef>
            </a:pPr>
            <a:r>
              <a:rPr lang="en-US" b="true" sz="114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SETOR PORTUÁRIO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980145" y="2278104"/>
            <a:ext cx="0" cy="342307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>
            <a:off x="11774944" y="2636679"/>
            <a:ext cx="2601622" cy="205617"/>
          </a:xfrm>
          <a:custGeom>
            <a:avLst/>
            <a:gdLst/>
            <a:ahLst/>
            <a:cxnLst/>
            <a:rect r="r" b="b" t="t" l="l"/>
            <a:pathLst>
              <a:path h="205617" w="2601622">
                <a:moveTo>
                  <a:pt x="0" y="205617"/>
                </a:moveTo>
                <a:lnTo>
                  <a:pt x="0" y="102809"/>
                </a:lnTo>
                <a:cubicBezTo>
                  <a:pt x="0" y="75542"/>
                  <a:pt x="10832" y="49392"/>
                  <a:pt x="30112" y="30112"/>
                </a:cubicBezTo>
                <a:cubicBezTo>
                  <a:pt x="49392" y="10831"/>
                  <a:pt x="75542" y="0"/>
                  <a:pt x="102809" y="0"/>
                </a:cubicBezTo>
                <a:lnTo>
                  <a:pt x="2515072" y="0"/>
                </a:lnTo>
                <a:cubicBezTo>
                  <a:pt x="2562872" y="0"/>
                  <a:pt x="2601622" y="38750"/>
                  <a:pt x="2601622" y="86550"/>
                </a:cubicBezTo>
                <a:lnTo>
                  <a:pt x="2601622" y="173101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807427" y="2842296"/>
            <a:ext cx="1935035" cy="570320"/>
            <a:chOff x="0" y="0"/>
            <a:chExt cx="1536228" cy="4527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Portos organizados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07427" y="3519812"/>
            <a:ext cx="1935035" cy="570320"/>
            <a:chOff x="0" y="0"/>
            <a:chExt cx="1536228" cy="4527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Terminais públicos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>
            <a:off x="10611424" y="3127456"/>
            <a:ext cx="228915" cy="4639710"/>
          </a:xfrm>
          <a:custGeom>
            <a:avLst/>
            <a:gdLst/>
            <a:ahLst/>
            <a:cxnLst/>
            <a:rect r="r" b="b" t="t" l="l"/>
            <a:pathLst>
              <a:path h="4639710" w="228915">
                <a:moveTo>
                  <a:pt x="228914" y="4639710"/>
                </a:moveTo>
                <a:lnTo>
                  <a:pt x="114457" y="4639710"/>
                </a:lnTo>
                <a:cubicBezTo>
                  <a:pt x="51244" y="4639710"/>
                  <a:pt x="0" y="4588466"/>
                  <a:pt x="0" y="4525253"/>
                </a:cubicBezTo>
                <a:lnTo>
                  <a:pt x="0" y="106230"/>
                </a:lnTo>
                <a:cubicBezTo>
                  <a:pt x="0" y="78056"/>
                  <a:pt x="11192" y="51036"/>
                  <a:pt x="31113" y="31114"/>
                </a:cubicBezTo>
                <a:cubicBezTo>
                  <a:pt x="51035" y="11192"/>
                  <a:pt x="78055" y="0"/>
                  <a:pt x="106230" y="0"/>
                </a:cubicBezTo>
                <a:lnTo>
                  <a:pt x="212459" y="0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0823883" y="5450656"/>
            <a:ext cx="1935035" cy="570320"/>
            <a:chOff x="0" y="0"/>
            <a:chExt cx="1536228" cy="4527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Portos concedidos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23883" y="6127773"/>
            <a:ext cx="1935035" cy="570320"/>
            <a:chOff x="0" y="0"/>
            <a:chExt cx="1536228" cy="4527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Portos delegados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23883" y="6804889"/>
            <a:ext cx="1935035" cy="570320"/>
            <a:chOff x="0" y="0"/>
            <a:chExt cx="1536228" cy="4527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Canal de acesso concedido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23883" y="7482006"/>
            <a:ext cx="1935035" cy="570320"/>
            <a:chOff x="0" y="0"/>
            <a:chExt cx="1536228" cy="4527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Operadores portuários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23883" y="4196929"/>
            <a:ext cx="1906476" cy="1146930"/>
            <a:chOff x="0" y="0"/>
            <a:chExt cx="423577" cy="2548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3577" cy="254823"/>
            </a:xfrm>
            <a:custGeom>
              <a:avLst/>
              <a:gdLst/>
              <a:ahLst/>
              <a:cxnLst/>
              <a:rect r="r" b="b" t="t" l="l"/>
              <a:pathLst>
                <a:path h="254823" w="423577">
                  <a:moveTo>
                    <a:pt x="48730" y="0"/>
                  </a:moveTo>
                  <a:lnTo>
                    <a:pt x="374847" y="0"/>
                  </a:lnTo>
                  <a:cubicBezTo>
                    <a:pt x="401760" y="0"/>
                    <a:pt x="423577" y="21817"/>
                    <a:pt x="423577" y="48730"/>
                  </a:cubicBezTo>
                  <a:lnTo>
                    <a:pt x="423577" y="206092"/>
                  </a:lnTo>
                  <a:cubicBezTo>
                    <a:pt x="423577" y="233005"/>
                    <a:pt x="401760" y="254823"/>
                    <a:pt x="374847" y="254823"/>
                  </a:cubicBezTo>
                  <a:lnTo>
                    <a:pt x="48730" y="254823"/>
                  </a:lnTo>
                  <a:cubicBezTo>
                    <a:pt x="35806" y="254823"/>
                    <a:pt x="23411" y="249689"/>
                    <a:pt x="14273" y="240550"/>
                  </a:cubicBezTo>
                  <a:cubicBezTo>
                    <a:pt x="5134" y="231411"/>
                    <a:pt x="0" y="219016"/>
                    <a:pt x="0" y="206092"/>
                  </a:cubicBezTo>
                  <a:lnTo>
                    <a:pt x="0" y="48730"/>
                  </a:lnTo>
                  <a:cubicBezTo>
                    <a:pt x="0" y="21817"/>
                    <a:pt x="21817" y="0"/>
                    <a:pt x="4873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99999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23577" cy="273873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1774944" y="4090133"/>
            <a:ext cx="2176" cy="106796"/>
          </a:xfrm>
          <a:prstGeom prst="line">
            <a:avLst/>
          </a:prstGeom>
          <a:ln cap="flat" w="9525">
            <a:solidFill>
              <a:srgbClr val="004C98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1015312" y="4301594"/>
            <a:ext cx="1519266" cy="483000"/>
            <a:chOff x="0" y="0"/>
            <a:chExt cx="1393362" cy="4429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9917" y="0"/>
              <a:ext cx="1373527" cy="442973"/>
            </a:xfrm>
            <a:custGeom>
              <a:avLst/>
              <a:gdLst/>
              <a:ahLst/>
              <a:cxnLst/>
              <a:rect r="r" b="b" t="t" l="l"/>
              <a:pathLst>
                <a:path h="442973" w="1373527">
                  <a:moveTo>
                    <a:pt x="1154765" y="0"/>
                  </a:moveTo>
                  <a:lnTo>
                    <a:pt x="218762" y="0"/>
                  </a:lnTo>
                  <a:cubicBezTo>
                    <a:pt x="202526" y="0"/>
                    <a:pt x="187034" y="6811"/>
                    <a:pt x="176058" y="18775"/>
                  </a:cubicBezTo>
                  <a:lnTo>
                    <a:pt x="7308" y="202711"/>
                  </a:lnTo>
                  <a:cubicBezTo>
                    <a:pt x="-2436" y="213332"/>
                    <a:pt x="-2436" y="229641"/>
                    <a:pt x="7308" y="240261"/>
                  </a:cubicBezTo>
                  <a:lnTo>
                    <a:pt x="176058" y="424198"/>
                  </a:lnTo>
                  <a:cubicBezTo>
                    <a:pt x="187034" y="436162"/>
                    <a:pt x="202526" y="442973"/>
                    <a:pt x="218762" y="442973"/>
                  </a:cubicBezTo>
                  <a:lnTo>
                    <a:pt x="1154765" y="442973"/>
                  </a:lnTo>
                  <a:cubicBezTo>
                    <a:pt x="1171002" y="442973"/>
                    <a:pt x="1186493" y="436162"/>
                    <a:pt x="1197469" y="424198"/>
                  </a:cubicBezTo>
                  <a:lnTo>
                    <a:pt x="1366220" y="240261"/>
                  </a:lnTo>
                  <a:cubicBezTo>
                    <a:pt x="1375963" y="229641"/>
                    <a:pt x="1375963" y="213332"/>
                    <a:pt x="1366220" y="202711"/>
                  </a:cubicBezTo>
                  <a:lnTo>
                    <a:pt x="1197469" y="18775"/>
                  </a:lnTo>
                  <a:cubicBezTo>
                    <a:pt x="1186493" y="6811"/>
                    <a:pt x="1171002" y="0"/>
                    <a:pt x="115476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152400" y="-19050"/>
              <a:ext cx="1088562" cy="462023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A6A6A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Terminais arrendados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015312" y="4787783"/>
            <a:ext cx="1519266" cy="483000"/>
            <a:chOff x="0" y="0"/>
            <a:chExt cx="1393362" cy="4429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917" y="0"/>
              <a:ext cx="1373527" cy="442973"/>
            </a:xfrm>
            <a:custGeom>
              <a:avLst/>
              <a:gdLst/>
              <a:ahLst/>
              <a:cxnLst/>
              <a:rect r="r" b="b" t="t" l="l"/>
              <a:pathLst>
                <a:path h="442973" w="1373527">
                  <a:moveTo>
                    <a:pt x="1154765" y="0"/>
                  </a:moveTo>
                  <a:lnTo>
                    <a:pt x="218762" y="0"/>
                  </a:lnTo>
                  <a:cubicBezTo>
                    <a:pt x="202526" y="0"/>
                    <a:pt x="187034" y="6811"/>
                    <a:pt x="176058" y="18775"/>
                  </a:cubicBezTo>
                  <a:lnTo>
                    <a:pt x="7308" y="202711"/>
                  </a:lnTo>
                  <a:cubicBezTo>
                    <a:pt x="-2436" y="213332"/>
                    <a:pt x="-2436" y="229641"/>
                    <a:pt x="7308" y="240261"/>
                  </a:cubicBezTo>
                  <a:lnTo>
                    <a:pt x="176058" y="424198"/>
                  </a:lnTo>
                  <a:cubicBezTo>
                    <a:pt x="187034" y="436162"/>
                    <a:pt x="202526" y="442973"/>
                    <a:pt x="218762" y="442973"/>
                  </a:cubicBezTo>
                  <a:lnTo>
                    <a:pt x="1154765" y="442973"/>
                  </a:lnTo>
                  <a:cubicBezTo>
                    <a:pt x="1171002" y="442973"/>
                    <a:pt x="1186493" y="436162"/>
                    <a:pt x="1197469" y="424198"/>
                  </a:cubicBezTo>
                  <a:lnTo>
                    <a:pt x="1366220" y="240261"/>
                  </a:lnTo>
                  <a:cubicBezTo>
                    <a:pt x="1375963" y="229641"/>
                    <a:pt x="1375963" y="213332"/>
                    <a:pt x="1366220" y="202711"/>
                  </a:cubicBezTo>
                  <a:lnTo>
                    <a:pt x="1197469" y="18775"/>
                  </a:lnTo>
                  <a:cubicBezTo>
                    <a:pt x="1186493" y="6811"/>
                    <a:pt x="1171002" y="0"/>
                    <a:pt x="115476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152400" y="-19050"/>
              <a:ext cx="1088562" cy="462023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A6A6A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Terminais de uso temporário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10643321" y="3804973"/>
            <a:ext cx="180562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0643321" y="5735816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0643321" y="6412933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10643321" y="7090049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3324801" y="2842296"/>
            <a:ext cx="1935035" cy="570320"/>
            <a:chOff x="0" y="0"/>
            <a:chExt cx="1536228" cy="4527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Terminais privados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324801" y="3519812"/>
            <a:ext cx="1935035" cy="570320"/>
            <a:chOff x="0" y="0"/>
            <a:chExt cx="1536228" cy="45277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Terminais de Uso Privado (TUP)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24801" y="4203219"/>
            <a:ext cx="1935035" cy="714055"/>
            <a:chOff x="0" y="0"/>
            <a:chExt cx="1536228" cy="56689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6430" y="0"/>
              <a:ext cx="1523369" cy="566890"/>
            </a:xfrm>
            <a:custGeom>
              <a:avLst/>
              <a:gdLst/>
              <a:ahLst/>
              <a:cxnLst/>
              <a:rect r="r" b="b" t="t" l="l"/>
              <a:pathLst>
                <a:path h="566890" w="1523369">
                  <a:moveTo>
                    <a:pt x="1306594" y="0"/>
                  </a:moveTo>
                  <a:lnTo>
                    <a:pt x="216775" y="0"/>
                  </a:lnTo>
                  <a:cubicBezTo>
                    <a:pt x="204218" y="0"/>
                    <a:pt x="192431" y="6053"/>
                    <a:pt x="185114" y="16258"/>
                  </a:cubicBezTo>
                  <a:lnTo>
                    <a:pt x="5226" y="267187"/>
                  </a:lnTo>
                  <a:cubicBezTo>
                    <a:pt x="-1742" y="276906"/>
                    <a:pt x="-1742" y="289984"/>
                    <a:pt x="5226" y="299703"/>
                  </a:cubicBezTo>
                  <a:lnTo>
                    <a:pt x="185114" y="550631"/>
                  </a:lnTo>
                  <a:cubicBezTo>
                    <a:pt x="192431" y="560837"/>
                    <a:pt x="204218" y="566890"/>
                    <a:pt x="216775" y="566890"/>
                  </a:cubicBezTo>
                  <a:lnTo>
                    <a:pt x="1306594" y="566890"/>
                  </a:lnTo>
                  <a:cubicBezTo>
                    <a:pt x="1319151" y="566890"/>
                    <a:pt x="1330938" y="560837"/>
                    <a:pt x="1338254" y="550631"/>
                  </a:cubicBezTo>
                  <a:lnTo>
                    <a:pt x="1518143" y="299703"/>
                  </a:lnTo>
                  <a:cubicBezTo>
                    <a:pt x="1525110" y="289984"/>
                    <a:pt x="1525110" y="276906"/>
                    <a:pt x="1518143" y="267187"/>
                  </a:cubicBezTo>
                  <a:lnTo>
                    <a:pt x="1338254" y="16258"/>
                  </a:lnTo>
                  <a:cubicBezTo>
                    <a:pt x="1330938" y="6053"/>
                    <a:pt x="1319151" y="0"/>
                    <a:pt x="130659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152400" y="-19050"/>
              <a:ext cx="1231428" cy="585940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Estação de Transbordo de Carga (ETC)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324801" y="5026803"/>
            <a:ext cx="1935035" cy="570320"/>
            <a:chOff x="0" y="0"/>
            <a:chExt cx="1536228" cy="45277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Instalação Portuária de Turismo (IPT)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64048" y="5703920"/>
            <a:ext cx="1935035" cy="570320"/>
            <a:chOff x="0" y="0"/>
            <a:chExt cx="1536228" cy="45277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7661" y="0"/>
              <a:ext cx="1520906" cy="452778"/>
            </a:xfrm>
            <a:custGeom>
              <a:avLst/>
              <a:gdLst/>
              <a:ahLst/>
              <a:cxnLst/>
              <a:rect r="r" b="b" t="t" l="l"/>
              <a:pathLst>
                <a:path h="452778" w="1520906">
                  <a:moveTo>
                    <a:pt x="1305363" y="0"/>
                  </a:moveTo>
                  <a:lnTo>
                    <a:pt x="215544" y="0"/>
                  </a:lnTo>
                  <a:cubicBezTo>
                    <a:pt x="202812" y="0"/>
                    <a:pt x="190681" y="5413"/>
                    <a:pt x="182177" y="14887"/>
                  </a:cubicBezTo>
                  <a:lnTo>
                    <a:pt x="5701" y="211502"/>
                  </a:lnTo>
                  <a:cubicBezTo>
                    <a:pt x="-1900" y="219971"/>
                    <a:pt x="-1900" y="232807"/>
                    <a:pt x="5701" y="241277"/>
                  </a:cubicBezTo>
                  <a:lnTo>
                    <a:pt x="182177" y="437891"/>
                  </a:lnTo>
                  <a:cubicBezTo>
                    <a:pt x="190681" y="447366"/>
                    <a:pt x="202812" y="452778"/>
                    <a:pt x="215544" y="452778"/>
                  </a:cubicBezTo>
                  <a:lnTo>
                    <a:pt x="1305363" y="452778"/>
                  </a:lnTo>
                  <a:cubicBezTo>
                    <a:pt x="1318094" y="452778"/>
                    <a:pt x="1330225" y="447366"/>
                    <a:pt x="1338730" y="437891"/>
                  </a:cubicBezTo>
                  <a:lnTo>
                    <a:pt x="1515205" y="241277"/>
                  </a:lnTo>
                  <a:cubicBezTo>
                    <a:pt x="1522807" y="232807"/>
                    <a:pt x="1522807" y="219971"/>
                    <a:pt x="1515205" y="211502"/>
                  </a:cubicBezTo>
                  <a:lnTo>
                    <a:pt x="1338730" y="14887"/>
                  </a:lnTo>
                  <a:cubicBezTo>
                    <a:pt x="1330225" y="5413"/>
                    <a:pt x="1318094" y="0"/>
                    <a:pt x="1305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152400" y="-19050"/>
              <a:ext cx="1231428" cy="471828"/>
            </a:xfrm>
            <a:prstGeom prst="rect">
              <a:avLst/>
            </a:prstGeom>
          </p:spPr>
          <p:txBody>
            <a:bodyPr anchor="ctr" rtlCol="false" tIns="60219" lIns="60219" bIns="60219" rIns="60219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Instalação Portuária sob Registro (IPR)</a:t>
              </a:r>
            </a:p>
          </p:txBody>
        </p:sp>
      </p:grpSp>
      <p:sp>
        <p:nvSpPr>
          <p:cNvPr name="Freeform 63" id="63"/>
          <p:cNvSpPr/>
          <p:nvPr/>
        </p:nvSpPr>
        <p:spPr>
          <a:xfrm>
            <a:off x="15243380" y="3127456"/>
            <a:ext cx="239072" cy="2861624"/>
          </a:xfrm>
          <a:custGeom>
            <a:avLst/>
            <a:gdLst/>
            <a:ahLst/>
            <a:cxnLst/>
            <a:rect r="r" b="b" t="t" l="l"/>
            <a:pathLst>
              <a:path h="2861624" w="239072">
                <a:moveTo>
                  <a:pt x="34731" y="2861624"/>
                </a:moveTo>
                <a:lnTo>
                  <a:pt x="136901" y="2861624"/>
                </a:lnTo>
                <a:cubicBezTo>
                  <a:pt x="163999" y="2861624"/>
                  <a:pt x="189986" y="2850860"/>
                  <a:pt x="209147" y="2831699"/>
                </a:cubicBezTo>
                <a:cubicBezTo>
                  <a:pt x="228308" y="2812538"/>
                  <a:pt x="239072" y="2786551"/>
                  <a:pt x="239072" y="2759454"/>
                </a:cubicBezTo>
                <a:lnTo>
                  <a:pt x="239072" y="119536"/>
                </a:lnTo>
                <a:cubicBezTo>
                  <a:pt x="239072" y="87833"/>
                  <a:pt x="226477" y="57429"/>
                  <a:pt x="204060" y="35011"/>
                </a:cubicBezTo>
                <a:cubicBezTo>
                  <a:pt x="181643" y="12594"/>
                  <a:pt x="151238" y="0"/>
                  <a:pt x="119537" y="0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5243380" y="3804973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V="true">
            <a:off x="15243380" y="4488379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5243380" y="5311963"/>
            <a:ext cx="197018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6811409" y="1636305"/>
            <a:ext cx="2190598" cy="641799"/>
            <a:chOff x="0" y="0"/>
            <a:chExt cx="1797310" cy="52657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026" y="0"/>
              <a:ext cx="1785258" cy="526574"/>
            </a:xfrm>
            <a:custGeom>
              <a:avLst/>
              <a:gdLst/>
              <a:ahLst/>
              <a:cxnLst/>
              <a:rect r="r" b="b" t="t" l="l"/>
              <a:pathLst>
                <a:path h="526574" w="1785258">
                  <a:moveTo>
                    <a:pt x="1570413" y="0"/>
                  </a:moveTo>
                  <a:lnTo>
                    <a:pt x="214845" y="0"/>
                  </a:lnTo>
                  <a:cubicBezTo>
                    <a:pt x="203701" y="0"/>
                    <a:pt x="193186" y="5167"/>
                    <a:pt x="186378" y="13989"/>
                  </a:cubicBezTo>
                  <a:lnTo>
                    <a:pt x="4770" y="249298"/>
                  </a:lnTo>
                  <a:cubicBezTo>
                    <a:pt x="-1590" y="257539"/>
                    <a:pt x="-1590" y="269034"/>
                    <a:pt x="4770" y="277276"/>
                  </a:cubicBezTo>
                  <a:lnTo>
                    <a:pt x="186378" y="512585"/>
                  </a:lnTo>
                  <a:cubicBezTo>
                    <a:pt x="193186" y="521407"/>
                    <a:pt x="203701" y="526574"/>
                    <a:pt x="214845" y="526574"/>
                  </a:cubicBezTo>
                  <a:lnTo>
                    <a:pt x="1570413" y="526574"/>
                  </a:lnTo>
                  <a:cubicBezTo>
                    <a:pt x="1581557" y="526574"/>
                    <a:pt x="1592071" y="521407"/>
                    <a:pt x="1598880" y="512585"/>
                  </a:cubicBezTo>
                  <a:lnTo>
                    <a:pt x="1780487" y="277276"/>
                  </a:lnTo>
                  <a:cubicBezTo>
                    <a:pt x="1786848" y="269034"/>
                    <a:pt x="1786848" y="257539"/>
                    <a:pt x="1780487" y="249298"/>
                  </a:cubicBezTo>
                  <a:lnTo>
                    <a:pt x="1598880" y="13989"/>
                  </a:lnTo>
                  <a:cubicBezTo>
                    <a:pt x="1592071" y="5167"/>
                    <a:pt x="1581557" y="0"/>
                    <a:pt x="15704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956117" y="1728968"/>
            <a:ext cx="544443" cy="456473"/>
            <a:chOff x="0" y="0"/>
            <a:chExt cx="756432" cy="63420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20826" y="0"/>
              <a:ext cx="714781" cy="634209"/>
            </a:xfrm>
            <a:custGeom>
              <a:avLst/>
              <a:gdLst/>
              <a:ahLst/>
              <a:cxnLst/>
              <a:rect r="r" b="b" t="t" l="l"/>
              <a:pathLst>
                <a:path h="634209" w="714781">
                  <a:moveTo>
                    <a:pt x="697246" y="376968"/>
                  </a:moveTo>
                  <a:lnTo>
                    <a:pt x="570766" y="574345"/>
                  </a:lnTo>
                  <a:cubicBezTo>
                    <a:pt x="546864" y="611647"/>
                    <a:pt x="505610" y="634209"/>
                    <a:pt x="461307" y="634209"/>
                  </a:cubicBezTo>
                  <a:lnTo>
                    <a:pt x="253473" y="634209"/>
                  </a:lnTo>
                  <a:cubicBezTo>
                    <a:pt x="209170" y="634209"/>
                    <a:pt x="167917" y="611647"/>
                    <a:pt x="144014" y="574345"/>
                  </a:cubicBezTo>
                  <a:lnTo>
                    <a:pt x="17534" y="376968"/>
                  </a:lnTo>
                  <a:cubicBezTo>
                    <a:pt x="-5845" y="340483"/>
                    <a:pt x="-5845" y="293726"/>
                    <a:pt x="17534" y="257241"/>
                  </a:cubicBezTo>
                  <a:lnTo>
                    <a:pt x="144014" y="59863"/>
                  </a:lnTo>
                  <a:cubicBezTo>
                    <a:pt x="167917" y="22561"/>
                    <a:pt x="209170" y="0"/>
                    <a:pt x="253473" y="0"/>
                  </a:cubicBezTo>
                  <a:lnTo>
                    <a:pt x="461307" y="0"/>
                  </a:lnTo>
                  <a:cubicBezTo>
                    <a:pt x="505610" y="0"/>
                    <a:pt x="546864" y="22561"/>
                    <a:pt x="570766" y="59863"/>
                  </a:cubicBezTo>
                  <a:lnTo>
                    <a:pt x="697246" y="257241"/>
                  </a:lnTo>
                  <a:cubicBezTo>
                    <a:pt x="720625" y="293726"/>
                    <a:pt x="720625" y="340483"/>
                    <a:pt x="697246" y="376968"/>
                  </a:cubicBezTo>
                  <a:close/>
                </a:path>
              </a:pathLst>
            </a:custGeom>
            <a:solidFill>
              <a:srgbClr val="FFB855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114300" y="-28575"/>
              <a:ext cx="527832" cy="662784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7060091" y="1788956"/>
            <a:ext cx="336496" cy="336496"/>
          </a:xfrm>
          <a:custGeom>
            <a:avLst/>
            <a:gdLst/>
            <a:ahLst/>
            <a:cxnLst/>
            <a:rect r="r" b="b" t="t" l="l"/>
            <a:pathLst>
              <a:path h="336496" w="336496">
                <a:moveTo>
                  <a:pt x="0" y="0"/>
                </a:moveTo>
                <a:lnTo>
                  <a:pt x="336496" y="0"/>
                </a:lnTo>
                <a:lnTo>
                  <a:pt x="336496" y="336496"/>
                </a:lnTo>
                <a:lnTo>
                  <a:pt x="0" y="336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7500560" y="1852746"/>
            <a:ext cx="1271332" cy="18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  <a:spcBef>
                <a:spcPct val="0"/>
              </a:spcBef>
            </a:pPr>
            <a:r>
              <a:rPr lang="en-US" b="true" sz="114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NAVEGAÇÃO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5802336" y="2850053"/>
            <a:ext cx="1800117" cy="527396"/>
            <a:chOff x="0" y="0"/>
            <a:chExt cx="1797310" cy="52657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Marítima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802336" y="3476578"/>
            <a:ext cx="1800117" cy="527396"/>
            <a:chOff x="0" y="0"/>
            <a:chExt cx="1797310" cy="5265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Apoio marítimo</a:t>
              </a:r>
            </a:p>
          </p:txBody>
        </p:sp>
      </p:grpSp>
      <p:sp>
        <p:nvSpPr>
          <p:cNvPr name="Freeform 81" id="81"/>
          <p:cNvSpPr/>
          <p:nvPr/>
        </p:nvSpPr>
        <p:spPr>
          <a:xfrm>
            <a:off x="5619998" y="3113752"/>
            <a:ext cx="1251146" cy="3127983"/>
          </a:xfrm>
          <a:custGeom>
            <a:avLst/>
            <a:gdLst/>
            <a:ahLst/>
            <a:cxnLst/>
            <a:rect r="r" b="b" t="t" l="l"/>
            <a:pathLst>
              <a:path h="3127983" w="1251146">
                <a:moveTo>
                  <a:pt x="1251147" y="3127983"/>
                </a:moveTo>
                <a:lnTo>
                  <a:pt x="219075" y="3127983"/>
                </a:lnTo>
                <a:cubicBezTo>
                  <a:pt x="98084" y="3127983"/>
                  <a:pt x="0" y="3029900"/>
                  <a:pt x="0" y="2908908"/>
                </a:cubicBezTo>
                <a:lnTo>
                  <a:pt x="0" y="98822"/>
                </a:lnTo>
                <a:cubicBezTo>
                  <a:pt x="0" y="72613"/>
                  <a:pt x="10412" y="47477"/>
                  <a:pt x="28945" y="28944"/>
                </a:cubicBezTo>
                <a:cubicBezTo>
                  <a:pt x="47478" y="10411"/>
                  <a:pt x="72614" y="0"/>
                  <a:pt x="98823" y="0"/>
                </a:cubicBezTo>
                <a:lnTo>
                  <a:pt x="197646" y="0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5805388" y="4102733"/>
            <a:ext cx="1800117" cy="527396"/>
            <a:chOff x="0" y="0"/>
            <a:chExt cx="1797310" cy="52657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Apoio portuário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805388" y="4728888"/>
            <a:ext cx="1800117" cy="527396"/>
            <a:chOff x="0" y="0"/>
            <a:chExt cx="1797310" cy="5265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Cabotagem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805388" y="5355043"/>
            <a:ext cx="1800117" cy="527396"/>
            <a:chOff x="0" y="0"/>
            <a:chExt cx="1797310" cy="5265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Longo curso</a:t>
              </a:r>
            </a:p>
          </p:txBody>
        </p:sp>
      </p:grpSp>
      <p:sp>
        <p:nvSpPr>
          <p:cNvPr name="AutoShape 91" id="91"/>
          <p:cNvSpPr/>
          <p:nvPr/>
        </p:nvSpPr>
        <p:spPr>
          <a:xfrm>
            <a:off x="5649672" y="3740276"/>
            <a:ext cx="167973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5637416" y="4366431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>
            <a:off x="5637416" y="4992586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8144189" y="2850053"/>
            <a:ext cx="1800117" cy="527396"/>
            <a:chOff x="0" y="0"/>
            <a:chExt cx="1797310" cy="52657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Interior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144189" y="3476578"/>
            <a:ext cx="1800117" cy="527396"/>
            <a:chOff x="0" y="0"/>
            <a:chExt cx="1797310" cy="52657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Longitudinal misto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144189" y="4102733"/>
            <a:ext cx="1800117" cy="527396"/>
            <a:chOff x="0" y="0"/>
            <a:chExt cx="1797310" cy="52657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Longitudinal de passageiros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144189" y="4734705"/>
            <a:ext cx="1800117" cy="527396"/>
            <a:chOff x="0" y="0"/>
            <a:chExt cx="1797310" cy="52657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Longitudinal de cargas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144189" y="5360860"/>
            <a:ext cx="1800117" cy="527396"/>
            <a:chOff x="0" y="0"/>
            <a:chExt cx="1797310" cy="52657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306EB6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Travessias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>
            <a:off x="8640645" y="3113752"/>
            <a:ext cx="1510756" cy="3127983"/>
          </a:xfrm>
          <a:custGeom>
            <a:avLst/>
            <a:gdLst/>
            <a:ahLst/>
            <a:cxnLst/>
            <a:rect r="r" b="b" t="t" l="l"/>
            <a:pathLst>
              <a:path h="3127983" w="1510756">
                <a:moveTo>
                  <a:pt x="0" y="3127983"/>
                </a:moveTo>
                <a:lnTo>
                  <a:pt x="1291681" y="3127983"/>
                </a:lnTo>
                <a:cubicBezTo>
                  <a:pt x="1349783" y="3127983"/>
                  <a:pt x="1405505" y="3104902"/>
                  <a:pt x="1446590" y="3063817"/>
                </a:cubicBezTo>
                <a:cubicBezTo>
                  <a:pt x="1487675" y="3022733"/>
                  <a:pt x="1510756" y="2967010"/>
                  <a:pt x="1510756" y="2908908"/>
                </a:cubicBezTo>
                <a:lnTo>
                  <a:pt x="1510756" y="111201"/>
                </a:lnTo>
                <a:cubicBezTo>
                  <a:pt x="1510756" y="81709"/>
                  <a:pt x="1499040" y="53424"/>
                  <a:pt x="1478185" y="32570"/>
                </a:cubicBezTo>
                <a:cubicBezTo>
                  <a:pt x="1457331" y="11715"/>
                  <a:pt x="1429047" y="0"/>
                  <a:pt x="1399555" y="0"/>
                </a:cubicBezTo>
                <a:lnTo>
                  <a:pt x="1288353" y="0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>
            <a:off x="9928998" y="3740276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flipV="true">
            <a:off x="9928998" y="4372248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>
            <a:off x="9928998" y="4998403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13" id="113"/>
          <p:cNvGrpSpPr/>
          <p:nvPr/>
        </p:nvGrpSpPr>
        <p:grpSpPr>
          <a:xfrm rot="0">
            <a:off x="6855836" y="5978037"/>
            <a:ext cx="1800117" cy="527396"/>
            <a:chOff x="0" y="0"/>
            <a:chExt cx="1797310" cy="5265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333" y="0"/>
              <a:ext cx="1782643" cy="526574"/>
            </a:xfrm>
            <a:custGeom>
              <a:avLst/>
              <a:gdLst/>
              <a:ahLst/>
              <a:cxnLst/>
              <a:rect r="r" b="b" t="t" l="l"/>
              <a:pathLst>
                <a:path h="526574" w="1782643">
                  <a:moveTo>
                    <a:pt x="1565273" y="0"/>
                  </a:moveTo>
                  <a:lnTo>
                    <a:pt x="217371" y="0"/>
                  </a:lnTo>
                  <a:cubicBezTo>
                    <a:pt x="203809" y="0"/>
                    <a:pt x="191014" y="6288"/>
                    <a:pt x="182729" y="17024"/>
                  </a:cubicBezTo>
                  <a:lnTo>
                    <a:pt x="5805" y="246263"/>
                  </a:lnTo>
                  <a:cubicBezTo>
                    <a:pt x="-1935" y="256293"/>
                    <a:pt x="-1935" y="270281"/>
                    <a:pt x="5805" y="280310"/>
                  </a:cubicBezTo>
                  <a:lnTo>
                    <a:pt x="182729" y="509550"/>
                  </a:lnTo>
                  <a:cubicBezTo>
                    <a:pt x="191014" y="520286"/>
                    <a:pt x="203809" y="526574"/>
                    <a:pt x="217371" y="526574"/>
                  </a:cubicBezTo>
                  <a:lnTo>
                    <a:pt x="1565273" y="526574"/>
                  </a:lnTo>
                  <a:cubicBezTo>
                    <a:pt x="1578834" y="526574"/>
                    <a:pt x="1591629" y="520286"/>
                    <a:pt x="1599915" y="509550"/>
                  </a:cubicBezTo>
                  <a:lnTo>
                    <a:pt x="1776838" y="280310"/>
                  </a:lnTo>
                  <a:cubicBezTo>
                    <a:pt x="1784578" y="270281"/>
                    <a:pt x="1784578" y="256293"/>
                    <a:pt x="1776838" y="246263"/>
                  </a:cubicBezTo>
                  <a:lnTo>
                    <a:pt x="1599915" y="17024"/>
                  </a:lnTo>
                  <a:cubicBezTo>
                    <a:pt x="1591629" y="6288"/>
                    <a:pt x="1578834" y="0"/>
                    <a:pt x="156527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1B9E4"/>
              </a:solidFill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7883" lIns="47883" bIns="47883" rIns="47883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004C98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Embarcações em construção</a:t>
              </a:r>
            </a:p>
          </p:txBody>
        </p:sp>
      </p:grpSp>
      <p:sp>
        <p:nvSpPr>
          <p:cNvPr name="AutoShape 116" id="116"/>
          <p:cNvSpPr/>
          <p:nvPr/>
        </p:nvSpPr>
        <p:spPr>
          <a:xfrm>
            <a:off x="7885699" y="2309148"/>
            <a:ext cx="0" cy="332807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17" id="117"/>
          <p:cNvSpPr/>
          <p:nvPr/>
        </p:nvSpPr>
        <p:spPr>
          <a:xfrm>
            <a:off x="6702395" y="2659911"/>
            <a:ext cx="2341853" cy="190142"/>
          </a:xfrm>
          <a:custGeom>
            <a:avLst/>
            <a:gdLst/>
            <a:ahLst/>
            <a:cxnLst/>
            <a:rect r="r" b="b" t="t" l="l"/>
            <a:pathLst>
              <a:path h="190142" w="2341853">
                <a:moveTo>
                  <a:pt x="0" y="190142"/>
                </a:moveTo>
                <a:lnTo>
                  <a:pt x="0" y="95071"/>
                </a:lnTo>
                <a:cubicBezTo>
                  <a:pt x="0" y="69857"/>
                  <a:pt x="10016" y="45675"/>
                  <a:pt x="27845" y="27846"/>
                </a:cubicBezTo>
                <a:cubicBezTo>
                  <a:pt x="45675" y="10017"/>
                  <a:pt x="69856" y="0"/>
                  <a:pt x="95071" y="0"/>
                </a:cubicBezTo>
                <a:lnTo>
                  <a:pt x="2246782" y="0"/>
                </a:lnTo>
                <a:cubicBezTo>
                  <a:pt x="2299288" y="0"/>
                  <a:pt x="2341853" y="42565"/>
                  <a:pt x="2341853" y="95071"/>
                </a:cubicBezTo>
                <a:lnTo>
                  <a:pt x="2341853" y="190142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 flipV="true">
            <a:off x="9928998" y="5624558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9" id="119"/>
          <p:cNvSpPr/>
          <p:nvPr/>
        </p:nvSpPr>
        <p:spPr>
          <a:xfrm>
            <a:off x="5637416" y="5618741"/>
            <a:ext cx="183281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20" id="120"/>
          <p:cNvGrpSpPr/>
          <p:nvPr/>
        </p:nvGrpSpPr>
        <p:grpSpPr>
          <a:xfrm rot="0">
            <a:off x="2980330" y="1636305"/>
            <a:ext cx="2190598" cy="641799"/>
            <a:chOff x="0" y="0"/>
            <a:chExt cx="1797310" cy="52657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6026" y="0"/>
              <a:ext cx="1785258" cy="526574"/>
            </a:xfrm>
            <a:custGeom>
              <a:avLst/>
              <a:gdLst/>
              <a:ahLst/>
              <a:cxnLst/>
              <a:rect r="r" b="b" t="t" l="l"/>
              <a:pathLst>
                <a:path h="526574" w="1785258">
                  <a:moveTo>
                    <a:pt x="1570413" y="0"/>
                  </a:moveTo>
                  <a:lnTo>
                    <a:pt x="214845" y="0"/>
                  </a:lnTo>
                  <a:cubicBezTo>
                    <a:pt x="203701" y="0"/>
                    <a:pt x="193186" y="5167"/>
                    <a:pt x="186378" y="13989"/>
                  </a:cubicBezTo>
                  <a:lnTo>
                    <a:pt x="4770" y="249298"/>
                  </a:lnTo>
                  <a:cubicBezTo>
                    <a:pt x="-1590" y="257539"/>
                    <a:pt x="-1590" y="269034"/>
                    <a:pt x="4770" y="277276"/>
                  </a:cubicBezTo>
                  <a:lnTo>
                    <a:pt x="186378" y="512585"/>
                  </a:lnTo>
                  <a:cubicBezTo>
                    <a:pt x="193186" y="521407"/>
                    <a:pt x="203701" y="526574"/>
                    <a:pt x="214845" y="526574"/>
                  </a:cubicBezTo>
                  <a:lnTo>
                    <a:pt x="1570413" y="526574"/>
                  </a:lnTo>
                  <a:cubicBezTo>
                    <a:pt x="1581557" y="526574"/>
                    <a:pt x="1592071" y="521407"/>
                    <a:pt x="1598880" y="512585"/>
                  </a:cubicBezTo>
                  <a:lnTo>
                    <a:pt x="1780487" y="277276"/>
                  </a:lnTo>
                  <a:cubicBezTo>
                    <a:pt x="1786848" y="269034"/>
                    <a:pt x="1786848" y="257539"/>
                    <a:pt x="1780487" y="249298"/>
                  </a:cubicBezTo>
                  <a:lnTo>
                    <a:pt x="1598880" y="13989"/>
                  </a:lnTo>
                  <a:cubicBezTo>
                    <a:pt x="1592071" y="5167"/>
                    <a:pt x="1581557" y="0"/>
                    <a:pt x="15704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125039" y="1728968"/>
            <a:ext cx="544443" cy="456473"/>
            <a:chOff x="0" y="0"/>
            <a:chExt cx="756432" cy="63420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20826" y="0"/>
              <a:ext cx="714781" cy="634209"/>
            </a:xfrm>
            <a:custGeom>
              <a:avLst/>
              <a:gdLst/>
              <a:ahLst/>
              <a:cxnLst/>
              <a:rect r="r" b="b" t="t" l="l"/>
              <a:pathLst>
                <a:path h="634209" w="714781">
                  <a:moveTo>
                    <a:pt x="697246" y="376968"/>
                  </a:moveTo>
                  <a:lnTo>
                    <a:pt x="570766" y="574345"/>
                  </a:lnTo>
                  <a:cubicBezTo>
                    <a:pt x="546864" y="611647"/>
                    <a:pt x="505610" y="634209"/>
                    <a:pt x="461307" y="634209"/>
                  </a:cubicBezTo>
                  <a:lnTo>
                    <a:pt x="253473" y="634209"/>
                  </a:lnTo>
                  <a:cubicBezTo>
                    <a:pt x="209170" y="634209"/>
                    <a:pt x="167917" y="611647"/>
                    <a:pt x="144014" y="574345"/>
                  </a:cubicBezTo>
                  <a:lnTo>
                    <a:pt x="17534" y="376968"/>
                  </a:lnTo>
                  <a:cubicBezTo>
                    <a:pt x="-5845" y="340483"/>
                    <a:pt x="-5845" y="293726"/>
                    <a:pt x="17534" y="257241"/>
                  </a:cubicBezTo>
                  <a:lnTo>
                    <a:pt x="144014" y="59863"/>
                  </a:lnTo>
                  <a:cubicBezTo>
                    <a:pt x="167917" y="22561"/>
                    <a:pt x="209170" y="0"/>
                    <a:pt x="253473" y="0"/>
                  </a:cubicBezTo>
                  <a:lnTo>
                    <a:pt x="461307" y="0"/>
                  </a:lnTo>
                  <a:cubicBezTo>
                    <a:pt x="505610" y="0"/>
                    <a:pt x="546864" y="22561"/>
                    <a:pt x="570766" y="59863"/>
                  </a:cubicBezTo>
                  <a:lnTo>
                    <a:pt x="697246" y="257241"/>
                  </a:lnTo>
                  <a:cubicBezTo>
                    <a:pt x="720625" y="293726"/>
                    <a:pt x="720625" y="340483"/>
                    <a:pt x="697246" y="376968"/>
                  </a:cubicBezTo>
                  <a:close/>
                </a:path>
              </a:pathLst>
            </a:custGeom>
            <a:solidFill>
              <a:srgbClr val="70A73A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114300" y="-28575"/>
              <a:ext cx="527832" cy="662784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3251781" y="1810994"/>
            <a:ext cx="290959" cy="292421"/>
          </a:xfrm>
          <a:custGeom>
            <a:avLst/>
            <a:gdLst/>
            <a:ahLst/>
            <a:cxnLst/>
            <a:rect r="r" b="b" t="t" l="l"/>
            <a:pathLst>
              <a:path h="292421" w="290959">
                <a:moveTo>
                  <a:pt x="0" y="0"/>
                </a:moveTo>
                <a:lnTo>
                  <a:pt x="290958" y="0"/>
                </a:lnTo>
                <a:lnTo>
                  <a:pt x="290958" y="292421"/>
                </a:lnTo>
                <a:lnTo>
                  <a:pt x="0" y="292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7" id="127"/>
          <p:cNvSpPr txBox="true"/>
          <p:nvPr/>
        </p:nvSpPr>
        <p:spPr>
          <a:xfrm rot="0">
            <a:off x="3669482" y="1751920"/>
            <a:ext cx="1214518" cy="38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  <a:spcBef>
                <a:spcPct val="0"/>
              </a:spcBef>
            </a:pPr>
            <a:r>
              <a:rPr lang="en-US" b="true" sz="114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SETOR HIDROVIÁRIO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3245713" y="2850053"/>
            <a:ext cx="1717061" cy="503063"/>
            <a:chOff x="0" y="0"/>
            <a:chExt cx="1797310" cy="52657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688" y="0"/>
              <a:ext cx="1781934" cy="526574"/>
            </a:xfrm>
            <a:custGeom>
              <a:avLst/>
              <a:gdLst/>
              <a:ahLst/>
              <a:cxnLst/>
              <a:rect r="r" b="b" t="t" l="l"/>
              <a:pathLst>
                <a:path h="526574" w="1781934">
                  <a:moveTo>
                    <a:pt x="1563877" y="0"/>
                  </a:moveTo>
                  <a:lnTo>
                    <a:pt x="218056" y="0"/>
                  </a:lnTo>
                  <a:cubicBezTo>
                    <a:pt x="203839" y="0"/>
                    <a:pt x="190425" y="6592"/>
                    <a:pt x="181738" y="17847"/>
                  </a:cubicBezTo>
                  <a:lnTo>
                    <a:pt x="6086" y="245440"/>
                  </a:lnTo>
                  <a:cubicBezTo>
                    <a:pt x="-2029" y="255954"/>
                    <a:pt x="-2029" y="270620"/>
                    <a:pt x="6086" y="281134"/>
                  </a:cubicBezTo>
                  <a:lnTo>
                    <a:pt x="181738" y="508727"/>
                  </a:lnTo>
                  <a:cubicBezTo>
                    <a:pt x="190425" y="519982"/>
                    <a:pt x="203839" y="526574"/>
                    <a:pt x="218056" y="526574"/>
                  </a:cubicBezTo>
                  <a:lnTo>
                    <a:pt x="1563877" y="526574"/>
                  </a:lnTo>
                  <a:cubicBezTo>
                    <a:pt x="1578095" y="526574"/>
                    <a:pt x="1591509" y="519982"/>
                    <a:pt x="1600195" y="508727"/>
                  </a:cubicBezTo>
                  <a:lnTo>
                    <a:pt x="1775848" y="281134"/>
                  </a:lnTo>
                  <a:cubicBezTo>
                    <a:pt x="1783962" y="270620"/>
                    <a:pt x="1783962" y="255954"/>
                    <a:pt x="1775848" y="245440"/>
                  </a:cubicBezTo>
                  <a:lnTo>
                    <a:pt x="1600195" y="17847"/>
                  </a:lnTo>
                  <a:cubicBezTo>
                    <a:pt x="1591509" y="6592"/>
                    <a:pt x="1578095" y="0"/>
                    <a:pt x="1563877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Hidrovias</a:t>
              </a:r>
            </a:p>
          </p:txBody>
        </p:sp>
      </p:grpSp>
      <p:sp>
        <p:nvSpPr>
          <p:cNvPr name="Freeform 131" id="131"/>
          <p:cNvSpPr/>
          <p:nvPr/>
        </p:nvSpPr>
        <p:spPr>
          <a:xfrm>
            <a:off x="2777202" y="1957204"/>
            <a:ext cx="484041" cy="2353392"/>
          </a:xfrm>
          <a:custGeom>
            <a:avLst/>
            <a:gdLst/>
            <a:ahLst/>
            <a:cxnLst/>
            <a:rect r="r" b="b" t="t" l="l"/>
            <a:pathLst>
              <a:path h="2353392" w="484041">
                <a:moveTo>
                  <a:pt x="484041" y="2353393"/>
                </a:moveTo>
                <a:lnTo>
                  <a:pt x="209550" y="2353393"/>
                </a:lnTo>
                <a:cubicBezTo>
                  <a:pt x="153974" y="2353393"/>
                  <a:pt x="100674" y="2331315"/>
                  <a:pt x="61376" y="2292017"/>
                </a:cubicBezTo>
                <a:cubicBezTo>
                  <a:pt x="22078" y="2252718"/>
                  <a:pt x="0" y="2199419"/>
                  <a:pt x="0" y="2143843"/>
                </a:cubicBezTo>
                <a:lnTo>
                  <a:pt x="0" y="101565"/>
                </a:lnTo>
                <a:cubicBezTo>
                  <a:pt x="0" y="74628"/>
                  <a:pt x="10701" y="48795"/>
                  <a:pt x="29747" y="29748"/>
                </a:cubicBezTo>
                <a:cubicBezTo>
                  <a:pt x="48794" y="10701"/>
                  <a:pt x="74628" y="0"/>
                  <a:pt x="101564" y="0"/>
                </a:cubicBezTo>
                <a:lnTo>
                  <a:pt x="203128" y="0"/>
                </a:lnTo>
              </a:path>
            </a:pathLst>
          </a:cu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2" id="132"/>
          <p:cNvGrpSpPr/>
          <p:nvPr/>
        </p:nvGrpSpPr>
        <p:grpSpPr>
          <a:xfrm rot="0">
            <a:off x="3245713" y="3447318"/>
            <a:ext cx="1717061" cy="503063"/>
            <a:chOff x="0" y="0"/>
            <a:chExt cx="1797310" cy="52657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7688" y="0"/>
              <a:ext cx="1781934" cy="526574"/>
            </a:xfrm>
            <a:custGeom>
              <a:avLst/>
              <a:gdLst/>
              <a:ahLst/>
              <a:cxnLst/>
              <a:rect r="r" b="b" t="t" l="l"/>
              <a:pathLst>
                <a:path h="526574" w="1781934">
                  <a:moveTo>
                    <a:pt x="1563877" y="0"/>
                  </a:moveTo>
                  <a:lnTo>
                    <a:pt x="218056" y="0"/>
                  </a:lnTo>
                  <a:cubicBezTo>
                    <a:pt x="203839" y="0"/>
                    <a:pt x="190425" y="6592"/>
                    <a:pt x="181738" y="17847"/>
                  </a:cubicBezTo>
                  <a:lnTo>
                    <a:pt x="6086" y="245440"/>
                  </a:lnTo>
                  <a:cubicBezTo>
                    <a:pt x="-2029" y="255954"/>
                    <a:pt x="-2029" y="270620"/>
                    <a:pt x="6086" y="281134"/>
                  </a:cubicBezTo>
                  <a:lnTo>
                    <a:pt x="181738" y="508727"/>
                  </a:lnTo>
                  <a:cubicBezTo>
                    <a:pt x="190425" y="519982"/>
                    <a:pt x="203839" y="526574"/>
                    <a:pt x="218056" y="526574"/>
                  </a:cubicBezTo>
                  <a:lnTo>
                    <a:pt x="1563877" y="526574"/>
                  </a:lnTo>
                  <a:cubicBezTo>
                    <a:pt x="1578095" y="526574"/>
                    <a:pt x="1591509" y="519982"/>
                    <a:pt x="1600195" y="508727"/>
                  </a:cubicBezTo>
                  <a:lnTo>
                    <a:pt x="1775848" y="281134"/>
                  </a:lnTo>
                  <a:cubicBezTo>
                    <a:pt x="1783962" y="270620"/>
                    <a:pt x="1783962" y="255954"/>
                    <a:pt x="1775848" y="245440"/>
                  </a:cubicBezTo>
                  <a:lnTo>
                    <a:pt x="1600195" y="17847"/>
                  </a:lnTo>
                  <a:cubicBezTo>
                    <a:pt x="1591509" y="6592"/>
                    <a:pt x="1578095" y="0"/>
                    <a:pt x="1563877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152400" y="-28575"/>
              <a:ext cx="1492510" cy="555149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Eclusas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3245713" y="4044583"/>
            <a:ext cx="1717061" cy="532028"/>
            <a:chOff x="0" y="0"/>
            <a:chExt cx="1797310" cy="55689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7351" y="0"/>
              <a:ext cx="1782607" cy="556893"/>
            </a:xfrm>
            <a:custGeom>
              <a:avLst/>
              <a:gdLst/>
              <a:ahLst/>
              <a:cxnLst/>
              <a:rect r="r" b="b" t="t" l="l"/>
              <a:pathLst>
                <a:path h="556893" w="1782607">
                  <a:moveTo>
                    <a:pt x="1564214" y="0"/>
                  </a:moveTo>
                  <a:lnTo>
                    <a:pt x="218393" y="0"/>
                  </a:lnTo>
                  <a:cubicBezTo>
                    <a:pt x="204226" y="0"/>
                    <a:pt x="190911" y="6767"/>
                    <a:pt x="182560" y="18211"/>
                  </a:cubicBezTo>
                  <a:lnTo>
                    <a:pt x="5938" y="260236"/>
                  </a:lnTo>
                  <a:cubicBezTo>
                    <a:pt x="-1979" y="271085"/>
                    <a:pt x="-1979" y="285807"/>
                    <a:pt x="5938" y="296657"/>
                  </a:cubicBezTo>
                  <a:lnTo>
                    <a:pt x="182560" y="538682"/>
                  </a:lnTo>
                  <a:cubicBezTo>
                    <a:pt x="190911" y="550126"/>
                    <a:pt x="204226" y="556893"/>
                    <a:pt x="218393" y="556893"/>
                  </a:cubicBezTo>
                  <a:lnTo>
                    <a:pt x="1564214" y="556893"/>
                  </a:lnTo>
                  <a:cubicBezTo>
                    <a:pt x="1578382" y="556893"/>
                    <a:pt x="1591697" y="550126"/>
                    <a:pt x="1600048" y="538682"/>
                  </a:cubicBezTo>
                  <a:lnTo>
                    <a:pt x="1776669" y="296657"/>
                  </a:lnTo>
                  <a:cubicBezTo>
                    <a:pt x="1784587" y="285807"/>
                    <a:pt x="1784587" y="271085"/>
                    <a:pt x="1776669" y="260236"/>
                  </a:cubicBezTo>
                  <a:lnTo>
                    <a:pt x="1600048" y="18211"/>
                  </a:lnTo>
                  <a:cubicBezTo>
                    <a:pt x="1591697" y="6767"/>
                    <a:pt x="1578382" y="0"/>
                    <a:pt x="1564214" y="0"/>
                  </a:cubicBezTo>
                  <a:close/>
                </a:path>
              </a:pathLst>
            </a:custGeom>
            <a:solidFill>
              <a:srgbClr val="004C98"/>
            </a:solidFill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152400" y="-28575"/>
              <a:ext cx="1492510" cy="585468"/>
            </a:xfrm>
            <a:prstGeom prst="rect">
              <a:avLst/>
            </a:prstGeom>
          </p:spPr>
          <p:txBody>
            <a:bodyPr anchor="ctr" rtlCol="false" tIns="45674" lIns="45674" bIns="45674" rIns="45674"/>
            <a:lstStyle/>
            <a:p>
              <a:pPr algn="ctr">
                <a:lnSpc>
                  <a:spcPts val="1400"/>
                </a:lnSpc>
              </a:pPr>
              <a:r>
                <a:rPr lang="en-US" b="true" sz="1000">
                  <a:solidFill>
                    <a:srgbClr val="FDFDFC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Outros dispositivos de transportação</a:t>
              </a:r>
            </a:p>
          </p:txBody>
        </p:sp>
      </p:grpSp>
      <p:sp>
        <p:nvSpPr>
          <p:cNvPr name="AutoShape 138" id="138"/>
          <p:cNvSpPr/>
          <p:nvPr/>
        </p:nvSpPr>
        <p:spPr>
          <a:xfrm>
            <a:off x="2806328" y="3101585"/>
            <a:ext cx="455626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 flipV="true">
            <a:off x="2806328" y="3698849"/>
            <a:ext cx="455626" cy="0"/>
          </a:xfrm>
          <a:prstGeom prst="line">
            <a:avLst/>
          </a:prstGeom>
          <a:ln cap="flat" w="19050">
            <a:solidFill>
              <a:srgbClr val="004C98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40" id="140"/>
          <p:cNvSpPr txBox="true"/>
          <p:nvPr/>
        </p:nvSpPr>
        <p:spPr>
          <a:xfrm rot="0">
            <a:off x="2524032" y="6876908"/>
            <a:ext cx="496105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Setores e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subsetores aquaviários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30</a:t>
            </a:r>
          </a:p>
        </p:txBody>
      </p:sp>
      <p:sp>
        <p:nvSpPr>
          <p:cNvPr name="Freeform 142" id="142"/>
          <p:cNvSpPr/>
          <p:nvPr/>
        </p:nvSpPr>
        <p:spPr>
          <a:xfrm>
            <a:off x="-67255" y="8261128"/>
            <a:ext cx="18354332" cy="886091"/>
          </a:xfrm>
          <a:custGeom>
            <a:avLst/>
            <a:gdLst/>
            <a:ahLst/>
            <a:cxnLst/>
            <a:rect r="r" b="b" t="t" l="l"/>
            <a:pathLst>
              <a:path h="886091" w="18354332">
                <a:moveTo>
                  <a:pt x="0" y="0"/>
                </a:moveTo>
                <a:lnTo>
                  <a:pt x="851703" y="0"/>
                </a:lnTo>
                <a:cubicBezTo>
                  <a:pt x="1096390" y="0"/>
                  <a:pt x="1294749" y="198359"/>
                  <a:pt x="1294749" y="443046"/>
                </a:cubicBezTo>
                <a:lnTo>
                  <a:pt x="1294749" y="443046"/>
                </a:lnTo>
                <a:cubicBezTo>
                  <a:pt x="1294749" y="687733"/>
                  <a:pt x="1493107" y="886091"/>
                  <a:pt x="1737794" y="886091"/>
                </a:cubicBezTo>
                <a:lnTo>
                  <a:pt x="16637602" y="886091"/>
                </a:lnTo>
                <a:cubicBezTo>
                  <a:pt x="16755105" y="886091"/>
                  <a:pt x="16867795" y="839413"/>
                  <a:pt x="16950883" y="756326"/>
                </a:cubicBezTo>
                <a:cubicBezTo>
                  <a:pt x="17033970" y="673239"/>
                  <a:pt x="17080648" y="560549"/>
                  <a:pt x="17080648" y="443046"/>
                </a:cubicBezTo>
                <a:lnTo>
                  <a:pt x="17080648" y="443046"/>
                </a:lnTo>
                <a:cubicBezTo>
                  <a:pt x="17080648" y="198359"/>
                  <a:pt x="17279006" y="0"/>
                  <a:pt x="17523693" y="0"/>
                </a:cubicBezTo>
                <a:lnTo>
                  <a:pt x="18354333" y="0"/>
                </a:lnTo>
              </a:path>
            </a:pathLst>
          </a:custGeom>
          <a:ln cap="flat" w="9525">
            <a:solidFill>
              <a:srgbClr val="70A7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3" id="143"/>
          <p:cNvSpPr/>
          <p:nvPr/>
        </p:nvSpPr>
        <p:spPr>
          <a:xfrm>
            <a:off x="-67255" y="8695462"/>
            <a:ext cx="18431721" cy="911796"/>
          </a:xfrm>
          <a:custGeom>
            <a:avLst/>
            <a:gdLst/>
            <a:ahLst/>
            <a:cxnLst/>
            <a:rect r="r" b="b" t="t" l="l"/>
            <a:pathLst>
              <a:path h="911796" w="18431721">
                <a:moveTo>
                  <a:pt x="0" y="0"/>
                </a:moveTo>
                <a:lnTo>
                  <a:pt x="838850" y="0"/>
                </a:lnTo>
                <a:cubicBezTo>
                  <a:pt x="1090636" y="0"/>
                  <a:pt x="1294749" y="204113"/>
                  <a:pt x="1294749" y="455899"/>
                </a:cubicBezTo>
                <a:lnTo>
                  <a:pt x="1294749" y="455899"/>
                </a:lnTo>
                <a:cubicBezTo>
                  <a:pt x="1294749" y="707684"/>
                  <a:pt x="1498861" y="911797"/>
                  <a:pt x="1750647" y="911797"/>
                </a:cubicBezTo>
                <a:lnTo>
                  <a:pt x="16629105" y="911797"/>
                </a:lnTo>
                <a:cubicBezTo>
                  <a:pt x="16748862" y="911797"/>
                  <a:pt x="16863713" y="864223"/>
                  <a:pt x="16948394" y="779543"/>
                </a:cubicBezTo>
                <a:cubicBezTo>
                  <a:pt x="17033075" y="694862"/>
                  <a:pt x="17080648" y="580011"/>
                  <a:pt x="17080648" y="460254"/>
                </a:cubicBezTo>
                <a:lnTo>
                  <a:pt x="17080648" y="460254"/>
                </a:lnTo>
                <a:cubicBezTo>
                  <a:pt x="17080648" y="210874"/>
                  <a:pt x="17282810" y="8711"/>
                  <a:pt x="17532191" y="8711"/>
                </a:cubicBezTo>
                <a:lnTo>
                  <a:pt x="18431722" y="8711"/>
                </a:lnTo>
              </a:path>
            </a:pathLst>
          </a:custGeom>
          <a:ln cap="flat" w="9525">
            <a:solidFill>
              <a:srgbClr val="FFB85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4" id="144"/>
          <p:cNvSpPr/>
          <p:nvPr/>
        </p:nvSpPr>
        <p:spPr>
          <a:xfrm>
            <a:off x="-70173" y="7818082"/>
            <a:ext cx="18354333" cy="886091"/>
          </a:xfrm>
          <a:custGeom>
            <a:avLst/>
            <a:gdLst/>
            <a:ahLst/>
            <a:cxnLst/>
            <a:rect r="r" b="b" t="t" l="l"/>
            <a:pathLst>
              <a:path h="886091" w="18354333">
                <a:moveTo>
                  <a:pt x="0" y="0"/>
                </a:moveTo>
                <a:lnTo>
                  <a:pt x="851703" y="0"/>
                </a:lnTo>
                <a:cubicBezTo>
                  <a:pt x="1096390" y="0"/>
                  <a:pt x="1294748" y="198359"/>
                  <a:pt x="1294748" y="443046"/>
                </a:cubicBezTo>
                <a:lnTo>
                  <a:pt x="1294748" y="443046"/>
                </a:lnTo>
                <a:cubicBezTo>
                  <a:pt x="1294748" y="560549"/>
                  <a:pt x="1341426" y="673239"/>
                  <a:pt x="1424513" y="756326"/>
                </a:cubicBezTo>
                <a:cubicBezTo>
                  <a:pt x="1507600" y="839414"/>
                  <a:pt x="1620291" y="886091"/>
                  <a:pt x="1737793" y="886091"/>
                </a:cubicBezTo>
                <a:lnTo>
                  <a:pt x="16637602" y="886091"/>
                </a:lnTo>
                <a:cubicBezTo>
                  <a:pt x="16882289" y="886091"/>
                  <a:pt x="17080648" y="687733"/>
                  <a:pt x="17080648" y="443046"/>
                </a:cubicBezTo>
                <a:lnTo>
                  <a:pt x="17080648" y="443046"/>
                </a:lnTo>
                <a:cubicBezTo>
                  <a:pt x="17080648" y="198359"/>
                  <a:pt x="17279006" y="0"/>
                  <a:pt x="17523694" y="0"/>
                </a:cubicBezTo>
                <a:lnTo>
                  <a:pt x="18354333" y="0"/>
                </a:lnTo>
              </a:path>
            </a:pathLst>
          </a:custGeom>
          <a:ln cap="flat" w="9525">
            <a:solidFill>
              <a:srgbClr val="71408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5" id="14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48" id="14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63367" y="983316"/>
            <a:ext cx="6819703" cy="1381296"/>
            <a:chOff x="0" y="0"/>
            <a:chExt cx="1796136" cy="363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6136" cy="363798"/>
            </a:xfrm>
            <a:custGeom>
              <a:avLst/>
              <a:gdLst/>
              <a:ahLst/>
              <a:cxnLst/>
              <a:rect r="r" b="b" t="t" l="l"/>
              <a:pathLst>
                <a:path h="363798" w="1796136">
                  <a:moveTo>
                    <a:pt x="20434" y="0"/>
                  </a:moveTo>
                  <a:lnTo>
                    <a:pt x="1775702" y="0"/>
                  </a:lnTo>
                  <a:cubicBezTo>
                    <a:pt x="1786987" y="0"/>
                    <a:pt x="1796136" y="9149"/>
                    <a:pt x="1796136" y="20434"/>
                  </a:cubicBezTo>
                  <a:lnTo>
                    <a:pt x="1796136" y="343364"/>
                  </a:lnTo>
                  <a:cubicBezTo>
                    <a:pt x="1796136" y="348784"/>
                    <a:pt x="1793983" y="353981"/>
                    <a:pt x="1790151" y="357813"/>
                  </a:cubicBezTo>
                  <a:cubicBezTo>
                    <a:pt x="1786319" y="361645"/>
                    <a:pt x="1781121" y="363798"/>
                    <a:pt x="1775702" y="363798"/>
                  </a:cubicBezTo>
                  <a:lnTo>
                    <a:pt x="20434" y="363798"/>
                  </a:lnTo>
                  <a:cubicBezTo>
                    <a:pt x="9149" y="363798"/>
                    <a:pt x="0" y="354650"/>
                    <a:pt x="0" y="343364"/>
                  </a:cubicBezTo>
                  <a:lnTo>
                    <a:pt x="0" y="20434"/>
                  </a:lnTo>
                  <a:cubicBezTo>
                    <a:pt x="0" y="9149"/>
                    <a:pt x="9149" y="0"/>
                    <a:pt x="20434" y="0"/>
                  </a:cubicBezTo>
                  <a:close/>
                </a:path>
              </a:pathLst>
            </a:custGeom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6136" cy="36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>
            <a:off x="6754393" y="1630162"/>
            <a:ext cx="4954460" cy="112015"/>
          </a:xfrm>
          <a:custGeom>
            <a:avLst/>
            <a:gdLst/>
            <a:ahLst/>
            <a:cxnLst/>
            <a:rect r="r" b="b" t="t" l="l"/>
            <a:pathLst>
              <a:path h="112015" w="4954460">
                <a:moveTo>
                  <a:pt x="0" y="112015"/>
                </a:moveTo>
                <a:lnTo>
                  <a:pt x="0" y="56007"/>
                </a:lnTo>
                <a:cubicBezTo>
                  <a:pt x="0" y="41153"/>
                  <a:pt x="5901" y="26907"/>
                  <a:pt x="16405" y="16404"/>
                </a:cubicBezTo>
                <a:cubicBezTo>
                  <a:pt x="26908" y="5901"/>
                  <a:pt x="41153" y="0"/>
                  <a:pt x="56008" y="0"/>
                </a:cubicBezTo>
                <a:lnTo>
                  <a:pt x="4898453" y="0"/>
                </a:lnTo>
                <a:cubicBezTo>
                  <a:pt x="4929385" y="0"/>
                  <a:pt x="4954461" y="25075"/>
                  <a:pt x="4954461" y="56007"/>
                </a:cubicBezTo>
                <a:lnTo>
                  <a:pt x="4954461" y="112015"/>
                </a:lnTo>
              </a:path>
            </a:pathLst>
          </a:cu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567020" y="1240153"/>
            <a:ext cx="1407871" cy="303488"/>
            <a:chOff x="0" y="0"/>
            <a:chExt cx="463851" cy="99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Diretoria-Geral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02309" y="1742177"/>
            <a:ext cx="1407871" cy="303488"/>
            <a:chOff x="0" y="0"/>
            <a:chExt cx="463851" cy="99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50256" y="1742177"/>
            <a:ext cx="1407871" cy="303488"/>
            <a:chOff x="0" y="0"/>
            <a:chExt cx="463851" cy="99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41119" y="1742177"/>
            <a:ext cx="1407871" cy="303488"/>
            <a:chOff x="0" y="0"/>
            <a:chExt cx="463851" cy="999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31730" y="1742177"/>
            <a:ext cx="1407871" cy="303488"/>
            <a:chOff x="0" y="0"/>
            <a:chExt cx="463851" cy="999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 flipV="true">
            <a:off x="9270955" y="1543641"/>
            <a:ext cx="0" cy="83526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8454191" y="1627166"/>
            <a:ext cx="0" cy="115011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0045054" y="1627166"/>
            <a:ext cx="0" cy="115011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5528" y="2754115"/>
            <a:ext cx="18288000" cy="3222780"/>
            <a:chOff x="0" y="0"/>
            <a:chExt cx="4816593" cy="848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6592" cy="848798"/>
            </a:xfrm>
            <a:custGeom>
              <a:avLst/>
              <a:gdLst/>
              <a:ahLst/>
              <a:cxnLst/>
              <a:rect r="r" b="b" t="t" l="l"/>
              <a:pathLst>
                <a:path h="84879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48798"/>
                  </a:lnTo>
                  <a:lnTo>
                    <a:pt x="0" y="848798"/>
                  </a:lnTo>
                  <a:close/>
                </a:path>
              </a:pathLst>
            </a:custGeom>
            <a:solidFill>
              <a:srgbClr val="DFEF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816593" cy="848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8068093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5520" y="2858924"/>
            <a:ext cx="1970796" cy="532645"/>
            <a:chOff x="0" y="0"/>
            <a:chExt cx="519057" cy="1402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Comunicação e Cerimonial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5520" y="3436956"/>
            <a:ext cx="1970796" cy="656195"/>
            <a:chOff x="0" y="0"/>
            <a:chExt cx="519057" cy="1728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9057" cy="172825"/>
            </a:xfrm>
            <a:custGeom>
              <a:avLst/>
              <a:gdLst/>
              <a:ahLst/>
              <a:cxnLst/>
              <a:rect r="r" b="b" t="t" l="l"/>
              <a:pathLst>
                <a:path h="17282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29614"/>
                  </a:lnTo>
                  <a:cubicBezTo>
                    <a:pt x="519057" y="153479"/>
                    <a:pt x="499711" y="172825"/>
                    <a:pt x="475846" y="172825"/>
                  </a:cubicBezTo>
                  <a:lnTo>
                    <a:pt x="43212" y="172825"/>
                  </a:lnTo>
                  <a:cubicBezTo>
                    <a:pt x="19346" y="172825"/>
                    <a:pt x="0" y="153479"/>
                    <a:pt x="0" y="12961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19057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Relações Parlamentares e Institucionais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35520" y="4138538"/>
            <a:ext cx="1970796" cy="532645"/>
            <a:chOff x="0" y="0"/>
            <a:chExt cx="519057" cy="1402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Relações Internacionais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5520" y="4716571"/>
            <a:ext cx="1970796" cy="532645"/>
            <a:chOff x="0" y="0"/>
            <a:chExt cx="519057" cy="1402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Secretaria Especial de Licitações e Concessões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35520" y="5294603"/>
            <a:ext cx="1970796" cy="532645"/>
            <a:chOff x="0" y="0"/>
            <a:chExt cx="519057" cy="14028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Comissão de Ética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837246" y="4134862"/>
            <a:ext cx="1970796" cy="532645"/>
            <a:chOff x="0" y="0"/>
            <a:chExt cx="519057" cy="1402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Gabinete do Diretor-Geral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959499" y="4134862"/>
            <a:ext cx="1970796" cy="532645"/>
            <a:chOff x="0" y="0"/>
            <a:chExt cx="519057" cy="14028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Corregedoria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082695" y="4134862"/>
            <a:ext cx="1970796" cy="532645"/>
            <a:chOff x="0" y="0"/>
            <a:chExt cx="519057" cy="1402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Ouvidoria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81180" y="4134862"/>
            <a:ext cx="1970796" cy="532645"/>
            <a:chOff x="0" y="0"/>
            <a:chExt cx="519057" cy="1402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Auditoria Interna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04376" y="4134862"/>
            <a:ext cx="1970796" cy="551420"/>
            <a:chOff x="0" y="0"/>
            <a:chExt cx="519057" cy="1452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9057" cy="145230"/>
            </a:xfrm>
            <a:custGeom>
              <a:avLst/>
              <a:gdLst/>
              <a:ahLst/>
              <a:cxnLst/>
              <a:rect r="r" b="b" t="t" l="l"/>
              <a:pathLst>
                <a:path h="145230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02019"/>
                  </a:lnTo>
                  <a:cubicBezTo>
                    <a:pt x="519057" y="125884"/>
                    <a:pt x="499711" y="145230"/>
                    <a:pt x="475846" y="145230"/>
                  </a:cubicBezTo>
                  <a:lnTo>
                    <a:pt x="43212" y="145230"/>
                  </a:lnTo>
                  <a:cubicBezTo>
                    <a:pt x="19346" y="145230"/>
                    <a:pt x="0" y="125884"/>
                    <a:pt x="0" y="102019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19057" cy="145230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Procuradoria Federal </a:t>
              </a:r>
            </a:p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junto à Antaq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27572" y="4134862"/>
            <a:ext cx="1970796" cy="532645"/>
            <a:chOff x="0" y="0"/>
            <a:chExt cx="519057" cy="1402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Secretaria-Geral</a:t>
              </a:r>
            </a:p>
          </p:txBody>
        </p:sp>
      </p:grpSp>
      <p:sp>
        <p:nvSpPr>
          <p:cNvPr name="Freeform 61" id="61"/>
          <p:cNvSpPr/>
          <p:nvPr/>
        </p:nvSpPr>
        <p:spPr>
          <a:xfrm>
            <a:off x="3822644" y="3155572"/>
            <a:ext cx="10890326" cy="979290"/>
          </a:xfrm>
          <a:custGeom>
            <a:avLst/>
            <a:gdLst/>
            <a:ahLst/>
            <a:cxnLst/>
            <a:rect r="r" b="b" t="t" l="l"/>
            <a:pathLst>
              <a:path h="979290" w="10890326">
                <a:moveTo>
                  <a:pt x="0" y="979290"/>
                </a:moveTo>
                <a:lnTo>
                  <a:pt x="0" y="171450"/>
                </a:lnTo>
                <a:cubicBezTo>
                  <a:pt x="0" y="125979"/>
                  <a:pt x="18063" y="82370"/>
                  <a:pt x="50217" y="50217"/>
                </a:cubicBezTo>
                <a:cubicBezTo>
                  <a:pt x="82370" y="18064"/>
                  <a:pt x="125979" y="0"/>
                  <a:pt x="171450" y="0"/>
                </a:cubicBezTo>
                <a:lnTo>
                  <a:pt x="10718876" y="0"/>
                </a:lnTo>
                <a:cubicBezTo>
                  <a:pt x="10813565" y="0"/>
                  <a:pt x="10890326" y="76761"/>
                  <a:pt x="10890326" y="171450"/>
                </a:cubicBezTo>
                <a:lnTo>
                  <a:pt x="10890326" y="979290"/>
                </a:lnTo>
              </a:path>
            </a:pathLst>
          </a:cu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H="true" flipV="true">
            <a:off x="5944897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10466578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 flipV="true">
            <a:off x="12589774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5" id="65"/>
          <p:cNvSpPr/>
          <p:nvPr/>
        </p:nvSpPr>
        <p:spPr>
          <a:xfrm>
            <a:off x="2406316" y="3125246"/>
            <a:ext cx="212657" cy="2435679"/>
          </a:xfrm>
          <a:custGeom>
            <a:avLst/>
            <a:gdLst/>
            <a:ahLst/>
            <a:cxnLst/>
            <a:rect r="r" b="b" t="t" l="l"/>
            <a:pathLst>
              <a:path h="2435679" w="212657">
                <a:moveTo>
                  <a:pt x="0" y="0"/>
                </a:moveTo>
                <a:lnTo>
                  <a:pt x="106329" y="0"/>
                </a:lnTo>
                <a:cubicBezTo>
                  <a:pt x="165052" y="0"/>
                  <a:pt x="212657" y="47605"/>
                  <a:pt x="212657" y="106329"/>
                </a:cubicBezTo>
                <a:lnTo>
                  <a:pt x="212657" y="2329351"/>
                </a:lnTo>
                <a:cubicBezTo>
                  <a:pt x="212657" y="2388075"/>
                  <a:pt x="165052" y="2435680"/>
                  <a:pt x="106329" y="2435680"/>
                </a:cubicBezTo>
                <a:lnTo>
                  <a:pt x="0" y="243568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2406316" y="3765054"/>
            <a:ext cx="21306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2406316" y="4401185"/>
            <a:ext cx="430930" cy="3676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2406316" y="4982893"/>
            <a:ext cx="21306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6093085" y="3869978"/>
            <a:ext cx="1724201" cy="532645"/>
            <a:chOff x="0" y="0"/>
            <a:chExt cx="454111" cy="1402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Tecnologia e Gestão da Informação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093085" y="4478823"/>
            <a:ext cx="1724201" cy="532645"/>
            <a:chOff x="0" y="0"/>
            <a:chExt cx="454111" cy="14028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Governança, Gestão e Planejamento</a:t>
              </a:r>
            </a:p>
          </p:txBody>
        </p:sp>
      </p:grpSp>
      <p:sp>
        <p:nvSpPr>
          <p:cNvPr name="Freeform 75" id="75"/>
          <p:cNvSpPr/>
          <p:nvPr/>
        </p:nvSpPr>
        <p:spPr>
          <a:xfrm>
            <a:off x="15871765" y="4136301"/>
            <a:ext cx="221320" cy="608845"/>
          </a:xfrm>
          <a:custGeom>
            <a:avLst/>
            <a:gdLst/>
            <a:ahLst/>
            <a:cxnLst/>
            <a:rect r="r" b="b" t="t" l="l"/>
            <a:pathLst>
              <a:path h="608845" w="221320">
                <a:moveTo>
                  <a:pt x="221319" y="0"/>
                </a:moveTo>
                <a:lnTo>
                  <a:pt x="110659" y="0"/>
                </a:lnTo>
                <a:cubicBezTo>
                  <a:pt x="49544" y="0"/>
                  <a:pt x="0" y="49544"/>
                  <a:pt x="0" y="110660"/>
                </a:cubicBezTo>
                <a:lnTo>
                  <a:pt x="0" y="498185"/>
                </a:lnTo>
                <a:cubicBezTo>
                  <a:pt x="0" y="559300"/>
                  <a:pt x="49544" y="608845"/>
                  <a:pt x="110659" y="608845"/>
                </a:cubicBezTo>
                <a:lnTo>
                  <a:pt x="221319" y="608845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15698368" y="4401185"/>
            <a:ext cx="173826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 flipV="true">
            <a:off x="9273218" y="2364612"/>
            <a:ext cx="0" cy="4116223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8" id="78"/>
          <p:cNvSpPr/>
          <p:nvPr/>
        </p:nvSpPr>
        <p:spPr>
          <a:xfrm>
            <a:off x="1822474" y="6478856"/>
            <a:ext cx="14911821" cy="293650"/>
          </a:xfrm>
          <a:custGeom>
            <a:avLst/>
            <a:gdLst/>
            <a:ahLst/>
            <a:cxnLst/>
            <a:rect r="r" b="b" t="t" l="l"/>
            <a:pathLst>
              <a:path h="293650" w="14911821">
                <a:moveTo>
                  <a:pt x="0" y="293650"/>
                </a:moveTo>
                <a:lnTo>
                  <a:pt x="0" y="146825"/>
                </a:lnTo>
                <a:cubicBezTo>
                  <a:pt x="0" y="65736"/>
                  <a:pt x="65736" y="0"/>
                  <a:pt x="146825" y="0"/>
                </a:cubicBezTo>
                <a:lnTo>
                  <a:pt x="14764996" y="0"/>
                </a:lnTo>
                <a:cubicBezTo>
                  <a:pt x="14846085" y="0"/>
                  <a:pt x="14911821" y="65736"/>
                  <a:pt x="14911821" y="146825"/>
                </a:cubicBezTo>
                <a:lnTo>
                  <a:pt x="14911821" y="293650"/>
                </a:lnTo>
              </a:path>
            </a:pathLst>
          </a:cu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837076" y="6772506"/>
            <a:ext cx="1970796" cy="532645"/>
            <a:chOff x="0" y="0"/>
            <a:chExt cx="519057" cy="14028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Administração e Finanças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0373" y="7450959"/>
            <a:ext cx="1724201" cy="532645"/>
            <a:chOff x="0" y="0"/>
            <a:chExt cx="454111" cy="14028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Gestão de Pessoas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0373" y="8059804"/>
            <a:ext cx="1724201" cy="532645"/>
            <a:chOff x="0" y="0"/>
            <a:chExt cx="454111" cy="1402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Orçamento e Finanças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0373" y="8668649"/>
            <a:ext cx="1724201" cy="532645"/>
            <a:chOff x="0" y="0"/>
            <a:chExt cx="454111" cy="14028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Licitações e Contratos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0373" y="9277495"/>
            <a:ext cx="1724201" cy="532645"/>
            <a:chOff x="0" y="0"/>
            <a:chExt cx="454111" cy="14028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Recursos Logísticos</a:t>
              </a:r>
            </a:p>
          </p:txBody>
        </p:sp>
      </p:grpSp>
      <p:sp>
        <p:nvSpPr>
          <p:cNvPr name="Freeform 94" id="94"/>
          <p:cNvSpPr/>
          <p:nvPr/>
        </p:nvSpPr>
        <p:spPr>
          <a:xfrm>
            <a:off x="568920" y="7038828"/>
            <a:ext cx="432911" cy="2591419"/>
          </a:xfrm>
          <a:custGeom>
            <a:avLst/>
            <a:gdLst/>
            <a:ahLst/>
            <a:cxnLst/>
            <a:rect r="r" b="b" t="t" l="l"/>
            <a:pathLst>
              <a:path h="2591419" w="432911">
                <a:moveTo>
                  <a:pt x="292773" y="0"/>
                </a:moveTo>
                <a:lnTo>
                  <a:pt x="146386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2419970"/>
                </a:lnTo>
                <a:cubicBezTo>
                  <a:pt x="0" y="2465441"/>
                  <a:pt x="18063" y="2509050"/>
                  <a:pt x="50216" y="2541204"/>
                </a:cubicBezTo>
                <a:cubicBezTo>
                  <a:pt x="82369" y="2573357"/>
                  <a:pt x="125978" y="2591420"/>
                  <a:pt x="171450" y="2591420"/>
                </a:cubicBezTo>
                <a:lnTo>
                  <a:pt x="432911" y="259142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73618" y="7717282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573618" y="8326127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73618" y="8934972"/>
            <a:ext cx="390062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6786248" y="6772506"/>
            <a:ext cx="1970796" cy="656195"/>
            <a:chOff x="0" y="0"/>
            <a:chExt cx="519057" cy="17282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19057" cy="172825"/>
            </a:xfrm>
            <a:custGeom>
              <a:avLst/>
              <a:gdLst/>
              <a:ahLst/>
              <a:cxnLst/>
              <a:rect r="r" b="b" t="t" l="l"/>
              <a:pathLst>
                <a:path h="17282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29614"/>
                  </a:lnTo>
                  <a:cubicBezTo>
                    <a:pt x="519057" y="153479"/>
                    <a:pt x="499711" y="172825"/>
                    <a:pt x="475846" y="172825"/>
                  </a:cubicBezTo>
                  <a:lnTo>
                    <a:pt x="43212" y="172825"/>
                  </a:lnTo>
                  <a:cubicBezTo>
                    <a:pt x="19346" y="172825"/>
                    <a:pt x="0" y="153479"/>
                    <a:pt x="0" y="12961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519057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Fiscalização e Coordenação das Unidades Regionais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952121" y="7509308"/>
            <a:ext cx="1804922" cy="656195"/>
            <a:chOff x="0" y="0"/>
            <a:chExt cx="475370" cy="17282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5370" cy="172825"/>
            </a:xfrm>
            <a:custGeom>
              <a:avLst/>
              <a:gdLst/>
              <a:ahLst/>
              <a:cxnLst/>
              <a:rect r="r" b="b" t="t" l="l"/>
              <a:pathLst>
                <a:path h="17282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125642"/>
                  </a:lnTo>
                  <a:cubicBezTo>
                    <a:pt x="475370" y="138156"/>
                    <a:pt x="470399" y="150157"/>
                    <a:pt x="461551" y="159006"/>
                  </a:cubicBezTo>
                  <a:cubicBezTo>
                    <a:pt x="452703" y="167854"/>
                    <a:pt x="440701" y="172825"/>
                    <a:pt x="428188" y="172825"/>
                  </a:cubicBezTo>
                  <a:lnTo>
                    <a:pt x="47183" y="172825"/>
                  </a:lnTo>
                  <a:cubicBezTo>
                    <a:pt x="34669" y="172825"/>
                    <a:pt x="22668" y="167854"/>
                    <a:pt x="13819" y="159006"/>
                  </a:cubicBezTo>
                  <a:cubicBezTo>
                    <a:pt x="4971" y="150157"/>
                    <a:pt x="0" y="138156"/>
                    <a:pt x="0" y="12564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475370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Planejamento e Inteligência da Fiscalização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952121" y="8214175"/>
            <a:ext cx="1804922" cy="532645"/>
            <a:chOff x="0" y="0"/>
            <a:chExt cx="475370" cy="14028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5370" cy="140285"/>
            </a:xfrm>
            <a:custGeom>
              <a:avLst/>
              <a:gdLst/>
              <a:ahLst/>
              <a:cxnLst/>
              <a:rect r="r" b="b" t="t" l="l"/>
              <a:pathLst>
                <a:path h="14028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3102"/>
                  </a:lnTo>
                  <a:cubicBezTo>
                    <a:pt x="475370" y="105616"/>
                    <a:pt x="470399" y="117617"/>
                    <a:pt x="461551" y="126466"/>
                  </a:cubicBezTo>
                  <a:cubicBezTo>
                    <a:pt x="452703" y="135314"/>
                    <a:pt x="440701" y="140285"/>
                    <a:pt x="428188" y="140285"/>
                  </a:cubicBezTo>
                  <a:lnTo>
                    <a:pt x="47183" y="140285"/>
                  </a:lnTo>
                  <a:cubicBezTo>
                    <a:pt x="34669" y="140285"/>
                    <a:pt x="22668" y="135314"/>
                    <a:pt x="13819" y="126466"/>
                  </a:cubicBezTo>
                  <a:cubicBezTo>
                    <a:pt x="4971" y="117617"/>
                    <a:pt x="0" y="105616"/>
                    <a:pt x="0" y="9310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475370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Recursos e de Apoio Técnico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952121" y="8805018"/>
            <a:ext cx="1804922" cy="532645"/>
            <a:chOff x="0" y="0"/>
            <a:chExt cx="475370" cy="14028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5370" cy="140285"/>
            </a:xfrm>
            <a:custGeom>
              <a:avLst/>
              <a:gdLst/>
              <a:ahLst/>
              <a:cxnLst/>
              <a:rect r="r" b="b" t="t" l="l"/>
              <a:pathLst>
                <a:path h="14028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3102"/>
                  </a:lnTo>
                  <a:cubicBezTo>
                    <a:pt x="475370" y="105616"/>
                    <a:pt x="470399" y="117617"/>
                    <a:pt x="461551" y="126466"/>
                  </a:cubicBezTo>
                  <a:cubicBezTo>
                    <a:pt x="452703" y="135314"/>
                    <a:pt x="440701" y="140285"/>
                    <a:pt x="428188" y="140285"/>
                  </a:cubicBezTo>
                  <a:lnTo>
                    <a:pt x="47183" y="140285"/>
                  </a:lnTo>
                  <a:cubicBezTo>
                    <a:pt x="34669" y="140285"/>
                    <a:pt x="22668" y="135314"/>
                    <a:pt x="13819" y="126466"/>
                  </a:cubicBezTo>
                  <a:cubicBezTo>
                    <a:pt x="4971" y="117617"/>
                    <a:pt x="0" y="105616"/>
                    <a:pt x="0" y="9310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75370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Coordenação das Unidades Regionais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952121" y="9394813"/>
            <a:ext cx="1804922" cy="551420"/>
            <a:chOff x="0" y="0"/>
            <a:chExt cx="475370" cy="14523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75370" cy="145230"/>
            </a:xfrm>
            <a:custGeom>
              <a:avLst/>
              <a:gdLst/>
              <a:ahLst/>
              <a:cxnLst/>
              <a:rect r="r" b="b" t="t" l="l"/>
              <a:pathLst>
                <a:path h="145230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8047"/>
                  </a:lnTo>
                  <a:cubicBezTo>
                    <a:pt x="475370" y="110561"/>
                    <a:pt x="470399" y="122562"/>
                    <a:pt x="461551" y="131411"/>
                  </a:cubicBezTo>
                  <a:cubicBezTo>
                    <a:pt x="452703" y="140259"/>
                    <a:pt x="440701" y="145230"/>
                    <a:pt x="428188" y="145230"/>
                  </a:cubicBezTo>
                  <a:lnTo>
                    <a:pt x="47183" y="145230"/>
                  </a:lnTo>
                  <a:cubicBezTo>
                    <a:pt x="34669" y="145230"/>
                    <a:pt x="22668" y="140259"/>
                    <a:pt x="13819" y="131411"/>
                  </a:cubicBezTo>
                  <a:cubicBezTo>
                    <a:pt x="4971" y="122562"/>
                    <a:pt x="0" y="110561"/>
                    <a:pt x="0" y="98047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DEDBDB"/>
            </a:solidFill>
            <a:ln w="19050" cap="sq">
              <a:solidFill>
                <a:srgbClr val="999999"/>
              </a:solidFill>
              <a:prstDash val="sysDot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75370" cy="145230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6B6767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Gerências e Unidades Regionais</a:t>
              </a:r>
            </a:p>
          </p:txBody>
        </p:sp>
      </p:grpSp>
      <p:sp>
        <p:nvSpPr>
          <p:cNvPr name="Freeform 113" id="113"/>
          <p:cNvSpPr/>
          <p:nvPr/>
        </p:nvSpPr>
        <p:spPr>
          <a:xfrm>
            <a:off x="6519211" y="7038828"/>
            <a:ext cx="432911" cy="2591419"/>
          </a:xfrm>
          <a:custGeom>
            <a:avLst/>
            <a:gdLst/>
            <a:ahLst/>
            <a:cxnLst/>
            <a:rect r="r" b="b" t="t" l="l"/>
            <a:pathLst>
              <a:path h="2591419" w="432911">
                <a:moveTo>
                  <a:pt x="292773" y="0"/>
                </a:moveTo>
                <a:lnTo>
                  <a:pt x="146387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2419970"/>
                </a:lnTo>
                <a:cubicBezTo>
                  <a:pt x="0" y="2465441"/>
                  <a:pt x="18063" y="2509050"/>
                  <a:pt x="50216" y="2541204"/>
                </a:cubicBezTo>
                <a:cubicBezTo>
                  <a:pt x="82369" y="2573357"/>
                  <a:pt x="125978" y="2591420"/>
                  <a:pt x="171450" y="2591420"/>
                </a:cubicBezTo>
                <a:lnTo>
                  <a:pt x="432910" y="259142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>
            <a:off x="6522684" y="7820559"/>
            <a:ext cx="43295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>
            <a:off x="6523293" y="9047576"/>
            <a:ext cx="441266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>
            <a:off x="6516877" y="8485260"/>
            <a:ext cx="432990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9766694" y="6772506"/>
            <a:ext cx="1970796" cy="532645"/>
            <a:chOff x="0" y="0"/>
            <a:chExt cx="519057" cy="14028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Outorgas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889991" y="7450959"/>
            <a:ext cx="1724201" cy="532645"/>
            <a:chOff x="0" y="0"/>
            <a:chExt cx="454111" cy="14028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Outorgas de Autorização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889991" y="8059804"/>
            <a:ext cx="1724201" cy="532645"/>
            <a:chOff x="0" y="0"/>
            <a:chExt cx="454111" cy="14028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Afretamento da Navegação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889991" y="8668649"/>
            <a:ext cx="1724201" cy="532645"/>
            <a:chOff x="0" y="0"/>
            <a:chExt cx="454111" cy="14028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Portos Organizados</a:t>
              </a:r>
            </a:p>
          </p:txBody>
        </p:sp>
      </p:grpSp>
      <p:sp>
        <p:nvSpPr>
          <p:cNvPr name="Freeform 129" id="129"/>
          <p:cNvSpPr/>
          <p:nvPr/>
        </p:nvSpPr>
        <p:spPr>
          <a:xfrm>
            <a:off x="9495231" y="7038828"/>
            <a:ext cx="394760" cy="1896143"/>
          </a:xfrm>
          <a:custGeom>
            <a:avLst/>
            <a:gdLst/>
            <a:ahLst/>
            <a:cxnLst/>
            <a:rect r="r" b="b" t="t" l="l"/>
            <a:pathLst>
              <a:path h="1896143" w="394760">
                <a:moveTo>
                  <a:pt x="292774" y="0"/>
                </a:moveTo>
                <a:lnTo>
                  <a:pt x="146387" y="0"/>
                </a:lnTo>
                <a:cubicBezTo>
                  <a:pt x="65540" y="0"/>
                  <a:pt x="0" y="65540"/>
                  <a:pt x="0" y="146388"/>
                </a:cubicBezTo>
                <a:lnTo>
                  <a:pt x="0" y="1724694"/>
                </a:lnTo>
                <a:cubicBezTo>
                  <a:pt x="0" y="1770165"/>
                  <a:pt x="18064" y="1813774"/>
                  <a:pt x="50217" y="1845927"/>
                </a:cubicBezTo>
                <a:cubicBezTo>
                  <a:pt x="82370" y="1878080"/>
                  <a:pt x="125979" y="1896144"/>
                  <a:pt x="171450" y="1896144"/>
                </a:cubicBezTo>
                <a:lnTo>
                  <a:pt x="394760" y="1896144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 flipV="true">
            <a:off x="9499929" y="7717282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 flipV="true">
            <a:off x="9499929" y="8326127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2" id="132"/>
          <p:cNvGrpSpPr/>
          <p:nvPr/>
        </p:nvGrpSpPr>
        <p:grpSpPr>
          <a:xfrm rot="0">
            <a:off x="3810227" y="6772506"/>
            <a:ext cx="1970796" cy="532645"/>
            <a:chOff x="0" y="0"/>
            <a:chExt cx="519057" cy="14028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ESG e Inovação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3933524" y="7450959"/>
            <a:ext cx="1724201" cy="656195"/>
            <a:chOff x="0" y="0"/>
            <a:chExt cx="454111" cy="17282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54111" cy="172825"/>
            </a:xfrm>
            <a:custGeom>
              <a:avLst/>
              <a:gdLst/>
              <a:ahLst/>
              <a:cxnLst/>
              <a:rect r="r" b="b" t="t" l="l"/>
              <a:pathLst>
                <a:path h="17282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123434"/>
                  </a:lnTo>
                  <a:cubicBezTo>
                    <a:pt x="454111" y="136533"/>
                    <a:pt x="448907" y="149096"/>
                    <a:pt x="439644" y="158359"/>
                  </a:cubicBezTo>
                  <a:cubicBezTo>
                    <a:pt x="430381" y="167621"/>
                    <a:pt x="417818" y="172825"/>
                    <a:pt x="404719" y="172825"/>
                  </a:cubicBezTo>
                  <a:lnTo>
                    <a:pt x="49392" y="172825"/>
                  </a:lnTo>
                  <a:cubicBezTo>
                    <a:pt x="36292" y="172825"/>
                    <a:pt x="23729" y="167621"/>
                    <a:pt x="14466" y="158359"/>
                  </a:cubicBezTo>
                  <a:cubicBezTo>
                    <a:pt x="5204" y="149096"/>
                    <a:pt x="0" y="136533"/>
                    <a:pt x="0" y="12343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454111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Estatística e Avaliação de Desempenho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3933524" y="8184335"/>
            <a:ext cx="1724201" cy="656195"/>
            <a:chOff x="0" y="0"/>
            <a:chExt cx="454111" cy="172825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54111" cy="172825"/>
            </a:xfrm>
            <a:custGeom>
              <a:avLst/>
              <a:gdLst/>
              <a:ahLst/>
              <a:cxnLst/>
              <a:rect r="r" b="b" t="t" l="l"/>
              <a:pathLst>
                <a:path h="17282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123434"/>
                  </a:lnTo>
                  <a:cubicBezTo>
                    <a:pt x="454111" y="136533"/>
                    <a:pt x="448907" y="149096"/>
                    <a:pt x="439644" y="158359"/>
                  </a:cubicBezTo>
                  <a:cubicBezTo>
                    <a:pt x="430381" y="167621"/>
                    <a:pt x="417818" y="172825"/>
                    <a:pt x="404719" y="172825"/>
                  </a:cubicBezTo>
                  <a:lnTo>
                    <a:pt x="49392" y="172825"/>
                  </a:lnTo>
                  <a:cubicBezTo>
                    <a:pt x="36292" y="172825"/>
                    <a:pt x="23729" y="167621"/>
                    <a:pt x="14466" y="158359"/>
                  </a:cubicBezTo>
                  <a:cubicBezTo>
                    <a:pt x="5204" y="149096"/>
                    <a:pt x="0" y="136533"/>
                    <a:pt x="0" y="12343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454111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Meio Ambiente e Sustentabilidade</a:t>
              </a:r>
            </a:p>
          </p:txBody>
        </p:sp>
      </p:grpSp>
      <p:sp>
        <p:nvSpPr>
          <p:cNvPr name="Freeform 141" id="141"/>
          <p:cNvSpPr/>
          <p:nvPr/>
        </p:nvSpPr>
        <p:spPr>
          <a:xfrm>
            <a:off x="3542071" y="7038828"/>
            <a:ext cx="416071" cy="1473604"/>
          </a:xfrm>
          <a:custGeom>
            <a:avLst/>
            <a:gdLst/>
            <a:ahLst/>
            <a:cxnLst/>
            <a:rect r="r" b="b" t="t" l="l"/>
            <a:pathLst>
              <a:path h="1473604" w="416071">
                <a:moveTo>
                  <a:pt x="292773" y="0"/>
                </a:moveTo>
                <a:lnTo>
                  <a:pt x="146386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1302154"/>
                </a:lnTo>
                <a:cubicBezTo>
                  <a:pt x="0" y="1396844"/>
                  <a:pt x="76760" y="1473604"/>
                  <a:pt x="171450" y="1473604"/>
                </a:cubicBezTo>
                <a:lnTo>
                  <a:pt x="416071" y="1473604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2" id="142"/>
          <p:cNvSpPr/>
          <p:nvPr/>
        </p:nvSpPr>
        <p:spPr>
          <a:xfrm flipV="true">
            <a:off x="3546769" y="7774294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3" id="143"/>
          <p:cNvGrpSpPr/>
          <p:nvPr/>
        </p:nvGrpSpPr>
        <p:grpSpPr>
          <a:xfrm rot="0">
            <a:off x="12747140" y="6772506"/>
            <a:ext cx="1970796" cy="532645"/>
            <a:chOff x="0" y="0"/>
            <a:chExt cx="519057" cy="14028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Estudos e Projetos Hidroviários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870437" y="7450959"/>
            <a:ext cx="1724201" cy="532645"/>
            <a:chOff x="0" y="0"/>
            <a:chExt cx="454111" cy="14028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Especial de Estudos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870437" y="8059804"/>
            <a:ext cx="1724201" cy="532645"/>
            <a:chOff x="0" y="0"/>
            <a:chExt cx="454111" cy="14028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Estudos Hidroviários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>
            <a:off x="12475677" y="7000184"/>
            <a:ext cx="394760" cy="1325943"/>
          </a:xfrm>
          <a:custGeom>
            <a:avLst/>
            <a:gdLst/>
            <a:ahLst/>
            <a:cxnLst/>
            <a:rect r="r" b="b" t="t" l="l"/>
            <a:pathLst>
              <a:path h="1325943" w="394760">
                <a:moveTo>
                  <a:pt x="268157" y="0"/>
                </a:moveTo>
                <a:lnTo>
                  <a:pt x="134079" y="0"/>
                </a:lnTo>
                <a:cubicBezTo>
                  <a:pt x="98519" y="0"/>
                  <a:pt x="64416" y="14126"/>
                  <a:pt x="39271" y="39270"/>
                </a:cubicBezTo>
                <a:cubicBezTo>
                  <a:pt x="14127" y="64415"/>
                  <a:pt x="0" y="98518"/>
                  <a:pt x="0" y="134078"/>
                </a:cubicBezTo>
                <a:lnTo>
                  <a:pt x="0" y="1154493"/>
                </a:lnTo>
                <a:cubicBezTo>
                  <a:pt x="0" y="1249182"/>
                  <a:pt x="76761" y="1325943"/>
                  <a:pt x="171450" y="1325943"/>
                </a:cubicBezTo>
                <a:lnTo>
                  <a:pt x="394760" y="1325943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 flipV="true">
            <a:off x="12477525" y="7717282"/>
            <a:ext cx="392912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4" id="154"/>
          <p:cNvGrpSpPr/>
          <p:nvPr/>
        </p:nvGrpSpPr>
        <p:grpSpPr>
          <a:xfrm rot="0">
            <a:off x="15748897" y="6772506"/>
            <a:ext cx="1970796" cy="532645"/>
            <a:chOff x="0" y="0"/>
            <a:chExt cx="519057" cy="140285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Regulação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5872194" y="7450959"/>
            <a:ext cx="1724201" cy="532645"/>
            <a:chOff x="0" y="0"/>
            <a:chExt cx="454111" cy="140285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Regulação Portuária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872194" y="8059804"/>
            <a:ext cx="1724201" cy="532645"/>
            <a:chOff x="0" y="0"/>
            <a:chExt cx="454111" cy="140285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Regulação da Navegação</a:t>
              </a:r>
            </a:p>
          </p:txBody>
        </p:sp>
      </p:grpSp>
      <p:sp>
        <p:nvSpPr>
          <p:cNvPr name="Freeform 163" id="163"/>
          <p:cNvSpPr/>
          <p:nvPr/>
        </p:nvSpPr>
        <p:spPr>
          <a:xfrm>
            <a:off x="15456123" y="7038828"/>
            <a:ext cx="416071" cy="1287298"/>
          </a:xfrm>
          <a:custGeom>
            <a:avLst/>
            <a:gdLst/>
            <a:ahLst/>
            <a:cxnLst/>
            <a:rect r="r" b="b" t="t" l="l"/>
            <a:pathLst>
              <a:path h="1287298" w="416071">
                <a:moveTo>
                  <a:pt x="292773" y="0"/>
                </a:moveTo>
                <a:lnTo>
                  <a:pt x="146387" y="0"/>
                </a:lnTo>
                <a:cubicBezTo>
                  <a:pt x="65540" y="0"/>
                  <a:pt x="0" y="65540"/>
                  <a:pt x="0" y="146387"/>
                </a:cubicBezTo>
                <a:lnTo>
                  <a:pt x="0" y="1115849"/>
                </a:lnTo>
                <a:cubicBezTo>
                  <a:pt x="0" y="1161320"/>
                  <a:pt x="18064" y="1204929"/>
                  <a:pt x="50217" y="1237082"/>
                </a:cubicBezTo>
                <a:cubicBezTo>
                  <a:pt x="82370" y="1269235"/>
                  <a:pt x="125979" y="1287299"/>
                  <a:pt x="171450" y="1287299"/>
                </a:cubicBezTo>
                <a:lnTo>
                  <a:pt x="416071" y="1287299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4" id="164"/>
          <p:cNvSpPr/>
          <p:nvPr/>
        </p:nvSpPr>
        <p:spPr>
          <a:xfrm flipV="true">
            <a:off x="15473150" y="7717282"/>
            <a:ext cx="399044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5" id="165"/>
          <p:cNvSpPr/>
          <p:nvPr/>
        </p:nvSpPr>
        <p:spPr>
          <a:xfrm flipV="true">
            <a:off x="13732537" y="6480835"/>
            <a:ext cx="2075" cy="291671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6" id="166"/>
          <p:cNvSpPr/>
          <p:nvPr/>
        </p:nvSpPr>
        <p:spPr>
          <a:xfrm flipV="true">
            <a:off x="10752092" y="6480096"/>
            <a:ext cx="2075" cy="292410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7" id="167"/>
          <p:cNvSpPr/>
          <p:nvPr/>
        </p:nvSpPr>
        <p:spPr>
          <a:xfrm flipH="true" flipV="true">
            <a:off x="7768958" y="6480096"/>
            <a:ext cx="2687" cy="292410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8" id="168"/>
          <p:cNvSpPr/>
          <p:nvPr/>
        </p:nvSpPr>
        <p:spPr>
          <a:xfrm flipV="true">
            <a:off x="4834556" y="6480096"/>
            <a:ext cx="2075" cy="292422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9" id="169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31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6102824" y="1206299"/>
            <a:ext cx="130313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211D1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Diretoria </a:t>
            </a:r>
            <a:r>
              <a:rPr lang="en-US" sz="1100">
                <a:solidFill>
                  <a:srgbClr val="211D1D"/>
                </a:solidFill>
                <a:latin typeface="Open Sans 1"/>
                <a:ea typeface="Open Sans 1"/>
                <a:cs typeface="Open Sans 1"/>
                <a:sym typeface="Open Sans 1"/>
              </a:rPr>
              <a:t>Colegiada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784611" y="2448857"/>
            <a:ext cx="36433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211D1D"/>
                </a:solidFill>
                <a:latin typeface="Open Sans 1"/>
                <a:ea typeface="Open Sans 1"/>
                <a:cs typeface="Open Sans 1"/>
                <a:sym typeface="Open Sans 1"/>
              </a:rPr>
              <a:t>Unidades de</a:t>
            </a:r>
            <a:r>
              <a:rPr lang="en-US" b="true" sz="1100">
                <a:solidFill>
                  <a:srgbClr val="211D1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assistência direta e imediata à Diretoria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777254" y="6129295"/>
            <a:ext cx="277192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211D1D"/>
                </a:solidFill>
                <a:latin typeface="Open Sans 1"/>
                <a:ea typeface="Open Sans 1"/>
                <a:cs typeface="Open Sans 1"/>
                <a:sym typeface="Open Sans 1"/>
              </a:rPr>
              <a:t>Unidades de</a:t>
            </a:r>
            <a:r>
              <a:rPr lang="en-US" b="true" sz="1100">
                <a:solidFill>
                  <a:srgbClr val="211D1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apoio ao processo decisório</a:t>
            </a:r>
          </a:p>
        </p:txBody>
      </p:sp>
      <p:grpSp>
        <p:nvGrpSpPr>
          <p:cNvPr name="Group 173" id="173"/>
          <p:cNvGrpSpPr/>
          <p:nvPr/>
        </p:nvGrpSpPr>
        <p:grpSpPr>
          <a:xfrm rot="0">
            <a:off x="14003408" y="669778"/>
            <a:ext cx="4458596" cy="2008137"/>
            <a:chOff x="0" y="0"/>
            <a:chExt cx="1174280" cy="52889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174280" cy="528892"/>
            </a:xfrm>
            <a:custGeom>
              <a:avLst/>
              <a:gdLst/>
              <a:ahLst/>
              <a:cxnLst/>
              <a:rect r="r" b="b" t="t" l="l"/>
              <a:pathLst>
                <a:path h="528892" w="1174280">
                  <a:moveTo>
                    <a:pt x="31255" y="0"/>
                  </a:moveTo>
                  <a:lnTo>
                    <a:pt x="1143025" y="0"/>
                  </a:lnTo>
                  <a:cubicBezTo>
                    <a:pt x="1160287" y="0"/>
                    <a:pt x="1174280" y="13993"/>
                    <a:pt x="1174280" y="31255"/>
                  </a:cubicBezTo>
                  <a:lnTo>
                    <a:pt x="1174280" y="497637"/>
                  </a:lnTo>
                  <a:cubicBezTo>
                    <a:pt x="1174280" y="514899"/>
                    <a:pt x="1160287" y="528892"/>
                    <a:pt x="1143025" y="528892"/>
                  </a:cubicBezTo>
                  <a:lnTo>
                    <a:pt x="31255" y="528892"/>
                  </a:lnTo>
                  <a:cubicBezTo>
                    <a:pt x="13993" y="528892"/>
                    <a:pt x="0" y="514899"/>
                    <a:pt x="0" y="497637"/>
                  </a:cubicBezTo>
                  <a:lnTo>
                    <a:pt x="0" y="31255"/>
                  </a:lnTo>
                  <a:cubicBezTo>
                    <a:pt x="0" y="13993"/>
                    <a:pt x="13993" y="0"/>
                    <a:pt x="31255" y="0"/>
                  </a:cubicBezTo>
                  <a:close/>
                </a:path>
              </a:pathLst>
            </a:custGeom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175" id="175"/>
            <p:cNvSpPr txBox="true"/>
            <p:nvPr/>
          </p:nvSpPr>
          <p:spPr>
            <a:xfrm>
              <a:off x="0" y="0"/>
              <a:ext cx="1174280" cy="52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AutoShape 176" id="176"/>
          <p:cNvSpPr/>
          <p:nvPr/>
        </p:nvSpPr>
        <p:spPr>
          <a:xfrm flipH="true">
            <a:off x="12683070" y="1673846"/>
            <a:ext cx="1320338" cy="118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7" id="177"/>
          <p:cNvSpPr txBox="true"/>
          <p:nvPr/>
        </p:nvSpPr>
        <p:spPr>
          <a:xfrm rot="0">
            <a:off x="14250531" y="858882"/>
            <a:ext cx="2581632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>
                <a:solidFill>
                  <a:srgbClr val="211D1D"/>
                </a:solidFill>
                <a:latin typeface="Open Sans 1 Semi-Bold"/>
                <a:ea typeface="Open Sans 1 Semi-Bold"/>
                <a:cs typeface="Open Sans 1 Semi-Bold"/>
                <a:sym typeface="Open Sans 1 Semi-Bold"/>
              </a:rPr>
              <a:t>Colegiados de apoio ao processo decisório</a:t>
            </a:r>
          </a:p>
        </p:txBody>
      </p:sp>
      <p:grpSp>
        <p:nvGrpSpPr>
          <p:cNvPr name="Group 178" id="178"/>
          <p:cNvGrpSpPr/>
          <p:nvPr/>
        </p:nvGrpSpPr>
        <p:grpSpPr>
          <a:xfrm rot="0">
            <a:off x="14250531" y="1152612"/>
            <a:ext cx="3482734" cy="1336434"/>
            <a:chOff x="0" y="0"/>
            <a:chExt cx="4643646" cy="1781912"/>
          </a:xfrm>
        </p:grpSpPr>
        <p:grpSp>
          <p:nvGrpSpPr>
            <p:cNvPr name="Group 179" id="179"/>
            <p:cNvGrpSpPr/>
            <p:nvPr/>
          </p:nvGrpSpPr>
          <p:grpSpPr>
            <a:xfrm rot="0">
              <a:off x="0" y="0"/>
              <a:ext cx="4643646" cy="372145"/>
              <a:chOff x="0" y="0"/>
              <a:chExt cx="917263" cy="7351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917263" cy="73510"/>
              </a:xfrm>
              <a:custGeom>
                <a:avLst/>
                <a:gdLst/>
                <a:ahLst/>
                <a:cxnLst/>
                <a:rect r="r" b="b" t="t" l="l"/>
                <a:pathLst>
                  <a:path h="73510" w="917263">
                    <a:moveTo>
                      <a:pt x="15561" y="0"/>
                    </a:moveTo>
                    <a:lnTo>
                      <a:pt x="901703" y="0"/>
                    </a:lnTo>
                    <a:cubicBezTo>
                      <a:pt x="910297" y="0"/>
                      <a:pt x="917263" y="6967"/>
                      <a:pt x="917263" y="15561"/>
                    </a:cubicBezTo>
                    <a:lnTo>
                      <a:pt x="917263" y="57949"/>
                    </a:lnTo>
                    <a:cubicBezTo>
                      <a:pt x="917263" y="66543"/>
                      <a:pt x="910297" y="73510"/>
                      <a:pt x="901703" y="73510"/>
                    </a:cubicBezTo>
                    <a:lnTo>
                      <a:pt x="15561" y="73510"/>
                    </a:lnTo>
                    <a:cubicBezTo>
                      <a:pt x="6967" y="73510"/>
                      <a:pt x="0" y="66543"/>
                      <a:pt x="0" y="57949"/>
                    </a:cubicBezTo>
                    <a:lnTo>
                      <a:pt x="0" y="15561"/>
                    </a:lnTo>
                    <a:cubicBezTo>
                      <a:pt x="0" y="6967"/>
                      <a:pt x="6967" y="0"/>
                      <a:pt x="15561" y="0"/>
                    </a:cubicBezTo>
                    <a:close/>
                  </a:path>
                </a:pathLst>
              </a:custGeom>
              <a:solidFill>
                <a:srgbClr val="C3CBD4"/>
              </a:solidFill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0"/>
                <a:ext cx="917263" cy="73510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1080"/>
                  </a:lnSpc>
                </a:pPr>
                <a:r>
                  <a:rPr lang="en-US" sz="900">
                    <a:solidFill>
                      <a:srgbClr val="032B52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Comitê Estratégico de Governança</a:t>
                </a: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0" y="411478"/>
              <a:ext cx="4643646" cy="372145"/>
              <a:chOff x="0" y="0"/>
              <a:chExt cx="917263" cy="73510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917263" cy="73510"/>
              </a:xfrm>
              <a:custGeom>
                <a:avLst/>
                <a:gdLst/>
                <a:ahLst/>
                <a:cxnLst/>
                <a:rect r="r" b="b" t="t" l="l"/>
                <a:pathLst>
                  <a:path h="73510" w="917263">
                    <a:moveTo>
                      <a:pt x="15561" y="0"/>
                    </a:moveTo>
                    <a:lnTo>
                      <a:pt x="901703" y="0"/>
                    </a:lnTo>
                    <a:cubicBezTo>
                      <a:pt x="910297" y="0"/>
                      <a:pt x="917263" y="6967"/>
                      <a:pt x="917263" y="15561"/>
                    </a:cubicBezTo>
                    <a:lnTo>
                      <a:pt x="917263" y="57949"/>
                    </a:lnTo>
                    <a:cubicBezTo>
                      <a:pt x="917263" y="66543"/>
                      <a:pt x="910297" y="73510"/>
                      <a:pt x="901703" y="73510"/>
                    </a:cubicBezTo>
                    <a:lnTo>
                      <a:pt x="15561" y="73510"/>
                    </a:lnTo>
                    <a:cubicBezTo>
                      <a:pt x="6967" y="73510"/>
                      <a:pt x="0" y="66543"/>
                      <a:pt x="0" y="57949"/>
                    </a:cubicBezTo>
                    <a:lnTo>
                      <a:pt x="0" y="15561"/>
                    </a:lnTo>
                    <a:cubicBezTo>
                      <a:pt x="0" y="6967"/>
                      <a:pt x="6967" y="0"/>
                      <a:pt x="15561" y="0"/>
                    </a:cubicBezTo>
                    <a:close/>
                  </a:path>
                </a:pathLst>
              </a:custGeom>
              <a:solidFill>
                <a:srgbClr val="C3CBD4"/>
              </a:solidFill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0"/>
                <a:ext cx="917263" cy="73510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1080"/>
                  </a:lnSpc>
                </a:pPr>
                <a:r>
                  <a:rPr lang="en-US" sz="900">
                    <a:solidFill>
                      <a:srgbClr val="032B52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Comitê de Governança Digital e Segurança da Informação</a:t>
                </a: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0" y="1409768"/>
              <a:ext cx="4643646" cy="372145"/>
              <a:chOff x="0" y="0"/>
              <a:chExt cx="917263" cy="7351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917263" cy="73510"/>
              </a:xfrm>
              <a:custGeom>
                <a:avLst/>
                <a:gdLst/>
                <a:ahLst/>
                <a:cxnLst/>
                <a:rect r="r" b="b" t="t" l="l"/>
                <a:pathLst>
                  <a:path h="73510" w="917263">
                    <a:moveTo>
                      <a:pt x="15561" y="0"/>
                    </a:moveTo>
                    <a:lnTo>
                      <a:pt x="901703" y="0"/>
                    </a:lnTo>
                    <a:cubicBezTo>
                      <a:pt x="910297" y="0"/>
                      <a:pt x="917263" y="6967"/>
                      <a:pt x="917263" y="15561"/>
                    </a:cubicBezTo>
                    <a:lnTo>
                      <a:pt x="917263" y="57949"/>
                    </a:lnTo>
                    <a:cubicBezTo>
                      <a:pt x="917263" y="66543"/>
                      <a:pt x="910297" y="73510"/>
                      <a:pt x="901703" y="73510"/>
                    </a:cubicBezTo>
                    <a:lnTo>
                      <a:pt x="15561" y="73510"/>
                    </a:lnTo>
                    <a:cubicBezTo>
                      <a:pt x="6967" y="73510"/>
                      <a:pt x="0" y="66543"/>
                      <a:pt x="0" y="57949"/>
                    </a:cubicBezTo>
                    <a:lnTo>
                      <a:pt x="0" y="15561"/>
                    </a:lnTo>
                    <a:cubicBezTo>
                      <a:pt x="0" y="6967"/>
                      <a:pt x="6967" y="0"/>
                      <a:pt x="15561" y="0"/>
                    </a:cubicBezTo>
                    <a:close/>
                  </a:path>
                </a:pathLst>
              </a:custGeom>
              <a:solidFill>
                <a:srgbClr val="C3CBD4"/>
              </a:solidFill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0" y="0"/>
                <a:ext cx="917263" cy="73510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1080"/>
                  </a:lnSpc>
                </a:pPr>
                <a:r>
                  <a:rPr lang="en-US" sz="900">
                    <a:solidFill>
                      <a:srgbClr val="032B52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Núcleo de Educação Corporativa</a:t>
                </a: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0" y="821723"/>
              <a:ext cx="4643646" cy="549945"/>
              <a:chOff x="0" y="0"/>
              <a:chExt cx="917263" cy="108631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917263" cy="108631"/>
              </a:xfrm>
              <a:custGeom>
                <a:avLst/>
                <a:gdLst/>
                <a:ahLst/>
                <a:cxnLst/>
                <a:rect r="r" b="b" t="t" l="l"/>
                <a:pathLst>
                  <a:path h="108631" w="917263">
                    <a:moveTo>
                      <a:pt x="15561" y="0"/>
                    </a:moveTo>
                    <a:lnTo>
                      <a:pt x="901703" y="0"/>
                    </a:lnTo>
                    <a:cubicBezTo>
                      <a:pt x="910297" y="0"/>
                      <a:pt x="917263" y="6967"/>
                      <a:pt x="917263" y="15561"/>
                    </a:cubicBezTo>
                    <a:lnTo>
                      <a:pt x="917263" y="93070"/>
                    </a:lnTo>
                    <a:cubicBezTo>
                      <a:pt x="917263" y="101664"/>
                      <a:pt x="910297" y="108631"/>
                      <a:pt x="901703" y="108631"/>
                    </a:cubicBezTo>
                    <a:lnTo>
                      <a:pt x="15561" y="108631"/>
                    </a:lnTo>
                    <a:cubicBezTo>
                      <a:pt x="6967" y="108631"/>
                      <a:pt x="0" y="101664"/>
                      <a:pt x="0" y="93070"/>
                    </a:cubicBezTo>
                    <a:lnTo>
                      <a:pt x="0" y="15561"/>
                    </a:lnTo>
                    <a:cubicBezTo>
                      <a:pt x="0" y="6967"/>
                      <a:pt x="6967" y="0"/>
                      <a:pt x="15561" y="0"/>
                    </a:cubicBezTo>
                    <a:close/>
                  </a:path>
                </a:pathLst>
              </a:custGeom>
              <a:solidFill>
                <a:srgbClr val="C3CBD4"/>
              </a:solidFill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0"/>
                <a:ext cx="917263" cy="108631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1080"/>
                  </a:lnSpc>
                </a:pPr>
                <a:r>
                  <a:rPr lang="en-US" sz="900">
                    <a:solidFill>
                      <a:srgbClr val="032B52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Comissão Permanente de Licitação de Concessões e Arrendamentos Portuários</a:t>
                </a:r>
              </a:p>
            </p:txBody>
          </p:sp>
        </p:grpSp>
      </p:grpSp>
      <p:sp>
        <p:nvSpPr>
          <p:cNvPr name="TextBox 191" id="191"/>
          <p:cNvSpPr txBox="true"/>
          <p:nvPr/>
        </p:nvSpPr>
        <p:spPr>
          <a:xfrm rot="0">
            <a:off x="777254" y="1139615"/>
            <a:ext cx="4428739" cy="35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2600" b="tru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 organizacional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12339601" y="9543817"/>
            <a:ext cx="4390270" cy="275299"/>
            <a:chOff x="0" y="0"/>
            <a:chExt cx="5853694" cy="367065"/>
          </a:xfrm>
        </p:grpSpPr>
        <p:grpSp>
          <p:nvGrpSpPr>
            <p:cNvPr name="Group 193" id="193"/>
            <p:cNvGrpSpPr/>
            <p:nvPr/>
          </p:nvGrpSpPr>
          <p:grpSpPr>
            <a:xfrm rot="0">
              <a:off x="4257714" y="0"/>
              <a:ext cx="1595979" cy="360216"/>
              <a:chOff x="0" y="0"/>
              <a:chExt cx="246293" cy="55589"/>
            </a:xfrm>
          </p:grpSpPr>
          <p:sp>
            <p:nvSpPr>
              <p:cNvPr name="Freeform 194" id="194"/>
              <p:cNvSpPr/>
              <p:nvPr/>
            </p:nvSpPr>
            <p:spPr>
              <a:xfrm flipH="false" flipV="false" rot="0">
                <a:off x="0" y="0"/>
                <a:ext cx="246293" cy="55589"/>
              </a:xfrm>
              <a:custGeom>
                <a:avLst/>
                <a:gdLst/>
                <a:ahLst/>
                <a:cxnLst/>
                <a:rect r="r" b="b" t="t" l="l"/>
                <a:pathLst>
                  <a:path h="55589" w="246293">
                    <a:moveTo>
                      <a:pt x="27794" y="0"/>
                    </a:moveTo>
                    <a:lnTo>
                      <a:pt x="218499" y="0"/>
                    </a:lnTo>
                    <a:cubicBezTo>
                      <a:pt x="225870" y="0"/>
                      <a:pt x="232940" y="2928"/>
                      <a:pt x="238152" y="8141"/>
                    </a:cubicBezTo>
                    <a:cubicBezTo>
                      <a:pt x="243365" y="13353"/>
                      <a:pt x="246293" y="20423"/>
                      <a:pt x="246293" y="27794"/>
                    </a:cubicBezTo>
                    <a:lnTo>
                      <a:pt x="246293" y="27794"/>
                    </a:lnTo>
                    <a:cubicBezTo>
                      <a:pt x="246293" y="43145"/>
                      <a:pt x="233849" y="55589"/>
                      <a:pt x="218499" y="55589"/>
                    </a:cubicBezTo>
                    <a:lnTo>
                      <a:pt x="27794" y="55589"/>
                    </a:lnTo>
                    <a:cubicBezTo>
                      <a:pt x="12444" y="55589"/>
                      <a:pt x="0" y="43145"/>
                      <a:pt x="0" y="27794"/>
                    </a:cubicBezTo>
                    <a:lnTo>
                      <a:pt x="0" y="27794"/>
                    </a:lnTo>
                    <a:cubicBezTo>
                      <a:pt x="0" y="12444"/>
                      <a:pt x="12444" y="0"/>
                      <a:pt x="27794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5" id="195"/>
              <p:cNvSpPr txBox="true"/>
              <p:nvPr/>
            </p:nvSpPr>
            <p:spPr>
              <a:xfrm>
                <a:off x="0" y="-19050"/>
                <a:ext cx="246293" cy="746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40"/>
                  </a:lnSpc>
                </a:pPr>
              </a:p>
            </p:txBody>
          </p:sp>
        </p:grpSp>
        <p:grpSp>
          <p:nvGrpSpPr>
            <p:cNvPr name="Group 196" id="196"/>
            <p:cNvGrpSpPr/>
            <p:nvPr/>
          </p:nvGrpSpPr>
          <p:grpSpPr>
            <a:xfrm rot="0">
              <a:off x="0" y="0"/>
              <a:ext cx="5485405" cy="367065"/>
              <a:chOff x="0" y="0"/>
              <a:chExt cx="846513" cy="56646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846513" cy="56646"/>
              </a:xfrm>
              <a:custGeom>
                <a:avLst/>
                <a:gdLst/>
                <a:ahLst/>
                <a:cxnLst/>
                <a:rect r="r" b="b" t="t" l="l"/>
                <a:pathLst>
                  <a:path h="56646" w="846513">
                    <a:moveTo>
                      <a:pt x="11761" y="0"/>
                    </a:moveTo>
                    <a:lnTo>
                      <a:pt x="834752" y="0"/>
                    </a:lnTo>
                    <a:cubicBezTo>
                      <a:pt x="841247" y="0"/>
                      <a:pt x="846513" y="5266"/>
                      <a:pt x="846513" y="11761"/>
                    </a:cubicBezTo>
                    <a:lnTo>
                      <a:pt x="846513" y="44884"/>
                    </a:lnTo>
                    <a:cubicBezTo>
                      <a:pt x="846513" y="48004"/>
                      <a:pt x="845274" y="50995"/>
                      <a:pt x="843068" y="53201"/>
                    </a:cubicBezTo>
                    <a:cubicBezTo>
                      <a:pt x="840863" y="55407"/>
                      <a:pt x="837871" y="56646"/>
                      <a:pt x="834752" y="56646"/>
                    </a:cubicBezTo>
                    <a:lnTo>
                      <a:pt x="11761" y="56646"/>
                    </a:lnTo>
                    <a:cubicBezTo>
                      <a:pt x="8642" y="56646"/>
                      <a:pt x="5651" y="55407"/>
                      <a:pt x="3445" y="53201"/>
                    </a:cubicBezTo>
                    <a:cubicBezTo>
                      <a:pt x="1239" y="50995"/>
                      <a:pt x="0" y="48004"/>
                      <a:pt x="0" y="44884"/>
                    </a:cubicBezTo>
                    <a:lnTo>
                      <a:pt x="0" y="11761"/>
                    </a:lnTo>
                    <a:cubicBezTo>
                      <a:pt x="0" y="8642"/>
                      <a:pt x="1239" y="5651"/>
                      <a:pt x="3445" y="3445"/>
                    </a:cubicBezTo>
                    <a:cubicBezTo>
                      <a:pt x="5651" y="1239"/>
                      <a:pt x="8642" y="0"/>
                      <a:pt x="1176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198" id="198"/>
              <p:cNvSpPr txBox="true"/>
              <p:nvPr/>
            </p:nvSpPr>
            <p:spPr>
              <a:xfrm>
                <a:off x="0" y="-19050"/>
                <a:ext cx="846513" cy="75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  <a:hlinkClick r:id="rId2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Fo</a:t>
                </a: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nte</a:t>
                </a: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  <a:hlinkClick r:id="rId3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: </a:t>
                </a:r>
                <a:r>
                  <a:rPr lang="en-US" sz="900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  <a:hlinkClick r:id="rId4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Resolução n° 116/2024 alterada pela Resolução n° 120/2024 </a:t>
                </a:r>
              </a:p>
            </p:txBody>
          </p:sp>
        </p:grpSp>
        <p:sp>
          <p:nvSpPr>
            <p:cNvPr name="Freeform 199" id="199"/>
            <p:cNvSpPr/>
            <p:nvPr/>
          </p:nvSpPr>
          <p:spPr>
            <a:xfrm flipH="false" flipV="false" rot="0">
              <a:off x="5580056" y="82742"/>
              <a:ext cx="194733" cy="194733"/>
            </a:xfrm>
            <a:custGeom>
              <a:avLst/>
              <a:gdLst/>
              <a:ahLst/>
              <a:cxnLst/>
              <a:rect r="r" b="b" t="t" l="l"/>
              <a:pathLst>
                <a:path h="194733" w="194733">
                  <a:moveTo>
                    <a:pt x="0" y="0"/>
                  </a:moveTo>
                  <a:lnTo>
                    <a:pt x="194734" y="0"/>
                  </a:lnTo>
                  <a:lnTo>
                    <a:pt x="194734" y="194733"/>
                  </a:lnTo>
                  <a:lnTo>
                    <a:pt x="0" y="194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202" id="202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205" id="20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607" y="1875163"/>
            <a:ext cx="12209320" cy="7903615"/>
            <a:chOff x="0" y="0"/>
            <a:chExt cx="16279093" cy="1053815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159713" y="4435268"/>
              <a:ext cx="7119380" cy="2374900"/>
              <a:chOff x="0" y="0"/>
              <a:chExt cx="1416099" cy="47238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416099" cy="472386"/>
              </a:xfrm>
              <a:custGeom>
                <a:avLst/>
                <a:gdLst/>
                <a:ahLst/>
                <a:cxnLst/>
                <a:rect r="r" b="b" t="t" l="l"/>
                <a:pathLst>
                  <a:path h="472386" w="1416099">
                    <a:moveTo>
                      <a:pt x="66697" y="0"/>
                    </a:moveTo>
                    <a:lnTo>
                      <a:pt x="1349402" y="0"/>
                    </a:lnTo>
                    <a:cubicBezTo>
                      <a:pt x="1367091" y="0"/>
                      <a:pt x="1384056" y="7027"/>
                      <a:pt x="1396564" y="19535"/>
                    </a:cubicBezTo>
                    <a:cubicBezTo>
                      <a:pt x="1409072" y="32043"/>
                      <a:pt x="1416099" y="49007"/>
                      <a:pt x="1416099" y="66697"/>
                    </a:cubicBezTo>
                    <a:lnTo>
                      <a:pt x="1416099" y="405689"/>
                    </a:lnTo>
                    <a:cubicBezTo>
                      <a:pt x="1416099" y="442525"/>
                      <a:pt x="1386238" y="472386"/>
                      <a:pt x="1349402" y="472386"/>
                    </a:cubicBezTo>
                    <a:lnTo>
                      <a:pt x="66697" y="472386"/>
                    </a:lnTo>
                    <a:cubicBezTo>
                      <a:pt x="29861" y="472386"/>
                      <a:pt x="0" y="442525"/>
                      <a:pt x="0" y="405689"/>
                    </a:cubicBezTo>
                    <a:lnTo>
                      <a:pt x="0" y="66697"/>
                    </a:lnTo>
                    <a:cubicBezTo>
                      <a:pt x="0" y="29861"/>
                      <a:pt x="29861" y="0"/>
                      <a:pt x="66697" y="0"/>
                    </a:cubicBezTo>
                    <a:close/>
                  </a:path>
                </a:pathLst>
              </a:custGeom>
              <a:ln w="19050" cap="rnd">
                <a:solidFill>
                  <a:srgbClr val="DFEFF8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416099" cy="472386"/>
              </a:xfrm>
              <a:prstGeom prst="rect">
                <a:avLst/>
              </a:prstGeom>
            </p:spPr>
            <p:txBody>
              <a:bodyPr anchor="ctr" rtlCol="false" tIns="50164" lIns="50164" bIns="50164" rIns="50164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8653714" y="3627334"/>
              <a:ext cx="1885368" cy="1615868"/>
              <a:chOff x="0" y="0"/>
              <a:chExt cx="870106" cy="7457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718342" y="3678504"/>
              <a:ext cx="1764968" cy="1513528"/>
              <a:chOff x="0" y="0"/>
              <a:chExt cx="869617" cy="74573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26823" y="0"/>
                <a:ext cx="815970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5970">
                    <a:moveTo>
                      <a:pt x="792417" y="465304"/>
                    </a:moveTo>
                    <a:lnTo>
                      <a:pt x="689970" y="653291"/>
                    </a:lnTo>
                    <a:cubicBezTo>
                      <a:pt x="658918" y="710272"/>
                      <a:pt x="599212" y="745730"/>
                      <a:pt x="534319" y="745730"/>
                    </a:cubicBezTo>
                    <a:lnTo>
                      <a:pt x="281651" y="745730"/>
                    </a:lnTo>
                    <a:cubicBezTo>
                      <a:pt x="216759" y="745730"/>
                      <a:pt x="157053" y="710272"/>
                      <a:pt x="126001" y="653291"/>
                    </a:cubicBezTo>
                    <a:lnTo>
                      <a:pt x="23553" y="465304"/>
                    </a:lnTo>
                    <a:cubicBezTo>
                      <a:pt x="-7851" y="407679"/>
                      <a:pt x="-7851" y="338051"/>
                      <a:pt x="23553" y="280426"/>
                    </a:cubicBezTo>
                    <a:lnTo>
                      <a:pt x="126001" y="92439"/>
                    </a:lnTo>
                    <a:cubicBezTo>
                      <a:pt x="157053" y="35458"/>
                      <a:pt x="216759" y="0"/>
                      <a:pt x="281651" y="0"/>
                    </a:cubicBezTo>
                    <a:lnTo>
                      <a:pt x="534319" y="0"/>
                    </a:lnTo>
                    <a:cubicBezTo>
                      <a:pt x="599212" y="0"/>
                      <a:pt x="658918" y="35458"/>
                      <a:pt x="689970" y="92439"/>
                    </a:cubicBezTo>
                    <a:lnTo>
                      <a:pt x="792417" y="280426"/>
                    </a:lnTo>
                    <a:cubicBezTo>
                      <a:pt x="823821" y="338051"/>
                      <a:pt x="823821" y="407679"/>
                      <a:pt x="792417" y="465304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287" t="-6269" r="-9854" b="-79544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9664773" y="5442410"/>
              <a:ext cx="6109261" cy="97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Doutor em Ciências Navais, o Vice-Almirante atuou na Marinha do Brasil por 45 anos. Foi Diretor de Portos e Costas, chefe do estado-maior do Comando de Operações Navais e Capitão dos Portos de Alagoas e do Rio de Janeiro, além de Presidente do Tribunal Marítimo. ​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124912" y="4834731"/>
              <a:ext cx="4106910" cy="21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Diretor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159383" y="5138176"/>
              <a:ext cx="3967600" cy="20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"/>
                </a:lnSpc>
              </a:pPr>
              <a:r>
                <a:rPr lang="en-US" b="true" sz="9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Mandato: 14/12/2022 a 18/02/2027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1268326" y="4200589"/>
              <a:ext cx="3820081" cy="502719"/>
              <a:chOff x="0" y="0"/>
              <a:chExt cx="618423" cy="8138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18423" cy="81384"/>
              </a:xfrm>
              <a:custGeom>
                <a:avLst/>
                <a:gdLst/>
                <a:ahLst/>
                <a:cxnLst/>
                <a:rect r="r" b="b" t="t" l="l"/>
                <a:pathLst>
                  <a:path h="81384" w="618423">
                    <a:moveTo>
                      <a:pt x="37831" y="0"/>
                    </a:moveTo>
                    <a:lnTo>
                      <a:pt x="580592" y="0"/>
                    </a:lnTo>
                    <a:cubicBezTo>
                      <a:pt x="590626" y="0"/>
                      <a:pt x="600248" y="3986"/>
                      <a:pt x="607343" y="11080"/>
                    </a:cubicBezTo>
                    <a:cubicBezTo>
                      <a:pt x="614437" y="18175"/>
                      <a:pt x="618423" y="27797"/>
                      <a:pt x="618423" y="37831"/>
                    </a:cubicBezTo>
                    <a:lnTo>
                      <a:pt x="618423" y="43553"/>
                    </a:lnTo>
                    <a:cubicBezTo>
                      <a:pt x="618423" y="53587"/>
                      <a:pt x="614437" y="63209"/>
                      <a:pt x="607343" y="70304"/>
                    </a:cubicBezTo>
                    <a:cubicBezTo>
                      <a:pt x="600248" y="77398"/>
                      <a:pt x="590626" y="81384"/>
                      <a:pt x="580592" y="81384"/>
                    </a:cubicBezTo>
                    <a:lnTo>
                      <a:pt x="37831" y="81384"/>
                    </a:lnTo>
                    <a:cubicBezTo>
                      <a:pt x="27797" y="81384"/>
                      <a:pt x="18175" y="77398"/>
                      <a:pt x="11080" y="70304"/>
                    </a:cubicBezTo>
                    <a:cubicBezTo>
                      <a:pt x="3986" y="63209"/>
                      <a:pt x="0" y="53587"/>
                      <a:pt x="0" y="43553"/>
                    </a:cubicBezTo>
                    <a:lnTo>
                      <a:pt x="0" y="37831"/>
                    </a:lnTo>
                    <a:cubicBezTo>
                      <a:pt x="0" y="27797"/>
                      <a:pt x="3986" y="18175"/>
                      <a:pt x="11080" y="11080"/>
                    </a:cubicBezTo>
                    <a:cubicBezTo>
                      <a:pt x="18175" y="3986"/>
                      <a:pt x="27797" y="0"/>
                      <a:pt x="3783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19050" cap="sq">
                <a:solidFill>
                  <a:srgbClr val="52A2D9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618423" cy="90909"/>
              </a:xfrm>
              <a:prstGeom prst="rect">
                <a:avLst/>
              </a:prstGeom>
            </p:spPr>
            <p:txBody>
              <a:bodyPr anchor="ctr" rtlCol="false" tIns="50321" lIns="50321" bIns="50321" rIns="50321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W</a:t>
                </a: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ILSON LIMA FILHO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06000" y="4459719"/>
              <a:ext cx="7119380" cy="2374900"/>
              <a:chOff x="0" y="0"/>
              <a:chExt cx="1416099" cy="47238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6099" cy="472386"/>
              </a:xfrm>
              <a:custGeom>
                <a:avLst/>
                <a:gdLst/>
                <a:ahLst/>
                <a:cxnLst/>
                <a:rect r="r" b="b" t="t" l="l"/>
                <a:pathLst>
                  <a:path h="472386" w="1416099">
                    <a:moveTo>
                      <a:pt x="66697" y="0"/>
                    </a:moveTo>
                    <a:lnTo>
                      <a:pt x="1349402" y="0"/>
                    </a:lnTo>
                    <a:cubicBezTo>
                      <a:pt x="1367091" y="0"/>
                      <a:pt x="1384056" y="7027"/>
                      <a:pt x="1396564" y="19535"/>
                    </a:cubicBezTo>
                    <a:cubicBezTo>
                      <a:pt x="1409072" y="32043"/>
                      <a:pt x="1416099" y="49007"/>
                      <a:pt x="1416099" y="66697"/>
                    </a:cubicBezTo>
                    <a:lnTo>
                      <a:pt x="1416099" y="405689"/>
                    </a:lnTo>
                    <a:cubicBezTo>
                      <a:pt x="1416099" y="442525"/>
                      <a:pt x="1386238" y="472386"/>
                      <a:pt x="1349402" y="472386"/>
                    </a:cubicBezTo>
                    <a:lnTo>
                      <a:pt x="66697" y="472386"/>
                    </a:lnTo>
                    <a:cubicBezTo>
                      <a:pt x="29861" y="472386"/>
                      <a:pt x="0" y="442525"/>
                      <a:pt x="0" y="405689"/>
                    </a:cubicBezTo>
                    <a:lnTo>
                      <a:pt x="0" y="66697"/>
                    </a:lnTo>
                    <a:cubicBezTo>
                      <a:pt x="0" y="29861"/>
                      <a:pt x="29861" y="0"/>
                      <a:pt x="66697" y="0"/>
                    </a:cubicBezTo>
                    <a:close/>
                  </a:path>
                </a:pathLst>
              </a:custGeom>
              <a:ln w="19050" cap="rnd">
                <a:solidFill>
                  <a:srgbClr val="DFEFF8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1416099" cy="472386"/>
              </a:xfrm>
              <a:prstGeom prst="rect">
                <a:avLst/>
              </a:prstGeom>
            </p:spPr>
            <p:txBody>
              <a:bodyPr anchor="ctr" rtlCol="false" tIns="50164" lIns="50164" bIns="50164" rIns="50164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3651785"/>
              <a:ext cx="1885368" cy="1615868"/>
              <a:chOff x="0" y="0"/>
              <a:chExt cx="870106" cy="74573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58531" y="3702955"/>
              <a:ext cx="1764968" cy="1513528"/>
              <a:chOff x="0" y="0"/>
              <a:chExt cx="869617" cy="74573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26823" y="0"/>
                <a:ext cx="815970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5970">
                    <a:moveTo>
                      <a:pt x="792417" y="465304"/>
                    </a:moveTo>
                    <a:lnTo>
                      <a:pt x="689970" y="653291"/>
                    </a:lnTo>
                    <a:cubicBezTo>
                      <a:pt x="658918" y="710272"/>
                      <a:pt x="599212" y="745730"/>
                      <a:pt x="534319" y="745730"/>
                    </a:cubicBezTo>
                    <a:lnTo>
                      <a:pt x="281651" y="745730"/>
                    </a:lnTo>
                    <a:cubicBezTo>
                      <a:pt x="216759" y="745730"/>
                      <a:pt x="157053" y="710272"/>
                      <a:pt x="126001" y="653291"/>
                    </a:cubicBezTo>
                    <a:lnTo>
                      <a:pt x="23553" y="465304"/>
                    </a:lnTo>
                    <a:cubicBezTo>
                      <a:pt x="-7851" y="407679"/>
                      <a:pt x="-7851" y="338051"/>
                      <a:pt x="23553" y="280426"/>
                    </a:cubicBezTo>
                    <a:lnTo>
                      <a:pt x="126001" y="92439"/>
                    </a:lnTo>
                    <a:cubicBezTo>
                      <a:pt x="157053" y="35458"/>
                      <a:pt x="216759" y="0"/>
                      <a:pt x="281651" y="0"/>
                    </a:cubicBezTo>
                    <a:lnTo>
                      <a:pt x="534319" y="0"/>
                    </a:lnTo>
                    <a:cubicBezTo>
                      <a:pt x="599212" y="0"/>
                      <a:pt x="658918" y="35458"/>
                      <a:pt x="689970" y="92439"/>
                    </a:cubicBezTo>
                    <a:lnTo>
                      <a:pt x="792417" y="280426"/>
                    </a:lnTo>
                    <a:cubicBezTo>
                      <a:pt x="823821" y="338051"/>
                      <a:pt x="823821" y="407679"/>
                      <a:pt x="792417" y="465304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287" t="-107" r="-9792" b="-85257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011059" y="5466861"/>
              <a:ext cx="6109261" cy="97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b="true" sz="999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ós-gr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ado em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rib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tári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especi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z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ado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ireit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emp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,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integ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a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ssã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de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ju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stas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 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F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l. Ten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mai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 de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ez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an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ativida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profissional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pera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v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ár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tribun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paí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,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mérc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io 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xt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portos br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ent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471198" y="4859182"/>
              <a:ext cx="4106910" cy="21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Diretor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505669" y="5162627"/>
              <a:ext cx="3967600" cy="20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"/>
                </a:lnSpc>
              </a:pPr>
              <a:r>
                <a:rPr lang="en-US" b="true" sz="9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Mandato: 14/12/2022 a 13/12/2027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2614613" y="4225040"/>
              <a:ext cx="3820081" cy="502719"/>
              <a:chOff x="0" y="0"/>
              <a:chExt cx="618423" cy="8138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18423" cy="81384"/>
              </a:xfrm>
              <a:custGeom>
                <a:avLst/>
                <a:gdLst/>
                <a:ahLst/>
                <a:cxnLst/>
                <a:rect r="r" b="b" t="t" l="l"/>
                <a:pathLst>
                  <a:path h="81384" w="618423">
                    <a:moveTo>
                      <a:pt x="37831" y="0"/>
                    </a:moveTo>
                    <a:lnTo>
                      <a:pt x="580592" y="0"/>
                    </a:lnTo>
                    <a:cubicBezTo>
                      <a:pt x="590626" y="0"/>
                      <a:pt x="600248" y="3986"/>
                      <a:pt x="607343" y="11080"/>
                    </a:cubicBezTo>
                    <a:cubicBezTo>
                      <a:pt x="614437" y="18175"/>
                      <a:pt x="618423" y="27797"/>
                      <a:pt x="618423" y="37831"/>
                    </a:cubicBezTo>
                    <a:lnTo>
                      <a:pt x="618423" y="43553"/>
                    </a:lnTo>
                    <a:cubicBezTo>
                      <a:pt x="618423" y="53587"/>
                      <a:pt x="614437" y="63209"/>
                      <a:pt x="607343" y="70304"/>
                    </a:cubicBezTo>
                    <a:cubicBezTo>
                      <a:pt x="600248" y="77398"/>
                      <a:pt x="590626" y="81384"/>
                      <a:pt x="580592" y="81384"/>
                    </a:cubicBezTo>
                    <a:lnTo>
                      <a:pt x="37831" y="81384"/>
                    </a:lnTo>
                    <a:cubicBezTo>
                      <a:pt x="27797" y="81384"/>
                      <a:pt x="18175" y="77398"/>
                      <a:pt x="11080" y="70304"/>
                    </a:cubicBezTo>
                    <a:cubicBezTo>
                      <a:pt x="3986" y="63209"/>
                      <a:pt x="0" y="53587"/>
                      <a:pt x="0" y="43553"/>
                    </a:cubicBezTo>
                    <a:lnTo>
                      <a:pt x="0" y="37831"/>
                    </a:lnTo>
                    <a:cubicBezTo>
                      <a:pt x="0" y="27797"/>
                      <a:pt x="3986" y="18175"/>
                      <a:pt x="11080" y="11080"/>
                    </a:cubicBezTo>
                    <a:cubicBezTo>
                      <a:pt x="18175" y="3986"/>
                      <a:pt x="27797" y="0"/>
                      <a:pt x="3783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19050" cap="sq">
                <a:solidFill>
                  <a:srgbClr val="52A2D9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618423" cy="90909"/>
              </a:xfrm>
              <a:prstGeom prst="rect">
                <a:avLst/>
              </a:prstGeom>
            </p:spPr>
            <p:txBody>
              <a:bodyPr anchor="ctr" rtlCol="false" tIns="50321" lIns="50321" bIns="50321" rIns="50321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CA</a:t>
                </a: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IO FARIAS LEÔNCIO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148946" y="807934"/>
              <a:ext cx="7119380" cy="2374900"/>
              <a:chOff x="0" y="0"/>
              <a:chExt cx="1416099" cy="47238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16099" cy="472386"/>
              </a:xfrm>
              <a:custGeom>
                <a:avLst/>
                <a:gdLst/>
                <a:ahLst/>
                <a:cxnLst/>
                <a:rect r="r" b="b" t="t" l="l"/>
                <a:pathLst>
                  <a:path h="472386" w="1416099">
                    <a:moveTo>
                      <a:pt x="66697" y="0"/>
                    </a:moveTo>
                    <a:lnTo>
                      <a:pt x="1349402" y="0"/>
                    </a:lnTo>
                    <a:cubicBezTo>
                      <a:pt x="1367091" y="0"/>
                      <a:pt x="1384056" y="7027"/>
                      <a:pt x="1396564" y="19535"/>
                    </a:cubicBezTo>
                    <a:cubicBezTo>
                      <a:pt x="1409072" y="32043"/>
                      <a:pt x="1416099" y="49007"/>
                      <a:pt x="1416099" y="66697"/>
                    </a:cubicBezTo>
                    <a:lnTo>
                      <a:pt x="1416099" y="405689"/>
                    </a:lnTo>
                    <a:cubicBezTo>
                      <a:pt x="1416099" y="442525"/>
                      <a:pt x="1386238" y="472386"/>
                      <a:pt x="1349402" y="472386"/>
                    </a:cubicBezTo>
                    <a:lnTo>
                      <a:pt x="66697" y="472386"/>
                    </a:lnTo>
                    <a:cubicBezTo>
                      <a:pt x="29861" y="472386"/>
                      <a:pt x="0" y="442525"/>
                      <a:pt x="0" y="405689"/>
                    </a:cubicBezTo>
                    <a:lnTo>
                      <a:pt x="0" y="66697"/>
                    </a:lnTo>
                    <a:cubicBezTo>
                      <a:pt x="0" y="29861"/>
                      <a:pt x="29861" y="0"/>
                      <a:pt x="66697" y="0"/>
                    </a:cubicBezTo>
                    <a:close/>
                  </a:path>
                </a:pathLst>
              </a:custGeom>
              <a:ln w="19050" cap="rnd">
                <a:solidFill>
                  <a:srgbClr val="DFEFF8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0"/>
                <a:ext cx="1416099" cy="472386"/>
              </a:xfrm>
              <a:prstGeom prst="rect">
                <a:avLst/>
              </a:prstGeom>
            </p:spPr>
            <p:txBody>
              <a:bodyPr anchor="ctr" rtlCol="false" tIns="50164" lIns="50164" bIns="50164" rIns="50164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642947" y="0"/>
              <a:ext cx="1885368" cy="1615868"/>
              <a:chOff x="0" y="0"/>
              <a:chExt cx="870106" cy="74573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707575" y="51170"/>
              <a:ext cx="1764968" cy="1513528"/>
              <a:chOff x="0" y="0"/>
              <a:chExt cx="869617" cy="74573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26823" y="0"/>
                <a:ext cx="815970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5970">
                    <a:moveTo>
                      <a:pt x="792417" y="465304"/>
                    </a:moveTo>
                    <a:lnTo>
                      <a:pt x="689970" y="653291"/>
                    </a:lnTo>
                    <a:cubicBezTo>
                      <a:pt x="658918" y="710272"/>
                      <a:pt x="599212" y="745730"/>
                      <a:pt x="534319" y="745730"/>
                    </a:cubicBezTo>
                    <a:lnTo>
                      <a:pt x="281651" y="745730"/>
                    </a:lnTo>
                    <a:cubicBezTo>
                      <a:pt x="216759" y="745730"/>
                      <a:pt x="157053" y="710272"/>
                      <a:pt x="126001" y="653291"/>
                    </a:cubicBezTo>
                    <a:lnTo>
                      <a:pt x="23553" y="465304"/>
                    </a:lnTo>
                    <a:cubicBezTo>
                      <a:pt x="-7851" y="407679"/>
                      <a:pt x="-7851" y="338051"/>
                      <a:pt x="23553" y="280426"/>
                    </a:cubicBezTo>
                    <a:lnTo>
                      <a:pt x="126001" y="92439"/>
                    </a:lnTo>
                    <a:cubicBezTo>
                      <a:pt x="157053" y="35458"/>
                      <a:pt x="216759" y="0"/>
                      <a:pt x="281651" y="0"/>
                    </a:cubicBezTo>
                    <a:lnTo>
                      <a:pt x="534319" y="0"/>
                    </a:lnTo>
                    <a:cubicBezTo>
                      <a:pt x="599212" y="0"/>
                      <a:pt x="658918" y="35458"/>
                      <a:pt x="689970" y="92439"/>
                    </a:cubicBezTo>
                    <a:lnTo>
                      <a:pt x="792417" y="280426"/>
                    </a:lnTo>
                    <a:cubicBezTo>
                      <a:pt x="823821" y="338051"/>
                      <a:pt x="823821" y="407679"/>
                      <a:pt x="792417" y="465304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3287" t="0" r="-20449" b="-103214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4654006" y="1815075"/>
              <a:ext cx="6109261" cy="97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b="true" sz="999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Grad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em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Enge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har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ia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vi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eit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o,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pós-g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rad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uaçã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ole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Regul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çã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Inf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rutu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em Audi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ria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 Co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rol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v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ent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l.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Com 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x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per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iênci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 em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con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inf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aes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rutura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re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ulaçã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,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atuou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Co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rol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oria-G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ral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 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ião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Tribunal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 Con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as da Un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.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6114145" y="1207397"/>
              <a:ext cx="4106910" cy="21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Diretor-Geral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6148616" y="1510842"/>
              <a:ext cx="3967600" cy="20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"/>
                </a:lnSpc>
              </a:pPr>
              <a:r>
                <a:rPr lang="en-US" b="true" sz="9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Mandato: 28/08/2025 a 18/02/2030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6257559" y="573255"/>
              <a:ext cx="3820081" cy="502719"/>
              <a:chOff x="0" y="0"/>
              <a:chExt cx="618423" cy="8138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18423" cy="81384"/>
              </a:xfrm>
              <a:custGeom>
                <a:avLst/>
                <a:gdLst/>
                <a:ahLst/>
                <a:cxnLst/>
                <a:rect r="r" b="b" t="t" l="l"/>
                <a:pathLst>
                  <a:path h="81384" w="618423">
                    <a:moveTo>
                      <a:pt x="37831" y="0"/>
                    </a:moveTo>
                    <a:lnTo>
                      <a:pt x="580592" y="0"/>
                    </a:lnTo>
                    <a:cubicBezTo>
                      <a:pt x="590626" y="0"/>
                      <a:pt x="600248" y="3986"/>
                      <a:pt x="607343" y="11080"/>
                    </a:cubicBezTo>
                    <a:cubicBezTo>
                      <a:pt x="614437" y="18175"/>
                      <a:pt x="618423" y="27797"/>
                      <a:pt x="618423" y="37831"/>
                    </a:cubicBezTo>
                    <a:lnTo>
                      <a:pt x="618423" y="43553"/>
                    </a:lnTo>
                    <a:cubicBezTo>
                      <a:pt x="618423" y="53587"/>
                      <a:pt x="614437" y="63209"/>
                      <a:pt x="607343" y="70304"/>
                    </a:cubicBezTo>
                    <a:cubicBezTo>
                      <a:pt x="600248" y="77398"/>
                      <a:pt x="590626" y="81384"/>
                      <a:pt x="580592" y="81384"/>
                    </a:cubicBezTo>
                    <a:lnTo>
                      <a:pt x="37831" y="81384"/>
                    </a:lnTo>
                    <a:cubicBezTo>
                      <a:pt x="27797" y="81384"/>
                      <a:pt x="18175" y="77398"/>
                      <a:pt x="11080" y="70304"/>
                    </a:cubicBezTo>
                    <a:cubicBezTo>
                      <a:pt x="3986" y="63209"/>
                      <a:pt x="0" y="53587"/>
                      <a:pt x="0" y="43553"/>
                    </a:cubicBezTo>
                    <a:lnTo>
                      <a:pt x="0" y="37831"/>
                    </a:lnTo>
                    <a:cubicBezTo>
                      <a:pt x="0" y="27797"/>
                      <a:pt x="3986" y="18175"/>
                      <a:pt x="11080" y="11080"/>
                    </a:cubicBezTo>
                    <a:cubicBezTo>
                      <a:pt x="18175" y="3986"/>
                      <a:pt x="27797" y="0"/>
                      <a:pt x="3783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19050" cap="sq">
                <a:solidFill>
                  <a:srgbClr val="52A2D9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618423" cy="90909"/>
              </a:xfrm>
              <a:prstGeom prst="rect">
                <a:avLst/>
              </a:prstGeom>
            </p:spPr>
            <p:txBody>
              <a:bodyPr anchor="ctr" rtlCol="false" tIns="50321" lIns="50321" bIns="50321" rIns="50321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FREDER</a:t>
                </a: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ICO DIAS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553969" y="8163253"/>
              <a:ext cx="7119380" cy="2374900"/>
              <a:chOff x="0" y="0"/>
              <a:chExt cx="1416099" cy="47238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16099" cy="472386"/>
              </a:xfrm>
              <a:custGeom>
                <a:avLst/>
                <a:gdLst/>
                <a:ahLst/>
                <a:cxnLst/>
                <a:rect r="r" b="b" t="t" l="l"/>
                <a:pathLst>
                  <a:path h="472386" w="1416099">
                    <a:moveTo>
                      <a:pt x="66697" y="0"/>
                    </a:moveTo>
                    <a:lnTo>
                      <a:pt x="1349402" y="0"/>
                    </a:lnTo>
                    <a:cubicBezTo>
                      <a:pt x="1367091" y="0"/>
                      <a:pt x="1384056" y="7027"/>
                      <a:pt x="1396564" y="19535"/>
                    </a:cubicBezTo>
                    <a:cubicBezTo>
                      <a:pt x="1409072" y="32043"/>
                      <a:pt x="1416099" y="49007"/>
                      <a:pt x="1416099" y="66697"/>
                    </a:cubicBezTo>
                    <a:lnTo>
                      <a:pt x="1416099" y="405689"/>
                    </a:lnTo>
                    <a:cubicBezTo>
                      <a:pt x="1416099" y="442525"/>
                      <a:pt x="1386238" y="472386"/>
                      <a:pt x="1349402" y="472386"/>
                    </a:cubicBezTo>
                    <a:lnTo>
                      <a:pt x="66697" y="472386"/>
                    </a:lnTo>
                    <a:cubicBezTo>
                      <a:pt x="29861" y="472386"/>
                      <a:pt x="0" y="442525"/>
                      <a:pt x="0" y="405689"/>
                    </a:cubicBezTo>
                    <a:lnTo>
                      <a:pt x="0" y="66697"/>
                    </a:lnTo>
                    <a:cubicBezTo>
                      <a:pt x="0" y="29861"/>
                      <a:pt x="29861" y="0"/>
                      <a:pt x="66697" y="0"/>
                    </a:cubicBezTo>
                    <a:close/>
                  </a:path>
                </a:pathLst>
              </a:custGeom>
              <a:ln w="19050" cap="rnd">
                <a:solidFill>
                  <a:srgbClr val="DFEFF8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1416099" cy="472386"/>
              </a:xfrm>
              <a:prstGeom prst="rect">
                <a:avLst/>
              </a:prstGeom>
            </p:spPr>
            <p:txBody>
              <a:bodyPr anchor="ctr" rtlCol="false" tIns="50164" lIns="50164" bIns="50164" rIns="50164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47969" y="7355319"/>
              <a:ext cx="1885368" cy="1615868"/>
              <a:chOff x="0" y="0"/>
              <a:chExt cx="870106" cy="74573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12597" y="7406489"/>
              <a:ext cx="1764968" cy="1513528"/>
              <a:chOff x="0" y="0"/>
              <a:chExt cx="869617" cy="74573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26823" y="0"/>
                <a:ext cx="815970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5970">
                    <a:moveTo>
                      <a:pt x="792417" y="465304"/>
                    </a:moveTo>
                    <a:lnTo>
                      <a:pt x="689970" y="653291"/>
                    </a:lnTo>
                    <a:cubicBezTo>
                      <a:pt x="658918" y="710272"/>
                      <a:pt x="599212" y="745730"/>
                      <a:pt x="534319" y="745730"/>
                    </a:cubicBezTo>
                    <a:lnTo>
                      <a:pt x="281651" y="745730"/>
                    </a:lnTo>
                    <a:cubicBezTo>
                      <a:pt x="216759" y="745730"/>
                      <a:pt x="157053" y="710272"/>
                      <a:pt x="126001" y="653291"/>
                    </a:cubicBezTo>
                    <a:lnTo>
                      <a:pt x="23553" y="465304"/>
                    </a:lnTo>
                    <a:cubicBezTo>
                      <a:pt x="-7851" y="407679"/>
                      <a:pt x="-7851" y="338051"/>
                      <a:pt x="23553" y="280426"/>
                    </a:cubicBezTo>
                    <a:lnTo>
                      <a:pt x="126001" y="92439"/>
                    </a:lnTo>
                    <a:cubicBezTo>
                      <a:pt x="157053" y="35458"/>
                      <a:pt x="216759" y="0"/>
                      <a:pt x="281651" y="0"/>
                    </a:cubicBezTo>
                    <a:lnTo>
                      <a:pt x="534319" y="0"/>
                    </a:lnTo>
                    <a:cubicBezTo>
                      <a:pt x="599212" y="0"/>
                      <a:pt x="658918" y="35458"/>
                      <a:pt x="689970" y="92439"/>
                    </a:cubicBezTo>
                    <a:lnTo>
                      <a:pt x="792417" y="280426"/>
                    </a:lnTo>
                    <a:cubicBezTo>
                      <a:pt x="823821" y="338051"/>
                      <a:pt x="823821" y="407679"/>
                      <a:pt x="792417" y="465304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287" t="-6269" r="-9854" b="-79544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1059028" y="9170395"/>
              <a:ext cx="6109261" cy="97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b="true" sz="999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Servid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 públic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fede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istério da 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onom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, é me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tre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em engenh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hidrául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b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al.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tuou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como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em setores finalísticos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da An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aq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 ta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mbém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x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rceu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carg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 na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cre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 de 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tos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-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 de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dir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ges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tão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isc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os 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cust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os e di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de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est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ão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iz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ção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uár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.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2519167" y="8562716"/>
              <a:ext cx="4106910" cy="21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Diretor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553638" y="8866161"/>
              <a:ext cx="3967600" cy="20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"/>
                </a:lnSpc>
              </a:pPr>
              <a:r>
                <a:rPr lang="en-US" b="true" sz="9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Mandato: 14/12/2022 a 13/12/2026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2662582" y="7928574"/>
              <a:ext cx="3820081" cy="502719"/>
              <a:chOff x="0" y="0"/>
              <a:chExt cx="618423" cy="8138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18423" cy="81384"/>
              </a:xfrm>
              <a:custGeom>
                <a:avLst/>
                <a:gdLst/>
                <a:ahLst/>
                <a:cxnLst/>
                <a:rect r="r" b="b" t="t" l="l"/>
                <a:pathLst>
                  <a:path h="81384" w="618423">
                    <a:moveTo>
                      <a:pt x="37831" y="0"/>
                    </a:moveTo>
                    <a:lnTo>
                      <a:pt x="580592" y="0"/>
                    </a:lnTo>
                    <a:cubicBezTo>
                      <a:pt x="590626" y="0"/>
                      <a:pt x="600248" y="3986"/>
                      <a:pt x="607343" y="11080"/>
                    </a:cubicBezTo>
                    <a:cubicBezTo>
                      <a:pt x="614437" y="18175"/>
                      <a:pt x="618423" y="27797"/>
                      <a:pt x="618423" y="37831"/>
                    </a:cubicBezTo>
                    <a:lnTo>
                      <a:pt x="618423" y="43553"/>
                    </a:lnTo>
                    <a:cubicBezTo>
                      <a:pt x="618423" y="53587"/>
                      <a:pt x="614437" y="63209"/>
                      <a:pt x="607343" y="70304"/>
                    </a:cubicBezTo>
                    <a:cubicBezTo>
                      <a:pt x="600248" y="77398"/>
                      <a:pt x="590626" y="81384"/>
                      <a:pt x="580592" y="81384"/>
                    </a:cubicBezTo>
                    <a:lnTo>
                      <a:pt x="37831" y="81384"/>
                    </a:lnTo>
                    <a:cubicBezTo>
                      <a:pt x="27797" y="81384"/>
                      <a:pt x="18175" y="77398"/>
                      <a:pt x="11080" y="70304"/>
                    </a:cubicBezTo>
                    <a:cubicBezTo>
                      <a:pt x="3986" y="63209"/>
                      <a:pt x="0" y="53587"/>
                      <a:pt x="0" y="43553"/>
                    </a:cubicBezTo>
                    <a:lnTo>
                      <a:pt x="0" y="37831"/>
                    </a:lnTo>
                    <a:cubicBezTo>
                      <a:pt x="0" y="27797"/>
                      <a:pt x="3986" y="18175"/>
                      <a:pt x="11080" y="11080"/>
                    </a:cubicBezTo>
                    <a:cubicBezTo>
                      <a:pt x="18175" y="3986"/>
                      <a:pt x="27797" y="0"/>
                      <a:pt x="3783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19050" cap="sq">
                <a:solidFill>
                  <a:srgbClr val="52A2D9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9525"/>
                <a:ext cx="618423" cy="90909"/>
              </a:xfrm>
              <a:prstGeom prst="rect">
                <a:avLst/>
              </a:prstGeom>
            </p:spPr>
            <p:txBody>
              <a:bodyPr anchor="ctr" rtlCol="false" tIns="50321" lIns="50321" bIns="50321" rIns="50321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A</a:t>
                </a: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LBER VASCONCELOS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47969" y="7362246"/>
              <a:ext cx="1885368" cy="1615868"/>
              <a:chOff x="0" y="0"/>
              <a:chExt cx="870106" cy="74573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2597" y="7413416"/>
              <a:ext cx="1764968" cy="1513528"/>
              <a:chOff x="0" y="0"/>
              <a:chExt cx="869617" cy="74573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26823" y="0"/>
                <a:ext cx="815970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5970">
                    <a:moveTo>
                      <a:pt x="792417" y="465304"/>
                    </a:moveTo>
                    <a:lnTo>
                      <a:pt x="689970" y="653291"/>
                    </a:lnTo>
                    <a:cubicBezTo>
                      <a:pt x="658918" y="710272"/>
                      <a:pt x="599212" y="745730"/>
                      <a:pt x="534319" y="745730"/>
                    </a:cubicBezTo>
                    <a:lnTo>
                      <a:pt x="281651" y="745730"/>
                    </a:lnTo>
                    <a:cubicBezTo>
                      <a:pt x="216759" y="745730"/>
                      <a:pt x="157053" y="710272"/>
                      <a:pt x="126001" y="653291"/>
                    </a:cubicBezTo>
                    <a:lnTo>
                      <a:pt x="23553" y="465304"/>
                    </a:lnTo>
                    <a:cubicBezTo>
                      <a:pt x="-7851" y="407679"/>
                      <a:pt x="-7851" y="338051"/>
                      <a:pt x="23553" y="280426"/>
                    </a:cubicBezTo>
                    <a:lnTo>
                      <a:pt x="126001" y="92439"/>
                    </a:lnTo>
                    <a:cubicBezTo>
                      <a:pt x="157053" y="35458"/>
                      <a:pt x="216759" y="0"/>
                      <a:pt x="281651" y="0"/>
                    </a:cubicBezTo>
                    <a:lnTo>
                      <a:pt x="534319" y="0"/>
                    </a:lnTo>
                    <a:cubicBezTo>
                      <a:pt x="599212" y="0"/>
                      <a:pt x="658918" y="35458"/>
                      <a:pt x="689970" y="92439"/>
                    </a:cubicBezTo>
                    <a:lnTo>
                      <a:pt x="792417" y="280426"/>
                    </a:lnTo>
                    <a:cubicBezTo>
                      <a:pt x="823821" y="338051"/>
                      <a:pt x="823821" y="407679"/>
                      <a:pt x="792417" y="465304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390" t="-2037" r="-13393" b="-109071"/>
                </a:stretch>
              </a:blip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9159713" y="8163253"/>
              <a:ext cx="7119380" cy="2374900"/>
              <a:chOff x="0" y="0"/>
              <a:chExt cx="1416099" cy="472386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416099" cy="472386"/>
              </a:xfrm>
              <a:custGeom>
                <a:avLst/>
                <a:gdLst/>
                <a:ahLst/>
                <a:cxnLst/>
                <a:rect r="r" b="b" t="t" l="l"/>
                <a:pathLst>
                  <a:path h="472386" w="1416099">
                    <a:moveTo>
                      <a:pt x="66697" y="0"/>
                    </a:moveTo>
                    <a:lnTo>
                      <a:pt x="1349402" y="0"/>
                    </a:lnTo>
                    <a:cubicBezTo>
                      <a:pt x="1367091" y="0"/>
                      <a:pt x="1384056" y="7027"/>
                      <a:pt x="1396564" y="19535"/>
                    </a:cubicBezTo>
                    <a:cubicBezTo>
                      <a:pt x="1409072" y="32043"/>
                      <a:pt x="1416099" y="49007"/>
                      <a:pt x="1416099" y="66697"/>
                    </a:cubicBezTo>
                    <a:lnTo>
                      <a:pt x="1416099" y="405689"/>
                    </a:lnTo>
                    <a:cubicBezTo>
                      <a:pt x="1416099" y="442525"/>
                      <a:pt x="1386238" y="472386"/>
                      <a:pt x="1349402" y="472386"/>
                    </a:cubicBezTo>
                    <a:lnTo>
                      <a:pt x="66697" y="472386"/>
                    </a:lnTo>
                    <a:cubicBezTo>
                      <a:pt x="29861" y="472386"/>
                      <a:pt x="0" y="442525"/>
                      <a:pt x="0" y="405689"/>
                    </a:cubicBezTo>
                    <a:lnTo>
                      <a:pt x="0" y="66697"/>
                    </a:lnTo>
                    <a:cubicBezTo>
                      <a:pt x="0" y="29861"/>
                      <a:pt x="29861" y="0"/>
                      <a:pt x="66697" y="0"/>
                    </a:cubicBezTo>
                    <a:close/>
                  </a:path>
                </a:pathLst>
              </a:custGeom>
              <a:ln w="19050" cap="rnd">
                <a:solidFill>
                  <a:srgbClr val="DFEFF8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1416099" cy="472386"/>
              </a:xfrm>
              <a:prstGeom prst="rect">
                <a:avLst/>
              </a:prstGeom>
            </p:spPr>
            <p:txBody>
              <a:bodyPr anchor="ctr" rtlCol="false" tIns="50164" lIns="50164" bIns="50164" rIns="50164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8653714" y="7372000"/>
              <a:ext cx="1885368" cy="1615868"/>
              <a:chOff x="0" y="0"/>
              <a:chExt cx="870106" cy="74573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25110" y="0"/>
                <a:ext cx="819885" cy="745730"/>
              </a:xfrm>
              <a:custGeom>
                <a:avLst/>
                <a:gdLst/>
                <a:ahLst/>
                <a:cxnLst/>
                <a:rect r="r" b="b" t="t" l="l"/>
                <a:pathLst>
                  <a:path h="745730" w="819885">
                    <a:moveTo>
                      <a:pt x="797836" y="459401"/>
                    </a:moveTo>
                    <a:lnTo>
                      <a:pt x="688955" y="659195"/>
                    </a:lnTo>
                    <a:cubicBezTo>
                      <a:pt x="659885" y="712536"/>
                      <a:pt x="603992" y="745730"/>
                      <a:pt x="543244" y="745730"/>
                    </a:cubicBezTo>
                    <a:lnTo>
                      <a:pt x="276642" y="745730"/>
                    </a:lnTo>
                    <a:cubicBezTo>
                      <a:pt x="215893" y="745730"/>
                      <a:pt x="160000" y="712536"/>
                      <a:pt x="130931" y="659195"/>
                    </a:cubicBezTo>
                    <a:lnTo>
                      <a:pt x="22049" y="459401"/>
                    </a:lnTo>
                    <a:cubicBezTo>
                      <a:pt x="-7349" y="405456"/>
                      <a:pt x="-7349" y="340275"/>
                      <a:pt x="22049" y="286329"/>
                    </a:cubicBezTo>
                    <a:lnTo>
                      <a:pt x="130931" y="86536"/>
                    </a:lnTo>
                    <a:cubicBezTo>
                      <a:pt x="160000" y="33194"/>
                      <a:pt x="215893" y="0"/>
                      <a:pt x="276642" y="0"/>
                    </a:cubicBezTo>
                    <a:lnTo>
                      <a:pt x="543244" y="0"/>
                    </a:lnTo>
                    <a:cubicBezTo>
                      <a:pt x="603992" y="0"/>
                      <a:pt x="659885" y="33194"/>
                      <a:pt x="688955" y="86536"/>
                    </a:cubicBezTo>
                    <a:lnTo>
                      <a:pt x="797836" y="286329"/>
                    </a:lnTo>
                    <a:cubicBezTo>
                      <a:pt x="827235" y="340275"/>
                      <a:pt x="827235" y="405456"/>
                      <a:pt x="797836" y="459401"/>
                    </a:cubicBezTo>
                    <a:close/>
                  </a:path>
                </a:pathLst>
              </a:custGeom>
              <a:solidFill>
                <a:srgbClr val="71B9E4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114300" y="0"/>
                <a:ext cx="641506" cy="745730"/>
              </a:xfrm>
              <a:prstGeom prst="rect">
                <a:avLst/>
              </a:prstGeom>
            </p:spPr>
            <p:txBody>
              <a:bodyPr anchor="ctr" rtlCol="false" tIns="32931" lIns="32931" bIns="32931" rIns="32931"/>
              <a:lstStyle/>
              <a:p>
                <a:pPr algn="ctr">
                  <a:lnSpc>
                    <a:spcPts val="2976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9664773" y="9170395"/>
              <a:ext cx="6109261" cy="1219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b="true" sz="999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Professora da Universidade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Brasíl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 (U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B), a nova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retor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possui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ois doutor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dos e três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ós-doutorados. É autora 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ivros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sobre emp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endedori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mo, Env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ironmental, Social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Govern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nce (ESG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qu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, em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ortuguês, f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ica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Ambiental,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oc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al e Governança) e inov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çã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o,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al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é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de t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er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ido ag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aciada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d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iv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rsos prêm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ios 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cadêmico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s 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e p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r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ofiss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ona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is</a:t>
              </a:r>
              <a:r>
                <a:rPr lang="en-US" b="true" sz="999" strike="noStrike" u="none">
                  <a:solidFill>
                    <a:srgbClr val="999999"/>
                  </a:solidFill>
                  <a:latin typeface="Open Sans 1 Medium"/>
                  <a:ea typeface="Open Sans 1 Medium"/>
                  <a:cs typeface="Open Sans 1 Medium"/>
                  <a:sym typeface="Open Sans 1 Medium"/>
                </a:rPr>
                <a:t>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1124912" y="8562716"/>
              <a:ext cx="4106910" cy="2158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2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123C55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Diretora Substituta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1159383" y="8866161"/>
              <a:ext cx="3967600" cy="20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0"/>
                </a:lnSpc>
              </a:pP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11268326" y="7928574"/>
              <a:ext cx="3820081" cy="502719"/>
              <a:chOff x="0" y="0"/>
              <a:chExt cx="618423" cy="81384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618423" cy="81384"/>
              </a:xfrm>
              <a:custGeom>
                <a:avLst/>
                <a:gdLst/>
                <a:ahLst/>
                <a:cxnLst/>
                <a:rect r="r" b="b" t="t" l="l"/>
                <a:pathLst>
                  <a:path h="81384" w="618423">
                    <a:moveTo>
                      <a:pt x="37831" y="0"/>
                    </a:moveTo>
                    <a:lnTo>
                      <a:pt x="580592" y="0"/>
                    </a:lnTo>
                    <a:cubicBezTo>
                      <a:pt x="590626" y="0"/>
                      <a:pt x="600248" y="3986"/>
                      <a:pt x="607343" y="11080"/>
                    </a:cubicBezTo>
                    <a:cubicBezTo>
                      <a:pt x="614437" y="18175"/>
                      <a:pt x="618423" y="27797"/>
                      <a:pt x="618423" y="37831"/>
                    </a:cubicBezTo>
                    <a:lnTo>
                      <a:pt x="618423" y="43553"/>
                    </a:lnTo>
                    <a:cubicBezTo>
                      <a:pt x="618423" y="53587"/>
                      <a:pt x="614437" y="63209"/>
                      <a:pt x="607343" y="70304"/>
                    </a:cubicBezTo>
                    <a:cubicBezTo>
                      <a:pt x="600248" y="77398"/>
                      <a:pt x="590626" y="81384"/>
                      <a:pt x="580592" y="81384"/>
                    </a:cubicBezTo>
                    <a:lnTo>
                      <a:pt x="37831" y="81384"/>
                    </a:lnTo>
                    <a:cubicBezTo>
                      <a:pt x="27797" y="81384"/>
                      <a:pt x="18175" y="77398"/>
                      <a:pt x="11080" y="70304"/>
                    </a:cubicBezTo>
                    <a:cubicBezTo>
                      <a:pt x="3986" y="63209"/>
                      <a:pt x="0" y="53587"/>
                      <a:pt x="0" y="43553"/>
                    </a:cubicBezTo>
                    <a:lnTo>
                      <a:pt x="0" y="37831"/>
                    </a:lnTo>
                    <a:cubicBezTo>
                      <a:pt x="0" y="27797"/>
                      <a:pt x="3986" y="18175"/>
                      <a:pt x="11080" y="11080"/>
                    </a:cubicBezTo>
                    <a:cubicBezTo>
                      <a:pt x="18175" y="3986"/>
                      <a:pt x="27797" y="0"/>
                      <a:pt x="3783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19050" cap="sq">
                <a:solidFill>
                  <a:srgbClr val="52A2D9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9525"/>
                <a:ext cx="618423" cy="90909"/>
              </a:xfrm>
              <a:prstGeom prst="rect">
                <a:avLst/>
              </a:prstGeom>
            </p:spPr>
            <p:txBody>
              <a:bodyPr anchor="ctr" rtlCol="false" tIns="50321" lIns="50321" bIns="50321" rIns="50321"/>
              <a:lstStyle/>
              <a:p>
                <a:pPr algn="ctr">
                  <a:lnSpc>
                    <a:spcPts val="1560"/>
                  </a:lnSpc>
                </a:pP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CRIST</a:t>
                </a:r>
                <a:r>
                  <a:rPr lang="en-US" b="true" sz="1300">
                    <a:solidFill>
                      <a:srgbClr val="52A2D9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INA CASTRO</a:t>
                </a:r>
              </a:p>
            </p:txBody>
          </p:sp>
        </p:grpSp>
      </p:grpSp>
      <p:grpSp>
        <p:nvGrpSpPr>
          <p:cNvPr name="Group 76" id="76"/>
          <p:cNvGrpSpPr/>
          <p:nvPr/>
        </p:nvGrpSpPr>
        <p:grpSpPr>
          <a:xfrm rot="0">
            <a:off x="7486363" y="7451288"/>
            <a:ext cx="1323726" cy="1135146"/>
            <a:chOff x="0" y="0"/>
            <a:chExt cx="869617" cy="74573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26823" y="0"/>
              <a:ext cx="815970" cy="745730"/>
            </a:xfrm>
            <a:custGeom>
              <a:avLst/>
              <a:gdLst/>
              <a:ahLst/>
              <a:cxnLst/>
              <a:rect r="r" b="b" t="t" l="l"/>
              <a:pathLst>
                <a:path h="745730" w="815970">
                  <a:moveTo>
                    <a:pt x="792417" y="465304"/>
                  </a:moveTo>
                  <a:lnTo>
                    <a:pt x="689970" y="653291"/>
                  </a:lnTo>
                  <a:cubicBezTo>
                    <a:pt x="658918" y="710272"/>
                    <a:pt x="599212" y="745730"/>
                    <a:pt x="534319" y="745730"/>
                  </a:cubicBezTo>
                  <a:lnTo>
                    <a:pt x="281651" y="745730"/>
                  </a:lnTo>
                  <a:cubicBezTo>
                    <a:pt x="216759" y="745730"/>
                    <a:pt x="157053" y="710272"/>
                    <a:pt x="126001" y="653291"/>
                  </a:cubicBezTo>
                  <a:lnTo>
                    <a:pt x="23553" y="465304"/>
                  </a:lnTo>
                  <a:cubicBezTo>
                    <a:pt x="-7851" y="407679"/>
                    <a:pt x="-7851" y="338051"/>
                    <a:pt x="23553" y="280426"/>
                  </a:cubicBezTo>
                  <a:lnTo>
                    <a:pt x="126001" y="92439"/>
                  </a:lnTo>
                  <a:cubicBezTo>
                    <a:pt x="157053" y="35458"/>
                    <a:pt x="216759" y="0"/>
                    <a:pt x="281651" y="0"/>
                  </a:cubicBezTo>
                  <a:lnTo>
                    <a:pt x="534319" y="0"/>
                  </a:lnTo>
                  <a:cubicBezTo>
                    <a:pt x="599212" y="0"/>
                    <a:pt x="658918" y="35458"/>
                    <a:pt x="689970" y="92439"/>
                  </a:cubicBezTo>
                  <a:lnTo>
                    <a:pt x="792417" y="280426"/>
                  </a:lnTo>
                  <a:cubicBezTo>
                    <a:pt x="823821" y="338051"/>
                    <a:pt x="823821" y="407679"/>
                    <a:pt x="792417" y="465304"/>
                  </a:cubicBezTo>
                  <a:close/>
                </a:path>
              </a:pathLst>
            </a:custGeom>
            <a:blipFill>
              <a:blip r:embed="rId6"/>
              <a:stretch>
                <a:fillRect l="-132735" t="-54" r="-90602" b="-98493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4205208" y="2261861"/>
            <a:ext cx="3285741" cy="6362673"/>
            <a:chOff x="0" y="0"/>
            <a:chExt cx="871412" cy="168744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1412" cy="1687445"/>
            </a:xfrm>
            <a:custGeom>
              <a:avLst/>
              <a:gdLst/>
              <a:ahLst/>
              <a:cxnLst/>
              <a:rect r="r" b="b" t="t" l="l"/>
              <a:pathLst>
                <a:path h="1687445" w="871412">
                  <a:moveTo>
                    <a:pt x="47124" y="0"/>
                  </a:moveTo>
                  <a:lnTo>
                    <a:pt x="824287" y="0"/>
                  </a:lnTo>
                  <a:cubicBezTo>
                    <a:pt x="836786" y="0"/>
                    <a:pt x="848772" y="4965"/>
                    <a:pt x="857609" y="13802"/>
                  </a:cubicBezTo>
                  <a:cubicBezTo>
                    <a:pt x="866447" y="22640"/>
                    <a:pt x="871412" y="34626"/>
                    <a:pt x="871412" y="47124"/>
                  </a:cubicBezTo>
                  <a:lnTo>
                    <a:pt x="871412" y="1640321"/>
                  </a:lnTo>
                  <a:cubicBezTo>
                    <a:pt x="871412" y="1666347"/>
                    <a:pt x="850314" y="1687445"/>
                    <a:pt x="824287" y="1687445"/>
                  </a:cubicBezTo>
                  <a:lnTo>
                    <a:pt x="47124" y="1687445"/>
                  </a:lnTo>
                  <a:cubicBezTo>
                    <a:pt x="34626" y="1687445"/>
                    <a:pt x="22640" y="1682480"/>
                    <a:pt x="13802" y="1673643"/>
                  </a:cubicBezTo>
                  <a:cubicBezTo>
                    <a:pt x="4965" y="1664805"/>
                    <a:pt x="0" y="1652819"/>
                    <a:pt x="0" y="1640321"/>
                  </a:cubicBezTo>
                  <a:lnTo>
                    <a:pt x="0" y="47124"/>
                  </a:lnTo>
                  <a:cubicBezTo>
                    <a:pt x="0" y="21098"/>
                    <a:pt x="21098" y="0"/>
                    <a:pt x="47124" y="0"/>
                  </a:cubicBezTo>
                  <a:close/>
                </a:path>
              </a:pathLst>
            </a:custGeom>
            <a:ln w="19050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871412" cy="1687445"/>
            </a:xfrm>
            <a:prstGeom prst="rect">
              <a:avLst/>
            </a:prstGeom>
          </p:spPr>
          <p:txBody>
            <a:bodyPr anchor="ctr" rtlCol="false" tIns="50164" lIns="50164" bIns="50164" rIns="50164"/>
            <a:lstStyle/>
            <a:p>
              <a:pPr algn="l">
                <a:lnSpc>
                  <a:spcPts val="2976"/>
                </a:lnSpc>
              </a:pP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4543593" y="2892652"/>
            <a:ext cx="2608970" cy="541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99">
                <a:solidFill>
                  <a:srgbClr val="6B6767"/>
                </a:solidFill>
                <a:latin typeface="Open Sans 1"/>
                <a:ea typeface="Open Sans 1"/>
                <a:cs typeface="Open Sans 1"/>
                <a:sym typeface="Open Sans 1"/>
              </a:rPr>
              <a:t>A Diretoria Colegiada é o órgão de deliberação máxima da Antaq, sendo responsável pela definição das diretrizes estratégicas, pela tomada de decisões regulatórias e pela apreciação de matérias de natureza normativa, administrativa e sancionatória. É composta por um Diretor-Geral e quatro Diretores, que atuam de forma colegiada nas Reuniões de Diretoria.</a:t>
            </a: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</a:p>
          <a:p>
            <a:pPr algn="l">
              <a:lnSpc>
                <a:spcPts val="1499"/>
              </a:lnSpc>
            </a:pPr>
            <a:r>
              <a:rPr lang="en-US" sz="999">
                <a:solidFill>
                  <a:srgbClr val="6B6767"/>
                </a:solidFill>
                <a:latin typeface="Open Sans 1"/>
                <a:ea typeface="Open Sans 1"/>
                <a:cs typeface="Open Sans 1"/>
                <a:sym typeface="Open Sans 1"/>
              </a:rPr>
              <a:t>Conforme requisitos e procedimentos estabelecidos em legislação, os membros da Diretoria Colegiada são nomeados pelo Presidente da República, após aprovação pelo Senado Federal, para período de exercício com prazo determinado, vedada a recondução automática, reforçando a independência decisória da Agência. O Diretor-Geral, além de participar das deliberações colegiadas, detém competências privativas de natureza administrativa e de gestão, tais como a supervisão do funcionamento da autarquia em todos os seus setores e a representação institucional da Antaq.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4543593" y="4807254"/>
            <a:ext cx="2564550" cy="389659"/>
            <a:chOff x="0" y="0"/>
            <a:chExt cx="527685" cy="8017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7685" cy="80177"/>
            </a:xfrm>
            <a:custGeom>
              <a:avLst/>
              <a:gdLst/>
              <a:ahLst/>
              <a:cxnLst/>
              <a:rect r="r" b="b" t="t" l="l"/>
              <a:pathLst>
                <a:path h="80177" w="527685">
                  <a:moveTo>
                    <a:pt x="28301" y="0"/>
                  </a:moveTo>
                  <a:lnTo>
                    <a:pt x="499384" y="0"/>
                  </a:lnTo>
                  <a:cubicBezTo>
                    <a:pt x="515014" y="0"/>
                    <a:pt x="527685" y="12671"/>
                    <a:pt x="527685" y="28301"/>
                  </a:cubicBezTo>
                  <a:lnTo>
                    <a:pt x="527685" y="51875"/>
                  </a:lnTo>
                  <a:cubicBezTo>
                    <a:pt x="527685" y="67506"/>
                    <a:pt x="515014" y="80177"/>
                    <a:pt x="499384" y="80177"/>
                  </a:cubicBezTo>
                  <a:lnTo>
                    <a:pt x="28301" y="80177"/>
                  </a:lnTo>
                  <a:cubicBezTo>
                    <a:pt x="20795" y="80177"/>
                    <a:pt x="13597" y="77195"/>
                    <a:pt x="8289" y="71887"/>
                  </a:cubicBezTo>
                  <a:cubicBezTo>
                    <a:pt x="2982" y="66580"/>
                    <a:pt x="0" y="59381"/>
                    <a:pt x="0" y="51875"/>
                  </a:cubicBezTo>
                  <a:lnTo>
                    <a:pt x="0" y="28301"/>
                  </a:lnTo>
                  <a:cubicBezTo>
                    <a:pt x="0" y="20795"/>
                    <a:pt x="2982" y="13597"/>
                    <a:pt x="8289" y="8289"/>
                  </a:cubicBezTo>
                  <a:cubicBezTo>
                    <a:pt x="13597" y="2982"/>
                    <a:pt x="20795" y="0"/>
                    <a:pt x="28301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27685" cy="99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543593" y="4903082"/>
            <a:ext cx="2172611" cy="345945"/>
            <a:chOff x="0" y="0"/>
            <a:chExt cx="447039" cy="7118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47039" cy="71182"/>
            </a:xfrm>
            <a:custGeom>
              <a:avLst/>
              <a:gdLst/>
              <a:ahLst/>
              <a:cxnLst/>
              <a:rect r="r" b="b" t="t" l="l"/>
              <a:pathLst>
                <a:path h="71182" w="447039">
                  <a:moveTo>
                    <a:pt x="35591" y="0"/>
                  </a:moveTo>
                  <a:lnTo>
                    <a:pt x="411448" y="0"/>
                  </a:lnTo>
                  <a:cubicBezTo>
                    <a:pt x="431105" y="0"/>
                    <a:pt x="447039" y="15935"/>
                    <a:pt x="447039" y="35591"/>
                  </a:cubicBezTo>
                  <a:lnTo>
                    <a:pt x="447039" y="35591"/>
                  </a:lnTo>
                  <a:cubicBezTo>
                    <a:pt x="447039" y="45030"/>
                    <a:pt x="443290" y="54083"/>
                    <a:pt x="436615" y="60758"/>
                  </a:cubicBezTo>
                  <a:cubicBezTo>
                    <a:pt x="429940" y="67432"/>
                    <a:pt x="420888" y="71182"/>
                    <a:pt x="411448" y="71182"/>
                  </a:cubicBezTo>
                  <a:lnTo>
                    <a:pt x="35591" y="71182"/>
                  </a:lnTo>
                  <a:cubicBezTo>
                    <a:pt x="15935" y="71182"/>
                    <a:pt x="0" y="55247"/>
                    <a:pt x="0" y="35591"/>
                  </a:cubicBezTo>
                  <a:lnTo>
                    <a:pt x="0" y="35591"/>
                  </a:lnTo>
                  <a:cubicBezTo>
                    <a:pt x="0" y="15935"/>
                    <a:pt x="15935" y="0"/>
                    <a:pt x="35591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47039" cy="90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b="true" sz="9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8" tooltip="https://www.gov.br/antaq/pt-br/acesso-a-informacao/institucional/reunioes-deliberativas/atas-e-pautas-das-reunioes"/>
                </a:rPr>
                <a:t>Acess</a:t>
              </a:r>
              <a:r>
                <a:rPr lang="en-US" b="true" sz="9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9" tooltip="https://www.gov.br/antaq/pt-br/acesso-a-informacao/institucional/reunioes-deliberativas/atas-e-pautas-das-reunioes"/>
                </a:rPr>
                <a:t>e as pautas de reunião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6814151" y="4909420"/>
            <a:ext cx="185326" cy="185326"/>
          </a:xfrm>
          <a:custGeom>
            <a:avLst/>
            <a:gdLst/>
            <a:ahLst/>
            <a:cxnLst/>
            <a:rect r="r" b="b" t="t" l="l"/>
            <a:pathLst>
              <a:path h="185326" w="185326">
                <a:moveTo>
                  <a:pt x="0" y="0"/>
                </a:moveTo>
                <a:lnTo>
                  <a:pt x="185327" y="0"/>
                </a:lnTo>
                <a:lnTo>
                  <a:pt x="185327" y="185327"/>
                </a:lnTo>
                <a:lnTo>
                  <a:pt x="0" y="185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3" id="9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32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77254" y="1042714"/>
            <a:ext cx="417780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Diretoria Colegiada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4543593" y="2554968"/>
            <a:ext cx="2608970" cy="1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"/>
              </a:lnSpc>
            </a:pPr>
            <a:r>
              <a:rPr lang="en-US" b="true" sz="999">
                <a:solidFill>
                  <a:srgbClr val="1D55A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ATRIBUIÇÕES DA ALTA ADMINISTRAÇÃO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422" y="1410808"/>
            <a:ext cx="15512466" cy="8556913"/>
            <a:chOff x="0" y="0"/>
            <a:chExt cx="4085588" cy="2253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85588" cy="2253673"/>
            </a:xfrm>
            <a:custGeom>
              <a:avLst/>
              <a:gdLst/>
              <a:ahLst/>
              <a:cxnLst/>
              <a:rect r="r" b="b" t="t" l="l"/>
              <a:pathLst>
                <a:path h="2253673" w="4085588">
                  <a:moveTo>
                    <a:pt x="30943" y="0"/>
                  </a:moveTo>
                  <a:lnTo>
                    <a:pt x="4054645" y="0"/>
                  </a:lnTo>
                  <a:cubicBezTo>
                    <a:pt x="4071734" y="0"/>
                    <a:pt x="4085588" y="13854"/>
                    <a:pt x="4085588" y="30943"/>
                  </a:cubicBezTo>
                  <a:lnTo>
                    <a:pt x="4085588" y="2222730"/>
                  </a:lnTo>
                  <a:cubicBezTo>
                    <a:pt x="4085588" y="2239819"/>
                    <a:pt x="4071734" y="2253673"/>
                    <a:pt x="4054645" y="2253673"/>
                  </a:cubicBezTo>
                  <a:lnTo>
                    <a:pt x="30943" y="2253673"/>
                  </a:lnTo>
                  <a:cubicBezTo>
                    <a:pt x="13854" y="2253673"/>
                    <a:pt x="0" y="2239819"/>
                    <a:pt x="0" y="2222730"/>
                  </a:cubicBezTo>
                  <a:lnTo>
                    <a:pt x="0" y="30943"/>
                  </a:lnTo>
                  <a:cubicBezTo>
                    <a:pt x="0" y="13854"/>
                    <a:pt x="13854" y="0"/>
                    <a:pt x="30943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085588" cy="2282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5954077" y="2173404"/>
            <a:ext cx="0" cy="7794316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9659365" y="2173404"/>
            <a:ext cx="9535" cy="7794316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99269" y="6790789"/>
            <a:ext cx="4563969" cy="0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90107" y="5385456"/>
            <a:ext cx="4563969" cy="0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404112" y="3670539"/>
            <a:ext cx="4559127" cy="0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399269" y="2168751"/>
            <a:ext cx="15484618" cy="4653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101686" y="1786037"/>
            <a:ext cx="7237354" cy="7448"/>
          </a:xfrm>
          <a:prstGeom prst="line">
            <a:avLst/>
          </a:prstGeom>
          <a:ln cap="flat" w="19050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015586" y="1615668"/>
            <a:ext cx="3086100" cy="340738"/>
            <a:chOff x="0" y="0"/>
            <a:chExt cx="812800" cy="897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9742"/>
            </a:xfrm>
            <a:custGeom>
              <a:avLst/>
              <a:gdLst/>
              <a:ahLst/>
              <a:cxnLst/>
              <a:rect r="r" b="b" t="t" l="l"/>
              <a:pathLst>
                <a:path h="89742" w="812800">
                  <a:moveTo>
                    <a:pt x="44871" y="0"/>
                  </a:moveTo>
                  <a:lnTo>
                    <a:pt x="767929" y="0"/>
                  </a:lnTo>
                  <a:cubicBezTo>
                    <a:pt x="792711" y="0"/>
                    <a:pt x="812800" y="20089"/>
                    <a:pt x="812800" y="44871"/>
                  </a:cubicBezTo>
                  <a:lnTo>
                    <a:pt x="812800" y="44871"/>
                  </a:lnTo>
                  <a:cubicBezTo>
                    <a:pt x="812800" y="69652"/>
                    <a:pt x="792711" y="89742"/>
                    <a:pt x="767929" y="89742"/>
                  </a:cubicBezTo>
                  <a:lnTo>
                    <a:pt x="44871" y="89742"/>
                  </a:lnTo>
                  <a:cubicBezTo>
                    <a:pt x="20089" y="89742"/>
                    <a:pt x="0" y="69652"/>
                    <a:pt x="0" y="44871"/>
                  </a:cubicBezTo>
                  <a:lnTo>
                    <a:pt x="0" y="44871"/>
                  </a:lnTo>
                  <a:cubicBezTo>
                    <a:pt x="0" y="20089"/>
                    <a:pt x="20089" y="0"/>
                    <a:pt x="44871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12800" cy="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79538" y="1623116"/>
            <a:ext cx="3592329" cy="340738"/>
            <a:chOff x="0" y="0"/>
            <a:chExt cx="946128" cy="89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128" cy="89742"/>
            </a:xfrm>
            <a:custGeom>
              <a:avLst/>
              <a:gdLst/>
              <a:ahLst/>
              <a:cxnLst/>
              <a:rect r="r" b="b" t="t" l="l"/>
              <a:pathLst>
                <a:path h="89742" w="946128">
                  <a:moveTo>
                    <a:pt x="44871" y="0"/>
                  </a:moveTo>
                  <a:lnTo>
                    <a:pt x="901257" y="0"/>
                  </a:lnTo>
                  <a:cubicBezTo>
                    <a:pt x="926038" y="0"/>
                    <a:pt x="946128" y="20089"/>
                    <a:pt x="946128" y="44871"/>
                  </a:cubicBezTo>
                  <a:lnTo>
                    <a:pt x="946128" y="44871"/>
                  </a:lnTo>
                  <a:cubicBezTo>
                    <a:pt x="946128" y="69652"/>
                    <a:pt x="926038" y="89742"/>
                    <a:pt x="901257" y="89742"/>
                  </a:cubicBezTo>
                  <a:lnTo>
                    <a:pt x="44871" y="89742"/>
                  </a:lnTo>
                  <a:cubicBezTo>
                    <a:pt x="20089" y="89742"/>
                    <a:pt x="0" y="69652"/>
                    <a:pt x="0" y="44871"/>
                  </a:cubicBezTo>
                  <a:lnTo>
                    <a:pt x="0" y="44871"/>
                  </a:lnTo>
                  <a:cubicBezTo>
                    <a:pt x="0" y="20089"/>
                    <a:pt x="20089" y="0"/>
                    <a:pt x="44871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46128" cy="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39039" y="1623116"/>
            <a:ext cx="1482291" cy="340738"/>
            <a:chOff x="0" y="0"/>
            <a:chExt cx="390398" cy="897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0398" cy="89742"/>
            </a:xfrm>
            <a:custGeom>
              <a:avLst/>
              <a:gdLst/>
              <a:ahLst/>
              <a:cxnLst/>
              <a:rect r="r" b="b" t="t" l="l"/>
              <a:pathLst>
                <a:path h="89742" w="390398">
                  <a:moveTo>
                    <a:pt x="44871" y="0"/>
                  </a:moveTo>
                  <a:lnTo>
                    <a:pt x="345527" y="0"/>
                  </a:lnTo>
                  <a:cubicBezTo>
                    <a:pt x="370308" y="0"/>
                    <a:pt x="390398" y="20089"/>
                    <a:pt x="390398" y="44871"/>
                  </a:cubicBezTo>
                  <a:lnTo>
                    <a:pt x="390398" y="44871"/>
                  </a:lnTo>
                  <a:cubicBezTo>
                    <a:pt x="390398" y="69652"/>
                    <a:pt x="370308" y="89742"/>
                    <a:pt x="345527" y="89742"/>
                  </a:cubicBezTo>
                  <a:lnTo>
                    <a:pt x="44871" y="89742"/>
                  </a:lnTo>
                  <a:cubicBezTo>
                    <a:pt x="20089" y="89742"/>
                    <a:pt x="0" y="69652"/>
                    <a:pt x="0" y="44871"/>
                  </a:cubicBezTo>
                  <a:lnTo>
                    <a:pt x="0" y="44871"/>
                  </a:lnTo>
                  <a:cubicBezTo>
                    <a:pt x="0" y="20089"/>
                    <a:pt x="20089" y="0"/>
                    <a:pt x="44871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90398" cy="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5954077" y="2946639"/>
            <a:ext cx="3705288" cy="0"/>
          </a:xfrm>
          <a:prstGeom prst="line">
            <a:avLst/>
          </a:prstGeom>
          <a:ln cap="flat" w="19050">
            <a:solidFill>
              <a:srgbClr val="B4B4B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071171" y="2901346"/>
            <a:ext cx="213086" cy="324703"/>
          </a:xfrm>
          <a:custGeom>
            <a:avLst/>
            <a:gdLst/>
            <a:ahLst/>
            <a:cxnLst/>
            <a:rect r="r" b="b" t="t" l="l"/>
            <a:pathLst>
              <a:path h="324703" w="213086">
                <a:moveTo>
                  <a:pt x="0" y="0"/>
                </a:moveTo>
                <a:lnTo>
                  <a:pt x="213086" y="0"/>
                </a:lnTo>
                <a:lnTo>
                  <a:pt x="213086" y="324703"/>
                </a:lnTo>
                <a:lnTo>
                  <a:pt x="0" y="324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499406" y="2317066"/>
            <a:ext cx="1844116" cy="438091"/>
            <a:chOff x="0" y="0"/>
            <a:chExt cx="485693" cy="11538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693" cy="115382"/>
            </a:xfrm>
            <a:custGeom>
              <a:avLst/>
              <a:gdLst/>
              <a:ahLst/>
              <a:cxnLst/>
              <a:rect r="r" b="b" t="t" l="l"/>
              <a:pathLst>
                <a:path h="115382" w="485693">
                  <a:moveTo>
                    <a:pt x="57691" y="0"/>
                  </a:moveTo>
                  <a:lnTo>
                    <a:pt x="428002" y="0"/>
                  </a:lnTo>
                  <a:cubicBezTo>
                    <a:pt x="459864" y="0"/>
                    <a:pt x="485693" y="25829"/>
                    <a:pt x="485693" y="57691"/>
                  </a:cubicBezTo>
                  <a:lnTo>
                    <a:pt x="485693" y="57691"/>
                  </a:lnTo>
                  <a:cubicBezTo>
                    <a:pt x="485693" y="72992"/>
                    <a:pt x="479615" y="87665"/>
                    <a:pt x="468796" y="98485"/>
                  </a:cubicBezTo>
                  <a:cubicBezTo>
                    <a:pt x="457977" y="109304"/>
                    <a:pt x="443303" y="115382"/>
                    <a:pt x="428002" y="115382"/>
                  </a:cubicBezTo>
                  <a:lnTo>
                    <a:pt x="57691" y="115382"/>
                  </a:lnTo>
                  <a:cubicBezTo>
                    <a:pt x="42390" y="115382"/>
                    <a:pt x="27716" y="109304"/>
                    <a:pt x="16897" y="98485"/>
                  </a:cubicBezTo>
                  <a:cubicBezTo>
                    <a:pt x="6078" y="87665"/>
                    <a:pt x="0" y="72992"/>
                    <a:pt x="0" y="57691"/>
                  </a:cubicBezTo>
                  <a:lnTo>
                    <a:pt x="0" y="57691"/>
                  </a:lnTo>
                  <a:cubicBezTo>
                    <a:pt x="0" y="42390"/>
                    <a:pt x="6078" y="27716"/>
                    <a:pt x="16897" y="16897"/>
                  </a:cubicBezTo>
                  <a:cubicBezTo>
                    <a:pt x="27716" y="6078"/>
                    <a:pt x="42390" y="0"/>
                    <a:pt x="57691" y="0"/>
                  </a:cubicBezTo>
                  <a:close/>
                </a:path>
              </a:pathLst>
            </a:custGeom>
            <a:solidFill>
              <a:srgbClr val="004C98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85693" cy="115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643504" y="2300981"/>
            <a:ext cx="325300" cy="42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2485">
                <a:solidFill>
                  <a:srgbClr val="FEFEF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499406" y="2700583"/>
            <a:ext cx="1844116" cy="438091"/>
            <a:chOff x="0" y="0"/>
            <a:chExt cx="485693" cy="1153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5693" cy="115382"/>
            </a:xfrm>
            <a:custGeom>
              <a:avLst/>
              <a:gdLst/>
              <a:ahLst/>
              <a:cxnLst/>
              <a:rect r="r" b="b" t="t" l="l"/>
              <a:pathLst>
                <a:path h="115382" w="485693">
                  <a:moveTo>
                    <a:pt x="57691" y="0"/>
                  </a:moveTo>
                  <a:lnTo>
                    <a:pt x="428002" y="0"/>
                  </a:lnTo>
                  <a:cubicBezTo>
                    <a:pt x="459864" y="0"/>
                    <a:pt x="485693" y="25829"/>
                    <a:pt x="485693" y="57691"/>
                  </a:cubicBezTo>
                  <a:lnTo>
                    <a:pt x="485693" y="57691"/>
                  </a:lnTo>
                  <a:cubicBezTo>
                    <a:pt x="485693" y="72992"/>
                    <a:pt x="479615" y="87665"/>
                    <a:pt x="468796" y="98485"/>
                  </a:cubicBezTo>
                  <a:cubicBezTo>
                    <a:pt x="457977" y="109304"/>
                    <a:pt x="443303" y="115382"/>
                    <a:pt x="428002" y="115382"/>
                  </a:cubicBezTo>
                  <a:lnTo>
                    <a:pt x="57691" y="115382"/>
                  </a:lnTo>
                  <a:cubicBezTo>
                    <a:pt x="42390" y="115382"/>
                    <a:pt x="27716" y="109304"/>
                    <a:pt x="16897" y="98485"/>
                  </a:cubicBezTo>
                  <a:cubicBezTo>
                    <a:pt x="6078" y="87665"/>
                    <a:pt x="0" y="72992"/>
                    <a:pt x="0" y="57691"/>
                  </a:cubicBezTo>
                  <a:lnTo>
                    <a:pt x="0" y="57691"/>
                  </a:lnTo>
                  <a:cubicBezTo>
                    <a:pt x="0" y="42390"/>
                    <a:pt x="6078" y="27716"/>
                    <a:pt x="16897" y="16897"/>
                  </a:cubicBezTo>
                  <a:cubicBezTo>
                    <a:pt x="27716" y="6078"/>
                    <a:pt x="42390" y="0"/>
                    <a:pt x="57691" y="0"/>
                  </a:cubicBezTo>
                  <a:close/>
                </a:path>
              </a:pathLst>
            </a:custGeom>
            <a:solidFill>
              <a:srgbClr val="004C98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85693" cy="115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643504" y="2684498"/>
            <a:ext cx="325300" cy="42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2485">
                <a:solidFill>
                  <a:srgbClr val="FEFEF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499406" y="3088787"/>
            <a:ext cx="1844116" cy="438091"/>
            <a:chOff x="0" y="0"/>
            <a:chExt cx="485693" cy="1153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5693" cy="115382"/>
            </a:xfrm>
            <a:custGeom>
              <a:avLst/>
              <a:gdLst/>
              <a:ahLst/>
              <a:cxnLst/>
              <a:rect r="r" b="b" t="t" l="l"/>
              <a:pathLst>
                <a:path h="115382" w="485693">
                  <a:moveTo>
                    <a:pt x="57691" y="0"/>
                  </a:moveTo>
                  <a:lnTo>
                    <a:pt x="428002" y="0"/>
                  </a:lnTo>
                  <a:cubicBezTo>
                    <a:pt x="459864" y="0"/>
                    <a:pt x="485693" y="25829"/>
                    <a:pt x="485693" y="57691"/>
                  </a:cubicBezTo>
                  <a:lnTo>
                    <a:pt x="485693" y="57691"/>
                  </a:lnTo>
                  <a:cubicBezTo>
                    <a:pt x="485693" y="72992"/>
                    <a:pt x="479615" y="87665"/>
                    <a:pt x="468796" y="98485"/>
                  </a:cubicBezTo>
                  <a:cubicBezTo>
                    <a:pt x="457977" y="109304"/>
                    <a:pt x="443303" y="115382"/>
                    <a:pt x="428002" y="115382"/>
                  </a:cubicBezTo>
                  <a:lnTo>
                    <a:pt x="57691" y="115382"/>
                  </a:lnTo>
                  <a:cubicBezTo>
                    <a:pt x="42390" y="115382"/>
                    <a:pt x="27716" y="109304"/>
                    <a:pt x="16897" y="98485"/>
                  </a:cubicBezTo>
                  <a:cubicBezTo>
                    <a:pt x="6078" y="87665"/>
                    <a:pt x="0" y="72992"/>
                    <a:pt x="0" y="57691"/>
                  </a:cubicBezTo>
                  <a:lnTo>
                    <a:pt x="0" y="57691"/>
                  </a:lnTo>
                  <a:cubicBezTo>
                    <a:pt x="0" y="42390"/>
                    <a:pt x="6078" y="27716"/>
                    <a:pt x="16897" y="16897"/>
                  </a:cubicBezTo>
                  <a:cubicBezTo>
                    <a:pt x="27716" y="6078"/>
                    <a:pt x="42390" y="0"/>
                    <a:pt x="57691" y="0"/>
                  </a:cubicBezTo>
                  <a:close/>
                </a:path>
              </a:pathLst>
            </a:custGeom>
            <a:solidFill>
              <a:srgbClr val="004C98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85693" cy="115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12018" y="3848275"/>
            <a:ext cx="3000438" cy="1879266"/>
            <a:chOff x="0" y="0"/>
            <a:chExt cx="790239" cy="4949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0239" cy="494951"/>
            </a:xfrm>
            <a:custGeom>
              <a:avLst/>
              <a:gdLst/>
              <a:ahLst/>
              <a:cxnLst/>
              <a:rect r="r" b="b" t="t" l="l"/>
              <a:pathLst>
                <a:path h="494951" w="790239">
                  <a:moveTo>
                    <a:pt x="46445" y="0"/>
                  </a:moveTo>
                  <a:lnTo>
                    <a:pt x="743794" y="0"/>
                  </a:lnTo>
                  <a:cubicBezTo>
                    <a:pt x="769445" y="0"/>
                    <a:pt x="790239" y="20794"/>
                    <a:pt x="790239" y="46445"/>
                  </a:cubicBezTo>
                  <a:lnTo>
                    <a:pt x="790239" y="448506"/>
                  </a:lnTo>
                  <a:cubicBezTo>
                    <a:pt x="790239" y="474157"/>
                    <a:pt x="769445" y="494951"/>
                    <a:pt x="743794" y="494951"/>
                  </a:cubicBezTo>
                  <a:lnTo>
                    <a:pt x="46445" y="494951"/>
                  </a:lnTo>
                  <a:cubicBezTo>
                    <a:pt x="34127" y="494951"/>
                    <a:pt x="22313" y="490058"/>
                    <a:pt x="13603" y="481347"/>
                  </a:cubicBezTo>
                  <a:cubicBezTo>
                    <a:pt x="4893" y="472637"/>
                    <a:pt x="0" y="460824"/>
                    <a:pt x="0" y="44850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90239" cy="52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12018" y="6567506"/>
            <a:ext cx="3000438" cy="2149544"/>
            <a:chOff x="0" y="0"/>
            <a:chExt cx="790239" cy="5661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0239" cy="566135"/>
            </a:xfrm>
            <a:custGeom>
              <a:avLst/>
              <a:gdLst/>
              <a:ahLst/>
              <a:cxnLst/>
              <a:rect r="r" b="b" t="t" l="l"/>
              <a:pathLst>
                <a:path h="566135" w="790239">
                  <a:moveTo>
                    <a:pt x="46445" y="0"/>
                  </a:moveTo>
                  <a:lnTo>
                    <a:pt x="743794" y="0"/>
                  </a:lnTo>
                  <a:cubicBezTo>
                    <a:pt x="769445" y="0"/>
                    <a:pt x="790239" y="20794"/>
                    <a:pt x="790239" y="46445"/>
                  </a:cubicBezTo>
                  <a:lnTo>
                    <a:pt x="790239" y="519690"/>
                  </a:lnTo>
                  <a:cubicBezTo>
                    <a:pt x="790239" y="545341"/>
                    <a:pt x="769445" y="566135"/>
                    <a:pt x="743794" y="566135"/>
                  </a:cubicBezTo>
                  <a:lnTo>
                    <a:pt x="46445" y="566135"/>
                  </a:lnTo>
                  <a:cubicBezTo>
                    <a:pt x="20794" y="566135"/>
                    <a:pt x="0" y="545341"/>
                    <a:pt x="0" y="519690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90239" cy="594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32733" y="7666688"/>
            <a:ext cx="1575866" cy="1183637"/>
            <a:chOff x="0" y="0"/>
            <a:chExt cx="415043" cy="311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5043" cy="311740"/>
            </a:xfrm>
            <a:custGeom>
              <a:avLst/>
              <a:gdLst/>
              <a:ahLst/>
              <a:cxnLst/>
              <a:rect r="r" b="b" t="t" l="l"/>
              <a:pathLst>
                <a:path h="311740" w="415043">
                  <a:moveTo>
                    <a:pt x="88430" y="0"/>
                  </a:moveTo>
                  <a:lnTo>
                    <a:pt x="326612" y="0"/>
                  </a:lnTo>
                  <a:cubicBezTo>
                    <a:pt x="375451" y="0"/>
                    <a:pt x="415043" y="39592"/>
                    <a:pt x="415043" y="88430"/>
                  </a:cubicBezTo>
                  <a:lnTo>
                    <a:pt x="415043" y="223309"/>
                  </a:lnTo>
                  <a:cubicBezTo>
                    <a:pt x="415043" y="272148"/>
                    <a:pt x="375451" y="311740"/>
                    <a:pt x="326612" y="311740"/>
                  </a:cubicBezTo>
                  <a:lnTo>
                    <a:pt x="88430" y="311740"/>
                  </a:lnTo>
                  <a:cubicBezTo>
                    <a:pt x="64977" y="311740"/>
                    <a:pt x="42485" y="302423"/>
                    <a:pt x="25901" y="285839"/>
                  </a:cubicBezTo>
                  <a:cubicBezTo>
                    <a:pt x="9317" y="269255"/>
                    <a:pt x="0" y="246763"/>
                    <a:pt x="0" y="223309"/>
                  </a:cubicBezTo>
                  <a:lnTo>
                    <a:pt x="0" y="88430"/>
                  </a:lnTo>
                  <a:cubicBezTo>
                    <a:pt x="0" y="39592"/>
                    <a:pt x="39592" y="0"/>
                    <a:pt x="8843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15043" cy="311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6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808641" y="7779059"/>
            <a:ext cx="12279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Dotação orçamentária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28416" y="8173500"/>
            <a:ext cx="89999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210,8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40438" y="8129791"/>
            <a:ext cx="5502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40438" y="8586991"/>
            <a:ext cx="1472059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  <a:spcBef>
                <a:spcPct val="0"/>
              </a:spcBef>
            </a:pPr>
            <a:r>
              <a:rPr lang="en-US" b="true" sz="999" i="true">
                <a:solidFill>
                  <a:srgbClr val="004C98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milhões</a:t>
            </a:r>
          </a:p>
        </p:txBody>
      </p:sp>
      <p:sp>
        <p:nvSpPr>
          <p:cNvPr name="Freeform 47" id="47"/>
          <p:cNvSpPr/>
          <p:nvPr/>
        </p:nvSpPr>
        <p:spPr>
          <a:xfrm>
            <a:off x="2422615" y="7547632"/>
            <a:ext cx="932757" cy="119056"/>
          </a:xfrm>
          <a:custGeom>
            <a:avLst/>
            <a:gdLst/>
            <a:ahLst/>
            <a:cxnLst/>
            <a:rect r="r" b="b" t="t" l="l"/>
            <a:pathLst>
              <a:path h="119056" w="932757">
                <a:moveTo>
                  <a:pt x="0" y="119056"/>
                </a:moveTo>
                <a:lnTo>
                  <a:pt x="0" y="59528"/>
                </a:lnTo>
                <a:cubicBezTo>
                  <a:pt x="0" y="26651"/>
                  <a:pt x="26651" y="0"/>
                  <a:pt x="59528" y="0"/>
                </a:cubicBezTo>
                <a:lnTo>
                  <a:pt x="932757" y="0"/>
                </a:lnTo>
              </a:path>
            </a:pathLst>
          </a:custGeom>
          <a:ln cap="flat" w="9525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0075116" y="2755156"/>
            <a:ext cx="2057216" cy="1199639"/>
            <a:chOff x="0" y="0"/>
            <a:chExt cx="541818" cy="3159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1818" cy="315954"/>
            </a:xfrm>
            <a:custGeom>
              <a:avLst/>
              <a:gdLst/>
              <a:ahLst/>
              <a:cxnLst/>
              <a:rect r="r" b="b" t="t" l="l"/>
              <a:pathLst>
                <a:path h="315954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8215"/>
                  </a:lnTo>
                  <a:cubicBezTo>
                    <a:pt x="541818" y="285626"/>
                    <a:pt x="511490" y="315954"/>
                    <a:pt x="474079" y="315954"/>
                  </a:cubicBezTo>
                  <a:lnTo>
                    <a:pt x="67739" y="315954"/>
                  </a:lnTo>
                  <a:cubicBezTo>
                    <a:pt x="49774" y="315954"/>
                    <a:pt x="32544" y="308818"/>
                    <a:pt x="19840" y="296114"/>
                  </a:cubicBezTo>
                  <a:cubicBezTo>
                    <a:pt x="7137" y="283410"/>
                    <a:pt x="0" y="266181"/>
                    <a:pt x="0" y="248215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41818" cy="344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081199" y="4130036"/>
            <a:ext cx="2057216" cy="1194862"/>
            <a:chOff x="0" y="0"/>
            <a:chExt cx="541818" cy="3146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1818" cy="314696"/>
            </a:xfrm>
            <a:custGeom>
              <a:avLst/>
              <a:gdLst/>
              <a:ahLst/>
              <a:cxnLst/>
              <a:rect r="r" b="b" t="t" l="l"/>
              <a:pathLst>
                <a:path h="31469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957"/>
                  </a:lnTo>
                  <a:cubicBezTo>
                    <a:pt x="541818" y="264922"/>
                    <a:pt x="534681" y="282152"/>
                    <a:pt x="521978" y="294856"/>
                  </a:cubicBezTo>
                  <a:cubicBezTo>
                    <a:pt x="509274" y="307559"/>
                    <a:pt x="492044" y="314696"/>
                    <a:pt x="474079" y="314696"/>
                  </a:cubicBezTo>
                  <a:lnTo>
                    <a:pt x="67739" y="314696"/>
                  </a:lnTo>
                  <a:cubicBezTo>
                    <a:pt x="30328" y="314696"/>
                    <a:pt x="0" y="284368"/>
                    <a:pt x="0" y="24695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41818" cy="34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078223" y="5502071"/>
            <a:ext cx="2057216" cy="1197595"/>
            <a:chOff x="0" y="0"/>
            <a:chExt cx="541818" cy="3154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1818" cy="315416"/>
            </a:xfrm>
            <a:custGeom>
              <a:avLst/>
              <a:gdLst/>
              <a:ahLst/>
              <a:cxnLst/>
              <a:rect r="r" b="b" t="t" l="l"/>
              <a:pathLst>
                <a:path h="31541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677"/>
                  </a:lnTo>
                  <a:cubicBezTo>
                    <a:pt x="541818" y="265642"/>
                    <a:pt x="534681" y="282872"/>
                    <a:pt x="521978" y="295576"/>
                  </a:cubicBezTo>
                  <a:cubicBezTo>
                    <a:pt x="509274" y="308279"/>
                    <a:pt x="492044" y="315416"/>
                    <a:pt x="474079" y="315416"/>
                  </a:cubicBezTo>
                  <a:lnTo>
                    <a:pt x="67739" y="315416"/>
                  </a:lnTo>
                  <a:cubicBezTo>
                    <a:pt x="49774" y="315416"/>
                    <a:pt x="32544" y="308279"/>
                    <a:pt x="19840" y="295576"/>
                  </a:cubicBezTo>
                  <a:cubicBezTo>
                    <a:pt x="7137" y="282872"/>
                    <a:pt x="0" y="265642"/>
                    <a:pt x="0" y="24767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41818" cy="343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75116" y="6833994"/>
            <a:ext cx="2057216" cy="1194328"/>
            <a:chOff x="0" y="0"/>
            <a:chExt cx="541818" cy="3145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1818" cy="314556"/>
            </a:xfrm>
            <a:custGeom>
              <a:avLst/>
              <a:gdLst/>
              <a:ahLst/>
              <a:cxnLst/>
              <a:rect r="r" b="b" t="t" l="l"/>
              <a:pathLst>
                <a:path h="31455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816"/>
                  </a:lnTo>
                  <a:cubicBezTo>
                    <a:pt x="541818" y="284228"/>
                    <a:pt x="511490" y="314556"/>
                    <a:pt x="474079" y="314556"/>
                  </a:cubicBezTo>
                  <a:lnTo>
                    <a:pt x="67739" y="314556"/>
                  </a:lnTo>
                  <a:cubicBezTo>
                    <a:pt x="49774" y="314556"/>
                    <a:pt x="32544" y="307419"/>
                    <a:pt x="19840" y="294715"/>
                  </a:cubicBezTo>
                  <a:cubicBezTo>
                    <a:pt x="7137" y="282012"/>
                    <a:pt x="0" y="264782"/>
                    <a:pt x="0" y="246816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541818" cy="34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75116" y="8284630"/>
            <a:ext cx="2057216" cy="1195396"/>
            <a:chOff x="0" y="0"/>
            <a:chExt cx="541818" cy="31483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1818" cy="314837"/>
            </a:xfrm>
            <a:custGeom>
              <a:avLst/>
              <a:gdLst/>
              <a:ahLst/>
              <a:cxnLst/>
              <a:rect r="r" b="b" t="t" l="l"/>
              <a:pathLst>
                <a:path h="314837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097"/>
                  </a:lnTo>
                  <a:cubicBezTo>
                    <a:pt x="541818" y="265063"/>
                    <a:pt x="534681" y="282293"/>
                    <a:pt x="521978" y="294996"/>
                  </a:cubicBezTo>
                  <a:cubicBezTo>
                    <a:pt x="509274" y="307700"/>
                    <a:pt x="492044" y="314837"/>
                    <a:pt x="474079" y="314837"/>
                  </a:cubicBezTo>
                  <a:lnTo>
                    <a:pt x="67739" y="314837"/>
                  </a:lnTo>
                  <a:cubicBezTo>
                    <a:pt x="30328" y="314837"/>
                    <a:pt x="0" y="284509"/>
                    <a:pt x="0" y="24709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41818" cy="343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276644" y="2755156"/>
            <a:ext cx="2057216" cy="1199639"/>
            <a:chOff x="0" y="0"/>
            <a:chExt cx="541818" cy="3159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1818" cy="315954"/>
            </a:xfrm>
            <a:custGeom>
              <a:avLst/>
              <a:gdLst/>
              <a:ahLst/>
              <a:cxnLst/>
              <a:rect r="r" b="b" t="t" l="l"/>
              <a:pathLst>
                <a:path h="315954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8215"/>
                  </a:lnTo>
                  <a:cubicBezTo>
                    <a:pt x="541818" y="285626"/>
                    <a:pt x="511490" y="315954"/>
                    <a:pt x="474079" y="315954"/>
                  </a:cubicBezTo>
                  <a:lnTo>
                    <a:pt x="67739" y="315954"/>
                  </a:lnTo>
                  <a:cubicBezTo>
                    <a:pt x="49774" y="315954"/>
                    <a:pt x="32544" y="308818"/>
                    <a:pt x="19840" y="296114"/>
                  </a:cubicBezTo>
                  <a:cubicBezTo>
                    <a:pt x="7137" y="283410"/>
                    <a:pt x="0" y="266181"/>
                    <a:pt x="0" y="248215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541818" cy="344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276644" y="4130036"/>
            <a:ext cx="2057216" cy="1194862"/>
            <a:chOff x="0" y="0"/>
            <a:chExt cx="541818" cy="3146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1818" cy="314696"/>
            </a:xfrm>
            <a:custGeom>
              <a:avLst/>
              <a:gdLst/>
              <a:ahLst/>
              <a:cxnLst/>
              <a:rect r="r" b="b" t="t" l="l"/>
              <a:pathLst>
                <a:path h="31469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957"/>
                  </a:lnTo>
                  <a:cubicBezTo>
                    <a:pt x="541818" y="264922"/>
                    <a:pt x="534681" y="282152"/>
                    <a:pt x="521978" y="294856"/>
                  </a:cubicBezTo>
                  <a:cubicBezTo>
                    <a:pt x="509274" y="307559"/>
                    <a:pt x="492044" y="314696"/>
                    <a:pt x="474079" y="314696"/>
                  </a:cubicBezTo>
                  <a:lnTo>
                    <a:pt x="67739" y="314696"/>
                  </a:lnTo>
                  <a:cubicBezTo>
                    <a:pt x="30328" y="314696"/>
                    <a:pt x="0" y="284368"/>
                    <a:pt x="0" y="24695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541818" cy="34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75207" y="5502071"/>
            <a:ext cx="2057216" cy="1197595"/>
            <a:chOff x="0" y="0"/>
            <a:chExt cx="541818" cy="3154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1818" cy="315416"/>
            </a:xfrm>
            <a:custGeom>
              <a:avLst/>
              <a:gdLst/>
              <a:ahLst/>
              <a:cxnLst/>
              <a:rect r="r" b="b" t="t" l="l"/>
              <a:pathLst>
                <a:path h="31541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677"/>
                  </a:lnTo>
                  <a:cubicBezTo>
                    <a:pt x="541818" y="265642"/>
                    <a:pt x="534681" y="282872"/>
                    <a:pt x="521978" y="295576"/>
                  </a:cubicBezTo>
                  <a:cubicBezTo>
                    <a:pt x="509274" y="308279"/>
                    <a:pt x="492044" y="315416"/>
                    <a:pt x="474079" y="315416"/>
                  </a:cubicBezTo>
                  <a:lnTo>
                    <a:pt x="67739" y="315416"/>
                  </a:lnTo>
                  <a:cubicBezTo>
                    <a:pt x="49774" y="315416"/>
                    <a:pt x="32544" y="308279"/>
                    <a:pt x="19840" y="295576"/>
                  </a:cubicBezTo>
                  <a:cubicBezTo>
                    <a:pt x="7137" y="282872"/>
                    <a:pt x="0" y="265642"/>
                    <a:pt x="0" y="24767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541818" cy="343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276644" y="6833994"/>
            <a:ext cx="2057216" cy="1194328"/>
            <a:chOff x="0" y="0"/>
            <a:chExt cx="541818" cy="3145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1818" cy="314556"/>
            </a:xfrm>
            <a:custGeom>
              <a:avLst/>
              <a:gdLst/>
              <a:ahLst/>
              <a:cxnLst/>
              <a:rect r="r" b="b" t="t" l="l"/>
              <a:pathLst>
                <a:path h="31455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816"/>
                  </a:lnTo>
                  <a:cubicBezTo>
                    <a:pt x="541818" y="284228"/>
                    <a:pt x="511490" y="314556"/>
                    <a:pt x="474079" y="314556"/>
                  </a:cubicBezTo>
                  <a:lnTo>
                    <a:pt x="67739" y="314556"/>
                  </a:lnTo>
                  <a:cubicBezTo>
                    <a:pt x="49774" y="314556"/>
                    <a:pt x="32544" y="307419"/>
                    <a:pt x="19840" y="294715"/>
                  </a:cubicBezTo>
                  <a:cubicBezTo>
                    <a:pt x="7137" y="282012"/>
                    <a:pt x="0" y="264782"/>
                    <a:pt x="0" y="246816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541818" cy="34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75207" y="8284630"/>
            <a:ext cx="2057216" cy="1195396"/>
            <a:chOff x="0" y="0"/>
            <a:chExt cx="541818" cy="3148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1818" cy="314837"/>
            </a:xfrm>
            <a:custGeom>
              <a:avLst/>
              <a:gdLst/>
              <a:ahLst/>
              <a:cxnLst/>
              <a:rect r="r" b="b" t="t" l="l"/>
              <a:pathLst>
                <a:path h="314837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097"/>
                  </a:lnTo>
                  <a:cubicBezTo>
                    <a:pt x="541818" y="265063"/>
                    <a:pt x="534681" y="282293"/>
                    <a:pt x="521978" y="294996"/>
                  </a:cubicBezTo>
                  <a:cubicBezTo>
                    <a:pt x="509274" y="307700"/>
                    <a:pt x="492044" y="314837"/>
                    <a:pt x="474079" y="314837"/>
                  </a:cubicBezTo>
                  <a:lnTo>
                    <a:pt x="67739" y="314837"/>
                  </a:lnTo>
                  <a:cubicBezTo>
                    <a:pt x="30328" y="314837"/>
                    <a:pt x="0" y="284509"/>
                    <a:pt x="0" y="24709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541818" cy="343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441255" y="2755156"/>
            <a:ext cx="2057216" cy="1199639"/>
            <a:chOff x="0" y="0"/>
            <a:chExt cx="541818" cy="31595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1818" cy="315954"/>
            </a:xfrm>
            <a:custGeom>
              <a:avLst/>
              <a:gdLst/>
              <a:ahLst/>
              <a:cxnLst/>
              <a:rect r="r" b="b" t="t" l="l"/>
              <a:pathLst>
                <a:path h="315954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8215"/>
                  </a:lnTo>
                  <a:cubicBezTo>
                    <a:pt x="541818" y="285626"/>
                    <a:pt x="511490" y="315954"/>
                    <a:pt x="474079" y="315954"/>
                  </a:cubicBezTo>
                  <a:lnTo>
                    <a:pt x="67739" y="315954"/>
                  </a:lnTo>
                  <a:cubicBezTo>
                    <a:pt x="49774" y="315954"/>
                    <a:pt x="32544" y="308818"/>
                    <a:pt x="19840" y="296114"/>
                  </a:cubicBezTo>
                  <a:cubicBezTo>
                    <a:pt x="7137" y="283410"/>
                    <a:pt x="0" y="266181"/>
                    <a:pt x="0" y="248215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541818" cy="344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441255" y="4128923"/>
            <a:ext cx="2057216" cy="1194862"/>
            <a:chOff x="0" y="0"/>
            <a:chExt cx="541818" cy="3146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1818" cy="314696"/>
            </a:xfrm>
            <a:custGeom>
              <a:avLst/>
              <a:gdLst/>
              <a:ahLst/>
              <a:cxnLst/>
              <a:rect r="r" b="b" t="t" l="l"/>
              <a:pathLst>
                <a:path h="31469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957"/>
                  </a:lnTo>
                  <a:cubicBezTo>
                    <a:pt x="541818" y="264922"/>
                    <a:pt x="534681" y="282152"/>
                    <a:pt x="521978" y="294856"/>
                  </a:cubicBezTo>
                  <a:cubicBezTo>
                    <a:pt x="509274" y="307559"/>
                    <a:pt x="492044" y="314696"/>
                    <a:pt x="474079" y="314696"/>
                  </a:cubicBezTo>
                  <a:lnTo>
                    <a:pt x="67739" y="314696"/>
                  </a:lnTo>
                  <a:cubicBezTo>
                    <a:pt x="30328" y="314696"/>
                    <a:pt x="0" y="284368"/>
                    <a:pt x="0" y="24695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541818" cy="34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441255" y="5493201"/>
            <a:ext cx="2057216" cy="1197595"/>
            <a:chOff x="0" y="0"/>
            <a:chExt cx="541818" cy="31541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1818" cy="315416"/>
            </a:xfrm>
            <a:custGeom>
              <a:avLst/>
              <a:gdLst/>
              <a:ahLst/>
              <a:cxnLst/>
              <a:rect r="r" b="b" t="t" l="l"/>
              <a:pathLst>
                <a:path h="31541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677"/>
                  </a:lnTo>
                  <a:cubicBezTo>
                    <a:pt x="541818" y="265642"/>
                    <a:pt x="534681" y="282872"/>
                    <a:pt x="521978" y="295576"/>
                  </a:cubicBezTo>
                  <a:cubicBezTo>
                    <a:pt x="509274" y="308279"/>
                    <a:pt x="492044" y="315416"/>
                    <a:pt x="474079" y="315416"/>
                  </a:cubicBezTo>
                  <a:lnTo>
                    <a:pt x="67739" y="315416"/>
                  </a:lnTo>
                  <a:cubicBezTo>
                    <a:pt x="49774" y="315416"/>
                    <a:pt x="32544" y="308279"/>
                    <a:pt x="19840" y="295576"/>
                  </a:cubicBezTo>
                  <a:cubicBezTo>
                    <a:pt x="7137" y="282872"/>
                    <a:pt x="0" y="265642"/>
                    <a:pt x="0" y="247677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541818" cy="343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441255" y="6833035"/>
            <a:ext cx="2057216" cy="1194328"/>
            <a:chOff x="0" y="0"/>
            <a:chExt cx="541818" cy="3145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1818" cy="314556"/>
            </a:xfrm>
            <a:custGeom>
              <a:avLst/>
              <a:gdLst/>
              <a:ahLst/>
              <a:cxnLst/>
              <a:rect r="r" b="b" t="t" l="l"/>
              <a:pathLst>
                <a:path h="314556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6816"/>
                  </a:lnTo>
                  <a:cubicBezTo>
                    <a:pt x="541818" y="284228"/>
                    <a:pt x="511490" y="314556"/>
                    <a:pt x="474079" y="314556"/>
                  </a:cubicBezTo>
                  <a:lnTo>
                    <a:pt x="67739" y="314556"/>
                  </a:lnTo>
                  <a:cubicBezTo>
                    <a:pt x="49774" y="314556"/>
                    <a:pt x="32544" y="307419"/>
                    <a:pt x="19840" y="294715"/>
                  </a:cubicBezTo>
                  <a:cubicBezTo>
                    <a:pt x="7137" y="282012"/>
                    <a:pt x="0" y="264782"/>
                    <a:pt x="0" y="246816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541818" cy="34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441255" y="8284630"/>
            <a:ext cx="2057216" cy="1196509"/>
            <a:chOff x="0" y="0"/>
            <a:chExt cx="541818" cy="31513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41818" cy="315130"/>
            </a:xfrm>
            <a:custGeom>
              <a:avLst/>
              <a:gdLst/>
              <a:ahLst/>
              <a:cxnLst/>
              <a:rect r="r" b="b" t="t" l="l"/>
              <a:pathLst>
                <a:path h="315130" w="541818">
                  <a:moveTo>
                    <a:pt x="67739" y="0"/>
                  </a:moveTo>
                  <a:lnTo>
                    <a:pt x="474079" y="0"/>
                  </a:lnTo>
                  <a:cubicBezTo>
                    <a:pt x="511490" y="0"/>
                    <a:pt x="541818" y="30328"/>
                    <a:pt x="541818" y="67739"/>
                  </a:cubicBezTo>
                  <a:lnTo>
                    <a:pt x="541818" y="247391"/>
                  </a:lnTo>
                  <a:cubicBezTo>
                    <a:pt x="541818" y="265356"/>
                    <a:pt x="534681" y="282586"/>
                    <a:pt x="521978" y="295290"/>
                  </a:cubicBezTo>
                  <a:cubicBezTo>
                    <a:pt x="509274" y="307993"/>
                    <a:pt x="492044" y="315130"/>
                    <a:pt x="474079" y="315130"/>
                  </a:cubicBezTo>
                  <a:lnTo>
                    <a:pt x="67739" y="315130"/>
                  </a:lnTo>
                  <a:cubicBezTo>
                    <a:pt x="30328" y="315130"/>
                    <a:pt x="0" y="284802"/>
                    <a:pt x="0" y="247391"/>
                  </a:cubicBezTo>
                  <a:lnTo>
                    <a:pt x="0" y="67739"/>
                  </a:lnTo>
                  <a:cubicBezTo>
                    <a:pt x="0" y="30328"/>
                    <a:pt x="30328" y="0"/>
                    <a:pt x="6773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541818" cy="343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075116" y="2295699"/>
            <a:ext cx="6423354" cy="319543"/>
            <a:chOff x="0" y="0"/>
            <a:chExt cx="1691748" cy="8415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91748" cy="84159"/>
            </a:xfrm>
            <a:custGeom>
              <a:avLst/>
              <a:gdLst/>
              <a:ahLst/>
              <a:cxnLst/>
              <a:rect r="r" b="b" t="t" l="l"/>
              <a:pathLst>
                <a:path h="84159" w="1691748">
                  <a:moveTo>
                    <a:pt x="18079" y="0"/>
                  </a:moveTo>
                  <a:lnTo>
                    <a:pt x="1673669" y="0"/>
                  </a:lnTo>
                  <a:cubicBezTo>
                    <a:pt x="1683653" y="0"/>
                    <a:pt x="1691748" y="8094"/>
                    <a:pt x="1691748" y="18079"/>
                  </a:cubicBezTo>
                  <a:lnTo>
                    <a:pt x="1691748" y="66080"/>
                  </a:lnTo>
                  <a:cubicBezTo>
                    <a:pt x="1691748" y="76065"/>
                    <a:pt x="1683653" y="84159"/>
                    <a:pt x="1673669" y="84159"/>
                  </a:cubicBezTo>
                  <a:lnTo>
                    <a:pt x="18079" y="84159"/>
                  </a:lnTo>
                  <a:cubicBezTo>
                    <a:pt x="8094" y="84159"/>
                    <a:pt x="0" y="76065"/>
                    <a:pt x="0" y="66080"/>
                  </a:cubicBezTo>
                  <a:lnTo>
                    <a:pt x="0" y="18079"/>
                  </a:lnTo>
                  <a:cubicBezTo>
                    <a:pt x="0" y="8094"/>
                    <a:pt x="8094" y="0"/>
                    <a:pt x="18079" y="0"/>
                  </a:cubicBezTo>
                  <a:close/>
                </a:path>
              </a:pathLst>
            </a:custGeom>
            <a:solidFill>
              <a:srgbClr val="DFEFF8"/>
            </a:solidFill>
            <a:ln w="9525" cap="sq">
              <a:solidFill>
                <a:srgbClr val="72BAE3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1691748" cy="103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b="true" sz="1100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Valores públicos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355372" y="8282570"/>
            <a:ext cx="2373571" cy="921381"/>
            <a:chOff x="0" y="0"/>
            <a:chExt cx="1671405" cy="64881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71405" cy="648811"/>
            </a:xfrm>
            <a:custGeom>
              <a:avLst/>
              <a:gdLst/>
              <a:ahLst/>
              <a:cxnLst/>
              <a:rect r="r" b="b" t="t" l="l"/>
              <a:pathLst>
                <a:path h="648811" w="1671405">
                  <a:moveTo>
                    <a:pt x="58711" y="0"/>
                  </a:moveTo>
                  <a:lnTo>
                    <a:pt x="1612694" y="0"/>
                  </a:lnTo>
                  <a:cubicBezTo>
                    <a:pt x="1645119" y="0"/>
                    <a:pt x="1671405" y="26286"/>
                    <a:pt x="1671405" y="58711"/>
                  </a:cubicBezTo>
                  <a:lnTo>
                    <a:pt x="1671405" y="590101"/>
                  </a:lnTo>
                  <a:cubicBezTo>
                    <a:pt x="1671405" y="622526"/>
                    <a:pt x="1645119" y="648811"/>
                    <a:pt x="1612694" y="648811"/>
                  </a:cubicBezTo>
                  <a:lnTo>
                    <a:pt x="58711" y="648811"/>
                  </a:lnTo>
                  <a:cubicBezTo>
                    <a:pt x="26286" y="648811"/>
                    <a:pt x="0" y="622526"/>
                    <a:pt x="0" y="590101"/>
                  </a:cubicBezTo>
                  <a:lnTo>
                    <a:pt x="0" y="58711"/>
                  </a:lnTo>
                  <a:cubicBezTo>
                    <a:pt x="0" y="26286"/>
                    <a:pt x="26286" y="0"/>
                    <a:pt x="58711" y="0"/>
                  </a:cubicBezTo>
                  <a:close/>
                </a:path>
              </a:pathLst>
            </a:custGeom>
            <a:solidFill>
              <a:srgbClr val="F9FBFF"/>
            </a:solidFill>
            <a:ln w="9525" cap="sq">
              <a:solidFill>
                <a:srgbClr val="72BAE3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671405" cy="686911"/>
            </a:xfrm>
            <a:prstGeom prst="rect">
              <a:avLst/>
            </a:prstGeom>
          </p:spPr>
          <p:txBody>
            <a:bodyPr anchor="ctr" rtlCol="false" tIns="19000" lIns="19000" bIns="19000" rIns="190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4010347" y="8626150"/>
            <a:ext cx="50295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529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61,1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496769" y="8597575"/>
            <a:ext cx="51357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529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592466" y="8930817"/>
            <a:ext cx="92083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"/>
              </a:lnSpc>
              <a:spcBef>
                <a:spcPct val="0"/>
              </a:spcBef>
            </a:pPr>
            <a:r>
              <a:rPr lang="en-US" b="true" sz="933" i="true">
                <a:solidFill>
                  <a:srgbClr val="005296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milhões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496769" y="8415892"/>
            <a:ext cx="1295990" cy="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6" b="true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Despesas discricionárias</a:t>
            </a:r>
          </a:p>
        </p:txBody>
      </p:sp>
      <p:sp>
        <p:nvSpPr>
          <p:cNvPr name="Freeform 103" id="103"/>
          <p:cNvSpPr/>
          <p:nvPr/>
        </p:nvSpPr>
        <p:spPr>
          <a:xfrm flipH="false" flipV="false" rot="-5400000">
            <a:off x="4848747" y="8644082"/>
            <a:ext cx="221004" cy="184262"/>
          </a:xfrm>
          <a:custGeom>
            <a:avLst/>
            <a:gdLst/>
            <a:ahLst/>
            <a:cxnLst/>
            <a:rect r="r" b="b" t="t" l="l"/>
            <a:pathLst>
              <a:path h="184262" w="221004">
                <a:moveTo>
                  <a:pt x="0" y="0"/>
                </a:moveTo>
                <a:lnTo>
                  <a:pt x="221003" y="0"/>
                </a:lnTo>
                <a:lnTo>
                  <a:pt x="221003" y="184262"/>
                </a:lnTo>
                <a:lnTo>
                  <a:pt x="0" y="18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4792760" y="8893421"/>
            <a:ext cx="894617" cy="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6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em relação a 2024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056729" y="8639754"/>
            <a:ext cx="528402" cy="21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4"/>
              </a:lnSpc>
            </a:pPr>
            <a:r>
              <a:rPr lang="en-US" b="true" sz="1281">
                <a:solidFill>
                  <a:srgbClr val="005D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11,6%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3355372" y="7313062"/>
            <a:ext cx="2373571" cy="919552"/>
            <a:chOff x="0" y="0"/>
            <a:chExt cx="1671405" cy="6475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671405" cy="647524"/>
            </a:xfrm>
            <a:custGeom>
              <a:avLst/>
              <a:gdLst/>
              <a:ahLst/>
              <a:cxnLst/>
              <a:rect r="r" b="b" t="t" l="l"/>
              <a:pathLst>
                <a:path h="647524" w="1671405">
                  <a:moveTo>
                    <a:pt x="58711" y="0"/>
                  </a:moveTo>
                  <a:lnTo>
                    <a:pt x="1612694" y="0"/>
                  </a:lnTo>
                  <a:cubicBezTo>
                    <a:pt x="1645119" y="0"/>
                    <a:pt x="1671405" y="26286"/>
                    <a:pt x="1671405" y="58711"/>
                  </a:cubicBezTo>
                  <a:lnTo>
                    <a:pt x="1671405" y="588813"/>
                  </a:lnTo>
                  <a:cubicBezTo>
                    <a:pt x="1671405" y="604384"/>
                    <a:pt x="1665219" y="619317"/>
                    <a:pt x="1654209" y="630328"/>
                  </a:cubicBezTo>
                  <a:cubicBezTo>
                    <a:pt x="1643198" y="641338"/>
                    <a:pt x="1628265" y="647524"/>
                    <a:pt x="1612694" y="647524"/>
                  </a:cubicBezTo>
                  <a:lnTo>
                    <a:pt x="58711" y="647524"/>
                  </a:lnTo>
                  <a:cubicBezTo>
                    <a:pt x="26286" y="647524"/>
                    <a:pt x="0" y="621238"/>
                    <a:pt x="0" y="588813"/>
                  </a:cubicBezTo>
                  <a:lnTo>
                    <a:pt x="0" y="58711"/>
                  </a:lnTo>
                  <a:cubicBezTo>
                    <a:pt x="0" y="26286"/>
                    <a:pt x="26286" y="0"/>
                    <a:pt x="58711" y="0"/>
                  </a:cubicBezTo>
                  <a:close/>
                </a:path>
              </a:pathLst>
            </a:custGeom>
            <a:solidFill>
              <a:srgbClr val="F9FBFF"/>
            </a:solidFill>
            <a:ln w="9525" cap="sq">
              <a:solidFill>
                <a:srgbClr val="72BAE3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671405" cy="685624"/>
            </a:xfrm>
            <a:prstGeom prst="rect">
              <a:avLst/>
            </a:prstGeom>
          </p:spPr>
          <p:txBody>
            <a:bodyPr anchor="ctr" rtlCol="false" tIns="19000" lIns="19000" bIns="19000" rIns="190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4010347" y="7637772"/>
            <a:ext cx="63504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00529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149,7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496769" y="7609197"/>
            <a:ext cx="51357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529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3592466" y="7942439"/>
            <a:ext cx="920838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"/>
              </a:lnSpc>
              <a:spcBef>
                <a:spcPct val="0"/>
              </a:spcBef>
            </a:pPr>
            <a:r>
              <a:rPr lang="en-US" b="true" sz="933" i="true">
                <a:solidFill>
                  <a:srgbClr val="005296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milhões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496769" y="7427514"/>
            <a:ext cx="1295990" cy="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6" b="true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Despesas obrigatórias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-5400000">
            <a:off x="4848747" y="7655704"/>
            <a:ext cx="221004" cy="184262"/>
          </a:xfrm>
          <a:custGeom>
            <a:avLst/>
            <a:gdLst/>
            <a:ahLst/>
            <a:cxnLst/>
            <a:rect r="r" b="b" t="t" l="l"/>
            <a:pathLst>
              <a:path h="184262" w="221004">
                <a:moveTo>
                  <a:pt x="0" y="0"/>
                </a:moveTo>
                <a:lnTo>
                  <a:pt x="221003" y="0"/>
                </a:lnTo>
                <a:lnTo>
                  <a:pt x="221003" y="184262"/>
                </a:lnTo>
                <a:lnTo>
                  <a:pt x="0" y="18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4792760" y="7905043"/>
            <a:ext cx="894617" cy="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6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em relação a 2024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5056729" y="7651376"/>
            <a:ext cx="528402" cy="21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4"/>
              </a:lnSpc>
            </a:pPr>
            <a:r>
              <a:rPr lang="en-US" b="true" sz="1281">
                <a:solidFill>
                  <a:srgbClr val="005D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17,4%</a:t>
            </a:r>
          </a:p>
        </p:txBody>
      </p:sp>
      <p:sp>
        <p:nvSpPr>
          <p:cNvPr name="Freeform 116" id="116"/>
          <p:cNvSpPr/>
          <p:nvPr/>
        </p:nvSpPr>
        <p:spPr>
          <a:xfrm>
            <a:off x="2422615" y="8850325"/>
            <a:ext cx="932757" cy="126402"/>
          </a:xfrm>
          <a:custGeom>
            <a:avLst/>
            <a:gdLst/>
            <a:ahLst/>
            <a:cxnLst/>
            <a:rect r="r" b="b" t="t" l="l"/>
            <a:pathLst>
              <a:path h="126402" w="932757">
                <a:moveTo>
                  <a:pt x="0" y="0"/>
                </a:moveTo>
                <a:lnTo>
                  <a:pt x="0" y="63201"/>
                </a:lnTo>
                <a:cubicBezTo>
                  <a:pt x="0" y="98106"/>
                  <a:pt x="28296" y="126401"/>
                  <a:pt x="63201" y="126401"/>
                </a:cubicBezTo>
                <a:lnTo>
                  <a:pt x="932757" y="126401"/>
                </a:lnTo>
              </a:path>
            </a:pathLst>
          </a:custGeom>
          <a:ln cap="flat" w="9525">
            <a:solidFill>
              <a:srgbClr val="72BA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2115153" y="9337301"/>
            <a:ext cx="3205777" cy="380834"/>
            <a:chOff x="0" y="0"/>
            <a:chExt cx="844320" cy="10030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44320" cy="100302"/>
            </a:xfrm>
            <a:custGeom>
              <a:avLst/>
              <a:gdLst/>
              <a:ahLst/>
              <a:cxnLst/>
              <a:rect r="r" b="b" t="t" l="l"/>
              <a:pathLst>
                <a:path h="100302" w="844320">
                  <a:moveTo>
                    <a:pt x="31395" y="0"/>
                  </a:moveTo>
                  <a:lnTo>
                    <a:pt x="812925" y="0"/>
                  </a:lnTo>
                  <a:cubicBezTo>
                    <a:pt x="821251" y="0"/>
                    <a:pt x="829237" y="3308"/>
                    <a:pt x="835124" y="9195"/>
                  </a:cubicBezTo>
                  <a:cubicBezTo>
                    <a:pt x="841012" y="15083"/>
                    <a:pt x="844320" y="23068"/>
                    <a:pt x="844320" y="31395"/>
                  </a:cubicBezTo>
                  <a:lnTo>
                    <a:pt x="844320" y="68907"/>
                  </a:lnTo>
                  <a:cubicBezTo>
                    <a:pt x="844320" y="77234"/>
                    <a:pt x="841012" y="85219"/>
                    <a:pt x="835124" y="91107"/>
                  </a:cubicBezTo>
                  <a:cubicBezTo>
                    <a:pt x="829237" y="96994"/>
                    <a:pt x="821251" y="100302"/>
                    <a:pt x="812925" y="100302"/>
                  </a:cubicBezTo>
                  <a:lnTo>
                    <a:pt x="31395" y="100302"/>
                  </a:lnTo>
                  <a:cubicBezTo>
                    <a:pt x="23068" y="100302"/>
                    <a:pt x="15083" y="96994"/>
                    <a:pt x="9195" y="91107"/>
                  </a:cubicBezTo>
                  <a:cubicBezTo>
                    <a:pt x="3308" y="85219"/>
                    <a:pt x="0" y="77234"/>
                    <a:pt x="0" y="68907"/>
                  </a:cubicBezTo>
                  <a:lnTo>
                    <a:pt x="0" y="31395"/>
                  </a:lnTo>
                  <a:cubicBezTo>
                    <a:pt x="0" y="23068"/>
                    <a:pt x="3308" y="15083"/>
                    <a:pt x="9195" y="9195"/>
                  </a:cubicBezTo>
                  <a:cubicBezTo>
                    <a:pt x="15083" y="3308"/>
                    <a:pt x="23068" y="0"/>
                    <a:pt x="31395" y="0"/>
                  </a:cubicBezTo>
                  <a:close/>
                </a:path>
              </a:pathLst>
            </a:custGeom>
            <a:solidFill>
              <a:srgbClr val="F1F1F1"/>
            </a:solidFill>
            <a:ln w="9525" cap="sq">
              <a:solidFill>
                <a:srgbClr val="999999"/>
              </a:solidFill>
              <a:prstDash val="sysDot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844320" cy="128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2163998" y="1643163"/>
            <a:ext cx="278927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Nossos recursos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6219639" y="1650610"/>
            <a:ext cx="311212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aplicados aos nossos processos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424518" y="1658865"/>
            <a:ext cx="131133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Geram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442067" y="2872771"/>
            <a:ext cx="707536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999999"/>
                </a:solidFill>
                <a:latin typeface="Open Sans 1"/>
                <a:ea typeface="Open Sans 1"/>
                <a:cs typeface="Open Sans 1"/>
                <a:sym typeface="Open Sans 1"/>
              </a:rPr>
              <a:t>Sede em Brasília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4002837" y="2457364"/>
            <a:ext cx="141784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true">
                <a:solidFill>
                  <a:srgbClr val="FEFEFE"/>
                </a:solidFill>
                <a:latin typeface="Open Sans 1 Semi-Bold"/>
                <a:ea typeface="Open Sans 1 Semi-Bold"/>
                <a:cs typeface="Open Sans 1 Semi-Bold"/>
                <a:sym typeface="Open Sans 1 Semi-Bold"/>
              </a:rPr>
              <a:t>Gerências regionais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4002837" y="2840881"/>
            <a:ext cx="1234329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true">
                <a:solidFill>
                  <a:srgbClr val="FEFEFE"/>
                </a:solidFill>
                <a:latin typeface="Open Sans 1 Semi-Bold"/>
                <a:ea typeface="Open Sans 1 Semi-Bold"/>
                <a:cs typeface="Open Sans 1 Semi-Bold"/>
                <a:sym typeface="Open Sans 1 Semi-Bold"/>
              </a:rPr>
              <a:t>Unidades regionais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643504" y="3072702"/>
            <a:ext cx="325300" cy="42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2485">
                <a:solidFill>
                  <a:srgbClr val="FEFEFE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002837" y="3229085"/>
            <a:ext cx="1234329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true">
                <a:solidFill>
                  <a:srgbClr val="FEFEFE"/>
                </a:solidFill>
                <a:latin typeface="Open Sans 1 Semi-Bold"/>
                <a:ea typeface="Open Sans 1 Semi-Bold"/>
                <a:cs typeface="Open Sans 1 Semi-Bold"/>
                <a:sym typeface="Open Sans 1 Semi-Bold"/>
              </a:rPr>
              <a:t>Divisão regional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6511736" y="4216566"/>
            <a:ext cx="2647642" cy="131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Resultados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Transparência e integridade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Decisões baseadas em conhecimento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Inovação e sustentabilidade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Profissionalismo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6861211" y="3848275"/>
            <a:ext cx="194869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Valores organizacionais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6496820" y="2418973"/>
            <a:ext cx="263083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GESTÃO E </a:t>
            </a:r>
            <a:r>
              <a:rPr lang="en-US" b="true" sz="18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ESTRATÉGIA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6411877" y="6900881"/>
            <a:ext cx="2800720" cy="157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Regulação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Outorga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Fiscalização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Produção de conhecimento aquaviário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Governança e estratégia</a:t>
            </a:r>
          </a:p>
          <a:p>
            <a:pPr algn="ctr">
              <a:lnSpc>
                <a:spcPts val="2101"/>
              </a:lnSpc>
            </a:pPr>
            <a:r>
              <a:rPr lang="en-US" sz="1100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Gestão e suporte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6861211" y="6567506"/>
            <a:ext cx="194869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Macroprocessos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32733" y="2321246"/>
            <a:ext cx="125000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632733" y="3822939"/>
            <a:ext cx="93687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PESSOAL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228090" y="4426153"/>
            <a:ext cx="718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656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973519" y="4235276"/>
            <a:ext cx="122798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Força de trabalho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740438" y="4975881"/>
            <a:ext cx="169414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  <a:spcBef>
                <a:spcPct val="0"/>
              </a:spcBef>
            </a:pPr>
            <a:r>
              <a:rPr lang="en-US" sz="900" i="true">
                <a:solidFill>
                  <a:srgbClr val="999999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Servidores, terceirizados e estagiários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3753558" y="4235276"/>
            <a:ext cx="1779867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Servidores com vínculo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3981036" y="4426153"/>
            <a:ext cx="108727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b="true" sz="32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332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621801" y="5537856"/>
            <a:ext cx="169545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9"/>
              </a:lnSpc>
              <a:spcBef>
                <a:spcPct val="0"/>
              </a:spcBef>
            </a:pPr>
            <a:r>
              <a:rPr lang="en-US" b="true" sz="1699" strike="noStrike" u="none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CAPACITAÇÕES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32733" y="6979687"/>
            <a:ext cx="285046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ORÇAMENTO E FINANÇAS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2075965" y="6271281"/>
            <a:ext cx="71884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243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818590" y="5890281"/>
            <a:ext cx="135002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0"/>
              </a:lnSpc>
              <a:spcBef>
                <a:spcPct val="0"/>
              </a:spcBef>
            </a:pPr>
            <a:r>
              <a:rPr lang="en-US" b="true" sz="1100" strike="noStrike" u="non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Nacionais e internacionais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3658343" y="5890281"/>
            <a:ext cx="181251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Gastos em capacitação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3814703" y="6084430"/>
            <a:ext cx="58712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2371206" y="9469969"/>
            <a:ext cx="993515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A6A6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Gastos </a:t>
            </a:r>
            <a:r>
              <a:rPr lang="en-US" b="true" sz="1100" strike="noStrike" u="none">
                <a:solidFill>
                  <a:srgbClr val="A6A6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 TI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3779960" y="9419227"/>
            <a:ext cx="63625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b="true" sz="1599">
                <a:solidFill>
                  <a:srgbClr val="A6A6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17,6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3420395" y="9376364"/>
            <a:ext cx="47589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A6A6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4217087" y="9486903"/>
            <a:ext cx="792117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  <a:spcBef>
                <a:spcPct val="0"/>
              </a:spcBef>
            </a:pPr>
            <a:r>
              <a:rPr lang="en-US" b="true" sz="899" i="true">
                <a:solidFill>
                  <a:srgbClr val="A6A6A6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milhões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0189053" y="3395244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Normas novas ou revisadas para o setor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0195135" y="4780301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Novas autorizações de EBNs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0189053" y="6165390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Afretamentos e registros processados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0189053" y="7495931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Registro Especial Brasileiro (REB)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0192159" y="8950041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Leilões de arrendamentos portuários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0792418" y="2918994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0724814" y="4310904"/>
            <a:ext cx="75803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105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0468840" y="5690958"/>
            <a:ext cx="12697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29.224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0748627" y="6993250"/>
            <a:ext cx="71040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115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0751733" y="8441478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2372122" y="3592415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Valor de outorga portuária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2390580" y="4788680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Processos </a:t>
            </a:r>
          </a:p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sancionadores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2389143" y="6165390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Ações fiscais de rotina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2429731" y="2922938"/>
            <a:ext cx="17141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R$ 382,1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12950154" y="4310904"/>
            <a:ext cx="75096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271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2909778" y="5690958"/>
            <a:ext cx="75096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537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12973850" y="8441478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4555191" y="3395244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Consultas públicas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4555191" y="4788680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Estudos publicados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14555191" y="6165390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Painéis de </a:t>
            </a:r>
            <a:r>
              <a:rPr lang="en-US" sz="1100" i="true">
                <a:solidFill>
                  <a:srgbClr val="4D4D4D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Business Inteligence (BI)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15114765" y="2946639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5114765" y="4310904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5154757" y="5682588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52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4551498" y="7495931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Bases de dados abertos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5110708" y="7002490"/>
            <a:ext cx="6228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18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15056323" y="8441478"/>
            <a:ext cx="8750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112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12412788" y="8950041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Audiências públicas realizadas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4551498" y="8951241"/>
            <a:ext cx="1829343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Denúncias tratadas na Ouvidoria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12705521" y="3401049"/>
            <a:ext cx="116529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"/>
              </a:lnSpc>
              <a:spcBef>
                <a:spcPct val="0"/>
              </a:spcBef>
            </a:pPr>
            <a:r>
              <a:rPr lang="en-US" b="true" sz="1099" i="true">
                <a:solidFill>
                  <a:srgbClr val="004C98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milhões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2390580" y="7676299"/>
            <a:ext cx="182934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4D4D4D"/>
                </a:solidFill>
                <a:latin typeface="Open Sans 1"/>
                <a:ea typeface="Open Sans 1"/>
                <a:cs typeface="Open Sans 1"/>
                <a:sym typeface="Open Sans 1"/>
              </a:rPr>
              <a:t>Multas arrecadadas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2448075" y="7002490"/>
            <a:ext cx="17141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R$ 4,457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2722492" y="7476915"/>
            <a:ext cx="116529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"/>
              </a:lnSpc>
              <a:spcBef>
                <a:spcPct val="0"/>
              </a:spcBef>
            </a:pPr>
            <a:r>
              <a:rPr lang="en-US" b="true" sz="1099" i="true">
                <a:solidFill>
                  <a:srgbClr val="004C98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milhões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33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1371422" y="807129"/>
            <a:ext cx="1551246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Modelo de negócios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4920208" y="6236830"/>
            <a:ext cx="336616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"/>
              </a:lnSpc>
              <a:spcBef>
                <a:spcPct val="0"/>
              </a:spcBef>
            </a:pPr>
            <a:r>
              <a:rPr lang="en-US" b="true" sz="999" i="true" strike="noStrike" u="none">
                <a:solidFill>
                  <a:srgbClr val="004C98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mil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3980514" y="5101523"/>
            <a:ext cx="1200316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"/>
              </a:lnSpc>
              <a:spcBef>
                <a:spcPct val="0"/>
              </a:spcBef>
            </a:pPr>
            <a:r>
              <a:rPr lang="en-US" sz="900" i="true">
                <a:solidFill>
                  <a:srgbClr val="999999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70%</a:t>
            </a:r>
            <a:r>
              <a:rPr lang="en-US" sz="900" i="true" strike="noStrike" u="none">
                <a:solidFill>
                  <a:srgbClr val="999999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ocupação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3980514" y="4933078"/>
            <a:ext cx="1200316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"/>
              </a:lnSpc>
              <a:spcBef>
                <a:spcPct val="0"/>
              </a:spcBef>
            </a:pPr>
            <a:r>
              <a:rPr lang="en-US" b="true" sz="999" i="true" strike="noStrike" u="none">
                <a:solidFill>
                  <a:srgbClr val="004C98"/>
                </a:solidFill>
                <a:latin typeface="Open Sans 1 Semi-Bold Italics"/>
                <a:ea typeface="Open Sans 1 Semi-Bold Italics"/>
                <a:cs typeface="Open Sans 1 Semi-Bold Italics"/>
                <a:sym typeface="Open Sans 1 Semi-Bold Italics"/>
              </a:rPr>
              <a:t>das 470 vagas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4401833" y="6136818"/>
            <a:ext cx="518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540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5968" y="593814"/>
            <a:ext cx="11862032" cy="9693186"/>
            <a:chOff x="0" y="0"/>
            <a:chExt cx="3124157" cy="2552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4157" cy="2552938"/>
            </a:xfrm>
            <a:custGeom>
              <a:avLst/>
              <a:gdLst/>
              <a:ahLst/>
              <a:cxnLst/>
              <a:rect r="r" b="b" t="t" l="l"/>
              <a:pathLst>
                <a:path h="2552938" w="3124157">
                  <a:moveTo>
                    <a:pt x="0" y="0"/>
                  </a:moveTo>
                  <a:lnTo>
                    <a:pt x="3124157" y="0"/>
                  </a:lnTo>
                  <a:lnTo>
                    <a:pt x="3124157" y="2552938"/>
                  </a:lnTo>
                  <a:lnTo>
                    <a:pt x="0" y="2552938"/>
                  </a:lnTo>
                  <a:close/>
                </a:path>
              </a:pathLst>
            </a:custGeom>
            <a:solidFill>
              <a:srgbClr val="F2F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24157" cy="2581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20361" y="6412945"/>
            <a:ext cx="5796640" cy="2797019"/>
            <a:chOff x="0" y="0"/>
            <a:chExt cx="1526687" cy="736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6687" cy="736664"/>
            </a:xfrm>
            <a:custGeom>
              <a:avLst/>
              <a:gdLst/>
              <a:ahLst/>
              <a:cxnLst/>
              <a:rect r="r" b="b" t="t" l="l"/>
              <a:pathLst>
                <a:path h="736664" w="1526687">
                  <a:moveTo>
                    <a:pt x="68115" y="0"/>
                  </a:moveTo>
                  <a:lnTo>
                    <a:pt x="1458572" y="0"/>
                  </a:lnTo>
                  <a:cubicBezTo>
                    <a:pt x="1476637" y="0"/>
                    <a:pt x="1493963" y="7176"/>
                    <a:pt x="1506737" y="19950"/>
                  </a:cubicBezTo>
                  <a:cubicBezTo>
                    <a:pt x="1519511" y="32724"/>
                    <a:pt x="1526687" y="50050"/>
                    <a:pt x="1526687" y="68115"/>
                  </a:cubicBezTo>
                  <a:lnTo>
                    <a:pt x="1526687" y="668549"/>
                  </a:lnTo>
                  <a:cubicBezTo>
                    <a:pt x="1526687" y="706167"/>
                    <a:pt x="1496191" y="736664"/>
                    <a:pt x="1458572" y="736664"/>
                  </a:cubicBezTo>
                  <a:lnTo>
                    <a:pt x="68115" y="736664"/>
                  </a:lnTo>
                  <a:cubicBezTo>
                    <a:pt x="50050" y="736664"/>
                    <a:pt x="32724" y="729487"/>
                    <a:pt x="19950" y="716713"/>
                  </a:cubicBezTo>
                  <a:cubicBezTo>
                    <a:pt x="7176" y="703939"/>
                    <a:pt x="0" y="686614"/>
                    <a:pt x="0" y="668549"/>
                  </a:cubicBezTo>
                  <a:lnTo>
                    <a:pt x="0" y="68115"/>
                  </a:lnTo>
                  <a:cubicBezTo>
                    <a:pt x="0" y="50050"/>
                    <a:pt x="7176" y="32724"/>
                    <a:pt x="19950" y="19950"/>
                  </a:cubicBezTo>
                  <a:cubicBezTo>
                    <a:pt x="32724" y="7176"/>
                    <a:pt x="50050" y="0"/>
                    <a:pt x="68115" y="0"/>
                  </a:cubicBezTo>
                  <a:close/>
                </a:path>
              </a:pathLst>
            </a:custGeom>
            <a:ln w="9525" cap="rnd">
              <a:solidFill>
                <a:srgbClr val="72BAE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26687" cy="765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34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254" y="1078638"/>
            <a:ext cx="51802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>
                <a:solidFill>
                  <a:srgbClr val="72BAE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ÁREAS DE ATUAÇÃO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254" y="1522821"/>
            <a:ext cx="4971894" cy="453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A Antaq possui abrangência de atuação nacional, portanto, a fim de fiscalizar a prestação de serviços de transporte aquaviário, de apoio marítimo e de apoio portuário e a exploração da infraestrutura aquaviária e portuária, institui-se gerências e unidades regionais, além de postos avançados em diversas localidades do país.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As gerências regionais são diretamente subordinadas à Superintendência de Fiscalização e Coordenação das Unidades Regionais (SFC), enquanto as unidades regionais são subordinadas técnica, administrativa e operacionalmente às respectivas Gerências Regionais de jurisdição.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A </a:t>
            </a:r>
            <a:r>
              <a:rPr lang="en-US" sz="1299">
                <a:solidFill>
                  <a:srgbClr val="004C98"/>
                </a:solidFill>
                <a:latin typeface="Open Sans 1"/>
                <a:ea typeface="Open Sans 1"/>
                <a:cs typeface="Open Sans 1"/>
                <a:sym typeface="Open Sans 1"/>
                <a:hlinkClick r:id="rId2" tooltip="https://sophia.antaq.gov.br/Terminal/acervo/detalhe/6204"/>
              </a:rPr>
              <a:t>Resolução Antaq n° 1.173, de 1º de outubro de 2008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, criou e aprovou o regulamento para o funcionamento dessas parte organizacionais da Agência. O </a:t>
            </a:r>
            <a:r>
              <a:rPr lang="en-US" sz="1299">
                <a:solidFill>
                  <a:srgbClr val="004C98"/>
                </a:solidFill>
                <a:latin typeface="Open Sans 1"/>
                <a:ea typeface="Open Sans 1"/>
                <a:cs typeface="Open Sans 1"/>
                <a:sym typeface="Open Sans 1"/>
                <a:hlinkClick r:id="rId3" tooltip="https://sophia.antaq.gov.br/Terminal/acervo/detalhe/39381?guid=1770341354736&amp;returnUrl=%2fTerminal%2fresultado%2flistarlegislacao%3fguid%3d1770341354736%26quantidadePaginas%3d1%26codigoRegistro%3d39381%2339381&amp;i=1"/>
              </a:rPr>
              <a:t>Acórdão nº 367/2025-Antaq</a:t>
            </a:r>
            <a:r>
              <a:rPr lang="en-US" sz="1299">
                <a:solidFill>
                  <a:srgbClr val="3D3D3D"/>
                </a:solidFill>
                <a:latin typeface="Open Sans 1"/>
                <a:ea typeface="Open Sans 1"/>
                <a:cs typeface="Open Sans 1"/>
                <a:sym typeface="Open Sans 1"/>
              </a:rPr>
              <a:t> atualizou os postos avançados.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2627" y="6531541"/>
            <a:ext cx="2775419" cy="21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b="true" sz="1599">
                <a:solidFill>
                  <a:srgbClr val="FDFDF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Sede em Brasília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319" y="7019831"/>
            <a:ext cx="608899" cy="77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7"/>
              </a:lnSpc>
            </a:pPr>
            <a:r>
              <a:rPr lang="en-US" b="true" sz="5857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4319" y="8122071"/>
            <a:ext cx="458032" cy="5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4406" b="true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2736" y="7142282"/>
            <a:ext cx="458032" cy="5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4406" b="true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3218" y="7046906"/>
            <a:ext cx="2065987" cy="56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b="true" sz="2231">
                <a:solidFill>
                  <a:srgbClr val="206EA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Gerências Regionais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351" y="8190804"/>
            <a:ext cx="1554097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678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Unidades Regionais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10768" y="7211015"/>
            <a:ext cx="1554097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678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Divisão Regional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685294" y="1426407"/>
            <a:ext cx="7075372" cy="7196897"/>
          </a:xfrm>
          <a:custGeom>
            <a:avLst/>
            <a:gdLst/>
            <a:ahLst/>
            <a:cxnLst/>
            <a:rect r="r" b="b" t="t" l="l"/>
            <a:pathLst>
              <a:path h="7196897" w="7075372">
                <a:moveTo>
                  <a:pt x="0" y="0"/>
                </a:moveTo>
                <a:lnTo>
                  <a:pt x="7075373" y="0"/>
                </a:lnTo>
                <a:lnTo>
                  <a:pt x="7075373" y="7196897"/>
                </a:lnTo>
                <a:lnTo>
                  <a:pt x="0" y="7196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392" t="-2991" r="-2891" b="-3876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13067673" y="7458992"/>
            <a:ext cx="702056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4785682" y="5043905"/>
            <a:ext cx="682797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445752" y="3977444"/>
            <a:ext cx="533511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4580293" y="6129312"/>
            <a:ext cx="770681" cy="9525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962785" y="6472213"/>
            <a:ext cx="4378073" cy="3197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11599857" y="7041650"/>
            <a:ext cx="1459362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9006622" y="2920742"/>
            <a:ext cx="2124174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 flipV="true">
            <a:off x="10419777" y="4220747"/>
            <a:ext cx="9525" cy="780906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1255205" y="7904399"/>
            <a:ext cx="1541905" cy="0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1990381" y="1562234"/>
            <a:ext cx="0" cy="1495622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4911117" y="3262040"/>
            <a:ext cx="557554" cy="11198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2703841" y="1243632"/>
            <a:ext cx="0" cy="1317956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3920291" y="2664317"/>
            <a:ext cx="0" cy="403064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13236195" y="2041491"/>
            <a:ext cx="4762" cy="829755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3409243" y="6794497"/>
            <a:ext cx="1321941" cy="4762"/>
          </a:xfrm>
          <a:prstGeom prst="line">
            <a:avLst/>
          </a:prstGeom>
          <a:ln cap="flat" w="19050">
            <a:solidFill>
              <a:srgbClr val="B6B6B6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5406759" y="3701386"/>
            <a:ext cx="139015" cy="139015"/>
          </a:xfrm>
          <a:custGeom>
            <a:avLst/>
            <a:gdLst/>
            <a:ahLst/>
            <a:cxnLst/>
            <a:rect r="r" b="b" t="t" l="l"/>
            <a:pathLst>
              <a:path h="139015" w="139015">
                <a:moveTo>
                  <a:pt x="0" y="0"/>
                </a:moveTo>
                <a:lnTo>
                  <a:pt x="139015" y="0"/>
                </a:lnTo>
                <a:lnTo>
                  <a:pt x="139015" y="139015"/>
                </a:lnTo>
                <a:lnTo>
                  <a:pt x="0" y="139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133855" y="6961550"/>
            <a:ext cx="139015" cy="139015"/>
          </a:xfrm>
          <a:custGeom>
            <a:avLst/>
            <a:gdLst/>
            <a:ahLst/>
            <a:cxnLst/>
            <a:rect r="r" b="b" t="t" l="l"/>
            <a:pathLst>
              <a:path h="139015" w="139015">
                <a:moveTo>
                  <a:pt x="0" y="0"/>
                </a:moveTo>
                <a:lnTo>
                  <a:pt x="139015" y="0"/>
                </a:lnTo>
                <a:lnTo>
                  <a:pt x="139015" y="139015"/>
                </a:lnTo>
                <a:lnTo>
                  <a:pt x="0" y="139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661712" y="4819165"/>
            <a:ext cx="139015" cy="139015"/>
          </a:xfrm>
          <a:custGeom>
            <a:avLst/>
            <a:gdLst/>
            <a:ahLst/>
            <a:cxnLst/>
            <a:rect r="r" b="b" t="t" l="l"/>
            <a:pathLst>
              <a:path h="139015" w="139015">
                <a:moveTo>
                  <a:pt x="0" y="0"/>
                </a:moveTo>
                <a:lnTo>
                  <a:pt x="139014" y="0"/>
                </a:lnTo>
                <a:lnTo>
                  <a:pt x="139014" y="139015"/>
                </a:lnTo>
                <a:lnTo>
                  <a:pt x="0" y="139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041200" y="7248540"/>
            <a:ext cx="139015" cy="139015"/>
          </a:xfrm>
          <a:custGeom>
            <a:avLst/>
            <a:gdLst/>
            <a:ahLst/>
            <a:cxnLst/>
            <a:rect r="r" b="b" t="t" l="l"/>
            <a:pathLst>
              <a:path h="139015" w="139015">
                <a:moveTo>
                  <a:pt x="0" y="0"/>
                </a:moveTo>
                <a:lnTo>
                  <a:pt x="139015" y="0"/>
                </a:lnTo>
                <a:lnTo>
                  <a:pt x="139015" y="139015"/>
                </a:lnTo>
                <a:lnTo>
                  <a:pt x="0" y="139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530045" y="5087495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45774" y="4868304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93258" y="3821775"/>
            <a:ext cx="198126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562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468479" y="5922894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31219" y="6600455"/>
            <a:ext cx="198126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7F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29142" y="6844755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6136" y="2736072"/>
            <a:ext cx="198126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868A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65191" y="7306592"/>
            <a:ext cx="150731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D96C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606618" y="3089064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65191" y="2213387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80215" y="1481272"/>
            <a:ext cx="198126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4D004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16712" y="789563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092868" y="1081707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Divisão Regional 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886771" y="6229325"/>
            <a:ext cx="198126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EDAD0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Gerência Regional de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545774" y="5055673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238B45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Salvador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154480" y="4052610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Recife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468479" y="6110263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ED9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Vitória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785564" y="6831032"/>
            <a:ext cx="58693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Santos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9142" y="7032125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7F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Curitiba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131903" y="2974197"/>
            <a:ext cx="6851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Manaus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530045" y="5274864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4393C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Porto Velho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49528" y="7774835"/>
            <a:ext cx="198126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Unidade Regional de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9528" y="7962204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DAE6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Porto Alegre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920291" y="7551802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Florianópolis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606618" y="3276433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73AF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Fortaleza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865191" y="2400756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8C6BB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São Luís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45817" y="1708562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Belém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616712" y="976932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4D004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Santana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092868" y="1269076"/>
            <a:ext cx="198126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4D004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Santarém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38397" y="6465885"/>
            <a:ext cx="117196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Rio de Janeiro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145868" y="9251954"/>
            <a:ext cx="4844513" cy="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7C7A7A"/>
                </a:solidFill>
                <a:latin typeface="Open Sans 1"/>
                <a:ea typeface="Open Sans 1"/>
                <a:cs typeface="Open Sans 1"/>
                <a:sym typeface="Open Sans 1"/>
              </a:rPr>
              <a:t>No mapa, cada cor indica a região sob coordenação de uma Gerência Regional, com apoio das Unidades Regionais, conforme jurisdição delimitada em normativo.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952736" y="8122071"/>
            <a:ext cx="458032" cy="5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4406" b="true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410768" y="8190804"/>
            <a:ext cx="1554097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678" b="true">
                <a:solidFill>
                  <a:srgbClr val="58A4D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Postos Avançados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2482429" y="9198199"/>
            <a:ext cx="4358564" cy="640131"/>
            <a:chOff x="0" y="0"/>
            <a:chExt cx="5811419" cy="853507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5811419" cy="853507"/>
              <a:chOff x="0" y="0"/>
              <a:chExt cx="1147935" cy="168594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147935" cy="168594"/>
              </a:xfrm>
              <a:custGeom>
                <a:avLst/>
                <a:gdLst/>
                <a:ahLst/>
                <a:cxnLst/>
                <a:rect r="r" b="b" t="t" l="l"/>
                <a:pathLst>
                  <a:path h="168594" w="1147935">
                    <a:moveTo>
                      <a:pt x="31973" y="0"/>
                    </a:moveTo>
                    <a:lnTo>
                      <a:pt x="1115962" y="0"/>
                    </a:lnTo>
                    <a:cubicBezTo>
                      <a:pt x="1133620" y="0"/>
                      <a:pt x="1147935" y="14315"/>
                      <a:pt x="1147935" y="31973"/>
                    </a:cubicBezTo>
                    <a:lnTo>
                      <a:pt x="1147935" y="136621"/>
                    </a:lnTo>
                    <a:cubicBezTo>
                      <a:pt x="1147935" y="154279"/>
                      <a:pt x="1133620" y="168594"/>
                      <a:pt x="1115962" y="168594"/>
                    </a:cubicBezTo>
                    <a:lnTo>
                      <a:pt x="31973" y="168594"/>
                    </a:lnTo>
                    <a:cubicBezTo>
                      <a:pt x="14315" y="168594"/>
                      <a:pt x="0" y="154279"/>
                      <a:pt x="0" y="136621"/>
                    </a:cubicBezTo>
                    <a:lnTo>
                      <a:pt x="0" y="31973"/>
                    </a:lnTo>
                    <a:cubicBezTo>
                      <a:pt x="0" y="14315"/>
                      <a:pt x="14315" y="0"/>
                      <a:pt x="31973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 w="9525" cap="sq">
                <a:solidFill>
                  <a:srgbClr val="A6A6A6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28575"/>
                <a:ext cx="1147935" cy="1971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75" id="75"/>
            <p:cNvSpPr/>
            <p:nvPr/>
          </p:nvSpPr>
          <p:spPr>
            <a:xfrm flipH="false" flipV="false" rot="0">
              <a:off x="419574" y="241401"/>
              <a:ext cx="185353" cy="185353"/>
            </a:xfrm>
            <a:custGeom>
              <a:avLst/>
              <a:gdLst/>
              <a:ahLst/>
              <a:cxnLst/>
              <a:rect r="r" b="b" t="t" l="l"/>
              <a:pathLst>
                <a:path h="185353" w="185353">
                  <a:moveTo>
                    <a:pt x="0" y="0"/>
                  </a:moveTo>
                  <a:lnTo>
                    <a:pt x="185353" y="0"/>
                  </a:lnTo>
                  <a:lnTo>
                    <a:pt x="185353" y="185353"/>
                  </a:lnTo>
                  <a:lnTo>
                    <a:pt x="0" y="18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 rot="0">
              <a:off x="837704" y="155766"/>
              <a:ext cx="4802373" cy="489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100">
                  <a:solidFill>
                    <a:srgbClr val="7C7A7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Atualmente contamos com 4 postos avançados: Cabedelo (PB), Paranaguá (PR), Aratu (BA) e Itajaí (SC)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93814"/>
            <a:ext cx="18288000" cy="9693186"/>
          </a:xfrm>
          <a:custGeom>
            <a:avLst/>
            <a:gdLst/>
            <a:ahLst/>
            <a:cxnLst/>
            <a:rect r="r" b="b" t="t" l="l"/>
            <a:pathLst>
              <a:path h="9693186" w="18288000">
                <a:moveTo>
                  <a:pt x="0" y="0"/>
                </a:moveTo>
                <a:lnTo>
                  <a:pt x="18288000" y="0"/>
                </a:lnTo>
                <a:lnTo>
                  <a:pt x="18288000" y="9693186"/>
                </a:lnTo>
                <a:lnTo>
                  <a:pt x="0" y="969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-1176" r="0" b="-11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15373" y="987500"/>
            <a:ext cx="8023670" cy="5061093"/>
            <a:chOff x="0" y="0"/>
            <a:chExt cx="2113230" cy="13329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3230" cy="1332963"/>
            </a:xfrm>
            <a:custGeom>
              <a:avLst/>
              <a:gdLst/>
              <a:ahLst/>
              <a:cxnLst/>
              <a:rect r="r" b="b" t="t" l="l"/>
              <a:pathLst>
                <a:path h="1332963" w="2113230">
                  <a:moveTo>
                    <a:pt x="16403" y="0"/>
                  </a:moveTo>
                  <a:lnTo>
                    <a:pt x="2096827" y="0"/>
                  </a:lnTo>
                  <a:cubicBezTo>
                    <a:pt x="2101177" y="0"/>
                    <a:pt x="2105350" y="1728"/>
                    <a:pt x="2108426" y="4804"/>
                  </a:cubicBezTo>
                  <a:cubicBezTo>
                    <a:pt x="2111502" y="7881"/>
                    <a:pt x="2113230" y="12053"/>
                    <a:pt x="2113230" y="16403"/>
                  </a:cubicBezTo>
                  <a:lnTo>
                    <a:pt x="2113230" y="1316560"/>
                  </a:lnTo>
                  <a:cubicBezTo>
                    <a:pt x="2113230" y="1320910"/>
                    <a:pt x="2111502" y="1325082"/>
                    <a:pt x="2108426" y="1328158"/>
                  </a:cubicBezTo>
                  <a:cubicBezTo>
                    <a:pt x="2105350" y="1331235"/>
                    <a:pt x="2101177" y="1332963"/>
                    <a:pt x="2096827" y="1332963"/>
                  </a:cubicBezTo>
                  <a:lnTo>
                    <a:pt x="16403" y="1332963"/>
                  </a:lnTo>
                  <a:cubicBezTo>
                    <a:pt x="12053" y="1332963"/>
                    <a:pt x="7881" y="1331235"/>
                    <a:pt x="4804" y="1328158"/>
                  </a:cubicBezTo>
                  <a:cubicBezTo>
                    <a:pt x="1728" y="1325082"/>
                    <a:pt x="0" y="1320910"/>
                    <a:pt x="0" y="1316560"/>
                  </a:cubicBezTo>
                  <a:lnTo>
                    <a:pt x="0" y="16403"/>
                  </a:lnTo>
                  <a:cubicBezTo>
                    <a:pt x="0" y="12053"/>
                    <a:pt x="1728" y="7881"/>
                    <a:pt x="4804" y="4804"/>
                  </a:cubicBezTo>
                  <a:cubicBezTo>
                    <a:pt x="7881" y="1728"/>
                    <a:pt x="12053" y="0"/>
                    <a:pt x="1640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13230" cy="1361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12524" y="2313901"/>
            <a:ext cx="2847251" cy="353276"/>
            <a:chOff x="0" y="0"/>
            <a:chExt cx="536687" cy="665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59435" y="2386440"/>
            <a:ext cx="8017282" cy="5061093"/>
            <a:chOff x="0" y="0"/>
            <a:chExt cx="2111547" cy="13329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1547" cy="1332963"/>
            </a:xfrm>
            <a:custGeom>
              <a:avLst/>
              <a:gdLst/>
              <a:ahLst/>
              <a:cxnLst/>
              <a:rect r="r" b="b" t="t" l="l"/>
              <a:pathLst>
                <a:path h="1332963" w="2111547">
                  <a:moveTo>
                    <a:pt x="16416" y="0"/>
                  </a:moveTo>
                  <a:lnTo>
                    <a:pt x="2095131" y="0"/>
                  </a:lnTo>
                  <a:cubicBezTo>
                    <a:pt x="2104198" y="0"/>
                    <a:pt x="2111547" y="7350"/>
                    <a:pt x="2111547" y="16416"/>
                  </a:cubicBezTo>
                  <a:lnTo>
                    <a:pt x="2111547" y="1316547"/>
                  </a:lnTo>
                  <a:cubicBezTo>
                    <a:pt x="2111547" y="1325613"/>
                    <a:pt x="2104198" y="1332963"/>
                    <a:pt x="2095131" y="1332963"/>
                  </a:cubicBezTo>
                  <a:lnTo>
                    <a:pt x="16416" y="1332963"/>
                  </a:lnTo>
                  <a:cubicBezTo>
                    <a:pt x="7350" y="1332963"/>
                    <a:pt x="0" y="1325613"/>
                    <a:pt x="0" y="1316547"/>
                  </a:cubicBezTo>
                  <a:lnTo>
                    <a:pt x="0" y="16416"/>
                  </a:lnTo>
                  <a:cubicBezTo>
                    <a:pt x="0" y="7350"/>
                    <a:pt x="7350" y="0"/>
                    <a:pt x="16416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11547" cy="1361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12524" y="4619676"/>
            <a:ext cx="2847251" cy="353276"/>
            <a:chOff x="0" y="0"/>
            <a:chExt cx="536687" cy="665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9027641" y="1254142"/>
            <a:ext cx="1531430" cy="1527941"/>
            <a:chOff x="0" y="0"/>
            <a:chExt cx="403340" cy="4024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3340" cy="402421"/>
            </a:xfrm>
            <a:custGeom>
              <a:avLst/>
              <a:gdLst/>
              <a:ahLst/>
              <a:cxnLst/>
              <a:rect r="r" b="b" t="t" l="l"/>
              <a:pathLst>
                <a:path h="402421" w="403340">
                  <a:moveTo>
                    <a:pt x="90996" y="0"/>
                  </a:moveTo>
                  <a:lnTo>
                    <a:pt x="312343" y="0"/>
                  </a:lnTo>
                  <a:cubicBezTo>
                    <a:pt x="362599" y="0"/>
                    <a:pt x="403340" y="40740"/>
                    <a:pt x="403340" y="90996"/>
                  </a:cubicBezTo>
                  <a:lnTo>
                    <a:pt x="403340" y="311424"/>
                  </a:lnTo>
                  <a:cubicBezTo>
                    <a:pt x="403340" y="361680"/>
                    <a:pt x="362599" y="402421"/>
                    <a:pt x="312343" y="402421"/>
                  </a:cubicBezTo>
                  <a:lnTo>
                    <a:pt x="90996" y="402421"/>
                  </a:lnTo>
                  <a:cubicBezTo>
                    <a:pt x="40740" y="402421"/>
                    <a:pt x="0" y="361680"/>
                    <a:pt x="0" y="311424"/>
                  </a:cubicBezTo>
                  <a:lnTo>
                    <a:pt x="0" y="90996"/>
                  </a:lnTo>
                  <a:cubicBezTo>
                    <a:pt x="0" y="40740"/>
                    <a:pt x="40740" y="0"/>
                    <a:pt x="90996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3340" cy="440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15373" y="1892888"/>
            <a:ext cx="8888662" cy="8051465"/>
            <a:chOff x="0" y="0"/>
            <a:chExt cx="2341047" cy="212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41047" cy="2120550"/>
            </a:xfrm>
            <a:custGeom>
              <a:avLst/>
              <a:gdLst/>
              <a:ahLst/>
              <a:cxnLst/>
              <a:rect r="r" b="b" t="t" l="l"/>
              <a:pathLst>
                <a:path h="2120550" w="2341047">
                  <a:moveTo>
                    <a:pt x="14807" y="0"/>
                  </a:moveTo>
                  <a:lnTo>
                    <a:pt x="2326240" y="0"/>
                  </a:lnTo>
                  <a:cubicBezTo>
                    <a:pt x="2334418" y="0"/>
                    <a:pt x="2341047" y="6629"/>
                    <a:pt x="2341047" y="14807"/>
                  </a:cubicBezTo>
                  <a:lnTo>
                    <a:pt x="2341047" y="2105744"/>
                  </a:lnTo>
                  <a:cubicBezTo>
                    <a:pt x="2341047" y="2113921"/>
                    <a:pt x="2334418" y="2120550"/>
                    <a:pt x="2326240" y="2120550"/>
                  </a:cubicBezTo>
                  <a:lnTo>
                    <a:pt x="14807" y="2120550"/>
                  </a:lnTo>
                  <a:cubicBezTo>
                    <a:pt x="6629" y="2120550"/>
                    <a:pt x="0" y="2113921"/>
                    <a:pt x="0" y="2105744"/>
                  </a:cubicBezTo>
                  <a:lnTo>
                    <a:pt x="0" y="14807"/>
                  </a:lnTo>
                  <a:cubicBezTo>
                    <a:pt x="0" y="6629"/>
                    <a:pt x="6629" y="0"/>
                    <a:pt x="14807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341047" cy="214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028" y="2018112"/>
            <a:ext cx="1099468" cy="944855"/>
            <a:chOff x="0" y="0"/>
            <a:chExt cx="812800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0893" y="0"/>
              <a:ext cx="771013" cy="698500"/>
            </a:xfrm>
            <a:custGeom>
              <a:avLst/>
              <a:gdLst/>
              <a:ahLst/>
              <a:cxnLst/>
              <a:rect r="r" b="b" t="t" l="l"/>
              <a:pathLst>
                <a:path h="698500" w="771013">
                  <a:moveTo>
                    <a:pt x="752955" y="416200"/>
                  </a:moveTo>
                  <a:lnTo>
                    <a:pt x="627659" y="631550"/>
                  </a:lnTo>
                  <a:cubicBezTo>
                    <a:pt x="603543" y="673000"/>
                    <a:pt x="559205" y="698500"/>
                    <a:pt x="511250" y="698500"/>
                  </a:cubicBezTo>
                  <a:lnTo>
                    <a:pt x="259764" y="698500"/>
                  </a:lnTo>
                  <a:cubicBezTo>
                    <a:pt x="211809" y="698500"/>
                    <a:pt x="167471" y="673000"/>
                    <a:pt x="143355" y="631550"/>
                  </a:cubicBezTo>
                  <a:lnTo>
                    <a:pt x="18059" y="416200"/>
                  </a:lnTo>
                  <a:cubicBezTo>
                    <a:pt x="-6019" y="374814"/>
                    <a:pt x="-6019" y="323686"/>
                    <a:pt x="18059" y="282300"/>
                  </a:cubicBezTo>
                  <a:lnTo>
                    <a:pt x="143355" y="66950"/>
                  </a:lnTo>
                  <a:cubicBezTo>
                    <a:pt x="167471" y="25500"/>
                    <a:pt x="211809" y="0"/>
                    <a:pt x="259764" y="0"/>
                  </a:cubicBezTo>
                  <a:lnTo>
                    <a:pt x="511250" y="0"/>
                  </a:lnTo>
                  <a:cubicBezTo>
                    <a:pt x="559205" y="0"/>
                    <a:pt x="603543" y="25500"/>
                    <a:pt x="627659" y="66950"/>
                  </a:cubicBezTo>
                  <a:lnTo>
                    <a:pt x="752955" y="282300"/>
                  </a:lnTo>
                  <a:cubicBezTo>
                    <a:pt x="777033" y="323686"/>
                    <a:pt x="777033" y="374814"/>
                    <a:pt x="752955" y="41620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4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61653" y="2230431"/>
            <a:ext cx="520218" cy="520218"/>
          </a:xfrm>
          <a:custGeom>
            <a:avLst/>
            <a:gdLst/>
            <a:ahLst/>
            <a:cxnLst/>
            <a:rect r="r" b="b" t="t" l="l"/>
            <a:pathLst>
              <a:path h="520218" w="520218">
                <a:moveTo>
                  <a:pt x="0" y="0"/>
                </a:moveTo>
                <a:lnTo>
                  <a:pt x="520218" y="0"/>
                </a:lnTo>
                <a:lnTo>
                  <a:pt x="520218" y="520218"/>
                </a:lnTo>
                <a:lnTo>
                  <a:pt x="0" y="520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009959" y="2313901"/>
            <a:ext cx="2891174" cy="353276"/>
            <a:chOff x="0" y="0"/>
            <a:chExt cx="544966" cy="66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4966" cy="66590"/>
            </a:xfrm>
            <a:custGeom>
              <a:avLst/>
              <a:gdLst/>
              <a:ahLst/>
              <a:cxnLst/>
              <a:rect r="r" b="b" t="t" l="l"/>
              <a:pathLst>
                <a:path h="66590" w="544966">
                  <a:moveTo>
                    <a:pt x="18828" y="0"/>
                  </a:moveTo>
                  <a:lnTo>
                    <a:pt x="526138" y="0"/>
                  </a:lnTo>
                  <a:cubicBezTo>
                    <a:pt x="536536" y="0"/>
                    <a:pt x="544966" y="8430"/>
                    <a:pt x="544966" y="18828"/>
                  </a:cubicBezTo>
                  <a:lnTo>
                    <a:pt x="544966" y="47762"/>
                  </a:lnTo>
                  <a:cubicBezTo>
                    <a:pt x="544966" y="58161"/>
                    <a:pt x="536536" y="66590"/>
                    <a:pt x="526138" y="66590"/>
                  </a:cubicBezTo>
                  <a:lnTo>
                    <a:pt x="18828" y="66590"/>
                  </a:lnTo>
                  <a:cubicBezTo>
                    <a:pt x="8430" y="66590"/>
                    <a:pt x="0" y="58161"/>
                    <a:pt x="0" y="47762"/>
                  </a:cubicBezTo>
                  <a:lnTo>
                    <a:pt x="0" y="18828"/>
                  </a:lnTo>
                  <a:cubicBezTo>
                    <a:pt x="0" y="8430"/>
                    <a:pt x="8430" y="0"/>
                    <a:pt x="18828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44966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5" tooltip="https://www.planalto.gov.br/ccivil_03/leis/leis_2001/l10233.htm"/>
                </a:rPr>
                <a:t>Lei nº 10.233, de 5 de junho de 2001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954451" y="2415015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009959" y="4619676"/>
            <a:ext cx="2891174" cy="353276"/>
            <a:chOff x="0" y="0"/>
            <a:chExt cx="544966" cy="6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4966" cy="66590"/>
            </a:xfrm>
            <a:custGeom>
              <a:avLst/>
              <a:gdLst/>
              <a:ahLst/>
              <a:cxnLst/>
              <a:rect r="r" b="b" t="t" l="l"/>
              <a:pathLst>
                <a:path h="66590" w="544966">
                  <a:moveTo>
                    <a:pt x="18828" y="0"/>
                  </a:moveTo>
                  <a:lnTo>
                    <a:pt x="526138" y="0"/>
                  </a:lnTo>
                  <a:cubicBezTo>
                    <a:pt x="536536" y="0"/>
                    <a:pt x="544966" y="8430"/>
                    <a:pt x="544966" y="18828"/>
                  </a:cubicBezTo>
                  <a:lnTo>
                    <a:pt x="544966" y="47762"/>
                  </a:lnTo>
                  <a:cubicBezTo>
                    <a:pt x="544966" y="58161"/>
                    <a:pt x="536536" y="66590"/>
                    <a:pt x="526138" y="66590"/>
                  </a:cubicBezTo>
                  <a:lnTo>
                    <a:pt x="18828" y="66590"/>
                  </a:lnTo>
                  <a:cubicBezTo>
                    <a:pt x="8430" y="66590"/>
                    <a:pt x="0" y="58161"/>
                    <a:pt x="0" y="47762"/>
                  </a:cubicBezTo>
                  <a:lnTo>
                    <a:pt x="0" y="18828"/>
                  </a:lnTo>
                  <a:cubicBezTo>
                    <a:pt x="0" y="8430"/>
                    <a:pt x="8430" y="0"/>
                    <a:pt x="18828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44966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8" tooltip="https://www.planalto.gov.br/ccivil_03/_ato2011-2014/2013/lei/l12815.htm"/>
                </a:rPr>
                <a:t>Lei nº 12.815, de 5 de junho de 2013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12524" y="6318681"/>
            <a:ext cx="2847251" cy="353276"/>
            <a:chOff x="0" y="0"/>
            <a:chExt cx="536687" cy="665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09959" y="6318681"/>
            <a:ext cx="2891174" cy="353276"/>
            <a:chOff x="0" y="0"/>
            <a:chExt cx="544966" cy="6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4966" cy="66590"/>
            </a:xfrm>
            <a:custGeom>
              <a:avLst/>
              <a:gdLst/>
              <a:ahLst/>
              <a:cxnLst/>
              <a:rect r="r" b="b" t="t" l="l"/>
              <a:pathLst>
                <a:path h="66590" w="544966">
                  <a:moveTo>
                    <a:pt x="18828" y="0"/>
                  </a:moveTo>
                  <a:lnTo>
                    <a:pt x="526138" y="0"/>
                  </a:lnTo>
                  <a:cubicBezTo>
                    <a:pt x="536536" y="0"/>
                    <a:pt x="544966" y="8430"/>
                    <a:pt x="544966" y="18828"/>
                  </a:cubicBezTo>
                  <a:lnTo>
                    <a:pt x="544966" y="47762"/>
                  </a:lnTo>
                  <a:cubicBezTo>
                    <a:pt x="544966" y="58161"/>
                    <a:pt x="536536" y="66590"/>
                    <a:pt x="526138" y="66590"/>
                  </a:cubicBezTo>
                  <a:lnTo>
                    <a:pt x="18828" y="66590"/>
                  </a:lnTo>
                  <a:cubicBezTo>
                    <a:pt x="8430" y="66590"/>
                    <a:pt x="0" y="58161"/>
                    <a:pt x="0" y="47762"/>
                  </a:cubicBezTo>
                  <a:lnTo>
                    <a:pt x="0" y="18828"/>
                  </a:lnTo>
                  <a:cubicBezTo>
                    <a:pt x="0" y="8430"/>
                    <a:pt x="8430" y="0"/>
                    <a:pt x="18828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44966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9" tooltip="https://www.planalto.gov.br/ccivil_03/_ato2011-2014/2013/decreto/d8033.htm"/>
                </a:rPr>
                <a:t>Decr</a:t>
              </a: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0" tooltip="https://www.planalto.gov.br/ccivil_03/_ato2011-2014/2013/decreto/d8033.htm"/>
                </a:rPr>
                <a:t>eto nº 8.033, de 27 de junho de 2013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312524" y="7731875"/>
            <a:ext cx="2847251" cy="353276"/>
            <a:chOff x="0" y="0"/>
            <a:chExt cx="536687" cy="665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954451" y="4720790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954451" y="6419795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7106078" y="2313901"/>
            <a:ext cx="2847251" cy="353276"/>
            <a:chOff x="0" y="0"/>
            <a:chExt cx="536687" cy="665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03512" y="2313901"/>
            <a:ext cx="2785450" cy="353276"/>
            <a:chOff x="0" y="0"/>
            <a:chExt cx="525038" cy="665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5038" cy="66590"/>
            </a:xfrm>
            <a:custGeom>
              <a:avLst/>
              <a:gdLst/>
              <a:ahLst/>
              <a:cxnLst/>
              <a:rect r="r" b="b" t="t" l="l"/>
              <a:pathLst>
                <a:path h="66590" w="525038">
                  <a:moveTo>
                    <a:pt x="19543" y="0"/>
                  </a:moveTo>
                  <a:lnTo>
                    <a:pt x="505495" y="0"/>
                  </a:lnTo>
                  <a:cubicBezTo>
                    <a:pt x="510678" y="0"/>
                    <a:pt x="515649" y="2059"/>
                    <a:pt x="519314" y="5724"/>
                  </a:cubicBezTo>
                  <a:cubicBezTo>
                    <a:pt x="522979" y="9389"/>
                    <a:pt x="525038" y="14360"/>
                    <a:pt x="525038" y="19543"/>
                  </a:cubicBezTo>
                  <a:lnTo>
                    <a:pt x="525038" y="47047"/>
                  </a:lnTo>
                  <a:cubicBezTo>
                    <a:pt x="525038" y="52230"/>
                    <a:pt x="522979" y="57201"/>
                    <a:pt x="519314" y="60866"/>
                  </a:cubicBezTo>
                  <a:cubicBezTo>
                    <a:pt x="515649" y="64531"/>
                    <a:pt x="510678" y="66590"/>
                    <a:pt x="505495" y="66590"/>
                  </a:cubicBezTo>
                  <a:lnTo>
                    <a:pt x="19543" y="66590"/>
                  </a:lnTo>
                  <a:cubicBezTo>
                    <a:pt x="14360" y="66590"/>
                    <a:pt x="9389" y="64531"/>
                    <a:pt x="5724" y="60866"/>
                  </a:cubicBezTo>
                  <a:cubicBezTo>
                    <a:pt x="2059" y="57201"/>
                    <a:pt x="0" y="52230"/>
                    <a:pt x="0" y="47047"/>
                  </a:cubicBezTo>
                  <a:lnTo>
                    <a:pt x="0" y="19543"/>
                  </a:lnTo>
                  <a:cubicBezTo>
                    <a:pt x="0" y="14360"/>
                    <a:pt x="2059" y="9389"/>
                    <a:pt x="5724" y="5724"/>
                  </a:cubicBezTo>
                  <a:cubicBezTo>
                    <a:pt x="9389" y="2059"/>
                    <a:pt x="14360" y="0"/>
                    <a:pt x="19543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25038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1" tooltip="https://www.planalto.gov.br/ccivil_03/leis/l9432.htm"/>
                </a:rPr>
                <a:t>Lei nº 9.432, de 8 de janeiro de 1997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653430" y="2415015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7091793" y="6527438"/>
            <a:ext cx="2847251" cy="353276"/>
            <a:chOff x="0" y="0"/>
            <a:chExt cx="536687" cy="665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89228" y="6739770"/>
            <a:ext cx="2785450" cy="353276"/>
            <a:chOff x="0" y="0"/>
            <a:chExt cx="525038" cy="665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5038" cy="66590"/>
            </a:xfrm>
            <a:custGeom>
              <a:avLst/>
              <a:gdLst/>
              <a:ahLst/>
              <a:cxnLst/>
              <a:rect r="r" b="b" t="t" l="l"/>
              <a:pathLst>
                <a:path h="66590" w="525038">
                  <a:moveTo>
                    <a:pt x="19543" y="0"/>
                  </a:moveTo>
                  <a:lnTo>
                    <a:pt x="505495" y="0"/>
                  </a:lnTo>
                  <a:cubicBezTo>
                    <a:pt x="510678" y="0"/>
                    <a:pt x="515649" y="2059"/>
                    <a:pt x="519314" y="5724"/>
                  </a:cubicBezTo>
                  <a:cubicBezTo>
                    <a:pt x="522979" y="9389"/>
                    <a:pt x="525038" y="14360"/>
                    <a:pt x="525038" y="19543"/>
                  </a:cubicBezTo>
                  <a:lnTo>
                    <a:pt x="525038" y="47047"/>
                  </a:lnTo>
                  <a:cubicBezTo>
                    <a:pt x="525038" y="52230"/>
                    <a:pt x="522979" y="57201"/>
                    <a:pt x="519314" y="60866"/>
                  </a:cubicBezTo>
                  <a:cubicBezTo>
                    <a:pt x="515649" y="64531"/>
                    <a:pt x="510678" y="66590"/>
                    <a:pt x="505495" y="66590"/>
                  </a:cubicBezTo>
                  <a:lnTo>
                    <a:pt x="19543" y="66590"/>
                  </a:lnTo>
                  <a:cubicBezTo>
                    <a:pt x="14360" y="66590"/>
                    <a:pt x="9389" y="64531"/>
                    <a:pt x="5724" y="60866"/>
                  </a:cubicBezTo>
                  <a:cubicBezTo>
                    <a:pt x="2059" y="57201"/>
                    <a:pt x="0" y="52230"/>
                    <a:pt x="0" y="47047"/>
                  </a:cubicBezTo>
                  <a:lnTo>
                    <a:pt x="0" y="19543"/>
                  </a:lnTo>
                  <a:cubicBezTo>
                    <a:pt x="0" y="14360"/>
                    <a:pt x="2059" y="9389"/>
                    <a:pt x="5724" y="5724"/>
                  </a:cubicBezTo>
                  <a:cubicBezTo>
                    <a:pt x="9389" y="2059"/>
                    <a:pt x="14360" y="0"/>
                    <a:pt x="19543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25038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2" tooltip="https://www.planalto.gov.br/ccivil_03/_ato2019-2022/2019/lei/l13848.htm"/>
                </a:rPr>
                <a:t>L</a:t>
              </a: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3" tooltip="https://www.planalto.gov.br/ccivil_03/_ato2019-2022/2019/lei/l13848.htm"/>
                </a:rPr>
                <a:t>ei nº 13.848, de 25 de junho 2019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9639145" y="6840884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50" y="0"/>
                </a:lnTo>
                <a:lnTo>
                  <a:pt x="151050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3009959" y="1536653"/>
            <a:ext cx="6846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normativa de atuação da Antaq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24244" y="2687504"/>
            <a:ext cx="2986682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Dispõe sobre a reestruturação dos transportes aquaviário e cria a Antaq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09959" y="5034331"/>
            <a:ext cx="2986682" cy="85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Conhecida como Lei dos Portos, confere à Antaq a condução dos procedimentos licitatórios de áreas e instalações localizadas dentro dos portos organizados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09959" y="6786258"/>
            <a:ext cx="2986682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Regulamenta a Lei dos Portos e detalha como a Antaq deve regular, supervisionar e fiscalizar a exploração portuária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817797" y="2687504"/>
            <a:ext cx="2986682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Dispõe sobre a ordenação do transporte aquaviário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7091793" y="5047508"/>
            <a:ext cx="2847251" cy="353276"/>
            <a:chOff x="0" y="0"/>
            <a:chExt cx="536687" cy="665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89228" y="5155065"/>
            <a:ext cx="2785450" cy="353276"/>
            <a:chOff x="0" y="0"/>
            <a:chExt cx="525038" cy="665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5038" cy="66590"/>
            </a:xfrm>
            <a:custGeom>
              <a:avLst/>
              <a:gdLst/>
              <a:ahLst/>
              <a:cxnLst/>
              <a:rect r="r" b="b" t="t" l="l"/>
              <a:pathLst>
                <a:path h="66590" w="525038">
                  <a:moveTo>
                    <a:pt x="19543" y="0"/>
                  </a:moveTo>
                  <a:lnTo>
                    <a:pt x="505495" y="0"/>
                  </a:lnTo>
                  <a:cubicBezTo>
                    <a:pt x="510678" y="0"/>
                    <a:pt x="515649" y="2059"/>
                    <a:pt x="519314" y="5724"/>
                  </a:cubicBezTo>
                  <a:cubicBezTo>
                    <a:pt x="522979" y="9389"/>
                    <a:pt x="525038" y="14360"/>
                    <a:pt x="525038" y="19543"/>
                  </a:cubicBezTo>
                  <a:lnTo>
                    <a:pt x="525038" y="47047"/>
                  </a:lnTo>
                  <a:cubicBezTo>
                    <a:pt x="525038" y="52230"/>
                    <a:pt x="522979" y="57201"/>
                    <a:pt x="519314" y="60866"/>
                  </a:cubicBezTo>
                  <a:cubicBezTo>
                    <a:pt x="515649" y="64531"/>
                    <a:pt x="510678" y="66590"/>
                    <a:pt x="505495" y="66590"/>
                  </a:cubicBezTo>
                  <a:lnTo>
                    <a:pt x="19543" y="66590"/>
                  </a:lnTo>
                  <a:cubicBezTo>
                    <a:pt x="14360" y="66590"/>
                    <a:pt x="9389" y="64531"/>
                    <a:pt x="5724" y="60866"/>
                  </a:cubicBezTo>
                  <a:cubicBezTo>
                    <a:pt x="2059" y="57201"/>
                    <a:pt x="0" y="52230"/>
                    <a:pt x="0" y="47047"/>
                  </a:cubicBezTo>
                  <a:lnTo>
                    <a:pt x="0" y="19543"/>
                  </a:lnTo>
                  <a:cubicBezTo>
                    <a:pt x="0" y="14360"/>
                    <a:pt x="2059" y="9389"/>
                    <a:pt x="5724" y="5724"/>
                  </a:cubicBezTo>
                  <a:cubicBezTo>
                    <a:pt x="9389" y="2059"/>
                    <a:pt x="14360" y="0"/>
                    <a:pt x="19543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25038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Decreto nº 12.555, de 16 de julho de 2025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639145" y="5256178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50" y="0"/>
                </a:lnTo>
                <a:lnTo>
                  <a:pt x="151050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6789228" y="5579244"/>
            <a:ext cx="2986682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Dispõe sobre as regras, os critérios e os procedimentos o Programa de Estímulo ao Transporte por Cabotagem – BR do Mar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120362" y="3526962"/>
            <a:ext cx="2818682" cy="353276"/>
            <a:chOff x="0" y="0"/>
            <a:chExt cx="531302" cy="6659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1302" cy="66590"/>
            </a:xfrm>
            <a:custGeom>
              <a:avLst/>
              <a:gdLst/>
              <a:ahLst/>
              <a:cxnLst/>
              <a:rect r="r" b="b" t="t" l="l"/>
              <a:pathLst>
                <a:path h="66590" w="531302">
                  <a:moveTo>
                    <a:pt x="21458" y="0"/>
                  </a:moveTo>
                  <a:lnTo>
                    <a:pt x="509844" y="0"/>
                  </a:lnTo>
                  <a:cubicBezTo>
                    <a:pt x="515535" y="0"/>
                    <a:pt x="520993" y="2261"/>
                    <a:pt x="525017" y="6285"/>
                  </a:cubicBezTo>
                  <a:cubicBezTo>
                    <a:pt x="529041" y="10309"/>
                    <a:pt x="531302" y="15767"/>
                    <a:pt x="531302" y="21458"/>
                  </a:cubicBezTo>
                  <a:lnTo>
                    <a:pt x="531302" y="45132"/>
                  </a:lnTo>
                  <a:cubicBezTo>
                    <a:pt x="531302" y="56983"/>
                    <a:pt x="521695" y="66590"/>
                    <a:pt x="509844" y="66590"/>
                  </a:cubicBezTo>
                  <a:lnTo>
                    <a:pt x="21458" y="66590"/>
                  </a:lnTo>
                  <a:cubicBezTo>
                    <a:pt x="9607" y="66590"/>
                    <a:pt x="0" y="56983"/>
                    <a:pt x="0" y="45132"/>
                  </a:cubicBezTo>
                  <a:lnTo>
                    <a:pt x="0" y="21458"/>
                  </a:lnTo>
                  <a:cubicBezTo>
                    <a:pt x="0" y="15767"/>
                    <a:pt x="2261" y="10309"/>
                    <a:pt x="6285" y="6285"/>
                  </a:cubicBezTo>
                  <a:cubicBezTo>
                    <a:pt x="10309" y="2261"/>
                    <a:pt x="15767" y="0"/>
                    <a:pt x="21458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531302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03512" y="3524180"/>
            <a:ext cx="2785450" cy="353276"/>
            <a:chOff x="0" y="0"/>
            <a:chExt cx="525038" cy="6659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5038" cy="66590"/>
            </a:xfrm>
            <a:custGeom>
              <a:avLst/>
              <a:gdLst/>
              <a:ahLst/>
              <a:cxnLst/>
              <a:rect r="r" b="b" t="t" l="l"/>
              <a:pathLst>
                <a:path h="66590" w="525038">
                  <a:moveTo>
                    <a:pt x="19543" y="0"/>
                  </a:moveTo>
                  <a:lnTo>
                    <a:pt x="505495" y="0"/>
                  </a:lnTo>
                  <a:cubicBezTo>
                    <a:pt x="510678" y="0"/>
                    <a:pt x="515649" y="2059"/>
                    <a:pt x="519314" y="5724"/>
                  </a:cubicBezTo>
                  <a:cubicBezTo>
                    <a:pt x="522979" y="9389"/>
                    <a:pt x="525038" y="14360"/>
                    <a:pt x="525038" y="19543"/>
                  </a:cubicBezTo>
                  <a:lnTo>
                    <a:pt x="525038" y="47047"/>
                  </a:lnTo>
                  <a:cubicBezTo>
                    <a:pt x="525038" y="52230"/>
                    <a:pt x="522979" y="57201"/>
                    <a:pt x="519314" y="60866"/>
                  </a:cubicBezTo>
                  <a:cubicBezTo>
                    <a:pt x="515649" y="64531"/>
                    <a:pt x="510678" y="66590"/>
                    <a:pt x="505495" y="66590"/>
                  </a:cubicBezTo>
                  <a:lnTo>
                    <a:pt x="19543" y="66590"/>
                  </a:lnTo>
                  <a:cubicBezTo>
                    <a:pt x="14360" y="66590"/>
                    <a:pt x="9389" y="64531"/>
                    <a:pt x="5724" y="60866"/>
                  </a:cubicBezTo>
                  <a:cubicBezTo>
                    <a:pt x="2059" y="57201"/>
                    <a:pt x="0" y="52230"/>
                    <a:pt x="0" y="47047"/>
                  </a:cubicBezTo>
                  <a:lnTo>
                    <a:pt x="0" y="19543"/>
                  </a:lnTo>
                  <a:cubicBezTo>
                    <a:pt x="0" y="14360"/>
                    <a:pt x="2059" y="9389"/>
                    <a:pt x="5724" y="5724"/>
                  </a:cubicBezTo>
                  <a:cubicBezTo>
                    <a:pt x="9389" y="2059"/>
                    <a:pt x="14360" y="0"/>
                    <a:pt x="19543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25038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4" tooltip="https://www.planalto.gov.br/ccivil_03/leis/l8987cons.htm"/>
                </a:rPr>
                <a:t>Lei</a:t>
              </a: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5" tooltip="https://www.planalto.gov.br/ccivil_03/leis/l8987cons.htm"/>
                </a:rPr>
                <a:t> nº 8.987, de 13 de fevereiro de 1995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642306" y="3628076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50" y="0"/>
                </a:lnTo>
                <a:lnTo>
                  <a:pt x="151050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6817797" y="3994539"/>
            <a:ext cx="2986682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Dispõe sobre o regime de concessão e permissão da prestação de serviços públicos previsto no </a:t>
            </a: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  <a:hlinkClick r:id="rId16" tooltip="https://www.planalto.gov.br/ccivil_03/constituicao/constituicao.htm#:~:text=Art.%20175.%20Incumbe,manter%20servi%C3%A7o%20adequado."/>
              </a:rPr>
              <a:t>art. 175 da Constituição Federal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03512" y="7207347"/>
            <a:ext cx="2986682" cy="85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Conhecida como a Lei das Agências Reguladoras, dispõe sobre a gestão, organização, processo decisório e controle social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3312524" y="8254543"/>
            <a:ext cx="2847251" cy="353276"/>
            <a:chOff x="0" y="0"/>
            <a:chExt cx="536687" cy="665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6687" cy="66590"/>
            </a:xfrm>
            <a:custGeom>
              <a:avLst/>
              <a:gdLst/>
              <a:ahLst/>
              <a:cxnLst/>
              <a:rect r="r" b="b" t="t" l="l"/>
              <a:pathLst>
                <a:path h="66590" w="536687">
                  <a:moveTo>
                    <a:pt x="21243" y="0"/>
                  </a:moveTo>
                  <a:lnTo>
                    <a:pt x="515444" y="0"/>
                  </a:lnTo>
                  <a:cubicBezTo>
                    <a:pt x="521078" y="0"/>
                    <a:pt x="526481" y="2238"/>
                    <a:pt x="530465" y="6222"/>
                  </a:cubicBezTo>
                  <a:cubicBezTo>
                    <a:pt x="534449" y="10206"/>
                    <a:pt x="536687" y="15609"/>
                    <a:pt x="536687" y="21243"/>
                  </a:cubicBezTo>
                  <a:lnTo>
                    <a:pt x="536687" y="45347"/>
                  </a:lnTo>
                  <a:cubicBezTo>
                    <a:pt x="536687" y="50981"/>
                    <a:pt x="534449" y="56384"/>
                    <a:pt x="530465" y="60368"/>
                  </a:cubicBezTo>
                  <a:cubicBezTo>
                    <a:pt x="526481" y="64352"/>
                    <a:pt x="521078" y="66590"/>
                    <a:pt x="515444" y="66590"/>
                  </a:cubicBezTo>
                  <a:lnTo>
                    <a:pt x="21243" y="66590"/>
                  </a:lnTo>
                  <a:cubicBezTo>
                    <a:pt x="15609" y="66590"/>
                    <a:pt x="10206" y="64352"/>
                    <a:pt x="6222" y="60368"/>
                  </a:cubicBezTo>
                  <a:cubicBezTo>
                    <a:pt x="2238" y="56384"/>
                    <a:pt x="0" y="50981"/>
                    <a:pt x="0" y="45347"/>
                  </a:cubicBezTo>
                  <a:lnTo>
                    <a:pt x="0" y="21243"/>
                  </a:lnTo>
                  <a:cubicBezTo>
                    <a:pt x="0" y="15609"/>
                    <a:pt x="2238" y="10206"/>
                    <a:pt x="6222" y="6222"/>
                  </a:cubicBezTo>
                  <a:cubicBezTo>
                    <a:pt x="10206" y="2238"/>
                    <a:pt x="15609" y="0"/>
                    <a:pt x="21243" y="0"/>
                  </a:cubicBezTo>
                  <a:close/>
                </a:path>
              </a:pathLst>
            </a:custGeom>
            <a:solidFill>
              <a:srgbClr val="004C98"/>
            </a:solidFill>
            <a:ln cap="sq">
              <a:noFill/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36687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539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009959" y="7836650"/>
            <a:ext cx="2891174" cy="353276"/>
            <a:chOff x="0" y="0"/>
            <a:chExt cx="544966" cy="6659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4966" cy="66590"/>
            </a:xfrm>
            <a:custGeom>
              <a:avLst/>
              <a:gdLst/>
              <a:ahLst/>
              <a:cxnLst/>
              <a:rect r="r" b="b" t="t" l="l"/>
              <a:pathLst>
                <a:path h="66590" w="544966">
                  <a:moveTo>
                    <a:pt x="18828" y="0"/>
                  </a:moveTo>
                  <a:lnTo>
                    <a:pt x="526138" y="0"/>
                  </a:lnTo>
                  <a:cubicBezTo>
                    <a:pt x="536536" y="0"/>
                    <a:pt x="544966" y="8430"/>
                    <a:pt x="544966" y="18828"/>
                  </a:cubicBezTo>
                  <a:lnTo>
                    <a:pt x="544966" y="47762"/>
                  </a:lnTo>
                  <a:cubicBezTo>
                    <a:pt x="544966" y="58161"/>
                    <a:pt x="536536" y="66590"/>
                    <a:pt x="526138" y="66590"/>
                  </a:cubicBezTo>
                  <a:lnTo>
                    <a:pt x="18828" y="66590"/>
                  </a:lnTo>
                  <a:cubicBezTo>
                    <a:pt x="8430" y="66590"/>
                    <a:pt x="0" y="58161"/>
                    <a:pt x="0" y="47762"/>
                  </a:cubicBezTo>
                  <a:lnTo>
                    <a:pt x="0" y="18828"/>
                  </a:lnTo>
                  <a:cubicBezTo>
                    <a:pt x="0" y="8430"/>
                    <a:pt x="8430" y="0"/>
                    <a:pt x="18828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544966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7" tooltip="https://www.planalto.gov.br/ccivil_03/_ato2019-2022/2019/lei/L13874.htm"/>
                </a:rPr>
                <a:t>Lei</a:t>
              </a: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8" tooltip="https://www.planalto.gov.br/ccivil_03/_ato2019-2022/2019/lei/L13874.htm"/>
                </a:rPr>
                <a:t> nº 13.874, de 20 de setembro de 2019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5954451" y="7937764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3024244" y="8304227"/>
            <a:ext cx="2986682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Institui a Declaração de Direitos de Liberdade Econômica, dispondo sobre a atuação do Estado como agente normativo e regulador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35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3009959" y="3518046"/>
            <a:ext cx="2891174" cy="353276"/>
            <a:chOff x="0" y="0"/>
            <a:chExt cx="544966" cy="6659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44966" cy="66590"/>
            </a:xfrm>
            <a:custGeom>
              <a:avLst/>
              <a:gdLst/>
              <a:ahLst/>
              <a:cxnLst/>
              <a:rect r="r" b="b" t="t" l="l"/>
              <a:pathLst>
                <a:path h="66590" w="544966">
                  <a:moveTo>
                    <a:pt x="18828" y="0"/>
                  </a:moveTo>
                  <a:lnTo>
                    <a:pt x="526138" y="0"/>
                  </a:lnTo>
                  <a:cubicBezTo>
                    <a:pt x="536536" y="0"/>
                    <a:pt x="544966" y="8430"/>
                    <a:pt x="544966" y="18828"/>
                  </a:cubicBezTo>
                  <a:lnTo>
                    <a:pt x="544966" y="47762"/>
                  </a:lnTo>
                  <a:cubicBezTo>
                    <a:pt x="544966" y="58161"/>
                    <a:pt x="536536" y="66590"/>
                    <a:pt x="526138" y="66590"/>
                  </a:cubicBezTo>
                  <a:lnTo>
                    <a:pt x="18828" y="66590"/>
                  </a:lnTo>
                  <a:cubicBezTo>
                    <a:pt x="8430" y="66590"/>
                    <a:pt x="0" y="58161"/>
                    <a:pt x="0" y="47762"/>
                  </a:cubicBezTo>
                  <a:lnTo>
                    <a:pt x="0" y="18828"/>
                  </a:lnTo>
                  <a:cubicBezTo>
                    <a:pt x="0" y="8430"/>
                    <a:pt x="8430" y="0"/>
                    <a:pt x="18828" y="0"/>
                  </a:cubicBezTo>
                  <a:close/>
                </a:path>
              </a:pathLst>
            </a:custGeom>
            <a:solidFill>
              <a:srgbClr val="FDFDFC"/>
            </a:solidFill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44966" cy="85640"/>
            </a:xfrm>
            <a:prstGeom prst="rect">
              <a:avLst/>
            </a:prstGeom>
          </p:spPr>
          <p:txBody>
            <a:bodyPr anchor="ctr" rtlCol="false" tIns="55454" lIns="55454" bIns="55454" rIns="55454"/>
            <a:lstStyle/>
            <a:p>
              <a:pPr algn="ctr">
                <a:lnSpc>
                  <a:spcPts val="1399"/>
                </a:lnSpc>
              </a:pPr>
              <a:r>
                <a:rPr lang="en-US" b="true" sz="999">
                  <a:solidFill>
                    <a:srgbClr val="004C98"/>
                  </a:solidFill>
                  <a:latin typeface="Open Sans 1 Bold"/>
                  <a:ea typeface="Open Sans 1 Bold"/>
                  <a:cs typeface="Open Sans 1 Bold"/>
                  <a:sym typeface="Open Sans 1 Bold"/>
                  <a:hlinkClick r:id="rId19" tooltip="https://www.planalto.gov.br/ccivil_03/decreto/2002/d4122.htm"/>
                </a:rPr>
                <a:t>Decreto nº 4.122, de 13 de fevereiro de 2002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5954451" y="3634819"/>
            <a:ext cx="151049" cy="151049"/>
          </a:xfrm>
          <a:custGeom>
            <a:avLst/>
            <a:gdLst/>
            <a:ahLst/>
            <a:cxnLst/>
            <a:rect r="r" b="b" t="t" l="l"/>
            <a:pathLst>
              <a:path h="151049" w="151049">
                <a:moveTo>
                  <a:pt x="0" y="0"/>
                </a:moveTo>
                <a:lnTo>
                  <a:pt x="151049" y="0"/>
                </a:lnTo>
                <a:lnTo>
                  <a:pt x="151049" y="151049"/>
                </a:lnTo>
                <a:lnTo>
                  <a:pt x="0" y="1510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2" id="92"/>
          <p:cNvSpPr txBox="true"/>
          <p:nvPr/>
        </p:nvSpPr>
        <p:spPr>
          <a:xfrm rot="0">
            <a:off x="3024244" y="3880939"/>
            <a:ext cx="2986682" cy="1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100">
                <a:solidFill>
                  <a:srgbClr val="E8E8E8"/>
                </a:solidFill>
                <a:latin typeface="Open Sans 1"/>
                <a:ea typeface="Open Sans 1"/>
                <a:cs typeface="Open Sans 1"/>
                <a:sym typeface="Open Sans 1"/>
              </a:rPr>
              <a:t>Regulamenta a Lei nº 10.233, de 2001.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4" y="593814"/>
            <a:ext cx="18293528" cy="9693186"/>
          </a:xfrm>
          <a:custGeom>
            <a:avLst/>
            <a:gdLst/>
            <a:ahLst/>
            <a:cxnLst/>
            <a:rect r="r" b="b" t="t" l="l"/>
            <a:pathLst>
              <a:path h="9693186" w="18293528">
                <a:moveTo>
                  <a:pt x="0" y="0"/>
                </a:moveTo>
                <a:lnTo>
                  <a:pt x="18293528" y="0"/>
                </a:lnTo>
                <a:lnTo>
                  <a:pt x="18293528" y="9693186"/>
                </a:lnTo>
                <a:lnTo>
                  <a:pt x="0" y="969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-17629" t="0" r="0" b="-479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9707" y="2755970"/>
            <a:ext cx="3072059" cy="2971748"/>
            <a:chOff x="0" y="0"/>
            <a:chExt cx="780003" cy="754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9707" y="6069312"/>
            <a:ext cx="3072059" cy="2971748"/>
            <a:chOff x="0" y="0"/>
            <a:chExt cx="780003" cy="754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76957" y="2755970"/>
            <a:ext cx="3072059" cy="2971748"/>
            <a:chOff x="0" y="0"/>
            <a:chExt cx="780003" cy="754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76957" y="6069312"/>
            <a:ext cx="3072059" cy="2971748"/>
            <a:chOff x="0" y="0"/>
            <a:chExt cx="780003" cy="7545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06716" y="2755970"/>
            <a:ext cx="3072059" cy="2971748"/>
            <a:chOff x="0" y="0"/>
            <a:chExt cx="780003" cy="7545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06716" y="6069312"/>
            <a:ext cx="3072059" cy="2971748"/>
            <a:chOff x="0" y="0"/>
            <a:chExt cx="780003" cy="754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36475" y="2755970"/>
            <a:ext cx="3072059" cy="2971748"/>
            <a:chOff x="0" y="0"/>
            <a:chExt cx="780003" cy="7545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036475" y="6069312"/>
            <a:ext cx="3072059" cy="2971748"/>
            <a:chOff x="0" y="0"/>
            <a:chExt cx="780003" cy="7545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66234" y="2755970"/>
            <a:ext cx="3072059" cy="2971748"/>
            <a:chOff x="0" y="0"/>
            <a:chExt cx="780003" cy="7545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66234" y="6069312"/>
            <a:ext cx="3072059" cy="2971748"/>
            <a:chOff x="0" y="0"/>
            <a:chExt cx="780003" cy="7545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0003" cy="754534"/>
            </a:xfrm>
            <a:custGeom>
              <a:avLst/>
              <a:gdLst/>
              <a:ahLst/>
              <a:cxnLst/>
              <a:rect r="r" b="b" t="t" l="l"/>
              <a:pathLst>
                <a:path h="754534" w="780003">
                  <a:moveTo>
                    <a:pt x="45362" y="0"/>
                  </a:moveTo>
                  <a:lnTo>
                    <a:pt x="734641" y="0"/>
                  </a:lnTo>
                  <a:cubicBezTo>
                    <a:pt x="746672" y="0"/>
                    <a:pt x="758210" y="4779"/>
                    <a:pt x="766717" y="13286"/>
                  </a:cubicBezTo>
                  <a:cubicBezTo>
                    <a:pt x="775224" y="21793"/>
                    <a:pt x="780003" y="33331"/>
                    <a:pt x="780003" y="45362"/>
                  </a:cubicBezTo>
                  <a:lnTo>
                    <a:pt x="780003" y="709172"/>
                  </a:lnTo>
                  <a:cubicBezTo>
                    <a:pt x="780003" y="721203"/>
                    <a:pt x="775224" y="732740"/>
                    <a:pt x="766717" y="741248"/>
                  </a:cubicBezTo>
                  <a:cubicBezTo>
                    <a:pt x="758210" y="749755"/>
                    <a:pt x="746672" y="754534"/>
                    <a:pt x="734641" y="754534"/>
                  </a:cubicBezTo>
                  <a:lnTo>
                    <a:pt x="45362" y="754534"/>
                  </a:lnTo>
                  <a:cubicBezTo>
                    <a:pt x="33331" y="754534"/>
                    <a:pt x="21793" y="749755"/>
                    <a:pt x="13286" y="741248"/>
                  </a:cubicBezTo>
                  <a:cubicBezTo>
                    <a:pt x="4779" y="732740"/>
                    <a:pt x="0" y="721203"/>
                    <a:pt x="0" y="709172"/>
                  </a:cubicBezTo>
                  <a:lnTo>
                    <a:pt x="0" y="45362"/>
                  </a:lnTo>
                  <a:cubicBezTo>
                    <a:pt x="0" y="33331"/>
                    <a:pt x="4779" y="21793"/>
                    <a:pt x="13286" y="13286"/>
                  </a:cubicBezTo>
                  <a:cubicBezTo>
                    <a:pt x="21793" y="4779"/>
                    <a:pt x="33331" y="0"/>
                    <a:pt x="4536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780003" cy="78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9707" y="1188790"/>
            <a:ext cx="595151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Polít</a:t>
            </a:r>
            <a:r>
              <a:rPr lang="en-US" b="true" sz="2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icas e programas de governo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5715" y="2935510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3" tooltip="https://www.in.gov.br/materia/-/asset_publisher/Kujrw0TZC2Mb/content/id/8416257/do1-2018-03-29-portaria-n-235-de-28-de-marco-de-2018-8416253"/>
              </a:rPr>
              <a:t>POLÍ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4" tooltip="https://www.in.gov.br/materia/-/asset_publisher/Kujrw0TZC2Mb/content/id/8416257/do1-2018-03-29-portaria-n-235-de-28-de-marco-de-2018-8416253"/>
              </a:rPr>
              <a:t>TICA NACIONAL DE TRANSPORTES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3637677"/>
            <a:ext cx="2527057" cy="151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Estabel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ece princípios, objetivos e diretrizes para orientar o planejamento, a gestão e a execução das ações do setor de transportes, abrangendo todos os modais. Seu foco é promover um sistema de transportes eficiente, seguro, integrado e sustentável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42965" y="2935510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5" tooltip="https://www.gov.br/transportes/pt-br/assuntos/noticias/2021/10/imagens/resumoExecutivo_PNL2035_ed_105112021.pdf"/>
              </a:rPr>
              <a:t>PL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6" tooltip="https://www.gov.br/transportes/pt-br/assuntos/noticias/2021/10/imagens/resumoExecutivo_PNL2035_ed_105112021.pdf"/>
              </a:rPr>
              <a:t>ANO NACIONAL DE LOGÍSTICA (PNL)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55950" y="3637677"/>
            <a:ext cx="2527057" cy="132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Um dos principais instrum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entos que o Poder Público dispõe para planejar, no longo prazo, a infraestrutura de transportes, estabelecendo a visão de futuro, as necessidades e oportunidades de infraestrutura de transporte para o Brasil até 2035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68141" y="2935510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7" tooltip="https://www.planalto.gov.br/ccivil_03/_ato2023-2026/2024/decreto/d12022.htm"/>
              </a:rPr>
              <a:t>PL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8" tooltip="https://www.planalto.gov.br/ccivil_03/_ato2023-2026/2024/decreto/d12022.htm"/>
              </a:rPr>
              <a:t>ANEJAMENTO INTEGRADO DE TRANSPORTES (PIT)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81125" y="3637677"/>
            <a:ext cx="2527057" cy="170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Contempla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um conjunto de instrumentos — Plano Nacional de Logística, Planos Setoriais dos subsistemas (rodoviário, ferroviário, hidroviário, portuário e aeroviário), Plano Geral de Parcerias e Plano Geral de Ações Públicas — que definem diretrizes, metas e ações para orientar investimentos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97900" y="2935510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9" tooltip="https://www.gov.br/casacivil/pt-br/ocultadas/orgaos/seppi/sobre-o-programa"/>
              </a:rPr>
              <a:t>PR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0" tooltip="https://www.gov.br/casacivil/pt-br/ocultadas/orgaos/seppi/sobre-o-programa"/>
              </a:rPr>
              <a:t>OGRAMA DE PARCERIAS E INVESTIMENTOS (PPI)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10884" y="3637677"/>
            <a:ext cx="2527057" cy="151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Define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os projetos prioritários para o País e prioriza arrendamentos e desestatizações portuárias, dos quais a Antaq é responsável pelos procedimentos de leilão, bem como pela estruturação de parcerias com a iniciativa privada para a concessão de infraestrutura hidroviária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32243" y="2935510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1" tooltip="https://www.planalto.gov.br/ccivil_03/_ato2023-2026/2024/lei/L14802.htm"/>
              </a:rPr>
              <a:t>PLAN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2" tooltip="https://www.planalto.gov.br/ccivil_03/_ato2023-2026/2024/lei/L14802.htm"/>
              </a:rPr>
              <a:t>O PLURIANUAL (PPA) 2024-2027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45227" y="3637677"/>
            <a:ext cx="2527057" cy="132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 Antaq integra o programa finalístico “3105- Portos e Transportes Aquaviários”, cujo objetivo geral é “promover o desenvolvimento, a eficiência, a qualidade, a competitividade e a segurança dos portos e do transporte aquaviário”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5715" y="6251593"/>
            <a:ext cx="2540042" cy="68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3" tooltip="https://www.planalto.gov.br/ccivil_03/_ato2019-2022/2022/Lei/L14301.htm"/>
              </a:rPr>
              <a:t> PROGR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4" tooltip="https://www.planalto.gov.br/ccivil_03/_ato2019-2022/2022/Lei/L14301.htm"/>
              </a:rPr>
              <a:t>AMA DE ESTÍMULO AO TRANSPORTE POR CABOTAGEM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7182757"/>
            <a:ext cx="2527057" cy="132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Conhecido como BR do Mar, intenciona ampliar e modernizar o uso da cabotagem (transporte de cargas por via marítima entre portos brasileiros), aumentando a oferta e melhorando a qualidade desse transporte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442965" y="6251593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5" tooltip="http://www.planalto.gov.br/ccivil_03/leis/l9433.htm"/>
              </a:rPr>
              <a:t>POLÍ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6" tooltip="http://www.planalto.gov.br/ccivil_03/leis/l9433.htm"/>
              </a:rPr>
              <a:t>TICA NACIONAL DE RECURSOS HÍDRICOS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55950" y="6953760"/>
            <a:ext cx="2527057" cy="113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Institui o Sistema Nacional de Gerenciamento de Recursos Hídricos e de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te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rmina a utilização racional e múltipla dos recursos hídricos, incluindo o transporte aquaviário, com vistas ao desenvolvimento sustentável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868141" y="6251593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7" tooltip="http://www.planalto.gov.br/ccivil_03/_Ato2004-2006/2005/Decreto/D5377.htm"/>
              </a:rPr>
              <a:t>POLÍ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8" tooltip="http://www.planalto.gov.br/ccivil_03/_Ato2004-2006/2005/Decreto/D5377.htm"/>
              </a:rPr>
              <a:t>TICA NACIONAL PARA OS RECURSOS DO MAR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881125" y="6953760"/>
            <a:ext cx="2527057" cy="170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romove a integração do mar territorial e plataforma continental ao espaço brasileiro e a exploração racional dos oceanos. Também cria a Comissão Interministerial para os Recursos do Mar, que articula ações federais na Zona Costeira, e que promulgou a Agenda Ambiental Portuária em 1998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02484" y="6251593"/>
            <a:ext cx="2540042" cy="4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19" tooltip="http://www.planalto.gov.br/ccivil_03/_ato2007-2010/2010/lei/l12305.htm"/>
              </a:rPr>
              <a:t>POLÍ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20" tooltip="http://www.planalto.gov.br/ccivil_03/_ato2007-2010/2010/lei/l12305.htm"/>
              </a:rPr>
              <a:t>TICA NACIONAL DE RESÍDUOS SÓLIDOS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15468" y="6953760"/>
            <a:ext cx="2527057" cy="113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Determina 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as diretrizes relativas à gestão integrada e ao gerenciamento de resíduos sólidos, às responsabilidades dos geradores e do poder público e aos instrumentos econômicos aplicáveis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727659" y="6251593"/>
            <a:ext cx="2540042" cy="68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21" tooltip="http://www.planalto.gov.br/ccivil_03/_ato2011-2014/2013/Lei/L12815.htm"/>
              </a:rPr>
              <a:t>PROGRAM</a:t>
            </a:r>
            <a:r>
              <a:rPr lang="en-US" b="true" sz="1399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22" tooltip="http://www.planalto.gov.br/ccivil_03/_ato2011-2014/2013/Lei/L12815.htm"/>
              </a:rPr>
              <a:t>A NACIONAL DE DRAGAGEM PORTUÁRIA E HIDROVIÁRIA II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740643" y="7182757"/>
            <a:ext cx="2527057" cy="151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No âmbito do Programa, a Antaq é a </a:t>
            </a:r>
            <a:r>
              <a:rPr lang="en-US" sz="1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autoridade reguladora e fiscalizadora técnica dos serviços de dragagem e de sua eficiência operacional e de gestão, assegurando a navegabilidade, a profundidade adequada dos canais e o cumprimento de segurança e a continuidade dos serviços 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49707" y="2108270"/>
            <a:ext cx="1184433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Como executora de planos, políticas e programas federais, especialmente oriundos do MPOR, a auxilia na implementação das seguintes políticas públicas: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9778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71769" y="2489"/>
            <a:ext cx="1828628" cy="1715858"/>
            <a:chOff x="0" y="0"/>
            <a:chExt cx="599342" cy="562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61091" y="5140197"/>
            <a:ext cx="1828628" cy="1715858"/>
            <a:chOff x="0" y="0"/>
            <a:chExt cx="599342" cy="562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0397" y="1717021"/>
            <a:ext cx="1828628" cy="1715858"/>
            <a:chOff x="0" y="0"/>
            <a:chExt cx="599342" cy="5623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7653" y="0"/>
            <a:ext cx="1828628" cy="1715858"/>
            <a:chOff x="0" y="0"/>
            <a:chExt cx="599342" cy="5623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372" y="2489"/>
            <a:ext cx="1828628" cy="1714533"/>
            <a:chOff x="0" y="0"/>
            <a:chExt cx="695396" cy="6520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5396" cy="652007"/>
            </a:xfrm>
            <a:custGeom>
              <a:avLst/>
              <a:gdLst/>
              <a:ahLst/>
              <a:cxnLst/>
              <a:rect r="r" b="b" t="t" l="l"/>
              <a:pathLst>
                <a:path h="652007" w="695396">
                  <a:moveTo>
                    <a:pt x="0" y="652007"/>
                  </a:moveTo>
                  <a:cubicBezTo>
                    <a:pt x="0" y="480294"/>
                    <a:pt x="74177" y="312388"/>
                    <a:pt x="203677" y="190968"/>
                  </a:cubicBezTo>
                  <a:cubicBezTo>
                    <a:pt x="333177" y="69548"/>
                    <a:pt x="512255" y="0"/>
                    <a:pt x="695396" y="0"/>
                  </a:cubicBezTo>
                  <a:lnTo>
                    <a:pt x="695396" y="602525"/>
                  </a:lnTo>
                  <a:cubicBezTo>
                    <a:pt x="695396" y="615649"/>
                    <a:pt x="690182" y="628235"/>
                    <a:pt x="680903" y="637514"/>
                  </a:cubicBezTo>
                  <a:cubicBezTo>
                    <a:pt x="671623" y="646794"/>
                    <a:pt x="659037" y="652007"/>
                    <a:pt x="645914" y="652007"/>
                  </a:cubicBezTo>
                  <a:lnTo>
                    <a:pt x="0" y="652007"/>
                  </a:ln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5458" y="164063"/>
              <a:ext cx="489938" cy="487944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29025" y="0"/>
            <a:ext cx="1828628" cy="1715858"/>
            <a:chOff x="0" y="0"/>
            <a:chExt cx="599342" cy="5623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0397" y="0"/>
            <a:ext cx="1828628" cy="1715858"/>
            <a:chOff x="0" y="0"/>
            <a:chExt cx="599342" cy="5623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7653" y="8571142"/>
            <a:ext cx="1828628" cy="1715858"/>
            <a:chOff x="0" y="0"/>
            <a:chExt cx="599342" cy="5623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61091" y="6861667"/>
            <a:ext cx="1828628" cy="1715858"/>
            <a:chOff x="0" y="0"/>
            <a:chExt cx="599342" cy="5623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372" y="1715858"/>
            <a:ext cx="1828628" cy="1715858"/>
            <a:chOff x="0" y="0"/>
            <a:chExt cx="599342" cy="5623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30744" y="1714533"/>
            <a:ext cx="1828628" cy="1715858"/>
            <a:chOff x="0" y="0"/>
            <a:chExt cx="599342" cy="5623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585CA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true" rot="0">
            <a:off x="10971769" y="2489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1714532"/>
                </a:moveTo>
                <a:lnTo>
                  <a:pt x="1714533" y="1714532"/>
                </a:lnTo>
                <a:lnTo>
                  <a:pt x="1714533" y="0"/>
                </a:lnTo>
                <a:lnTo>
                  <a:pt x="0" y="0"/>
                </a:lnTo>
                <a:lnTo>
                  <a:pt x="0" y="17145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629025" y="1714533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3" y="0"/>
                </a:lnTo>
                <a:lnTo>
                  <a:pt x="1714533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630744" y="3422012"/>
            <a:ext cx="1828628" cy="1715858"/>
            <a:chOff x="0" y="0"/>
            <a:chExt cx="599342" cy="562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true" flipV="true" rot="0">
            <a:off x="14746558" y="3423337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1714533" y="1714533"/>
                </a:moveTo>
                <a:lnTo>
                  <a:pt x="0" y="1714533"/>
                </a:lnTo>
                <a:lnTo>
                  <a:pt x="0" y="0"/>
                </a:lnTo>
                <a:lnTo>
                  <a:pt x="1714533" y="0"/>
                </a:lnTo>
                <a:lnTo>
                  <a:pt x="1714533" y="17145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461091" y="6856055"/>
            <a:ext cx="1714533" cy="1714533"/>
          </a:xfrm>
          <a:custGeom>
            <a:avLst/>
            <a:gdLst/>
            <a:ahLst/>
            <a:cxnLst/>
            <a:rect r="r" b="b" t="t" l="l"/>
            <a:pathLst>
              <a:path h="1714533" w="1714533">
                <a:moveTo>
                  <a:pt x="0" y="0"/>
                </a:moveTo>
                <a:lnTo>
                  <a:pt x="1714532" y="0"/>
                </a:lnTo>
                <a:lnTo>
                  <a:pt x="1714532" y="1714533"/>
                </a:lnTo>
                <a:lnTo>
                  <a:pt x="0" y="171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10800000">
            <a:off x="14748080" y="6861667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0" y="0"/>
                </a:moveTo>
                <a:lnTo>
                  <a:pt x="1713011" y="0"/>
                </a:lnTo>
                <a:lnTo>
                  <a:pt x="1713011" y="1713011"/>
                </a:lnTo>
                <a:lnTo>
                  <a:pt x="0" y="1713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false" rot="-10800000">
            <a:off x="14743120" y="5148656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true" flipV="false" rot="-10800000">
            <a:off x="12917733" y="3422012"/>
            <a:ext cx="1713011" cy="1713011"/>
          </a:xfrm>
          <a:custGeom>
            <a:avLst/>
            <a:gdLst/>
            <a:ahLst/>
            <a:cxnLst/>
            <a:rect r="r" b="b" t="t" l="l"/>
            <a:pathLst>
              <a:path h="1713011" w="1713011">
                <a:moveTo>
                  <a:pt x="1713011" y="0"/>
                </a:moveTo>
                <a:lnTo>
                  <a:pt x="0" y="0"/>
                </a:lnTo>
                <a:lnTo>
                  <a:pt x="0" y="1713011"/>
                </a:lnTo>
                <a:lnTo>
                  <a:pt x="1713011" y="1713011"/>
                </a:lnTo>
                <a:lnTo>
                  <a:pt x="17130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77254" y="2191385"/>
            <a:ext cx="5266397" cy="405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004C98"/>
                </a:solidFill>
                <a:latin typeface="Poppins Bold"/>
                <a:ea typeface="Poppins Bold"/>
                <a:cs typeface="Poppins Bold"/>
                <a:sym typeface="Poppins Bold"/>
              </a:rPr>
              <a:t>Divisão de Competências</a:t>
            </a:r>
          </a:p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004C98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Organizacionais na Antaq</a:t>
            </a:r>
          </a:p>
          <a:p>
            <a:pPr algn="l">
              <a:lnSpc>
                <a:spcPts val="6439"/>
              </a:lnSpc>
            </a:pPr>
          </a:p>
        </p:txBody>
      </p:sp>
      <p:grpSp>
        <p:nvGrpSpPr>
          <p:cNvPr name="Group 47" id="47"/>
          <p:cNvGrpSpPr/>
          <p:nvPr/>
        </p:nvGrpSpPr>
        <p:grpSpPr>
          <a:xfrm rot="0">
            <a:off x="16457448" y="3422012"/>
            <a:ext cx="1828628" cy="1715858"/>
            <a:chOff x="0" y="0"/>
            <a:chExt cx="599342" cy="5623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9342" cy="562381"/>
            </a:xfrm>
            <a:custGeom>
              <a:avLst/>
              <a:gdLst/>
              <a:ahLst/>
              <a:cxnLst/>
              <a:rect r="r" b="b" t="t" l="l"/>
              <a:pathLst>
                <a:path h="562381" w="599342">
                  <a:moveTo>
                    <a:pt x="71973" y="0"/>
                  </a:moveTo>
                  <a:lnTo>
                    <a:pt x="527368" y="0"/>
                  </a:lnTo>
                  <a:cubicBezTo>
                    <a:pt x="546457" y="0"/>
                    <a:pt x="564764" y="7583"/>
                    <a:pt x="578261" y="21081"/>
                  </a:cubicBezTo>
                  <a:cubicBezTo>
                    <a:pt x="591759" y="34578"/>
                    <a:pt x="599342" y="52885"/>
                    <a:pt x="599342" y="71973"/>
                  </a:cubicBezTo>
                  <a:lnTo>
                    <a:pt x="599342" y="490407"/>
                  </a:lnTo>
                  <a:cubicBezTo>
                    <a:pt x="599342" y="530157"/>
                    <a:pt x="567118" y="562381"/>
                    <a:pt x="527368" y="562381"/>
                  </a:cubicBezTo>
                  <a:lnTo>
                    <a:pt x="71973" y="562381"/>
                  </a:lnTo>
                  <a:cubicBezTo>
                    <a:pt x="52885" y="562381"/>
                    <a:pt x="34578" y="554798"/>
                    <a:pt x="21081" y="541300"/>
                  </a:cubicBezTo>
                  <a:cubicBezTo>
                    <a:pt x="7583" y="527803"/>
                    <a:pt x="0" y="509496"/>
                    <a:pt x="0" y="490407"/>
                  </a:cubicBezTo>
                  <a:lnTo>
                    <a:pt x="0" y="71973"/>
                  </a:lnTo>
                  <a:cubicBezTo>
                    <a:pt x="0" y="52885"/>
                    <a:pt x="7583" y="34578"/>
                    <a:pt x="21081" y="21081"/>
                  </a:cubicBezTo>
                  <a:cubicBezTo>
                    <a:pt x="34578" y="7583"/>
                    <a:pt x="52885" y="0"/>
                    <a:pt x="71973" y="0"/>
                  </a:cubicBezTo>
                  <a:close/>
                </a:path>
              </a:pathLst>
            </a:custGeom>
            <a:solidFill>
              <a:srgbClr val="71B9E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99342" cy="590956"/>
            </a:xfrm>
            <a:prstGeom prst="rect">
              <a:avLst/>
            </a:prstGeom>
          </p:spPr>
          <p:txBody>
            <a:bodyPr anchor="ctr" rtlCol="false" tIns="40821" lIns="40821" bIns="40821" rIns="40821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12425" y="5583073"/>
            <a:ext cx="523122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Análise das diretrizes do Regimento Interno (Resolução nº 116/2024) e do processo de regulamentação de subunidades (Processo SEI nº 50300.013050/2024-26).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33" y="0"/>
            <a:ext cx="18431721" cy="593814"/>
            <a:chOff x="0" y="0"/>
            <a:chExt cx="390089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0893" cy="125675"/>
            </a:xfrm>
            <a:custGeom>
              <a:avLst/>
              <a:gdLst/>
              <a:ahLst/>
              <a:cxnLst/>
              <a:rect r="r" b="b" t="t" l="l"/>
              <a:pathLst>
                <a:path h="125675" w="3900893">
                  <a:moveTo>
                    <a:pt x="0" y="0"/>
                  </a:moveTo>
                  <a:lnTo>
                    <a:pt x="3900893" y="0"/>
                  </a:lnTo>
                  <a:lnTo>
                    <a:pt x="390089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90089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9614" y="118200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2" y="0"/>
                </a:lnTo>
                <a:lnTo>
                  <a:pt x="1238172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1930" y="2277426"/>
            <a:ext cx="7806525" cy="584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giment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I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rno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(RI 116/2024)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 Regimento Interno é a espinha dorsal jurídica que estipula as competências legais gerais e a estrutura macro da agência.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Foco de Atuação: Abrange a governança corporativa até o 3º nível hierárquico, estabelecendo as responsabilidades diretas da Diretoria Colegiada, das Unidades de Integridade e das Unidades de Apoio ao Processo Decisório.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7416" y="2837997"/>
            <a:ext cx="7315200" cy="64008"/>
          </a:xfrm>
          <a:custGeom>
            <a:avLst/>
            <a:gdLst/>
            <a:ahLst/>
            <a:cxnLst/>
            <a:rect r="r" b="b" t="t" l="l"/>
            <a:pathLst>
              <a:path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38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04" y="625562"/>
            <a:ext cx="17788088" cy="102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Regimento Interno vs. Atos Próprios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2775" y="2277426"/>
            <a:ext cx="7806525" cy="710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Atos de Co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mpetência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róprios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(Portarias)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Conforme delegação prevista no próprio Regimento Interno, as atribuições detalhadas e operacionais do 4º nível hierárquico e abaixo (subunidades) são definidas por Portarias específicas.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Foco de Atuação: Regula as rotinas internas de seções, divisões e coordenadorias (como SAVC, STAI, DICON, entre outras), garantindo flexibilidade administrativa e atualização contínua conforme novas dinâmicas setoriais.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233824" y="2805993"/>
            <a:ext cx="7315200" cy="64008"/>
          </a:xfrm>
          <a:custGeom>
            <a:avLst/>
            <a:gdLst/>
            <a:ahLst/>
            <a:cxnLst/>
            <a:rect r="r" b="b" t="t" l="l"/>
            <a:pathLst>
              <a:path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63367" y="983316"/>
            <a:ext cx="6819703" cy="1381296"/>
            <a:chOff x="0" y="0"/>
            <a:chExt cx="1796136" cy="363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6136" cy="363798"/>
            </a:xfrm>
            <a:custGeom>
              <a:avLst/>
              <a:gdLst/>
              <a:ahLst/>
              <a:cxnLst/>
              <a:rect r="r" b="b" t="t" l="l"/>
              <a:pathLst>
                <a:path h="363798" w="1796136">
                  <a:moveTo>
                    <a:pt x="20434" y="0"/>
                  </a:moveTo>
                  <a:lnTo>
                    <a:pt x="1775702" y="0"/>
                  </a:lnTo>
                  <a:cubicBezTo>
                    <a:pt x="1786987" y="0"/>
                    <a:pt x="1796136" y="9149"/>
                    <a:pt x="1796136" y="20434"/>
                  </a:cubicBezTo>
                  <a:lnTo>
                    <a:pt x="1796136" y="343364"/>
                  </a:lnTo>
                  <a:cubicBezTo>
                    <a:pt x="1796136" y="348784"/>
                    <a:pt x="1793983" y="353981"/>
                    <a:pt x="1790151" y="357813"/>
                  </a:cubicBezTo>
                  <a:cubicBezTo>
                    <a:pt x="1786319" y="361645"/>
                    <a:pt x="1781121" y="363798"/>
                    <a:pt x="1775702" y="363798"/>
                  </a:cubicBezTo>
                  <a:lnTo>
                    <a:pt x="20434" y="363798"/>
                  </a:lnTo>
                  <a:cubicBezTo>
                    <a:pt x="9149" y="363798"/>
                    <a:pt x="0" y="354650"/>
                    <a:pt x="0" y="343364"/>
                  </a:cubicBezTo>
                  <a:lnTo>
                    <a:pt x="0" y="20434"/>
                  </a:lnTo>
                  <a:cubicBezTo>
                    <a:pt x="0" y="9149"/>
                    <a:pt x="9149" y="0"/>
                    <a:pt x="20434" y="0"/>
                  </a:cubicBezTo>
                  <a:close/>
                </a:path>
              </a:pathLst>
            </a:custGeom>
            <a:ln w="9525" cap="sq">
              <a:solidFill>
                <a:srgbClr val="004C9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796136" cy="363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>
            <a:off x="6754393" y="1630162"/>
            <a:ext cx="4954460" cy="112015"/>
          </a:xfrm>
          <a:custGeom>
            <a:avLst/>
            <a:gdLst/>
            <a:ahLst/>
            <a:cxnLst/>
            <a:rect r="r" b="b" t="t" l="l"/>
            <a:pathLst>
              <a:path h="112015" w="4954460">
                <a:moveTo>
                  <a:pt x="0" y="112015"/>
                </a:moveTo>
                <a:lnTo>
                  <a:pt x="0" y="56007"/>
                </a:lnTo>
                <a:cubicBezTo>
                  <a:pt x="0" y="41153"/>
                  <a:pt x="5901" y="26907"/>
                  <a:pt x="16405" y="16404"/>
                </a:cubicBezTo>
                <a:cubicBezTo>
                  <a:pt x="26908" y="5901"/>
                  <a:pt x="41153" y="0"/>
                  <a:pt x="56008" y="0"/>
                </a:cubicBezTo>
                <a:lnTo>
                  <a:pt x="4898453" y="0"/>
                </a:lnTo>
                <a:cubicBezTo>
                  <a:pt x="4929385" y="0"/>
                  <a:pt x="4954461" y="25075"/>
                  <a:pt x="4954461" y="56007"/>
                </a:cubicBezTo>
                <a:lnTo>
                  <a:pt x="4954461" y="112015"/>
                </a:lnTo>
              </a:path>
            </a:pathLst>
          </a:cu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567020" y="1240153"/>
            <a:ext cx="1407871" cy="303488"/>
            <a:chOff x="0" y="0"/>
            <a:chExt cx="463851" cy="99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Diretoria-Geral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02309" y="1742177"/>
            <a:ext cx="1407871" cy="303488"/>
            <a:chOff x="0" y="0"/>
            <a:chExt cx="463851" cy="99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50256" y="1742177"/>
            <a:ext cx="1407871" cy="303488"/>
            <a:chOff x="0" y="0"/>
            <a:chExt cx="463851" cy="99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41119" y="1742177"/>
            <a:ext cx="1407871" cy="303488"/>
            <a:chOff x="0" y="0"/>
            <a:chExt cx="463851" cy="999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31730" y="1742177"/>
            <a:ext cx="1407871" cy="303488"/>
            <a:chOff x="0" y="0"/>
            <a:chExt cx="463851" cy="999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851" cy="99990"/>
            </a:xfrm>
            <a:custGeom>
              <a:avLst/>
              <a:gdLst/>
              <a:ahLst/>
              <a:cxnLst/>
              <a:rect r="r" b="b" t="t" l="l"/>
              <a:pathLst>
                <a:path h="99990" w="463851">
                  <a:moveTo>
                    <a:pt x="49995" y="0"/>
                  </a:moveTo>
                  <a:lnTo>
                    <a:pt x="413856" y="0"/>
                  </a:lnTo>
                  <a:cubicBezTo>
                    <a:pt x="441468" y="0"/>
                    <a:pt x="463851" y="22384"/>
                    <a:pt x="463851" y="49995"/>
                  </a:cubicBezTo>
                  <a:lnTo>
                    <a:pt x="463851" y="49995"/>
                  </a:lnTo>
                  <a:cubicBezTo>
                    <a:pt x="463851" y="77607"/>
                    <a:pt x="441468" y="99990"/>
                    <a:pt x="413856" y="99990"/>
                  </a:cubicBezTo>
                  <a:lnTo>
                    <a:pt x="49995" y="99990"/>
                  </a:lnTo>
                  <a:cubicBezTo>
                    <a:pt x="22384" y="99990"/>
                    <a:pt x="0" y="77607"/>
                    <a:pt x="0" y="49995"/>
                  </a:cubicBezTo>
                  <a:lnTo>
                    <a:pt x="0" y="49995"/>
                  </a:lnTo>
                  <a:cubicBezTo>
                    <a:pt x="0" y="22384"/>
                    <a:pt x="22384" y="0"/>
                    <a:pt x="49995" y="0"/>
                  </a:cubicBezTo>
                  <a:close/>
                </a:path>
              </a:pathLst>
            </a:custGeom>
            <a:solidFill>
              <a:srgbClr val="032B5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3851" cy="9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Diretoria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 flipV="true">
            <a:off x="9270955" y="1543641"/>
            <a:ext cx="0" cy="83526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8454191" y="1627166"/>
            <a:ext cx="0" cy="115011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0045054" y="1627166"/>
            <a:ext cx="0" cy="115011"/>
          </a:xfrm>
          <a:prstGeom prst="line">
            <a:avLst/>
          </a:prstGeom>
          <a:ln cap="flat" w="9525">
            <a:solidFill>
              <a:srgbClr val="032B5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5528" y="2754115"/>
            <a:ext cx="18288000" cy="3222780"/>
            <a:chOff x="0" y="0"/>
            <a:chExt cx="4816593" cy="848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6592" cy="848798"/>
            </a:xfrm>
            <a:custGeom>
              <a:avLst/>
              <a:gdLst/>
              <a:ahLst/>
              <a:cxnLst/>
              <a:rect r="r" b="b" t="t" l="l"/>
              <a:pathLst>
                <a:path h="84879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48798"/>
                  </a:lnTo>
                  <a:lnTo>
                    <a:pt x="0" y="848798"/>
                  </a:lnTo>
                  <a:close/>
                </a:path>
              </a:pathLst>
            </a:custGeom>
            <a:solidFill>
              <a:srgbClr val="DFEFF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816593" cy="848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8068093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5520" y="2858924"/>
            <a:ext cx="1970796" cy="532645"/>
            <a:chOff x="0" y="0"/>
            <a:chExt cx="519057" cy="1402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27000" lIns="127000" bIns="127000" rIns="1270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Comunicação e Cerimonial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5520" y="3436956"/>
            <a:ext cx="1970796" cy="656195"/>
            <a:chOff x="0" y="0"/>
            <a:chExt cx="519057" cy="1728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9057" cy="172825"/>
            </a:xfrm>
            <a:custGeom>
              <a:avLst/>
              <a:gdLst/>
              <a:ahLst/>
              <a:cxnLst/>
              <a:rect r="r" b="b" t="t" l="l"/>
              <a:pathLst>
                <a:path h="17282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29614"/>
                  </a:lnTo>
                  <a:cubicBezTo>
                    <a:pt x="519057" y="153479"/>
                    <a:pt x="499711" y="172825"/>
                    <a:pt x="475846" y="172825"/>
                  </a:cubicBezTo>
                  <a:lnTo>
                    <a:pt x="43212" y="172825"/>
                  </a:lnTo>
                  <a:cubicBezTo>
                    <a:pt x="19346" y="172825"/>
                    <a:pt x="0" y="153479"/>
                    <a:pt x="0" y="12961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19057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Relações Parlamentares e Institucionais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35520" y="4138538"/>
            <a:ext cx="1970796" cy="532645"/>
            <a:chOff x="0" y="0"/>
            <a:chExt cx="519057" cy="1402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Assessoria de Relações Internacionais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35520" y="4716571"/>
            <a:ext cx="1970796" cy="532645"/>
            <a:chOff x="0" y="0"/>
            <a:chExt cx="519057" cy="1402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Secretaria Especial de Licitações e Concessões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35520" y="5294603"/>
            <a:ext cx="1970796" cy="532645"/>
            <a:chOff x="0" y="0"/>
            <a:chExt cx="519057" cy="14028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Comissão de Ética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837246" y="4134862"/>
            <a:ext cx="1970796" cy="532645"/>
            <a:chOff x="0" y="0"/>
            <a:chExt cx="519057" cy="1402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Gabinete do Diretor-Geral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959499" y="4134862"/>
            <a:ext cx="1970796" cy="532645"/>
            <a:chOff x="0" y="0"/>
            <a:chExt cx="519057" cy="14028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Corregedoria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082695" y="4134862"/>
            <a:ext cx="1970796" cy="532645"/>
            <a:chOff x="0" y="0"/>
            <a:chExt cx="519057" cy="1402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Ouvidoria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81180" y="4134862"/>
            <a:ext cx="1970796" cy="532645"/>
            <a:chOff x="0" y="0"/>
            <a:chExt cx="519057" cy="1402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Auditoria Interna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04376" y="4134862"/>
            <a:ext cx="1970796" cy="551420"/>
            <a:chOff x="0" y="0"/>
            <a:chExt cx="519057" cy="1452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9057" cy="145230"/>
            </a:xfrm>
            <a:custGeom>
              <a:avLst/>
              <a:gdLst/>
              <a:ahLst/>
              <a:cxnLst/>
              <a:rect r="r" b="b" t="t" l="l"/>
              <a:pathLst>
                <a:path h="145230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02019"/>
                  </a:lnTo>
                  <a:cubicBezTo>
                    <a:pt x="519057" y="125884"/>
                    <a:pt x="499711" y="145230"/>
                    <a:pt x="475846" y="145230"/>
                  </a:cubicBezTo>
                  <a:lnTo>
                    <a:pt x="43212" y="145230"/>
                  </a:lnTo>
                  <a:cubicBezTo>
                    <a:pt x="19346" y="145230"/>
                    <a:pt x="0" y="125884"/>
                    <a:pt x="0" y="102019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19057" cy="145230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Procuradoria Federal </a:t>
              </a:r>
            </a:p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junto à Antaq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27572" y="4134862"/>
            <a:ext cx="1970796" cy="532645"/>
            <a:chOff x="0" y="0"/>
            <a:chExt cx="519057" cy="1402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72BAE3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Secretaria-Geral</a:t>
              </a:r>
            </a:p>
          </p:txBody>
        </p:sp>
      </p:grpSp>
      <p:sp>
        <p:nvSpPr>
          <p:cNvPr name="Freeform 61" id="61"/>
          <p:cNvSpPr/>
          <p:nvPr/>
        </p:nvSpPr>
        <p:spPr>
          <a:xfrm>
            <a:off x="3822644" y="3155572"/>
            <a:ext cx="10890326" cy="979290"/>
          </a:xfrm>
          <a:custGeom>
            <a:avLst/>
            <a:gdLst/>
            <a:ahLst/>
            <a:cxnLst/>
            <a:rect r="r" b="b" t="t" l="l"/>
            <a:pathLst>
              <a:path h="979290" w="10890326">
                <a:moveTo>
                  <a:pt x="0" y="979290"/>
                </a:moveTo>
                <a:lnTo>
                  <a:pt x="0" y="171450"/>
                </a:lnTo>
                <a:cubicBezTo>
                  <a:pt x="0" y="125979"/>
                  <a:pt x="18063" y="82370"/>
                  <a:pt x="50217" y="50217"/>
                </a:cubicBezTo>
                <a:cubicBezTo>
                  <a:pt x="82370" y="18064"/>
                  <a:pt x="125979" y="0"/>
                  <a:pt x="171450" y="0"/>
                </a:cubicBezTo>
                <a:lnTo>
                  <a:pt x="10718876" y="0"/>
                </a:lnTo>
                <a:cubicBezTo>
                  <a:pt x="10813565" y="0"/>
                  <a:pt x="10890326" y="76761"/>
                  <a:pt x="10890326" y="171450"/>
                </a:cubicBezTo>
                <a:lnTo>
                  <a:pt x="10890326" y="979290"/>
                </a:lnTo>
              </a:path>
            </a:pathLst>
          </a:cu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H="true" flipV="true">
            <a:off x="5944897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10466578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 flipV="true">
            <a:off x="12589774" y="3155877"/>
            <a:ext cx="0" cy="978985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5" id="65"/>
          <p:cNvSpPr/>
          <p:nvPr/>
        </p:nvSpPr>
        <p:spPr>
          <a:xfrm>
            <a:off x="2406316" y="3125246"/>
            <a:ext cx="212657" cy="2435679"/>
          </a:xfrm>
          <a:custGeom>
            <a:avLst/>
            <a:gdLst/>
            <a:ahLst/>
            <a:cxnLst/>
            <a:rect r="r" b="b" t="t" l="l"/>
            <a:pathLst>
              <a:path h="2435679" w="212657">
                <a:moveTo>
                  <a:pt x="0" y="0"/>
                </a:moveTo>
                <a:lnTo>
                  <a:pt x="106329" y="0"/>
                </a:lnTo>
                <a:cubicBezTo>
                  <a:pt x="165052" y="0"/>
                  <a:pt x="212657" y="47605"/>
                  <a:pt x="212657" y="106329"/>
                </a:cubicBezTo>
                <a:lnTo>
                  <a:pt x="212657" y="2329351"/>
                </a:lnTo>
                <a:cubicBezTo>
                  <a:pt x="212657" y="2388075"/>
                  <a:pt x="165052" y="2435680"/>
                  <a:pt x="106329" y="2435680"/>
                </a:cubicBezTo>
                <a:lnTo>
                  <a:pt x="0" y="243568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2406316" y="3765054"/>
            <a:ext cx="21306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2406316" y="4401185"/>
            <a:ext cx="430930" cy="3676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2406316" y="4982893"/>
            <a:ext cx="21306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6093085" y="3869978"/>
            <a:ext cx="1724201" cy="532645"/>
            <a:chOff x="0" y="0"/>
            <a:chExt cx="454111" cy="1402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Tecnologia e Gestão da Informação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093085" y="4478823"/>
            <a:ext cx="1724201" cy="532645"/>
            <a:chOff x="0" y="0"/>
            <a:chExt cx="454111" cy="14028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Governança, Gestão e Planejamento</a:t>
              </a:r>
            </a:p>
          </p:txBody>
        </p:sp>
      </p:grpSp>
      <p:sp>
        <p:nvSpPr>
          <p:cNvPr name="Freeform 75" id="75"/>
          <p:cNvSpPr/>
          <p:nvPr/>
        </p:nvSpPr>
        <p:spPr>
          <a:xfrm>
            <a:off x="15871765" y="4136301"/>
            <a:ext cx="221320" cy="608845"/>
          </a:xfrm>
          <a:custGeom>
            <a:avLst/>
            <a:gdLst/>
            <a:ahLst/>
            <a:cxnLst/>
            <a:rect r="r" b="b" t="t" l="l"/>
            <a:pathLst>
              <a:path h="608845" w="221320">
                <a:moveTo>
                  <a:pt x="221319" y="0"/>
                </a:moveTo>
                <a:lnTo>
                  <a:pt x="110659" y="0"/>
                </a:lnTo>
                <a:cubicBezTo>
                  <a:pt x="49544" y="0"/>
                  <a:pt x="0" y="49544"/>
                  <a:pt x="0" y="110660"/>
                </a:cubicBezTo>
                <a:lnTo>
                  <a:pt x="0" y="498185"/>
                </a:lnTo>
                <a:cubicBezTo>
                  <a:pt x="0" y="559300"/>
                  <a:pt x="49544" y="608845"/>
                  <a:pt x="110659" y="608845"/>
                </a:cubicBezTo>
                <a:lnTo>
                  <a:pt x="221319" y="608845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15698368" y="4401185"/>
            <a:ext cx="173826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 flipV="true">
            <a:off x="9273218" y="2364612"/>
            <a:ext cx="0" cy="4116223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8" id="78"/>
          <p:cNvSpPr/>
          <p:nvPr/>
        </p:nvSpPr>
        <p:spPr>
          <a:xfrm>
            <a:off x="1822474" y="6478856"/>
            <a:ext cx="14911821" cy="293650"/>
          </a:xfrm>
          <a:custGeom>
            <a:avLst/>
            <a:gdLst/>
            <a:ahLst/>
            <a:cxnLst/>
            <a:rect r="r" b="b" t="t" l="l"/>
            <a:pathLst>
              <a:path h="293650" w="14911821">
                <a:moveTo>
                  <a:pt x="0" y="293650"/>
                </a:moveTo>
                <a:lnTo>
                  <a:pt x="0" y="146825"/>
                </a:lnTo>
                <a:cubicBezTo>
                  <a:pt x="0" y="65736"/>
                  <a:pt x="65736" y="0"/>
                  <a:pt x="146825" y="0"/>
                </a:cubicBezTo>
                <a:lnTo>
                  <a:pt x="14764996" y="0"/>
                </a:lnTo>
                <a:cubicBezTo>
                  <a:pt x="14846085" y="0"/>
                  <a:pt x="14911821" y="65736"/>
                  <a:pt x="14911821" y="146825"/>
                </a:cubicBezTo>
                <a:lnTo>
                  <a:pt x="14911821" y="293650"/>
                </a:lnTo>
              </a:path>
            </a:pathLst>
          </a:cu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837076" y="6772506"/>
            <a:ext cx="1970796" cy="532645"/>
            <a:chOff x="0" y="0"/>
            <a:chExt cx="519057" cy="14028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Administração e Finanças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0373" y="7450959"/>
            <a:ext cx="1724201" cy="532645"/>
            <a:chOff x="0" y="0"/>
            <a:chExt cx="454111" cy="14028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Gestão de Pessoas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0373" y="8059804"/>
            <a:ext cx="1724201" cy="532645"/>
            <a:chOff x="0" y="0"/>
            <a:chExt cx="454111" cy="1402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Orçamento e Finanças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0373" y="8668649"/>
            <a:ext cx="1724201" cy="532645"/>
            <a:chOff x="0" y="0"/>
            <a:chExt cx="454111" cy="14028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Licitações e Contratos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0373" y="9277495"/>
            <a:ext cx="1724201" cy="532645"/>
            <a:chOff x="0" y="0"/>
            <a:chExt cx="454111" cy="14028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Recursos Logísticos</a:t>
              </a:r>
            </a:p>
          </p:txBody>
        </p:sp>
      </p:grpSp>
      <p:sp>
        <p:nvSpPr>
          <p:cNvPr name="Freeform 94" id="94"/>
          <p:cNvSpPr/>
          <p:nvPr/>
        </p:nvSpPr>
        <p:spPr>
          <a:xfrm>
            <a:off x="568920" y="7038828"/>
            <a:ext cx="432911" cy="2591419"/>
          </a:xfrm>
          <a:custGeom>
            <a:avLst/>
            <a:gdLst/>
            <a:ahLst/>
            <a:cxnLst/>
            <a:rect r="r" b="b" t="t" l="l"/>
            <a:pathLst>
              <a:path h="2591419" w="432911">
                <a:moveTo>
                  <a:pt x="292773" y="0"/>
                </a:moveTo>
                <a:lnTo>
                  <a:pt x="146386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2419970"/>
                </a:lnTo>
                <a:cubicBezTo>
                  <a:pt x="0" y="2465441"/>
                  <a:pt x="18063" y="2509050"/>
                  <a:pt x="50216" y="2541204"/>
                </a:cubicBezTo>
                <a:cubicBezTo>
                  <a:pt x="82369" y="2573357"/>
                  <a:pt x="125978" y="2591420"/>
                  <a:pt x="171450" y="2591420"/>
                </a:cubicBezTo>
                <a:lnTo>
                  <a:pt x="432911" y="259142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573618" y="7717282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573618" y="8326127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flipV="true">
            <a:off x="573618" y="8934972"/>
            <a:ext cx="390062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6786248" y="6772506"/>
            <a:ext cx="1970796" cy="656195"/>
            <a:chOff x="0" y="0"/>
            <a:chExt cx="519057" cy="17282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19057" cy="172825"/>
            </a:xfrm>
            <a:custGeom>
              <a:avLst/>
              <a:gdLst/>
              <a:ahLst/>
              <a:cxnLst/>
              <a:rect r="r" b="b" t="t" l="l"/>
              <a:pathLst>
                <a:path h="17282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129614"/>
                  </a:lnTo>
                  <a:cubicBezTo>
                    <a:pt x="519057" y="153479"/>
                    <a:pt x="499711" y="172825"/>
                    <a:pt x="475846" y="172825"/>
                  </a:cubicBezTo>
                  <a:lnTo>
                    <a:pt x="43212" y="172825"/>
                  </a:lnTo>
                  <a:cubicBezTo>
                    <a:pt x="19346" y="172825"/>
                    <a:pt x="0" y="153479"/>
                    <a:pt x="0" y="12961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519057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Fiscalização e Coordenação das Unidades Regionais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952121" y="7509308"/>
            <a:ext cx="1804922" cy="656195"/>
            <a:chOff x="0" y="0"/>
            <a:chExt cx="475370" cy="17282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5370" cy="172825"/>
            </a:xfrm>
            <a:custGeom>
              <a:avLst/>
              <a:gdLst/>
              <a:ahLst/>
              <a:cxnLst/>
              <a:rect r="r" b="b" t="t" l="l"/>
              <a:pathLst>
                <a:path h="17282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125642"/>
                  </a:lnTo>
                  <a:cubicBezTo>
                    <a:pt x="475370" y="138156"/>
                    <a:pt x="470399" y="150157"/>
                    <a:pt x="461551" y="159006"/>
                  </a:cubicBezTo>
                  <a:cubicBezTo>
                    <a:pt x="452703" y="167854"/>
                    <a:pt x="440701" y="172825"/>
                    <a:pt x="428188" y="172825"/>
                  </a:cubicBezTo>
                  <a:lnTo>
                    <a:pt x="47183" y="172825"/>
                  </a:lnTo>
                  <a:cubicBezTo>
                    <a:pt x="34669" y="172825"/>
                    <a:pt x="22668" y="167854"/>
                    <a:pt x="13819" y="159006"/>
                  </a:cubicBezTo>
                  <a:cubicBezTo>
                    <a:pt x="4971" y="150157"/>
                    <a:pt x="0" y="138156"/>
                    <a:pt x="0" y="12564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475370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Planejamento e Inteligência da Fiscalização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952121" y="8214175"/>
            <a:ext cx="1804922" cy="532645"/>
            <a:chOff x="0" y="0"/>
            <a:chExt cx="475370" cy="14028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5370" cy="140285"/>
            </a:xfrm>
            <a:custGeom>
              <a:avLst/>
              <a:gdLst/>
              <a:ahLst/>
              <a:cxnLst/>
              <a:rect r="r" b="b" t="t" l="l"/>
              <a:pathLst>
                <a:path h="14028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3102"/>
                  </a:lnTo>
                  <a:cubicBezTo>
                    <a:pt x="475370" y="105616"/>
                    <a:pt x="470399" y="117617"/>
                    <a:pt x="461551" y="126466"/>
                  </a:cubicBezTo>
                  <a:cubicBezTo>
                    <a:pt x="452703" y="135314"/>
                    <a:pt x="440701" y="140285"/>
                    <a:pt x="428188" y="140285"/>
                  </a:cubicBezTo>
                  <a:lnTo>
                    <a:pt x="47183" y="140285"/>
                  </a:lnTo>
                  <a:cubicBezTo>
                    <a:pt x="34669" y="140285"/>
                    <a:pt x="22668" y="135314"/>
                    <a:pt x="13819" y="126466"/>
                  </a:cubicBezTo>
                  <a:cubicBezTo>
                    <a:pt x="4971" y="117617"/>
                    <a:pt x="0" y="105616"/>
                    <a:pt x="0" y="9310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475370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Recursos e de Apoio Técnico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952121" y="8805018"/>
            <a:ext cx="1804922" cy="532645"/>
            <a:chOff x="0" y="0"/>
            <a:chExt cx="475370" cy="14028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5370" cy="140285"/>
            </a:xfrm>
            <a:custGeom>
              <a:avLst/>
              <a:gdLst/>
              <a:ahLst/>
              <a:cxnLst/>
              <a:rect r="r" b="b" t="t" l="l"/>
              <a:pathLst>
                <a:path h="140285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3102"/>
                  </a:lnTo>
                  <a:cubicBezTo>
                    <a:pt x="475370" y="105616"/>
                    <a:pt x="470399" y="117617"/>
                    <a:pt x="461551" y="126466"/>
                  </a:cubicBezTo>
                  <a:cubicBezTo>
                    <a:pt x="452703" y="135314"/>
                    <a:pt x="440701" y="140285"/>
                    <a:pt x="428188" y="140285"/>
                  </a:cubicBezTo>
                  <a:lnTo>
                    <a:pt x="47183" y="140285"/>
                  </a:lnTo>
                  <a:cubicBezTo>
                    <a:pt x="34669" y="140285"/>
                    <a:pt x="22668" y="135314"/>
                    <a:pt x="13819" y="126466"/>
                  </a:cubicBezTo>
                  <a:cubicBezTo>
                    <a:pt x="4971" y="117617"/>
                    <a:pt x="0" y="105616"/>
                    <a:pt x="0" y="93102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75370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Coordenação das Unidades Regionais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952121" y="9394813"/>
            <a:ext cx="1804922" cy="551420"/>
            <a:chOff x="0" y="0"/>
            <a:chExt cx="475370" cy="14523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75370" cy="145230"/>
            </a:xfrm>
            <a:custGeom>
              <a:avLst/>
              <a:gdLst/>
              <a:ahLst/>
              <a:cxnLst/>
              <a:rect r="r" b="b" t="t" l="l"/>
              <a:pathLst>
                <a:path h="145230" w="475370">
                  <a:moveTo>
                    <a:pt x="47183" y="0"/>
                  </a:moveTo>
                  <a:lnTo>
                    <a:pt x="428188" y="0"/>
                  </a:lnTo>
                  <a:cubicBezTo>
                    <a:pt x="440701" y="0"/>
                    <a:pt x="452703" y="4971"/>
                    <a:pt x="461551" y="13819"/>
                  </a:cubicBezTo>
                  <a:cubicBezTo>
                    <a:pt x="470399" y="22668"/>
                    <a:pt x="475370" y="34669"/>
                    <a:pt x="475370" y="47183"/>
                  </a:cubicBezTo>
                  <a:lnTo>
                    <a:pt x="475370" y="98047"/>
                  </a:lnTo>
                  <a:cubicBezTo>
                    <a:pt x="475370" y="110561"/>
                    <a:pt x="470399" y="122562"/>
                    <a:pt x="461551" y="131411"/>
                  </a:cubicBezTo>
                  <a:cubicBezTo>
                    <a:pt x="452703" y="140259"/>
                    <a:pt x="440701" y="145230"/>
                    <a:pt x="428188" y="145230"/>
                  </a:cubicBezTo>
                  <a:lnTo>
                    <a:pt x="47183" y="145230"/>
                  </a:lnTo>
                  <a:cubicBezTo>
                    <a:pt x="34669" y="145230"/>
                    <a:pt x="22668" y="140259"/>
                    <a:pt x="13819" y="131411"/>
                  </a:cubicBezTo>
                  <a:cubicBezTo>
                    <a:pt x="4971" y="122562"/>
                    <a:pt x="0" y="110561"/>
                    <a:pt x="0" y="98047"/>
                  </a:cubicBezTo>
                  <a:lnTo>
                    <a:pt x="0" y="47183"/>
                  </a:lnTo>
                  <a:cubicBezTo>
                    <a:pt x="0" y="34669"/>
                    <a:pt x="4971" y="22668"/>
                    <a:pt x="13819" y="13819"/>
                  </a:cubicBezTo>
                  <a:cubicBezTo>
                    <a:pt x="22668" y="4971"/>
                    <a:pt x="34669" y="0"/>
                    <a:pt x="47183" y="0"/>
                  </a:cubicBezTo>
                  <a:close/>
                </a:path>
              </a:pathLst>
            </a:custGeom>
            <a:solidFill>
              <a:srgbClr val="DEDBDB"/>
            </a:solidFill>
            <a:ln w="19050" cap="sq">
              <a:solidFill>
                <a:srgbClr val="999999"/>
              </a:solidFill>
              <a:prstDash val="sysDot"/>
              <a:miter/>
            </a:ln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75370" cy="145230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6B6767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Gerências e Unidades Regionais</a:t>
              </a:r>
            </a:p>
          </p:txBody>
        </p:sp>
      </p:grpSp>
      <p:sp>
        <p:nvSpPr>
          <p:cNvPr name="Freeform 113" id="113"/>
          <p:cNvSpPr/>
          <p:nvPr/>
        </p:nvSpPr>
        <p:spPr>
          <a:xfrm>
            <a:off x="6519211" y="7038828"/>
            <a:ext cx="432911" cy="2591419"/>
          </a:xfrm>
          <a:custGeom>
            <a:avLst/>
            <a:gdLst/>
            <a:ahLst/>
            <a:cxnLst/>
            <a:rect r="r" b="b" t="t" l="l"/>
            <a:pathLst>
              <a:path h="2591419" w="432911">
                <a:moveTo>
                  <a:pt x="292773" y="0"/>
                </a:moveTo>
                <a:lnTo>
                  <a:pt x="146387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2419970"/>
                </a:lnTo>
                <a:cubicBezTo>
                  <a:pt x="0" y="2465441"/>
                  <a:pt x="18063" y="2509050"/>
                  <a:pt x="50216" y="2541204"/>
                </a:cubicBezTo>
                <a:cubicBezTo>
                  <a:pt x="82369" y="2573357"/>
                  <a:pt x="125978" y="2591420"/>
                  <a:pt x="171450" y="2591420"/>
                </a:cubicBezTo>
                <a:lnTo>
                  <a:pt x="432910" y="2591420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>
            <a:off x="6522684" y="7820559"/>
            <a:ext cx="432959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>
            <a:off x="6523293" y="9047576"/>
            <a:ext cx="441266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>
            <a:off x="6516877" y="8485260"/>
            <a:ext cx="432990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9766694" y="6772506"/>
            <a:ext cx="1970796" cy="532645"/>
            <a:chOff x="0" y="0"/>
            <a:chExt cx="519057" cy="14028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Outorgas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889991" y="7450959"/>
            <a:ext cx="1724201" cy="532645"/>
            <a:chOff x="0" y="0"/>
            <a:chExt cx="454111" cy="14028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Outorgas de Autorização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889991" y="8059804"/>
            <a:ext cx="1724201" cy="532645"/>
            <a:chOff x="0" y="0"/>
            <a:chExt cx="454111" cy="14028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Afretamento da Navegação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889991" y="8668649"/>
            <a:ext cx="1724201" cy="532645"/>
            <a:chOff x="0" y="0"/>
            <a:chExt cx="454111" cy="14028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Portos Organizados</a:t>
              </a:r>
            </a:p>
          </p:txBody>
        </p:sp>
      </p:grpSp>
      <p:sp>
        <p:nvSpPr>
          <p:cNvPr name="Freeform 129" id="129"/>
          <p:cNvSpPr/>
          <p:nvPr/>
        </p:nvSpPr>
        <p:spPr>
          <a:xfrm>
            <a:off x="9495231" y="7038828"/>
            <a:ext cx="394760" cy="1896143"/>
          </a:xfrm>
          <a:custGeom>
            <a:avLst/>
            <a:gdLst/>
            <a:ahLst/>
            <a:cxnLst/>
            <a:rect r="r" b="b" t="t" l="l"/>
            <a:pathLst>
              <a:path h="1896143" w="394760">
                <a:moveTo>
                  <a:pt x="292774" y="0"/>
                </a:moveTo>
                <a:lnTo>
                  <a:pt x="146387" y="0"/>
                </a:lnTo>
                <a:cubicBezTo>
                  <a:pt x="65540" y="0"/>
                  <a:pt x="0" y="65540"/>
                  <a:pt x="0" y="146388"/>
                </a:cubicBezTo>
                <a:lnTo>
                  <a:pt x="0" y="1724694"/>
                </a:lnTo>
                <a:cubicBezTo>
                  <a:pt x="0" y="1770165"/>
                  <a:pt x="18064" y="1813774"/>
                  <a:pt x="50217" y="1845927"/>
                </a:cubicBezTo>
                <a:cubicBezTo>
                  <a:pt x="82370" y="1878080"/>
                  <a:pt x="125979" y="1896144"/>
                  <a:pt x="171450" y="1896144"/>
                </a:cubicBezTo>
                <a:lnTo>
                  <a:pt x="394760" y="1896144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 flipV="true">
            <a:off x="9499929" y="7717282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 flipV="true">
            <a:off x="9499929" y="8326127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2" id="132"/>
          <p:cNvGrpSpPr/>
          <p:nvPr/>
        </p:nvGrpSpPr>
        <p:grpSpPr>
          <a:xfrm rot="0">
            <a:off x="3810227" y="6772506"/>
            <a:ext cx="1970796" cy="532645"/>
            <a:chOff x="0" y="0"/>
            <a:chExt cx="519057" cy="14028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ESG e Inovação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3933524" y="7450959"/>
            <a:ext cx="1724201" cy="656195"/>
            <a:chOff x="0" y="0"/>
            <a:chExt cx="454111" cy="17282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54111" cy="172825"/>
            </a:xfrm>
            <a:custGeom>
              <a:avLst/>
              <a:gdLst/>
              <a:ahLst/>
              <a:cxnLst/>
              <a:rect r="r" b="b" t="t" l="l"/>
              <a:pathLst>
                <a:path h="17282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123434"/>
                  </a:lnTo>
                  <a:cubicBezTo>
                    <a:pt x="454111" y="136533"/>
                    <a:pt x="448907" y="149096"/>
                    <a:pt x="439644" y="158359"/>
                  </a:cubicBezTo>
                  <a:cubicBezTo>
                    <a:pt x="430381" y="167621"/>
                    <a:pt x="417818" y="172825"/>
                    <a:pt x="404719" y="172825"/>
                  </a:cubicBezTo>
                  <a:lnTo>
                    <a:pt x="49392" y="172825"/>
                  </a:lnTo>
                  <a:cubicBezTo>
                    <a:pt x="36292" y="172825"/>
                    <a:pt x="23729" y="167621"/>
                    <a:pt x="14466" y="158359"/>
                  </a:cubicBezTo>
                  <a:cubicBezTo>
                    <a:pt x="5204" y="149096"/>
                    <a:pt x="0" y="136533"/>
                    <a:pt x="0" y="12343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454111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Estatística e Avaliação de Desempenho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3933524" y="8184335"/>
            <a:ext cx="1724201" cy="656195"/>
            <a:chOff x="0" y="0"/>
            <a:chExt cx="454111" cy="172825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54111" cy="172825"/>
            </a:xfrm>
            <a:custGeom>
              <a:avLst/>
              <a:gdLst/>
              <a:ahLst/>
              <a:cxnLst/>
              <a:rect r="r" b="b" t="t" l="l"/>
              <a:pathLst>
                <a:path h="17282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123434"/>
                  </a:lnTo>
                  <a:cubicBezTo>
                    <a:pt x="454111" y="136533"/>
                    <a:pt x="448907" y="149096"/>
                    <a:pt x="439644" y="158359"/>
                  </a:cubicBezTo>
                  <a:cubicBezTo>
                    <a:pt x="430381" y="167621"/>
                    <a:pt x="417818" y="172825"/>
                    <a:pt x="404719" y="172825"/>
                  </a:cubicBezTo>
                  <a:lnTo>
                    <a:pt x="49392" y="172825"/>
                  </a:lnTo>
                  <a:cubicBezTo>
                    <a:pt x="36292" y="172825"/>
                    <a:pt x="23729" y="167621"/>
                    <a:pt x="14466" y="158359"/>
                  </a:cubicBezTo>
                  <a:cubicBezTo>
                    <a:pt x="5204" y="149096"/>
                    <a:pt x="0" y="136533"/>
                    <a:pt x="0" y="12343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0"/>
              <a:ext cx="454111" cy="17282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Meio Ambiente e Sustentabilidade</a:t>
              </a:r>
            </a:p>
          </p:txBody>
        </p:sp>
      </p:grpSp>
      <p:sp>
        <p:nvSpPr>
          <p:cNvPr name="Freeform 141" id="141"/>
          <p:cNvSpPr/>
          <p:nvPr/>
        </p:nvSpPr>
        <p:spPr>
          <a:xfrm>
            <a:off x="3542071" y="7038828"/>
            <a:ext cx="416071" cy="1473604"/>
          </a:xfrm>
          <a:custGeom>
            <a:avLst/>
            <a:gdLst/>
            <a:ahLst/>
            <a:cxnLst/>
            <a:rect r="r" b="b" t="t" l="l"/>
            <a:pathLst>
              <a:path h="1473604" w="416071">
                <a:moveTo>
                  <a:pt x="292773" y="0"/>
                </a:moveTo>
                <a:lnTo>
                  <a:pt x="146386" y="0"/>
                </a:lnTo>
                <a:cubicBezTo>
                  <a:pt x="65539" y="0"/>
                  <a:pt x="0" y="65540"/>
                  <a:pt x="0" y="146388"/>
                </a:cubicBezTo>
                <a:lnTo>
                  <a:pt x="0" y="1302154"/>
                </a:lnTo>
                <a:cubicBezTo>
                  <a:pt x="0" y="1396844"/>
                  <a:pt x="76760" y="1473604"/>
                  <a:pt x="171450" y="1473604"/>
                </a:cubicBezTo>
                <a:lnTo>
                  <a:pt x="416071" y="1473604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2" id="142"/>
          <p:cNvSpPr/>
          <p:nvPr/>
        </p:nvSpPr>
        <p:spPr>
          <a:xfrm flipV="true">
            <a:off x="3546769" y="7774294"/>
            <a:ext cx="411373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3" id="143"/>
          <p:cNvGrpSpPr/>
          <p:nvPr/>
        </p:nvGrpSpPr>
        <p:grpSpPr>
          <a:xfrm rot="0">
            <a:off x="12747140" y="6772506"/>
            <a:ext cx="1970796" cy="532645"/>
            <a:chOff x="0" y="0"/>
            <a:chExt cx="519057" cy="14028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Estudos e Projetos Hidroviários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870437" y="7450959"/>
            <a:ext cx="1724201" cy="532645"/>
            <a:chOff x="0" y="0"/>
            <a:chExt cx="454111" cy="14028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Especial de Estudos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870437" y="8059804"/>
            <a:ext cx="1724201" cy="532645"/>
            <a:chOff x="0" y="0"/>
            <a:chExt cx="454111" cy="14028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Estudos Hidroviários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>
            <a:off x="12475677" y="7000184"/>
            <a:ext cx="394760" cy="1325943"/>
          </a:xfrm>
          <a:custGeom>
            <a:avLst/>
            <a:gdLst/>
            <a:ahLst/>
            <a:cxnLst/>
            <a:rect r="r" b="b" t="t" l="l"/>
            <a:pathLst>
              <a:path h="1325943" w="394760">
                <a:moveTo>
                  <a:pt x="268157" y="0"/>
                </a:moveTo>
                <a:lnTo>
                  <a:pt x="134079" y="0"/>
                </a:lnTo>
                <a:cubicBezTo>
                  <a:pt x="98519" y="0"/>
                  <a:pt x="64416" y="14126"/>
                  <a:pt x="39271" y="39270"/>
                </a:cubicBezTo>
                <a:cubicBezTo>
                  <a:pt x="14127" y="64415"/>
                  <a:pt x="0" y="98518"/>
                  <a:pt x="0" y="134078"/>
                </a:cubicBezTo>
                <a:lnTo>
                  <a:pt x="0" y="1154493"/>
                </a:lnTo>
                <a:cubicBezTo>
                  <a:pt x="0" y="1249182"/>
                  <a:pt x="76761" y="1325943"/>
                  <a:pt x="171450" y="1325943"/>
                </a:cubicBezTo>
                <a:lnTo>
                  <a:pt x="394760" y="1325943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 flipV="true">
            <a:off x="12477525" y="7717282"/>
            <a:ext cx="392912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4" id="154"/>
          <p:cNvGrpSpPr/>
          <p:nvPr/>
        </p:nvGrpSpPr>
        <p:grpSpPr>
          <a:xfrm rot="0">
            <a:off x="15748897" y="6772506"/>
            <a:ext cx="1970796" cy="532645"/>
            <a:chOff x="0" y="0"/>
            <a:chExt cx="519057" cy="140285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19057" cy="140285"/>
            </a:xfrm>
            <a:custGeom>
              <a:avLst/>
              <a:gdLst/>
              <a:ahLst/>
              <a:cxnLst/>
              <a:rect r="r" b="b" t="t" l="l"/>
              <a:pathLst>
                <a:path h="140285" w="519057">
                  <a:moveTo>
                    <a:pt x="43212" y="0"/>
                  </a:moveTo>
                  <a:lnTo>
                    <a:pt x="475846" y="0"/>
                  </a:lnTo>
                  <a:cubicBezTo>
                    <a:pt x="499711" y="0"/>
                    <a:pt x="519057" y="19346"/>
                    <a:pt x="519057" y="43212"/>
                  </a:cubicBezTo>
                  <a:lnTo>
                    <a:pt x="519057" y="97074"/>
                  </a:lnTo>
                  <a:cubicBezTo>
                    <a:pt x="519057" y="120939"/>
                    <a:pt x="499711" y="140285"/>
                    <a:pt x="475846" y="140285"/>
                  </a:cubicBezTo>
                  <a:lnTo>
                    <a:pt x="43212" y="140285"/>
                  </a:lnTo>
                  <a:cubicBezTo>
                    <a:pt x="31751" y="140285"/>
                    <a:pt x="20760" y="135733"/>
                    <a:pt x="12656" y="127629"/>
                  </a:cubicBezTo>
                  <a:cubicBezTo>
                    <a:pt x="4553" y="119525"/>
                    <a:pt x="0" y="108534"/>
                    <a:pt x="0" y="97074"/>
                  </a:cubicBezTo>
                  <a:lnTo>
                    <a:pt x="0" y="43212"/>
                  </a:lnTo>
                  <a:cubicBezTo>
                    <a:pt x="0" y="19346"/>
                    <a:pt x="19346" y="0"/>
                    <a:pt x="43212" y="0"/>
                  </a:cubicBezTo>
                  <a:close/>
                </a:path>
              </a:pathLst>
            </a:custGeom>
            <a:solidFill>
              <a:srgbClr val="004C98"/>
            </a:solid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0"/>
              <a:ext cx="519057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Superintêndencia de Regulação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5872194" y="7450959"/>
            <a:ext cx="1724201" cy="532645"/>
            <a:chOff x="0" y="0"/>
            <a:chExt cx="454111" cy="140285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Regulação Portuária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872194" y="8059804"/>
            <a:ext cx="1724201" cy="532645"/>
            <a:chOff x="0" y="0"/>
            <a:chExt cx="454111" cy="140285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54111" cy="140285"/>
            </a:xfrm>
            <a:custGeom>
              <a:avLst/>
              <a:gdLst/>
              <a:ahLst/>
              <a:cxnLst/>
              <a:rect r="r" b="b" t="t" l="l"/>
              <a:pathLst>
                <a:path h="140285" w="454111">
                  <a:moveTo>
                    <a:pt x="49392" y="0"/>
                  </a:moveTo>
                  <a:lnTo>
                    <a:pt x="404719" y="0"/>
                  </a:lnTo>
                  <a:cubicBezTo>
                    <a:pt x="417818" y="0"/>
                    <a:pt x="430381" y="5204"/>
                    <a:pt x="439644" y="14466"/>
                  </a:cubicBezTo>
                  <a:cubicBezTo>
                    <a:pt x="448907" y="23729"/>
                    <a:pt x="454111" y="36292"/>
                    <a:pt x="454111" y="49392"/>
                  </a:cubicBezTo>
                  <a:lnTo>
                    <a:pt x="454111" y="90894"/>
                  </a:lnTo>
                  <a:cubicBezTo>
                    <a:pt x="454111" y="103993"/>
                    <a:pt x="448907" y="116556"/>
                    <a:pt x="439644" y="125819"/>
                  </a:cubicBezTo>
                  <a:cubicBezTo>
                    <a:pt x="430381" y="135081"/>
                    <a:pt x="417818" y="140285"/>
                    <a:pt x="404719" y="140285"/>
                  </a:cubicBezTo>
                  <a:lnTo>
                    <a:pt x="49392" y="140285"/>
                  </a:lnTo>
                  <a:cubicBezTo>
                    <a:pt x="36292" y="140285"/>
                    <a:pt x="23729" y="135081"/>
                    <a:pt x="14466" y="125819"/>
                  </a:cubicBezTo>
                  <a:cubicBezTo>
                    <a:pt x="5204" y="116556"/>
                    <a:pt x="0" y="103993"/>
                    <a:pt x="0" y="90894"/>
                  </a:cubicBezTo>
                  <a:lnTo>
                    <a:pt x="0" y="49392"/>
                  </a:lnTo>
                  <a:cubicBezTo>
                    <a:pt x="0" y="36292"/>
                    <a:pt x="5204" y="23729"/>
                    <a:pt x="14466" y="14466"/>
                  </a:cubicBezTo>
                  <a:cubicBezTo>
                    <a:pt x="23729" y="5204"/>
                    <a:pt x="36292" y="0"/>
                    <a:pt x="49392" y="0"/>
                  </a:cubicBez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454111" cy="14028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199"/>
                </a:lnSpc>
              </a:pPr>
              <a:r>
                <a:rPr lang="en-US" b="true" sz="999">
                  <a:solidFill>
                    <a:srgbClr val="FFFFFF"/>
                  </a:solidFill>
                  <a:latin typeface="Open Sans 1 Semi-Bold"/>
                  <a:ea typeface="Open Sans 1 Semi-Bold"/>
                  <a:cs typeface="Open Sans 1 Semi-Bold"/>
                  <a:sym typeface="Open Sans 1 Semi-Bold"/>
                </a:rPr>
                <a:t>Gerência de Regulação da Navegação</a:t>
              </a:r>
            </a:p>
          </p:txBody>
        </p:sp>
      </p:grpSp>
      <p:sp>
        <p:nvSpPr>
          <p:cNvPr name="Freeform 163" id="163"/>
          <p:cNvSpPr/>
          <p:nvPr/>
        </p:nvSpPr>
        <p:spPr>
          <a:xfrm>
            <a:off x="15456123" y="7038828"/>
            <a:ext cx="416071" cy="1287298"/>
          </a:xfrm>
          <a:custGeom>
            <a:avLst/>
            <a:gdLst/>
            <a:ahLst/>
            <a:cxnLst/>
            <a:rect r="r" b="b" t="t" l="l"/>
            <a:pathLst>
              <a:path h="1287298" w="416071">
                <a:moveTo>
                  <a:pt x="292773" y="0"/>
                </a:moveTo>
                <a:lnTo>
                  <a:pt x="146387" y="0"/>
                </a:lnTo>
                <a:cubicBezTo>
                  <a:pt x="65540" y="0"/>
                  <a:pt x="0" y="65540"/>
                  <a:pt x="0" y="146387"/>
                </a:cubicBezTo>
                <a:lnTo>
                  <a:pt x="0" y="1115849"/>
                </a:lnTo>
                <a:cubicBezTo>
                  <a:pt x="0" y="1161320"/>
                  <a:pt x="18064" y="1204929"/>
                  <a:pt x="50217" y="1237082"/>
                </a:cubicBezTo>
                <a:cubicBezTo>
                  <a:pt x="82370" y="1269235"/>
                  <a:pt x="125979" y="1287299"/>
                  <a:pt x="171450" y="1287299"/>
                </a:cubicBezTo>
                <a:lnTo>
                  <a:pt x="416071" y="1287299"/>
                </a:lnTo>
              </a:path>
            </a:pathLst>
          </a:cu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4" id="164"/>
          <p:cNvSpPr/>
          <p:nvPr/>
        </p:nvSpPr>
        <p:spPr>
          <a:xfrm flipV="true">
            <a:off x="15473150" y="7717282"/>
            <a:ext cx="399044" cy="0"/>
          </a:xfrm>
          <a:prstGeom prst="line">
            <a:avLst/>
          </a:prstGeom>
          <a:ln cap="flat" w="9525">
            <a:solidFill>
              <a:srgbClr val="9999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5" id="165"/>
          <p:cNvSpPr/>
          <p:nvPr/>
        </p:nvSpPr>
        <p:spPr>
          <a:xfrm flipV="true">
            <a:off x="13732537" y="6480835"/>
            <a:ext cx="2075" cy="291671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6" id="166"/>
          <p:cNvSpPr/>
          <p:nvPr/>
        </p:nvSpPr>
        <p:spPr>
          <a:xfrm flipV="true">
            <a:off x="10752092" y="6480096"/>
            <a:ext cx="2075" cy="292410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7" id="167"/>
          <p:cNvSpPr/>
          <p:nvPr/>
        </p:nvSpPr>
        <p:spPr>
          <a:xfrm flipH="true" flipV="true">
            <a:off x="7768958" y="6480096"/>
            <a:ext cx="2687" cy="292410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8" id="168"/>
          <p:cNvSpPr/>
          <p:nvPr/>
        </p:nvSpPr>
        <p:spPr>
          <a:xfrm flipV="true">
            <a:off x="4834556" y="6480096"/>
            <a:ext cx="2075" cy="292422"/>
          </a:xfrm>
          <a:prstGeom prst="line">
            <a:avLst/>
          </a:prstGeom>
          <a:ln cap="flat" w="9525">
            <a:solidFill>
              <a:srgbClr val="004C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9" id="169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39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6102824" y="1206299"/>
            <a:ext cx="130313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211D1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Diretoria </a:t>
            </a:r>
            <a:r>
              <a:rPr lang="en-US" sz="1100">
                <a:solidFill>
                  <a:srgbClr val="211D1D"/>
                </a:solidFill>
                <a:latin typeface="Open Sans 1"/>
                <a:ea typeface="Open Sans 1"/>
                <a:cs typeface="Open Sans 1"/>
                <a:sym typeface="Open Sans 1"/>
              </a:rPr>
              <a:t>Colegiada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777254" y="1139615"/>
            <a:ext cx="4282413" cy="66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514" b="tru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 organizacional</a:t>
            </a:r>
          </a:p>
          <a:p>
            <a:pPr algn="l">
              <a:lnSpc>
                <a:spcPts val="2589"/>
              </a:lnSpc>
            </a:pPr>
            <a:r>
              <a:rPr lang="en-US" sz="2514" b="tru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(até o 3o. nível)</a:t>
            </a:r>
          </a:p>
        </p:txBody>
      </p:sp>
      <p:grpSp>
        <p:nvGrpSpPr>
          <p:cNvPr name="Group 172" id="172"/>
          <p:cNvGrpSpPr/>
          <p:nvPr/>
        </p:nvGrpSpPr>
        <p:grpSpPr>
          <a:xfrm rot="0">
            <a:off x="12339601" y="9543817"/>
            <a:ext cx="4390270" cy="275299"/>
            <a:chOff x="0" y="0"/>
            <a:chExt cx="5853694" cy="367065"/>
          </a:xfrm>
        </p:grpSpPr>
        <p:grpSp>
          <p:nvGrpSpPr>
            <p:cNvPr name="Group 173" id="173"/>
            <p:cNvGrpSpPr/>
            <p:nvPr/>
          </p:nvGrpSpPr>
          <p:grpSpPr>
            <a:xfrm rot="0">
              <a:off x="4257714" y="0"/>
              <a:ext cx="1595979" cy="360216"/>
              <a:chOff x="0" y="0"/>
              <a:chExt cx="246293" cy="55589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246293" cy="55589"/>
              </a:xfrm>
              <a:custGeom>
                <a:avLst/>
                <a:gdLst/>
                <a:ahLst/>
                <a:cxnLst/>
                <a:rect r="r" b="b" t="t" l="l"/>
                <a:pathLst>
                  <a:path h="55589" w="246293">
                    <a:moveTo>
                      <a:pt x="27794" y="0"/>
                    </a:moveTo>
                    <a:lnTo>
                      <a:pt x="218499" y="0"/>
                    </a:lnTo>
                    <a:cubicBezTo>
                      <a:pt x="225870" y="0"/>
                      <a:pt x="232940" y="2928"/>
                      <a:pt x="238152" y="8141"/>
                    </a:cubicBezTo>
                    <a:cubicBezTo>
                      <a:pt x="243365" y="13353"/>
                      <a:pt x="246293" y="20423"/>
                      <a:pt x="246293" y="27794"/>
                    </a:cubicBezTo>
                    <a:lnTo>
                      <a:pt x="246293" y="27794"/>
                    </a:lnTo>
                    <a:cubicBezTo>
                      <a:pt x="246293" y="43145"/>
                      <a:pt x="233849" y="55589"/>
                      <a:pt x="218499" y="55589"/>
                    </a:cubicBezTo>
                    <a:lnTo>
                      <a:pt x="27794" y="55589"/>
                    </a:lnTo>
                    <a:cubicBezTo>
                      <a:pt x="12444" y="55589"/>
                      <a:pt x="0" y="43145"/>
                      <a:pt x="0" y="27794"/>
                    </a:cubicBezTo>
                    <a:lnTo>
                      <a:pt x="0" y="27794"/>
                    </a:lnTo>
                    <a:cubicBezTo>
                      <a:pt x="0" y="12444"/>
                      <a:pt x="12444" y="0"/>
                      <a:pt x="27794" y="0"/>
                    </a:cubicBezTo>
                    <a:close/>
                  </a:path>
                </a:pathLst>
              </a:custGeom>
              <a:solidFill>
                <a:srgbClr val="004C9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5" id="175"/>
              <p:cNvSpPr txBox="true"/>
              <p:nvPr/>
            </p:nvSpPr>
            <p:spPr>
              <a:xfrm>
                <a:off x="0" y="-19050"/>
                <a:ext cx="246293" cy="746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40"/>
                  </a:lnSpc>
                </a:pPr>
              </a:p>
            </p:txBody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0" y="0"/>
              <a:ext cx="5485405" cy="367065"/>
              <a:chOff x="0" y="0"/>
              <a:chExt cx="846513" cy="56646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846513" cy="56646"/>
              </a:xfrm>
              <a:custGeom>
                <a:avLst/>
                <a:gdLst/>
                <a:ahLst/>
                <a:cxnLst/>
                <a:rect r="r" b="b" t="t" l="l"/>
                <a:pathLst>
                  <a:path h="56646" w="846513">
                    <a:moveTo>
                      <a:pt x="11761" y="0"/>
                    </a:moveTo>
                    <a:lnTo>
                      <a:pt x="834752" y="0"/>
                    </a:lnTo>
                    <a:cubicBezTo>
                      <a:pt x="841247" y="0"/>
                      <a:pt x="846513" y="5266"/>
                      <a:pt x="846513" y="11761"/>
                    </a:cubicBezTo>
                    <a:lnTo>
                      <a:pt x="846513" y="44884"/>
                    </a:lnTo>
                    <a:cubicBezTo>
                      <a:pt x="846513" y="48004"/>
                      <a:pt x="845274" y="50995"/>
                      <a:pt x="843068" y="53201"/>
                    </a:cubicBezTo>
                    <a:cubicBezTo>
                      <a:pt x="840863" y="55407"/>
                      <a:pt x="837871" y="56646"/>
                      <a:pt x="834752" y="56646"/>
                    </a:cubicBezTo>
                    <a:lnTo>
                      <a:pt x="11761" y="56646"/>
                    </a:lnTo>
                    <a:cubicBezTo>
                      <a:pt x="8642" y="56646"/>
                      <a:pt x="5651" y="55407"/>
                      <a:pt x="3445" y="53201"/>
                    </a:cubicBezTo>
                    <a:cubicBezTo>
                      <a:pt x="1239" y="50995"/>
                      <a:pt x="0" y="48004"/>
                      <a:pt x="0" y="44884"/>
                    </a:cubicBezTo>
                    <a:lnTo>
                      <a:pt x="0" y="11761"/>
                    </a:lnTo>
                    <a:cubicBezTo>
                      <a:pt x="0" y="8642"/>
                      <a:pt x="1239" y="5651"/>
                      <a:pt x="3445" y="3445"/>
                    </a:cubicBezTo>
                    <a:cubicBezTo>
                      <a:pt x="5651" y="1239"/>
                      <a:pt x="8642" y="0"/>
                      <a:pt x="11761" y="0"/>
                    </a:cubicBezTo>
                    <a:close/>
                  </a:path>
                </a:pathLst>
              </a:custGeom>
              <a:solidFill>
                <a:srgbClr val="FDFDFC"/>
              </a:solidFill>
              <a:ln w="9525" cap="sq">
                <a:solidFill>
                  <a:srgbClr val="004C98"/>
                </a:solidFill>
                <a:prstDash val="solid"/>
                <a:miter/>
              </a:ln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0" y="-19050"/>
                <a:ext cx="846513" cy="75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260"/>
                  </a:lnSpc>
                </a:pP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  <a:hlinkClick r:id="rId2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Fo</a:t>
                </a: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nte</a:t>
                </a:r>
                <a:r>
                  <a:rPr lang="en-US" b="true" sz="900">
                    <a:solidFill>
                      <a:srgbClr val="004C98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  <a:hlinkClick r:id="rId3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: </a:t>
                </a:r>
                <a:r>
                  <a:rPr lang="en-US" sz="900">
                    <a:solidFill>
                      <a:srgbClr val="004C98"/>
                    </a:solidFill>
                    <a:latin typeface="Open Sans 1"/>
                    <a:ea typeface="Open Sans 1"/>
                    <a:cs typeface="Open Sans 1"/>
                    <a:sym typeface="Open Sans 1"/>
                    <a:hlinkClick r:id="rId4" tooltip="https://sophia.antaq.gov.br/Terminal/acervo/detalhe/37131?guid=1772677197959&amp;returnUrl=%2fTerminal%2fresultado%2flistarlegislacao%3fguid%3d1772677197959%26quantidadePaginas%3d1%26codigoRegistro%3d37131%2337131&amp;i=1"/>
                  </a:rPr>
                  <a:t>Resolução n° 116/2024 alterada pela Resolução n° 120/2024 </a:t>
                </a:r>
              </a:p>
            </p:txBody>
          </p:sp>
        </p:grpSp>
        <p:sp>
          <p:nvSpPr>
            <p:cNvPr name="Freeform 179" id="179"/>
            <p:cNvSpPr/>
            <p:nvPr/>
          </p:nvSpPr>
          <p:spPr>
            <a:xfrm flipH="false" flipV="false" rot="0">
              <a:off x="5580056" y="82742"/>
              <a:ext cx="194733" cy="194733"/>
            </a:xfrm>
            <a:custGeom>
              <a:avLst/>
              <a:gdLst/>
              <a:ahLst/>
              <a:cxnLst/>
              <a:rect r="r" b="b" t="t" l="l"/>
              <a:pathLst>
                <a:path h="194733" w="194733">
                  <a:moveTo>
                    <a:pt x="0" y="0"/>
                  </a:moveTo>
                  <a:lnTo>
                    <a:pt x="194734" y="0"/>
                  </a:lnTo>
                  <a:lnTo>
                    <a:pt x="194734" y="194733"/>
                  </a:lnTo>
                  <a:lnTo>
                    <a:pt x="0" y="194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86" id="186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23829" y="754759"/>
            <a:ext cx="13690831" cy="9532241"/>
          </a:xfrm>
          <a:custGeom>
            <a:avLst/>
            <a:gdLst/>
            <a:ahLst/>
            <a:cxnLst/>
            <a:rect r="r" b="b" t="t" l="l"/>
            <a:pathLst>
              <a:path h="9532241" w="13690831">
                <a:moveTo>
                  <a:pt x="0" y="0"/>
                </a:moveTo>
                <a:lnTo>
                  <a:pt x="13690830" y="0"/>
                </a:lnTo>
                <a:lnTo>
                  <a:pt x="13690830" y="9532241"/>
                </a:lnTo>
                <a:lnTo>
                  <a:pt x="0" y="953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7254" y="1139615"/>
            <a:ext cx="4282413" cy="66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514" b="tru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Estrutura organizacional</a:t>
            </a:r>
          </a:p>
          <a:p>
            <a:pPr algn="l">
              <a:lnSpc>
                <a:spcPts val="2589"/>
              </a:lnSpc>
            </a:pPr>
            <a:r>
              <a:rPr lang="en-US" sz="2514" b="true">
                <a:solidFill>
                  <a:srgbClr val="004C9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(até o 4o. nível)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603103"/>
            <a:ext cx="8629545" cy="9693186"/>
          </a:xfrm>
          <a:custGeom>
            <a:avLst/>
            <a:gdLst/>
            <a:ahLst/>
            <a:cxnLst/>
            <a:rect r="r" b="b" t="t" l="l"/>
            <a:pathLst>
              <a:path h="9693186" w="8629545">
                <a:moveTo>
                  <a:pt x="0" y="0"/>
                </a:moveTo>
                <a:lnTo>
                  <a:pt x="8629545" y="0"/>
                </a:lnTo>
                <a:lnTo>
                  <a:pt x="8629545" y="9693186"/>
                </a:lnTo>
                <a:lnTo>
                  <a:pt x="0" y="9693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986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34117" y="657195"/>
            <a:ext cx="9187648" cy="15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V</a:t>
            </a:r>
            <a:r>
              <a:rPr lang="en-US" b="true" sz="43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isão geral das competências institucionais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34117" y="2259416"/>
            <a:ext cx="7806525" cy="794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Regulação e Fiscalização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Antaq r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egula e fiscaliza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 trans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porte aquaviário e infraestrutura portuária para garantir eficiência e segurança.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Gestão de Outorgas e Contratos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agência gere outorgas e contratos, assegurando equilíbrio entre interesses públicos e privados no setor aquaviário.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Produção de Estudos e Dados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Antaq realiza estudos de demanda e análise tarifária para apoiar decisões e planejamento de longo prazo.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Defesa dos Direitos dos Usuários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agência atua na arbitragem de conflitos e protege os direitos dos usuários do transporte aquaviário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500" y="593814"/>
            <a:ext cx="7269890" cy="9693186"/>
          </a:xfrm>
          <a:custGeom>
            <a:avLst/>
            <a:gdLst/>
            <a:ahLst/>
            <a:cxnLst/>
            <a:rect r="r" b="b" t="t" l="l"/>
            <a:pathLst>
              <a:path h="9693186" w="7269890">
                <a:moveTo>
                  <a:pt x="0" y="0"/>
                </a:moveTo>
                <a:lnTo>
                  <a:pt x="7269890" y="0"/>
                </a:lnTo>
                <a:lnTo>
                  <a:pt x="7269890" y="9693186"/>
                </a:lnTo>
                <a:lnTo>
                  <a:pt x="0" y="9693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0829" y="690633"/>
            <a:ext cx="8364418" cy="8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Regulação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2775" y="1838032"/>
            <a:ext cx="7806525" cy="794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Função Reguladora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Antaq 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estabelece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n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ormas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para garantir qualidade, segurança, eficiência e sustentabilidade no setor aquaviário.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Promoção da Concorrência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agência define mecanismos para prevenir práticas anticompetitivas e assegurar equilíbrio entre operadores e usuários.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Instrumentos Modernos de Regulação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Agenda Regulatória, AIR e ARR garantem decisões baseadas em evidências e participação social transparente.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Revisão Normativa Contínua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constante atualização normativa permite adaptação às mudanças de mercado e tecnologia no setor aquaviário.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500" y="603103"/>
            <a:ext cx="7262923" cy="9683897"/>
          </a:xfrm>
          <a:custGeom>
            <a:avLst/>
            <a:gdLst/>
            <a:ahLst/>
            <a:cxnLst/>
            <a:rect r="r" b="b" t="t" l="l"/>
            <a:pathLst>
              <a:path h="9683897" w="7262923">
                <a:moveTo>
                  <a:pt x="0" y="0"/>
                </a:moveTo>
                <a:lnTo>
                  <a:pt x="7262923" y="0"/>
                </a:lnTo>
                <a:lnTo>
                  <a:pt x="7262923" y="9683897"/>
                </a:lnTo>
                <a:lnTo>
                  <a:pt x="0" y="9683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0829" y="709683"/>
            <a:ext cx="8731020" cy="75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Au</a:t>
            </a:r>
            <a:r>
              <a:rPr lang="en-US" b="true" sz="4400">
                <a:solidFill>
                  <a:srgbClr val="004C98"/>
                </a:solidFill>
                <a:latin typeface="Nunito Bold"/>
                <a:ea typeface="Nunito Bold"/>
                <a:cs typeface="Nunito Bold"/>
                <a:sym typeface="Nunito Bold"/>
              </a:rPr>
              <a:t>torização e gestão contratual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2775" y="1706707"/>
            <a:ext cx="7806525" cy="83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Gestão de Outorgas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g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estão de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out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orgas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abrange concessão, autorização e acompanhamento da exploração de serviços aquaviários.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 Técnica e Jurídica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Inclui avaliação técnica, jurídica e econômica dos pedidos para garantir conformidade e interesse público.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Supervisão e Investimentos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Supervisão constante assegura investimentos para expansão e modernização da infraestrutura portuária e aquaviária.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Licitações e Competitividade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Realização de licitações promove competitividade e atração de novos investimentos no setor aquaviário.</a:t>
            </a:r>
          </a:p>
          <a:p>
            <a:pPr algn="just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500" y="593814"/>
            <a:ext cx="8529619" cy="9626865"/>
          </a:xfrm>
          <a:custGeom>
            <a:avLst/>
            <a:gdLst/>
            <a:ahLst/>
            <a:cxnLst/>
            <a:rect r="r" b="b" t="t" l="l"/>
            <a:pathLst>
              <a:path h="9626865" w="8529619">
                <a:moveTo>
                  <a:pt x="0" y="0"/>
                </a:moveTo>
                <a:lnTo>
                  <a:pt x="8529618" y="0"/>
                </a:lnTo>
                <a:lnTo>
                  <a:pt x="8529618" y="9626865"/>
                </a:lnTo>
                <a:lnTo>
                  <a:pt x="0" y="9626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98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0829" y="709683"/>
            <a:ext cx="8731020" cy="75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4C98"/>
                </a:solidFill>
                <a:latin typeface="Nunito"/>
                <a:ea typeface="Nunito"/>
                <a:cs typeface="Nunito"/>
                <a:sym typeface="Nunito"/>
              </a:rPr>
              <a:t>Fiscalização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2775" y="1706707"/>
            <a:ext cx="7806525" cy="835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Monitoramento e inspeção contínua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fi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scalização envolve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monit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oramento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 sistemático para garantir conformidade com normas e contratos regulatórios.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de sanções administrativas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Sanções como advertências e multas são aplicadas quando irregularidades são identificadas durante a fiscalização.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Medidas preventivas e orientação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Fiscalização também promove regularização voluntária e orientação para prevenir infrações futuras.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Uso de inteligência e dados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Dados e inteligência orientam ações mais eficientes, fortalecendo o ambiente regulatório e a confiança dos usuários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just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4159" cy="593814"/>
            <a:chOff x="0" y="0"/>
            <a:chExt cx="3869663" cy="125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0" y="9289"/>
            <a:ext cx="18284159" cy="593814"/>
            <a:chOff x="0" y="0"/>
            <a:chExt cx="3869663" cy="125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9663" cy="125675"/>
            </a:xfrm>
            <a:custGeom>
              <a:avLst/>
              <a:gdLst/>
              <a:ahLst/>
              <a:cxnLst/>
              <a:rect r="r" b="b" t="t" l="l"/>
              <a:pathLst>
                <a:path h="125675" w="3869663">
                  <a:moveTo>
                    <a:pt x="0" y="0"/>
                  </a:moveTo>
                  <a:lnTo>
                    <a:pt x="3869663" y="0"/>
                  </a:lnTo>
                  <a:lnTo>
                    <a:pt x="3869663" y="125675"/>
                  </a:lnTo>
                  <a:lnTo>
                    <a:pt x="0" y="125675"/>
                  </a:lnTo>
                  <a:close/>
                </a:path>
              </a:pathLst>
            </a:custGeom>
            <a:solidFill>
              <a:srgbClr val="004C98"/>
            </a:solidFill>
            <a:ln w="14288" cap="sq">
              <a:solidFill>
                <a:srgbClr val="FDFDF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869663" cy="144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0114" y="127489"/>
            <a:ext cx="1238171" cy="312527"/>
          </a:xfrm>
          <a:custGeom>
            <a:avLst/>
            <a:gdLst/>
            <a:ahLst/>
            <a:cxnLst/>
            <a:rect r="r" b="b" t="t" l="l"/>
            <a:pathLst>
              <a:path h="312527" w="1238171">
                <a:moveTo>
                  <a:pt x="0" y="0"/>
                </a:moveTo>
                <a:lnTo>
                  <a:pt x="1238171" y="0"/>
                </a:lnTo>
                <a:lnTo>
                  <a:pt x="1238171" y="312527"/>
                </a:lnTo>
                <a:lnTo>
                  <a:pt x="0" y="312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500" y="593814"/>
            <a:ext cx="8466054" cy="9693186"/>
          </a:xfrm>
          <a:custGeom>
            <a:avLst/>
            <a:gdLst/>
            <a:ahLst/>
            <a:cxnLst/>
            <a:rect r="r" b="b" t="t" l="l"/>
            <a:pathLst>
              <a:path h="9693186" w="8466054">
                <a:moveTo>
                  <a:pt x="0" y="0"/>
                </a:moveTo>
                <a:lnTo>
                  <a:pt x="8466054" y="0"/>
                </a:lnTo>
                <a:lnTo>
                  <a:pt x="8466054" y="9693186"/>
                </a:lnTo>
                <a:lnTo>
                  <a:pt x="0" y="9693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26" r="0" b="-822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95247" y="975020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306EB6"/>
                </a:solidFill>
                <a:latin typeface="Nunito Bold"/>
                <a:ea typeface="Nunito Bold"/>
                <a:cs typeface="Nunito Bold"/>
                <a:sym typeface="Nunito Bold"/>
              </a:rPr>
              <a:t>45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0829" y="709683"/>
            <a:ext cx="8731020" cy="75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4C98"/>
                </a:solidFill>
                <a:latin typeface="Nunito"/>
                <a:ea typeface="Nunito"/>
                <a:cs typeface="Nunito"/>
                <a:sym typeface="Nunito"/>
              </a:rPr>
              <a:t>Produção de conhecimento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2775" y="1706707"/>
            <a:ext cx="7806525" cy="6682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</a:t>
            </a: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odução de Estudos e Dados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A Antaq produz e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studos es</a:t>
            </a: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tratégicos que sustentam decisões regulatórias e políticas públicas no setor aquaviário.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Monitoramento e Avaliação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Dados atualizados permitem monitorar eficiência dos operadores e avaliar impacto das medidas regulatórias.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32437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 e Transparência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24370"/>
                </a:solidFill>
                <a:latin typeface="Montserrat"/>
                <a:ea typeface="Montserrat"/>
                <a:cs typeface="Montserrat"/>
                <a:sym typeface="Montserrat"/>
              </a:rPr>
              <a:t>Uso de ferramentas analíticas aprimora qualidade das informações e promove transparência para a sociedade.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66A7F107A78542809C04863AAF6904" ma:contentTypeVersion="19" ma:contentTypeDescription="Crie um novo documento." ma:contentTypeScope="" ma:versionID="51191a4cb565485eb463083ca7c2737a">
  <xsd:schema xmlns:xsd="http://www.w3.org/2001/XMLSchema" xmlns:xs="http://www.w3.org/2001/XMLSchema" xmlns:p="http://schemas.microsoft.com/office/2006/metadata/properties" xmlns:ns2="524b9e3a-2c6e-4caf-a4a6-9107747bc51e" xmlns:ns3="f913ff35-f7e5-46dc-a5a7-c9164ae7e8fd" targetNamespace="http://schemas.microsoft.com/office/2006/metadata/properties" ma:root="true" ma:fieldsID="13929d0489311a9f46074467b1a33de9" ns2:_="" ns3:_="">
    <xsd:import namespace="524b9e3a-2c6e-4caf-a4a6-9107747bc51e"/>
    <xsd:import namespace="f913ff35-f7e5-46dc-a5a7-c9164ae7e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9e3a-2c6e-4caf-a4a6-9107747b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3ff35-f7e5-46dc-a5a7-c9164ae7e8f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075f16c-1fcb-4655-b55f-919d5750d410}" ma:internalName="TaxCatchAll" ma:showField="CatchAllData" ma:web="f913ff35-f7e5-46dc-a5a7-c9164ae7e8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4b9e3a-2c6e-4caf-a4a6-9107747bc51e">
      <Terms xmlns="http://schemas.microsoft.com/office/infopath/2007/PartnerControls"/>
    </lcf76f155ced4ddcb4097134ff3c332f>
    <TaxCatchAll xmlns="f913ff35-f7e5-46dc-a5a7-c9164ae7e8fd" xsi:nil="true"/>
  </documentManagement>
</p:properties>
</file>

<file path=customXml/itemProps1.xml><?xml version="1.0" encoding="utf-8"?>
<ds:datastoreItem xmlns:ds="http://schemas.openxmlformats.org/officeDocument/2006/customXml" ds:itemID="{25C1A678-33EC-4D1D-B9F3-FF579DC5B2AD}"/>
</file>

<file path=customXml/itemProps2.xml><?xml version="1.0" encoding="utf-8"?>
<ds:datastoreItem xmlns:ds="http://schemas.openxmlformats.org/officeDocument/2006/customXml" ds:itemID="{0CFDAF30-254C-45E6-A1A3-79A8079F18D8}"/>
</file>

<file path=customXml/itemProps3.xml><?xml version="1.0" encoding="utf-8"?>
<ds:datastoreItem xmlns:ds="http://schemas.openxmlformats.org/officeDocument/2006/customXml" ds:itemID="{AC6ADB9E-117C-4FC1-94B7-DBAE0622E53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Governança e competências</dc:title>
  <cp:revision>1</cp:revision>
  <dcterms:created xsi:type="dcterms:W3CDTF">2006-08-16T00:00:00Z</dcterms:created>
  <dcterms:modified xsi:type="dcterms:W3CDTF">2011-08-01T06:04:30Z</dcterms:modified>
  <dc:identifier>DAHMBv4ws3Y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0x0101000A66A7F107A78542809C04863AAF6904</vt:lpwstr>
  </property>
</Properties>
</file>