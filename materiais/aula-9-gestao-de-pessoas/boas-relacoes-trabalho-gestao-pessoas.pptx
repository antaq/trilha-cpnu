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60" r:id="rId6"/>
    <p:sldId id="261" r:id="rId7"/>
    <p:sldId id="266" r:id="rId8"/>
    <p:sldId id="267" r:id="rId9"/>
    <p:sldId id="268" r:id="rId10"/>
    <p:sldId id="274" r:id="rId11"/>
    <p:sldId id="271" r:id="rId12"/>
  </p:sldIdLst>
  <p:sldSz cx="9144000" cy="5143500" type="screen16x9"/>
  <p:notesSz cx="6797675" cy="9929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CC0E7-56EA-4C49-AD99-750C330C120B}" v="1" dt="2026-06-18T17:31:53.975"/>
    <p1510:client id="{3677D060-F36C-4314-8EB4-5A63BDD92BE4}" v="1" dt="2026-06-18T18:03:49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85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49" tIns="53524" rIns="107049" bIns="5352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49" tIns="53524" rIns="107049" bIns="53524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37861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Cultura Organizacional e Relações de Trabalho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620571"/>
            <a:ext cx="37861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Construindo um ambiente de excelência, colaboração e pertencimento na ANTAQ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2372060"/>
            <a:ext cx="3786188" cy="31432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7777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Agência Nacional de Transportes Aquaviários — Pessoas, Valores e Propósito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986422"/>
            <a:ext cx="3786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APRESENTAÇÃO: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71500" y="3211450"/>
            <a:ext cx="37861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JOELSON NEVES MIRANDA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368613"/>
            <a:ext cx="3786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Superintendente de Administração e Finanças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593641"/>
            <a:ext cx="37861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ALINE ANDRADE NACÁCIO DA SILVA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750804"/>
            <a:ext cx="3786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Gerente de Gestão de Pessoas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428625"/>
            <a:ext cx="3786188" cy="2130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42072"/>
            <a:ext cx="4586288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 que vamos explorar nesta apresentação?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516456"/>
            <a:ext cx="45862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 apresentação percorre os pilares fundamentais que sustentam o ambiente organizacional da ANTAQ, abordando desde os conceitos de cultura até as práticas concretas de relações de trabalho e colaboração em equipe.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4375" y="2516581"/>
            <a:ext cx="130967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 e fundamentos da Cultura Organizacional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281228" y="2516581"/>
            <a:ext cx="130967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Valores, missão e identidade institucional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8081" y="2516581"/>
            <a:ext cx="130967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Relações de trabalho e vínculos profissionais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4375" y="3293799"/>
            <a:ext cx="13096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Trabalho em equipe e colaboração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281228" y="3203790"/>
            <a:ext cx="130967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Bem-estar e qualidade de vida no trabalho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8081" y="3199507"/>
            <a:ext cx="130967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organizacional saudável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3" y="285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3821906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Cultura Organizacional: O DNA de uma Instituição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516456"/>
            <a:ext cx="382190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 de normas, valores, crenças e comportamentos que orientam decisões e moldam relacionamentos dentro da organização.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2245119"/>
            <a:ext cx="3821906" cy="346472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cultura come a estratégia no café da manhã." — Peter Drucker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820191"/>
            <a:ext cx="3821906" cy="568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ANTAQ, a cultura é pautada por integridade, transparência, </a:t>
            </a:r>
            <a:r>
              <a:rPr lang="en-US" sz="1050" dirty="0" err="1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eficiência</a:t>
            </a: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compromisso com o interesse </a:t>
            </a:r>
            <a:r>
              <a:rPr lang="en-US" sz="1050" dirty="0" err="1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</a:t>
            </a: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50" dirty="0" err="1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</a:t>
            </a: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relações</a:t>
            </a: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interpessoais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4375" y="3548853"/>
            <a:ext cx="367367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como as pessoas se relacionam e tomam decisões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4375" y="3786020"/>
            <a:ext cx="322361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Influencia o clima e o desempenho organizacional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4375" y="4023187"/>
            <a:ext cx="287000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Transmite-se por práticas, rituais e lideranças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4375" y="4260354"/>
            <a:ext cx="224135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Evolui com as pessoas e o contexto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428625"/>
            <a:ext cx="3821906" cy="19109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5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3821906" cy="265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dirty="0" err="1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Identidade</a:t>
            </a: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</a:t>
            </a:r>
            <a:r>
              <a:rPr lang="en-US" sz="1800" dirty="0" err="1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stratégica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81891" y="1060551"/>
            <a:ext cx="8115300" cy="688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sz="950" dirty="0">
                <a:solidFill>
                  <a:srgbClr val="444444"/>
                </a:solidFill>
                <a:latin typeface="Montserrat" pitchFamily="34" charset="0"/>
              </a:rPr>
              <a:t>Considerando as competências atribuídas à ANTAQ, torna-se cada vez mais importante que a Agência contribua para a transformação social e o desenvolvimento do país. Para viabilizar esse processo, foi estabelecido o seguinte referencial estratégico, que orienta nossa atuação no cumprimento de nossas competências regulatórias e, em última instância, no atendimento às expectativas da sociedade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74304"/>
            <a:ext cx="38219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5F93C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MISSÃO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7995" y="2163721"/>
            <a:ext cx="3821906" cy="688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Promover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</a:t>
            </a:r>
            <a:r>
              <a:rPr lang="pt-BR" sz="950" dirty="0">
                <a:solidFill>
                  <a:srgbClr val="444444"/>
                </a:solidFill>
                <a:latin typeface="Montserrat" pitchFamily="34" charset="0"/>
              </a:rPr>
              <a:t>o desenvolvimento sustentável do setor de transportes aquaviários, beneficiando a sociedade através da regulação eficiente, fiscalização responsiva, outorgas estratégicas e estudos inovadores.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996348"/>
            <a:ext cx="38219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5F93C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0094" y="4179143"/>
            <a:ext cx="3821906" cy="1029641"/>
          </a:xfrm>
          <a:prstGeom prst="rect">
            <a:avLst/>
          </a:prstGeom>
          <a:solidFill>
            <a:srgbClr val="F2F8FA"/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Resultados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20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Transparência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e </a:t>
            </a: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Integridade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20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Decisões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</a:t>
            </a: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baseadas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</a:t>
            </a: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em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</a:t>
            </a: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conhecimento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20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Inovação</a:t>
            </a:r>
            <a:r>
              <a:rPr lang="en-US" sz="950" dirty="0">
                <a:solidFill>
                  <a:srgbClr val="444444"/>
                </a:solidFill>
                <a:latin typeface="Montserrat" pitchFamily="34" charset="0"/>
              </a:rPr>
              <a:t> e </a:t>
            </a: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Sustentabilidade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300" dirty="0">
              <a:solidFill>
                <a:srgbClr val="444444"/>
              </a:solidFill>
              <a:latin typeface="Montserrat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950" dirty="0" err="1">
                <a:solidFill>
                  <a:srgbClr val="444444"/>
                </a:solidFill>
                <a:latin typeface="Montserrat" pitchFamily="34" charset="0"/>
              </a:rPr>
              <a:t>Profissionalismo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845156"/>
            <a:ext cx="38219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5F93C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VALORES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86" y="2332508"/>
            <a:ext cx="3821906" cy="2231752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FD7BBC8A-036C-396D-508B-3C525459F02F}"/>
              </a:ext>
            </a:extLst>
          </p:cNvPr>
          <p:cNvSpPr/>
          <p:nvPr/>
        </p:nvSpPr>
        <p:spPr>
          <a:xfrm>
            <a:off x="594050" y="3192096"/>
            <a:ext cx="3821906" cy="51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sz="950" dirty="0">
                <a:solidFill>
                  <a:srgbClr val="444444"/>
                </a:solidFill>
                <a:latin typeface="Montserrat" pitchFamily="34" charset="0"/>
              </a:rPr>
              <a:t>Ser uma Agência efetiva, independente e inovadora em sua atuação por um setor aquaviário eficiente, seguro e sustentável.</a:t>
            </a:r>
            <a:endParaRPr lang="en-US" sz="950" dirty="0">
              <a:solidFill>
                <a:srgbClr val="444444"/>
              </a:solidFill>
              <a:latin typeface="Montserra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3929063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Relações de trabalho saudáveis são a base para um ambiente produtivo e respeitoso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2162240"/>
            <a:ext cx="39290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serviço público federal, as relações de trabalho seguem normas, acordos e políticas internas que visam direitos, deveres e respeito mútuo.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00088" y="2890903"/>
            <a:ext cx="1750219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Regime Jurídico Único (RJU):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estatuto que rege os servidores públicos federais.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50344" y="2890903"/>
            <a:ext cx="1750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Direitos fundamentais: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estabilidade, progressão, capacitação e saúde.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00088" y="3682408"/>
            <a:ext cx="1750219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Deveres funcionais: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assiduidade, pontualidade, discrição e lealdade institucional.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50344" y="3682408"/>
            <a:ext cx="1750219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Canais de diálogo: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ouvidoria, comissões de ética e representação sindical.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088" y="4473913"/>
            <a:ext cx="1750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Prevenção de conflitos: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mediação, protocolos de conduta e código de ética.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428625"/>
            <a:ext cx="3929063" cy="22019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893344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Trabalho em Equipe: Mais do que Cooperação, é Sinergia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131559"/>
            <a:ext cx="37147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trabalho em equipe envolve confiança, comunicação aberta e responsabilidade compartilhada. Nas equipes da ANTAQ, a colaboração entre áreas garante regulações técnicas eficazes.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00088" y="2331709"/>
            <a:ext cx="173235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Confiança: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base da colaboração eficaz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32484" y="2331709"/>
            <a:ext cx="173235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Comunicação: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fluxo claro entre membros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00088" y="2723164"/>
            <a:ext cx="1732359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Complementaridade: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valorização de competências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32484" y="2723164"/>
            <a:ext cx="1732359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Responsabilidade: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todos respondem pelos resultados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088" y="3281772"/>
            <a:ext cx="1732359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Reconhecimento:</a:t>
            </a: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celebrar conquistas fortalece a equipe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926105"/>
            <a:ext cx="3829050" cy="314325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"Equipes com alto grau de confiança são mais produtivas e apresentam maior engajamento."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6" y="285750"/>
            <a:ext cx="3893344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62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750469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Investir no bem-estar dos servidores é investir na qualidade dos serviços prestados à sociedade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987051"/>
            <a:ext cx="3750469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Qualidade de Vida no Trabalho (QVT) é um conjunto de ações e políticas que visam promover o bem-estar físico, mental e social dos colaboradores. Na ANTAQ, programas de QVT são parte integrante da estratégia de gestão de pessoas, reconhecendo que servidores saudáveis e satisfeitos entregam resultados superiores.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3358753"/>
            <a:ext cx="3750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Pilares da QVT na ANTAQ: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3663109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Saúde física: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programas de ergonomia, ginástica laboral e assistência médica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4375" y="406236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Saúde mental: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suporte psicológico, prevenção ao burnout e gestão do estresse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14375" y="4461625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Equilíbrio vida-trabalho: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flexibilidade de horários e trabalho remoto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4375" y="4860882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Desenvolvimento pessoal: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capacitação, educação continuada e plano de carreira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428625"/>
            <a:ext cx="3750469" cy="2109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75046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Conflitos bem gerenciados fortalecem equipes e impulsionam a inovação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684167"/>
            <a:ext cx="37504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conflito é inevitável. A diferença entre organizações que crescem e as que estagnam está na capacidade de transformar divergências em oportunidades de aprendizado e melhoria.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2627142"/>
            <a:ext cx="3750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Tipos de conflito no ambiente de trabalho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2871815"/>
            <a:ext cx="35950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 tarefa: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divergências sobre métodos e processos de trabalho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4375" y="3088974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 relacionamento: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tensões interpessoais e comunicação inadequada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14375" y="3466142"/>
            <a:ext cx="343793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 processo:</a:t>
            </a: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discordâncias sobre responsabilidades e fluxos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3769026"/>
            <a:ext cx="3750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Estratégias de gestão de conflitos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4375" y="4013699"/>
            <a:ext cx="233064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Mediação por terceiro neutro e imparcial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4375" y="4230858"/>
            <a:ext cx="261818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não-violenta e escuta empática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4375" y="4448017"/>
            <a:ext cx="213776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nos interesses, não nas posições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4375" y="4665176"/>
            <a:ext cx="23574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Protocolos claros de escalada e resolução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14375" y="4882335"/>
            <a:ext cx="24717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 de feedback contínuo e construtivo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428625"/>
            <a:ext cx="3750469" cy="2501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49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75046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Servidores engajados são os maiores embaixadores da missão institucional da ANTAQ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684167"/>
            <a:ext cx="3750469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engajamento organizacional vai além da satisfação no trabalho. Ele representa o comprometimento emocional e intelectual do servidor com a missão, os valores e os objetivos da instituição. Servidores engajados não apenas cumprem suas funções — eles buscam ativamente contribuir para o sucesso coletivo.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428625"/>
            <a:ext cx="3750469" cy="37504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001250" cy="5429250"/>
          </a:xfrm>
          <a:prstGeom prst="rect">
            <a:avLst/>
          </a:prstGeom>
          <a:solidFill>
            <a:srgbClr val="F5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499197"/>
            <a:ext cx="9144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Gestão de Pessoas (GGP): Serviços e Facilidades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868886"/>
            <a:ext cx="914400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1" dirty="0">
                <a:solidFill>
                  <a:srgbClr val="5F93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INTEGRAL À JORNADA DO SERVIDOR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1256435"/>
            <a:ext cx="4429125" cy="385762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2938" y="1470747"/>
            <a:ext cx="4000500" cy="30182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SouGov.br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2938" y="1915446"/>
            <a:ext cx="40005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Portal de Autoatendimento e Solicitações Essenciais.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2938" y="2161905"/>
            <a:ext cx="4000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Principais Autoatendimentos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5813" y="2390505"/>
            <a:ext cx="21163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Envio de Atestados Médicos e Perícia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85813" y="2619105"/>
            <a:ext cx="21002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 Solicitação de Férias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85813" y="2847705"/>
            <a:ext cx="2380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Exames Médicos Periódicos e Previdência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5813" y="3076305"/>
            <a:ext cx="2618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Auxílios (Alimentação, Transporte, Natalidade)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85813" y="3304905"/>
            <a:ext cx="22342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Saúde Suplementar e Dados Bancários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2938" y="3619230"/>
            <a:ext cx="4000500" cy="5786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42938" y="3619230"/>
            <a:ext cx="28575" cy="57864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42938" y="3619230"/>
            <a:ext cx="4000500" cy="5786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Segurança Digital:</a:t>
            </a: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Proteja sua conta Gov.br. Nunca compartilhe login/senha. Consulte o Manual da GGP na Intranet para o passo a passo de cada serviço.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143500" y="1256435"/>
            <a:ext cx="4429125" cy="399157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357813" y="1470747"/>
            <a:ext cx="4000500" cy="30182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Planos de Saúde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57813" y="1915446"/>
            <a:ext cx="40005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Convênios e assistência à saúde para servidores.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57813" y="2197624"/>
            <a:ext cx="4000500" cy="1050131"/>
          </a:xfrm>
          <a:prstGeom prst="rect">
            <a:avLst/>
          </a:prstGeom>
          <a:solidFill>
            <a:srgbClr val="FFFFFF"/>
          </a:solidFill>
          <a:ln w="9144">
            <a:solidFill>
              <a:srgbClr val="C0D8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464969" y="2304780"/>
            <a:ext cx="37861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Fundação Assefaz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64969" y="2569099"/>
            <a:ext cx="37861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Adesão via site da fundação. A proposta gerada deve ser encaminhada para </a:t>
            </a:r>
            <a:r>
              <a:rPr lang="en-US" sz="75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dlqv@antaq.gov.br</a:t>
            </a: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continuidade do processo.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357813" y="3190605"/>
            <a:ext cx="4000500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C0D8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464969" y="3297761"/>
            <a:ext cx="37861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GEAP Saúde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64969" y="3562080"/>
            <a:ext cx="37861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Envie um e-mail para </a:t>
            </a:r>
            <a:r>
              <a:rPr lang="en-US" sz="75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dlqv@antaq.gov.br</a:t>
            </a: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 equipe da GGP fará o direcionamento para um consultor especializado da GEAP.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57813" y="4183586"/>
            <a:ext cx="4000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Informação Importante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57813" y="4447905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tabelas de valores detalhadas de ambos os planos estão disponíveis para consulta na Intranet da Agência.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58252"/>
            <a:ext cx="3714750" cy="180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Cultura se constrói todos os dias, em cada atitude, em cada escolha, em cada relação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3229310"/>
            <a:ext cx="3714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93C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Agência Nacional de Transportes Aquaviários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3961544"/>
            <a:ext cx="3714750" cy="42862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 pela participação.
Dúvidas e contribuições são bem-vindas.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428625"/>
            <a:ext cx="3714750" cy="21691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701E4D3A-D856-4661-93E6-5A73BC069973}"/>
</file>

<file path=customXml/itemProps2.xml><?xml version="1.0" encoding="utf-8"?>
<ds:datastoreItem xmlns:ds="http://schemas.openxmlformats.org/officeDocument/2006/customXml" ds:itemID="{DBAF1C32-CCB9-4CC6-A8C9-45719014A485}"/>
</file>

<file path=customXml/itemProps3.xml><?xml version="1.0" encoding="utf-8"?>
<ds:datastoreItem xmlns:ds="http://schemas.openxmlformats.org/officeDocument/2006/customXml" ds:itemID="{23F4470B-F247-4CEA-8A3F-3AD907D86400}"/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1029</Words>
  <Application>Microsoft Office PowerPoint</Application>
  <PresentationFormat>Apresentação na tela (16:9)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Montserrat Bold</vt:lpstr>
      <vt:lpstr>Montserrat Light</vt:lpstr>
      <vt:lpstr>Montserrat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Sarah Nobre dos Santos Brito</cp:lastModifiedBy>
  <cp:revision>5</cp:revision>
  <cp:lastPrinted>2026-06-18T18:04:57Z</cp:lastPrinted>
  <dcterms:created xsi:type="dcterms:W3CDTF">2026-06-18T11:59:36Z</dcterms:created>
  <dcterms:modified xsi:type="dcterms:W3CDTF">2026-06-18T19:15:34Z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0x0101000A66A7F107A78542809C04863AAF6904</vt:lpwstr>
  </property>
</Properties>
</file>