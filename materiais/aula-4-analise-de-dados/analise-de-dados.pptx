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60" r:id="rId4"/>
    <p:sldId id="261" r:id="rId5"/>
    <p:sldId id="292" r:id="rId6"/>
    <p:sldId id="293" r:id="rId7"/>
    <p:sldId id="294" r:id="rId8"/>
    <p:sldId id="295" r:id="rId9"/>
    <p:sldId id="262" r:id="rId10"/>
    <p:sldId id="296" r:id="rId11"/>
    <p:sldId id="297" r:id="rId12"/>
    <p:sldId id="266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23" r:id="rId32"/>
    <p:sldId id="291" r:id="rId33"/>
  </p:sldIdLst>
  <p:sldSz cx="12192000" cy="6858000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B69"/>
    <a:srgbClr val="203864"/>
    <a:srgbClr val="074462"/>
    <a:srgbClr val="2B426C"/>
    <a:srgbClr val="57FFE3"/>
    <a:srgbClr val="00C4FF"/>
    <a:srgbClr val="15FFD8"/>
    <a:srgbClr val="20D5FE"/>
    <a:srgbClr val="54B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07" autoAdjust="0"/>
    <p:restoredTop sz="96283" autoAdjust="0"/>
  </p:normalViewPr>
  <p:slideViewPr>
    <p:cSldViewPr snapToGrid="0" snapToObjects="1">
      <p:cViewPr varScale="1">
        <p:scale>
          <a:sx n="105" d="100"/>
          <a:sy n="105" d="100"/>
        </p:scale>
        <p:origin x="150" y="162"/>
      </p:cViewPr>
      <p:guideLst>
        <p:guide pos="3840"/>
        <p:guide orient="horz"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Monteiro do Nascimento" userId="bc645443-3e0f-4b87-93dd-abdcb2b3bc1f" providerId="ADAL" clId="{FB3B7FFB-5612-48C8-8D9C-1DBFCC32EC25}"/>
    <pc:docChg chg="delSld modSld">
      <pc:chgData name="Isaac Monteiro do Nascimento" userId="bc645443-3e0f-4b87-93dd-abdcb2b3bc1f" providerId="ADAL" clId="{FB3B7FFB-5612-48C8-8D9C-1DBFCC32EC25}" dt="2026-04-29T01:05:40.084" v="52" actId="20577"/>
      <pc:docMkLst>
        <pc:docMk/>
      </pc:docMkLst>
      <pc:sldChg chg="modSp mod">
        <pc:chgData name="Isaac Monteiro do Nascimento" userId="bc645443-3e0f-4b87-93dd-abdcb2b3bc1f" providerId="ADAL" clId="{FB3B7FFB-5612-48C8-8D9C-1DBFCC32EC25}" dt="2026-04-29T01:05:21.127" v="43" actId="20577"/>
        <pc:sldMkLst>
          <pc:docMk/>
          <pc:sldMk cId="2599694225" sldId="256"/>
        </pc:sldMkLst>
        <pc:spChg chg="mod">
          <ac:chgData name="Isaac Monteiro do Nascimento" userId="bc645443-3e0f-4b87-93dd-abdcb2b3bc1f" providerId="ADAL" clId="{FB3B7FFB-5612-48C8-8D9C-1DBFCC32EC25}" dt="2026-04-29T01:05:21.127" v="43" actId="20577"/>
          <ac:spMkLst>
            <pc:docMk/>
            <pc:sldMk cId="2599694225" sldId="256"/>
            <ac:spMk id="33" creationId="{5D811475-31AF-4A33-9621-2CE0B0B70AF7}"/>
          </ac:spMkLst>
        </pc:spChg>
      </pc:sldChg>
      <pc:sldChg chg="modSp mod">
        <pc:chgData name="Isaac Monteiro do Nascimento" userId="bc645443-3e0f-4b87-93dd-abdcb2b3bc1f" providerId="ADAL" clId="{FB3B7FFB-5612-48C8-8D9C-1DBFCC32EC25}" dt="2026-04-29T01:05:40.084" v="52" actId="20577"/>
        <pc:sldMkLst>
          <pc:docMk/>
          <pc:sldMk cId="890480021" sldId="258"/>
        </pc:sldMkLst>
        <pc:spChg chg="mod">
          <ac:chgData name="Isaac Monteiro do Nascimento" userId="bc645443-3e0f-4b87-93dd-abdcb2b3bc1f" providerId="ADAL" clId="{FB3B7FFB-5612-48C8-8D9C-1DBFCC32EC25}" dt="2026-04-29T01:05:40.084" v="52" actId="20577"/>
          <ac:spMkLst>
            <pc:docMk/>
            <pc:sldMk cId="890480021" sldId="258"/>
            <ac:spMk id="5" creationId="{BB6B44E7-4917-419F-8795-3AB5BC864333}"/>
          </ac:spMkLst>
        </pc:spChg>
      </pc:sldChg>
      <pc:sldChg chg="modSp mod">
        <pc:chgData name="Isaac Monteiro do Nascimento" userId="bc645443-3e0f-4b87-93dd-abdcb2b3bc1f" providerId="ADAL" clId="{FB3B7FFB-5612-48C8-8D9C-1DBFCC32EC25}" dt="2026-04-29T00:57:04.638" v="15" actId="6549"/>
        <pc:sldMkLst>
          <pc:docMk/>
          <pc:sldMk cId="2111989317" sldId="260"/>
        </pc:sldMkLst>
        <pc:spChg chg="mod">
          <ac:chgData name="Isaac Monteiro do Nascimento" userId="bc645443-3e0f-4b87-93dd-abdcb2b3bc1f" providerId="ADAL" clId="{FB3B7FFB-5612-48C8-8D9C-1DBFCC32EC25}" dt="2026-04-29T00:57:04.638" v="15" actId="6549"/>
          <ac:spMkLst>
            <pc:docMk/>
            <pc:sldMk cId="2111989317" sldId="260"/>
            <ac:spMk id="19" creationId="{B377946C-3863-4454-A69E-9BC0346B0A08}"/>
          </ac:spMkLst>
        </pc:spChg>
      </pc:sldChg>
      <pc:sldChg chg="del">
        <pc:chgData name="Isaac Monteiro do Nascimento" userId="bc645443-3e0f-4b87-93dd-abdcb2b3bc1f" providerId="ADAL" clId="{FB3B7FFB-5612-48C8-8D9C-1DBFCC32EC25}" dt="2026-04-29T00:57:51.802" v="16" actId="47"/>
        <pc:sldMkLst>
          <pc:docMk/>
          <pc:sldMk cId="2756320676" sldId="316"/>
        </pc:sldMkLst>
      </pc:sldChg>
      <pc:sldChg chg="del">
        <pc:chgData name="Isaac Monteiro do Nascimento" userId="bc645443-3e0f-4b87-93dd-abdcb2b3bc1f" providerId="ADAL" clId="{FB3B7FFB-5612-48C8-8D9C-1DBFCC32EC25}" dt="2026-04-29T00:58:15.764" v="22" actId="47"/>
        <pc:sldMkLst>
          <pc:docMk/>
          <pc:sldMk cId="2199870811" sldId="317"/>
        </pc:sldMkLst>
      </pc:sldChg>
      <pc:sldChg chg="del">
        <pc:chgData name="Isaac Monteiro do Nascimento" userId="bc645443-3e0f-4b87-93dd-abdcb2b3bc1f" providerId="ADAL" clId="{FB3B7FFB-5612-48C8-8D9C-1DBFCC32EC25}" dt="2026-04-29T00:58:09.352" v="20" actId="47"/>
        <pc:sldMkLst>
          <pc:docMk/>
          <pc:sldMk cId="1725537259" sldId="318"/>
        </pc:sldMkLst>
      </pc:sldChg>
      <pc:sldChg chg="del">
        <pc:chgData name="Isaac Monteiro do Nascimento" userId="bc645443-3e0f-4b87-93dd-abdcb2b3bc1f" providerId="ADAL" clId="{FB3B7FFB-5612-48C8-8D9C-1DBFCC32EC25}" dt="2026-04-29T00:58:11.149" v="21" actId="47"/>
        <pc:sldMkLst>
          <pc:docMk/>
          <pc:sldMk cId="1291567618" sldId="319"/>
        </pc:sldMkLst>
      </pc:sldChg>
      <pc:sldChg chg="del">
        <pc:chgData name="Isaac Monteiro do Nascimento" userId="bc645443-3e0f-4b87-93dd-abdcb2b3bc1f" providerId="ADAL" clId="{FB3B7FFB-5612-48C8-8D9C-1DBFCC32EC25}" dt="2026-04-29T00:58:06.800" v="19" actId="47"/>
        <pc:sldMkLst>
          <pc:docMk/>
          <pc:sldMk cId="1859054388" sldId="320"/>
        </pc:sldMkLst>
      </pc:sldChg>
      <pc:sldChg chg="del">
        <pc:chgData name="Isaac Monteiro do Nascimento" userId="bc645443-3e0f-4b87-93dd-abdcb2b3bc1f" providerId="ADAL" clId="{FB3B7FFB-5612-48C8-8D9C-1DBFCC32EC25}" dt="2026-04-29T00:58:02.186" v="17" actId="47"/>
        <pc:sldMkLst>
          <pc:docMk/>
          <pc:sldMk cId="3136337620" sldId="321"/>
        </pc:sldMkLst>
      </pc:sldChg>
      <pc:sldChg chg="del">
        <pc:chgData name="Isaac Monteiro do Nascimento" userId="bc645443-3e0f-4b87-93dd-abdcb2b3bc1f" providerId="ADAL" clId="{FB3B7FFB-5612-48C8-8D9C-1DBFCC32EC25}" dt="2026-04-29T00:58:04.122" v="18" actId="47"/>
        <pc:sldMkLst>
          <pc:docMk/>
          <pc:sldMk cId="4210098551" sldId="322"/>
        </pc:sldMkLst>
      </pc:sldChg>
      <pc:sldChg chg="modSp mod">
        <pc:chgData name="Isaac Monteiro do Nascimento" userId="bc645443-3e0f-4b87-93dd-abdcb2b3bc1f" providerId="ADAL" clId="{FB3B7FFB-5612-48C8-8D9C-1DBFCC32EC25}" dt="2026-04-29T00:58:20.991" v="24" actId="20577"/>
        <pc:sldMkLst>
          <pc:docMk/>
          <pc:sldMk cId="874481136" sldId="323"/>
        </pc:sldMkLst>
        <pc:spChg chg="mod">
          <ac:chgData name="Isaac Monteiro do Nascimento" userId="bc645443-3e0f-4b87-93dd-abdcb2b3bc1f" providerId="ADAL" clId="{FB3B7FFB-5612-48C8-8D9C-1DBFCC32EC25}" dt="2026-04-29T00:58:20.991" v="24" actId="20577"/>
          <ac:spMkLst>
            <pc:docMk/>
            <pc:sldMk cId="874481136" sldId="323"/>
            <ac:spMk id="27" creationId="{D2F859C8-BB87-E0D8-F5AF-F814042A189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ntaq-my.sharepoint.com/personal/isaac_nascimento_antaq_gov_br/Documents/EVTEA%20MAO_Careiro/Regressao%20pre&#231;o%20teto%2006.06.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Consolidado_linha!$T$1</c:f>
              <c:strCache>
                <c:ptCount val="1"/>
                <c:pt idx="0">
                  <c:v>LN_PRECO_UNIT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trendline>
            <c:spPr>
              <a:ln w="9525" cap="rnd">
                <a:solidFill>
                  <a:schemeClr val="accent2"/>
                </a:solidFill>
              </a:ln>
              <a:effectLst/>
            </c:spPr>
            <c:trendlineType val="linear"/>
            <c:dispRSqr val="1"/>
            <c:dispEq val="0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Consolidado_linha!$S$2:$S$59</c:f>
              <c:numCache>
                <c:formatCode>#,##0.0000</c:formatCode>
                <c:ptCount val="58"/>
                <c:pt idx="0">
                  <c:v>-2.3025850929940455</c:v>
                </c:pt>
                <c:pt idx="1">
                  <c:v>-1.3862943611198906</c:v>
                </c:pt>
                <c:pt idx="2">
                  <c:v>-0.79850769621777162</c:v>
                </c:pt>
                <c:pt idx="3">
                  <c:v>-1.1394342831883648</c:v>
                </c:pt>
                <c:pt idx="4">
                  <c:v>-2.120263536200091</c:v>
                </c:pt>
                <c:pt idx="5">
                  <c:v>-0.16251892949777494</c:v>
                </c:pt>
                <c:pt idx="6">
                  <c:v>0</c:v>
                </c:pt>
                <c:pt idx="7">
                  <c:v>0.40546510810816438</c:v>
                </c:pt>
                <c:pt idx="8">
                  <c:v>-1.6094379124341003</c:v>
                </c:pt>
                <c:pt idx="9">
                  <c:v>-0.79850769621777162</c:v>
                </c:pt>
                <c:pt idx="10">
                  <c:v>-1.8971199848858813</c:v>
                </c:pt>
                <c:pt idx="11">
                  <c:v>-0.51082562376599072</c:v>
                </c:pt>
                <c:pt idx="12">
                  <c:v>-0.10536051565782628</c:v>
                </c:pt>
                <c:pt idx="13">
                  <c:v>-2.3025850929940455</c:v>
                </c:pt>
                <c:pt idx="14">
                  <c:v>-0.10536051565782628</c:v>
                </c:pt>
                <c:pt idx="15">
                  <c:v>-0.35667494393873245</c:v>
                </c:pt>
                <c:pt idx="16">
                  <c:v>-0.2876820724517809</c:v>
                </c:pt>
                <c:pt idx="17">
                  <c:v>-1.5141277326297755</c:v>
                </c:pt>
                <c:pt idx="18">
                  <c:v>1.0647107369924282</c:v>
                </c:pt>
                <c:pt idx="19">
                  <c:v>0.33647223662121289</c:v>
                </c:pt>
                <c:pt idx="20">
                  <c:v>-0.35667494393873245</c:v>
                </c:pt>
                <c:pt idx="21">
                  <c:v>0.40546510810816438</c:v>
                </c:pt>
                <c:pt idx="22">
                  <c:v>1.0296194171811581</c:v>
                </c:pt>
                <c:pt idx="23">
                  <c:v>-0.19845093872383832</c:v>
                </c:pt>
                <c:pt idx="24">
                  <c:v>-1.3470736479666092</c:v>
                </c:pt>
                <c:pt idx="25">
                  <c:v>2.4849066497880004</c:v>
                </c:pt>
                <c:pt idx="26">
                  <c:v>-1.0498221244986778</c:v>
                </c:pt>
                <c:pt idx="27">
                  <c:v>-0.69314718055994529</c:v>
                </c:pt>
                <c:pt idx="28">
                  <c:v>0.47000362924573563</c:v>
                </c:pt>
                <c:pt idx="29">
                  <c:v>-0.12783337150988489</c:v>
                </c:pt>
                <c:pt idx="30">
                  <c:v>0</c:v>
                </c:pt>
                <c:pt idx="31">
                  <c:v>0.69314718055994529</c:v>
                </c:pt>
                <c:pt idx="32">
                  <c:v>-0.79850769621777162</c:v>
                </c:pt>
                <c:pt idx="33">
                  <c:v>0.95551144502743635</c:v>
                </c:pt>
                <c:pt idx="34">
                  <c:v>0.74193734472937733</c:v>
                </c:pt>
                <c:pt idx="35">
                  <c:v>-0.51082562376599072</c:v>
                </c:pt>
                <c:pt idx="36">
                  <c:v>-0.22314355131420971</c:v>
                </c:pt>
                <c:pt idx="37">
                  <c:v>-0.59783700075562041</c:v>
                </c:pt>
                <c:pt idx="38">
                  <c:v>0.10436001532424286</c:v>
                </c:pt>
                <c:pt idx="39">
                  <c:v>-0.69314718055994529</c:v>
                </c:pt>
                <c:pt idx="40">
                  <c:v>-0.46203545959655867</c:v>
                </c:pt>
                <c:pt idx="41">
                  <c:v>0.99325177301028345</c:v>
                </c:pt>
                <c:pt idx="42">
                  <c:v>2.1329823086078656</c:v>
                </c:pt>
                <c:pt idx="43">
                  <c:v>-0.69314718055994529</c:v>
                </c:pt>
                <c:pt idx="44">
                  <c:v>0.83290912293510388</c:v>
                </c:pt>
                <c:pt idx="45">
                  <c:v>0.47000362924573563</c:v>
                </c:pt>
                <c:pt idx="46">
                  <c:v>-0.15082288973458366</c:v>
                </c:pt>
                <c:pt idx="47">
                  <c:v>0.22314355131420976</c:v>
                </c:pt>
                <c:pt idx="48">
                  <c:v>-0.22314355131420971</c:v>
                </c:pt>
                <c:pt idx="49">
                  <c:v>0.53062825106217038</c:v>
                </c:pt>
                <c:pt idx="50" formatCode="General">
                  <c:v>-0.79850769621777162</c:v>
                </c:pt>
                <c:pt idx="51" formatCode="General">
                  <c:v>0.87546873735389985</c:v>
                </c:pt>
                <c:pt idx="52" formatCode="General">
                  <c:v>-0.51082562376599072</c:v>
                </c:pt>
                <c:pt idx="53" formatCode="General">
                  <c:v>-0.22314355131420971</c:v>
                </c:pt>
                <c:pt idx="54" formatCode="General">
                  <c:v>-6.1875403718087529E-2</c:v>
                </c:pt>
                <c:pt idx="55" formatCode="General">
                  <c:v>-8.3381608939051013E-2</c:v>
                </c:pt>
                <c:pt idx="56" formatCode="General">
                  <c:v>1.589235205116581</c:v>
                </c:pt>
                <c:pt idx="57" formatCode="General">
                  <c:v>-0.2876820724517809</c:v>
                </c:pt>
              </c:numCache>
            </c:numRef>
          </c:xVal>
          <c:yVal>
            <c:numRef>
              <c:f>Consolidado_linha!$T$2:$T$59</c:f>
              <c:numCache>
                <c:formatCode>#,##0.0000</c:formatCode>
                <c:ptCount val="58"/>
                <c:pt idx="0">
                  <c:v>5.1639284635093849</c:v>
                </c:pt>
                <c:pt idx="1">
                  <c:v>4.2341065045972597</c:v>
                </c:pt>
                <c:pt idx="2">
                  <c:v>3.196402969016142</c:v>
                </c:pt>
                <c:pt idx="3">
                  <c:v>4.3583101080565658</c:v>
                </c:pt>
                <c:pt idx="4">
                  <c:v>5.339139361068292</c:v>
                </c:pt>
                <c:pt idx="5">
                  <c:v>3.7190091955659659</c:v>
                </c:pt>
                <c:pt idx="6">
                  <c:v>3.4011973816621555</c:v>
                </c:pt>
                <c:pt idx="7">
                  <c:v>2.8134107167600364</c:v>
                </c:pt>
                <c:pt idx="8">
                  <c:v>5.0106352940962555</c:v>
                </c:pt>
                <c:pt idx="9">
                  <c:v>3.8135522808041356</c:v>
                </c:pt>
                <c:pt idx="10">
                  <c:v>5.8091429903140277</c:v>
                </c:pt>
                <c:pt idx="11">
                  <c:v>3.7297014486341915</c:v>
                </c:pt>
                <c:pt idx="12">
                  <c:v>3.1010927892118172</c:v>
                </c:pt>
                <c:pt idx="13">
                  <c:v>5.7037824746562009</c:v>
                </c:pt>
                <c:pt idx="14">
                  <c:v>3.343254346361789</c:v>
                </c:pt>
                <c:pt idx="15">
                  <c:v>3.7578723256008879</c:v>
                </c:pt>
                <c:pt idx="16">
                  <c:v>3.6888794541139363</c:v>
                </c:pt>
                <c:pt idx="17">
                  <c:v>4.5291723172161396</c:v>
                </c:pt>
                <c:pt idx="18">
                  <c:v>2.356289271965907</c:v>
                </c:pt>
                <c:pt idx="19">
                  <c:v>2.7545702167371031</c:v>
                </c:pt>
                <c:pt idx="20">
                  <c:v>3.5945687746426951</c:v>
                </c:pt>
                <c:pt idx="21">
                  <c:v>3.8430301339411947</c:v>
                </c:pt>
                <c:pt idx="22">
                  <c:v>2.1892564076870427</c:v>
                </c:pt>
                <c:pt idx="23">
                  <c:v>3.700398223486137</c:v>
                </c:pt>
                <c:pt idx="24">
                  <c:v>4.7482710296287651</c:v>
                </c:pt>
                <c:pt idx="25">
                  <c:v>1.3705460041517514</c:v>
                </c:pt>
                <c:pt idx="26">
                  <c:v>4.3820266346738812</c:v>
                </c:pt>
                <c:pt idx="27">
                  <c:v>4.1271343850450917</c:v>
                </c:pt>
                <c:pt idx="28">
                  <c:v>3.5373295559867355</c:v>
                </c:pt>
                <c:pt idx="29">
                  <c:v>3.5698527476922952</c:v>
                </c:pt>
                <c:pt idx="30">
                  <c:v>3.2378938307039626</c:v>
                </c:pt>
                <c:pt idx="31">
                  <c:v>2.8332133440562162</c:v>
                </c:pt>
                <c:pt idx="32">
                  <c:v>3.8135522808041356</c:v>
                </c:pt>
                <c:pt idx="33">
                  <c:v>2.6280074934286737</c:v>
                </c:pt>
                <c:pt idx="34">
                  <c:v>2.6790626642289577</c:v>
                </c:pt>
                <c:pt idx="35">
                  <c:v>3.2188758248682006</c:v>
                </c:pt>
                <c:pt idx="36">
                  <c:v>3.4610373820181723</c:v>
                </c:pt>
                <c:pt idx="37">
                  <c:v>4.6051701859880909</c:v>
                </c:pt>
                <c:pt idx="38">
                  <c:v>3.8076629901039034</c:v>
                </c:pt>
                <c:pt idx="39">
                  <c:v>4.6051701859880918</c:v>
                </c:pt>
                <c:pt idx="40">
                  <c:v>4.0185257256647491</c:v>
                </c:pt>
                <c:pt idx="41">
                  <c:v>2.6956276811036526</c:v>
                </c:pt>
                <c:pt idx="42">
                  <c:v>1.6736801811624542</c:v>
                </c:pt>
                <c:pt idx="43">
                  <c:v>4.0943445622221004</c:v>
                </c:pt>
                <c:pt idx="44">
                  <c:v>3.0791138824930422</c:v>
                </c:pt>
                <c:pt idx="45">
                  <c:v>2.767890201458227</c:v>
                </c:pt>
                <c:pt idx="46">
                  <c:v>3.3887167204385462</c:v>
                </c:pt>
                <c:pt idx="47">
                  <c:v>3.8712010109078911</c:v>
                </c:pt>
                <c:pt idx="48">
                  <c:v>3.4610373820181723</c:v>
                </c:pt>
                <c:pt idx="49">
                  <c:v>2.8903717578961645</c:v>
                </c:pt>
                <c:pt idx="50" formatCode="General">
                  <c:v>3.3081069585961433</c:v>
                </c:pt>
                <c:pt idx="51" formatCode="General">
                  <c:v>2.2025016344370631</c:v>
                </c:pt>
                <c:pt idx="52" formatCode="General">
                  <c:v>2.4597923213038531</c:v>
                </c:pt>
                <c:pt idx="53" formatCode="General">
                  <c:v>2.8652574294120172</c:v>
                </c:pt>
                <c:pt idx="54" formatCode="General">
                  <c:v>2.703989281815895</c:v>
                </c:pt>
                <c:pt idx="55" formatCode="General">
                  <c:v>2.032348306476913</c:v>
                </c:pt>
                <c:pt idx="56" formatCode="General">
                  <c:v>2.2819658057913097</c:v>
                </c:pt>
                <c:pt idx="57" formatCode="General">
                  <c:v>3.3490683162272088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D7B-4525-AE5E-9FB57D022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52126799"/>
        <c:axId val="1852110959"/>
      </c:scatterChart>
      <c:valAx>
        <c:axId val="1852126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Ln (extensão da linha)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110959"/>
        <c:crosses val="autoZero"/>
        <c:crossBetween val="midCat"/>
      </c:valAx>
      <c:valAx>
        <c:axId val="185211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Ln (preço unitário)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126799"/>
        <c:crossesAt val="-3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CF04FD-CDA1-442B-B939-DF1377C94F5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F0C544-96EA-418E-83E7-224B2910B481}">
      <dgm:prSet phldrT="[Texto]"/>
      <dgm:spPr/>
      <dgm:t>
        <a:bodyPr/>
        <a:lstStyle/>
        <a:p>
          <a:r>
            <a:rPr lang="pt-BR" dirty="0"/>
            <a:t>Problema?</a:t>
          </a:r>
          <a:endParaRPr lang="en-US" dirty="0"/>
        </a:p>
      </dgm:t>
    </dgm:pt>
    <dgm:pt modelId="{D9DBC7CD-270E-4C67-87DA-6BCF26A7E3C2}" type="parTrans" cxnId="{D56F0245-6D24-420C-8CAF-C124B6A7223E}">
      <dgm:prSet/>
      <dgm:spPr/>
      <dgm:t>
        <a:bodyPr/>
        <a:lstStyle/>
        <a:p>
          <a:endParaRPr lang="en-US"/>
        </a:p>
      </dgm:t>
    </dgm:pt>
    <dgm:pt modelId="{8618954B-F7C5-418A-91F9-7694E8D647DB}" type="sibTrans" cxnId="{D56F0245-6D24-420C-8CAF-C124B6A7223E}">
      <dgm:prSet/>
      <dgm:spPr/>
      <dgm:t>
        <a:bodyPr/>
        <a:lstStyle/>
        <a:p>
          <a:endParaRPr lang="en-US"/>
        </a:p>
      </dgm:t>
    </dgm:pt>
    <dgm:pt modelId="{44F6E1AF-B737-4028-BD42-5E4E5F8B8ECB}">
      <dgm:prSet phldrT="[Texto]"/>
      <dgm:spPr/>
      <dgm:t>
        <a:bodyPr/>
        <a:lstStyle/>
        <a:p>
          <a:r>
            <a:rPr lang="pt-BR" dirty="0"/>
            <a:t>Dados?</a:t>
          </a:r>
          <a:endParaRPr lang="en-US" dirty="0"/>
        </a:p>
      </dgm:t>
    </dgm:pt>
    <dgm:pt modelId="{B749EF8F-FC20-4C06-976D-DC106CE392DC}" type="parTrans" cxnId="{829800EC-D1EC-4355-BACC-A645ABDAA56D}">
      <dgm:prSet/>
      <dgm:spPr/>
      <dgm:t>
        <a:bodyPr/>
        <a:lstStyle/>
        <a:p>
          <a:endParaRPr lang="en-US"/>
        </a:p>
      </dgm:t>
    </dgm:pt>
    <dgm:pt modelId="{A2490A4E-7A45-4DB8-A886-9B7727D14B76}" type="sibTrans" cxnId="{829800EC-D1EC-4355-BACC-A645ABDAA56D}">
      <dgm:prSet/>
      <dgm:spPr/>
      <dgm:t>
        <a:bodyPr/>
        <a:lstStyle/>
        <a:p>
          <a:endParaRPr lang="en-US"/>
        </a:p>
      </dgm:t>
    </dgm:pt>
    <dgm:pt modelId="{8DA7EDDF-4360-4C31-A32F-70AC30FCD935}">
      <dgm:prSet phldrT="[Texto]"/>
      <dgm:spPr/>
      <dgm:t>
        <a:bodyPr/>
        <a:lstStyle/>
        <a:p>
          <a:r>
            <a:rPr lang="pt-BR" dirty="0"/>
            <a:t>Depuração dos dados</a:t>
          </a:r>
          <a:endParaRPr lang="en-US" dirty="0"/>
        </a:p>
      </dgm:t>
    </dgm:pt>
    <dgm:pt modelId="{036447D9-1AB3-4BF6-BD16-0F81B9F02D67}" type="parTrans" cxnId="{E787FCFD-8F00-42F2-B5D9-EB70464EA842}">
      <dgm:prSet/>
      <dgm:spPr/>
      <dgm:t>
        <a:bodyPr/>
        <a:lstStyle/>
        <a:p>
          <a:endParaRPr lang="en-US"/>
        </a:p>
      </dgm:t>
    </dgm:pt>
    <dgm:pt modelId="{D826D6E7-649F-4014-8A19-401E14F02396}" type="sibTrans" cxnId="{E787FCFD-8F00-42F2-B5D9-EB70464EA842}">
      <dgm:prSet/>
      <dgm:spPr/>
      <dgm:t>
        <a:bodyPr/>
        <a:lstStyle/>
        <a:p>
          <a:endParaRPr lang="en-US"/>
        </a:p>
      </dgm:t>
    </dgm:pt>
    <dgm:pt modelId="{2B175DDA-3730-4A75-9668-D055C9D82531}">
      <dgm:prSet phldrT="[Texto]"/>
      <dgm:spPr/>
      <dgm:t>
        <a:bodyPr/>
        <a:lstStyle/>
        <a:p>
          <a:r>
            <a:rPr lang="pt-BR" dirty="0"/>
            <a:t>Análise Exploratória</a:t>
          </a:r>
          <a:endParaRPr lang="en-US" dirty="0"/>
        </a:p>
      </dgm:t>
    </dgm:pt>
    <dgm:pt modelId="{F72219AE-35C3-42D1-96BD-7D524125D85D}" type="parTrans" cxnId="{70AADD9F-CB3C-4E16-B0C0-6BB27C289A6B}">
      <dgm:prSet/>
      <dgm:spPr/>
      <dgm:t>
        <a:bodyPr/>
        <a:lstStyle/>
        <a:p>
          <a:endParaRPr lang="en-US"/>
        </a:p>
      </dgm:t>
    </dgm:pt>
    <dgm:pt modelId="{4EEFD133-849F-4502-8B81-4EAA79C18318}" type="sibTrans" cxnId="{70AADD9F-CB3C-4E16-B0C0-6BB27C289A6B}">
      <dgm:prSet/>
      <dgm:spPr/>
      <dgm:t>
        <a:bodyPr/>
        <a:lstStyle/>
        <a:p>
          <a:endParaRPr lang="en-US"/>
        </a:p>
      </dgm:t>
    </dgm:pt>
    <dgm:pt modelId="{369891C3-24E9-4760-A043-64D7FF20732A}">
      <dgm:prSet phldrT="[Texto]"/>
      <dgm:spPr/>
      <dgm:t>
        <a:bodyPr/>
        <a:lstStyle/>
        <a:p>
          <a:r>
            <a:rPr lang="pt-BR" dirty="0"/>
            <a:t>Modelagem</a:t>
          </a:r>
          <a:endParaRPr lang="en-US" dirty="0"/>
        </a:p>
      </dgm:t>
    </dgm:pt>
    <dgm:pt modelId="{A0104C08-08E6-4603-96AD-7E8B6E86E969}" type="parTrans" cxnId="{89DB41FC-4321-4F61-9D3B-759B80201630}">
      <dgm:prSet/>
      <dgm:spPr/>
      <dgm:t>
        <a:bodyPr/>
        <a:lstStyle/>
        <a:p>
          <a:endParaRPr lang="en-US"/>
        </a:p>
      </dgm:t>
    </dgm:pt>
    <dgm:pt modelId="{86FE4459-E1B2-4D0F-90E0-285A049CE000}" type="sibTrans" cxnId="{89DB41FC-4321-4F61-9D3B-759B80201630}">
      <dgm:prSet/>
      <dgm:spPr/>
      <dgm:t>
        <a:bodyPr/>
        <a:lstStyle/>
        <a:p>
          <a:endParaRPr lang="en-US"/>
        </a:p>
      </dgm:t>
    </dgm:pt>
    <dgm:pt modelId="{8AA976ED-CC0A-471D-8270-56C015E0DB80}">
      <dgm:prSet phldrT="[Texto]"/>
      <dgm:spPr/>
      <dgm:t>
        <a:bodyPr/>
        <a:lstStyle/>
        <a:p>
          <a:r>
            <a:rPr lang="pt-BR" dirty="0"/>
            <a:t>Interpretação dos Resultados</a:t>
          </a:r>
          <a:endParaRPr lang="en-US" dirty="0"/>
        </a:p>
      </dgm:t>
    </dgm:pt>
    <dgm:pt modelId="{6FF37854-F152-4BBF-9A67-59702F248CED}" type="parTrans" cxnId="{9F9C4936-8590-4BE3-80BC-3DA07A4585FD}">
      <dgm:prSet/>
      <dgm:spPr/>
      <dgm:t>
        <a:bodyPr/>
        <a:lstStyle/>
        <a:p>
          <a:endParaRPr lang="en-US"/>
        </a:p>
      </dgm:t>
    </dgm:pt>
    <dgm:pt modelId="{F3799D15-D440-43FA-B72A-16ACB9FB5DF1}" type="sibTrans" cxnId="{9F9C4936-8590-4BE3-80BC-3DA07A4585FD}">
      <dgm:prSet/>
      <dgm:spPr/>
      <dgm:t>
        <a:bodyPr/>
        <a:lstStyle/>
        <a:p>
          <a:endParaRPr lang="en-US"/>
        </a:p>
      </dgm:t>
    </dgm:pt>
    <dgm:pt modelId="{E28188C1-C1B6-4D8C-AA83-F50665C8D34A}">
      <dgm:prSet phldrT="[Texto]"/>
      <dgm:spPr/>
      <dgm:t>
        <a:bodyPr/>
        <a:lstStyle/>
        <a:p>
          <a:r>
            <a:rPr lang="pt-BR" dirty="0"/>
            <a:t>Implementação e Acompanhamento</a:t>
          </a:r>
          <a:endParaRPr lang="en-US" dirty="0"/>
        </a:p>
      </dgm:t>
    </dgm:pt>
    <dgm:pt modelId="{571F40EC-9C26-4452-83C6-33A14D6E9526}" type="parTrans" cxnId="{A3F96DF4-6FA9-490F-AB0C-1C2648FD8EC2}">
      <dgm:prSet/>
      <dgm:spPr/>
      <dgm:t>
        <a:bodyPr/>
        <a:lstStyle/>
        <a:p>
          <a:endParaRPr lang="en-US"/>
        </a:p>
      </dgm:t>
    </dgm:pt>
    <dgm:pt modelId="{0C1B069F-2F04-49E6-9428-51202B723CE7}" type="sibTrans" cxnId="{A3F96DF4-6FA9-490F-AB0C-1C2648FD8EC2}">
      <dgm:prSet/>
      <dgm:spPr/>
      <dgm:t>
        <a:bodyPr/>
        <a:lstStyle/>
        <a:p>
          <a:endParaRPr lang="en-US"/>
        </a:p>
      </dgm:t>
    </dgm:pt>
    <dgm:pt modelId="{DE16D389-B881-4FC8-AA7C-8F1AC5B098EE}" type="pres">
      <dgm:prSet presAssocID="{31CF04FD-CDA1-442B-B939-DF1377C94F53}" presName="diagram" presStyleCnt="0">
        <dgm:presLayoutVars>
          <dgm:dir/>
          <dgm:resizeHandles val="exact"/>
        </dgm:presLayoutVars>
      </dgm:prSet>
      <dgm:spPr/>
    </dgm:pt>
    <dgm:pt modelId="{D7624A2D-898F-416A-9610-7B400DD8B461}" type="pres">
      <dgm:prSet presAssocID="{F4F0C544-96EA-418E-83E7-224B2910B481}" presName="node" presStyleLbl="node1" presStyleIdx="0" presStyleCnt="7">
        <dgm:presLayoutVars>
          <dgm:bulletEnabled val="1"/>
        </dgm:presLayoutVars>
      </dgm:prSet>
      <dgm:spPr/>
    </dgm:pt>
    <dgm:pt modelId="{57F393B0-3007-4CAC-97D7-4A1D2AEB0E7D}" type="pres">
      <dgm:prSet presAssocID="{8618954B-F7C5-418A-91F9-7694E8D647DB}" presName="sibTrans" presStyleLbl="sibTrans2D1" presStyleIdx="0" presStyleCnt="6"/>
      <dgm:spPr/>
    </dgm:pt>
    <dgm:pt modelId="{05C971D4-7477-44DE-A2D3-8D6F6A316663}" type="pres">
      <dgm:prSet presAssocID="{8618954B-F7C5-418A-91F9-7694E8D647DB}" presName="connectorText" presStyleLbl="sibTrans2D1" presStyleIdx="0" presStyleCnt="6"/>
      <dgm:spPr/>
    </dgm:pt>
    <dgm:pt modelId="{05F2D02D-CC83-4C44-B25D-B47E83EBB969}" type="pres">
      <dgm:prSet presAssocID="{44F6E1AF-B737-4028-BD42-5E4E5F8B8ECB}" presName="node" presStyleLbl="node1" presStyleIdx="1" presStyleCnt="7">
        <dgm:presLayoutVars>
          <dgm:bulletEnabled val="1"/>
        </dgm:presLayoutVars>
      </dgm:prSet>
      <dgm:spPr/>
    </dgm:pt>
    <dgm:pt modelId="{56135CF7-0A17-4BD5-814F-A5171CEA2559}" type="pres">
      <dgm:prSet presAssocID="{A2490A4E-7A45-4DB8-A886-9B7727D14B76}" presName="sibTrans" presStyleLbl="sibTrans2D1" presStyleIdx="1" presStyleCnt="6"/>
      <dgm:spPr/>
    </dgm:pt>
    <dgm:pt modelId="{48F08183-C81B-454E-B867-FC6B5CC1CB8F}" type="pres">
      <dgm:prSet presAssocID="{A2490A4E-7A45-4DB8-A886-9B7727D14B76}" presName="connectorText" presStyleLbl="sibTrans2D1" presStyleIdx="1" presStyleCnt="6"/>
      <dgm:spPr/>
    </dgm:pt>
    <dgm:pt modelId="{73F54225-3581-4829-BEC8-ADC57FD26A35}" type="pres">
      <dgm:prSet presAssocID="{8DA7EDDF-4360-4C31-A32F-70AC30FCD935}" presName="node" presStyleLbl="node1" presStyleIdx="2" presStyleCnt="7">
        <dgm:presLayoutVars>
          <dgm:bulletEnabled val="1"/>
        </dgm:presLayoutVars>
      </dgm:prSet>
      <dgm:spPr/>
    </dgm:pt>
    <dgm:pt modelId="{5AECA9AC-4F06-42CD-9BD9-09850F280E0C}" type="pres">
      <dgm:prSet presAssocID="{D826D6E7-649F-4014-8A19-401E14F02396}" presName="sibTrans" presStyleLbl="sibTrans2D1" presStyleIdx="2" presStyleCnt="6"/>
      <dgm:spPr/>
    </dgm:pt>
    <dgm:pt modelId="{CAE13C66-20E9-443D-AAA5-2E89456B5290}" type="pres">
      <dgm:prSet presAssocID="{D826D6E7-649F-4014-8A19-401E14F02396}" presName="connectorText" presStyleLbl="sibTrans2D1" presStyleIdx="2" presStyleCnt="6"/>
      <dgm:spPr/>
    </dgm:pt>
    <dgm:pt modelId="{EDBBCAAD-6A06-4309-B163-7EDB64AB39E1}" type="pres">
      <dgm:prSet presAssocID="{2B175DDA-3730-4A75-9668-D055C9D82531}" presName="node" presStyleLbl="node1" presStyleIdx="3" presStyleCnt="7">
        <dgm:presLayoutVars>
          <dgm:bulletEnabled val="1"/>
        </dgm:presLayoutVars>
      </dgm:prSet>
      <dgm:spPr/>
    </dgm:pt>
    <dgm:pt modelId="{C9A2363F-E2E4-4B2E-B0E1-D5E1F9E02F14}" type="pres">
      <dgm:prSet presAssocID="{4EEFD133-849F-4502-8B81-4EAA79C18318}" presName="sibTrans" presStyleLbl="sibTrans2D1" presStyleIdx="3" presStyleCnt="6"/>
      <dgm:spPr/>
    </dgm:pt>
    <dgm:pt modelId="{2C779911-35C2-4BA7-AA90-202C5CB68B64}" type="pres">
      <dgm:prSet presAssocID="{4EEFD133-849F-4502-8B81-4EAA79C18318}" presName="connectorText" presStyleLbl="sibTrans2D1" presStyleIdx="3" presStyleCnt="6"/>
      <dgm:spPr/>
    </dgm:pt>
    <dgm:pt modelId="{5FC36601-09E0-481E-9184-2105FCADC972}" type="pres">
      <dgm:prSet presAssocID="{369891C3-24E9-4760-A043-64D7FF20732A}" presName="node" presStyleLbl="node1" presStyleIdx="4" presStyleCnt="7">
        <dgm:presLayoutVars>
          <dgm:bulletEnabled val="1"/>
        </dgm:presLayoutVars>
      </dgm:prSet>
      <dgm:spPr/>
    </dgm:pt>
    <dgm:pt modelId="{D0E21384-7297-4D67-9EB4-94EBBA03A926}" type="pres">
      <dgm:prSet presAssocID="{86FE4459-E1B2-4D0F-90E0-285A049CE000}" presName="sibTrans" presStyleLbl="sibTrans2D1" presStyleIdx="4" presStyleCnt="6"/>
      <dgm:spPr/>
    </dgm:pt>
    <dgm:pt modelId="{503D7CA4-CE4C-4577-B793-408B724074C0}" type="pres">
      <dgm:prSet presAssocID="{86FE4459-E1B2-4D0F-90E0-285A049CE000}" presName="connectorText" presStyleLbl="sibTrans2D1" presStyleIdx="4" presStyleCnt="6"/>
      <dgm:spPr/>
    </dgm:pt>
    <dgm:pt modelId="{3B8061F3-598E-4FF9-B1C8-5C28D789DEDA}" type="pres">
      <dgm:prSet presAssocID="{8AA976ED-CC0A-471D-8270-56C015E0DB80}" presName="node" presStyleLbl="node1" presStyleIdx="5" presStyleCnt="7">
        <dgm:presLayoutVars>
          <dgm:bulletEnabled val="1"/>
        </dgm:presLayoutVars>
      </dgm:prSet>
      <dgm:spPr/>
    </dgm:pt>
    <dgm:pt modelId="{31D72DE7-9909-4374-8739-6E33582BD8F6}" type="pres">
      <dgm:prSet presAssocID="{F3799D15-D440-43FA-B72A-16ACB9FB5DF1}" presName="sibTrans" presStyleLbl="sibTrans2D1" presStyleIdx="5" presStyleCnt="6"/>
      <dgm:spPr/>
    </dgm:pt>
    <dgm:pt modelId="{D4FE2EFD-7AAC-45C2-A926-0C6C85E290F8}" type="pres">
      <dgm:prSet presAssocID="{F3799D15-D440-43FA-B72A-16ACB9FB5DF1}" presName="connectorText" presStyleLbl="sibTrans2D1" presStyleIdx="5" presStyleCnt="6"/>
      <dgm:spPr/>
    </dgm:pt>
    <dgm:pt modelId="{483CE2A1-3174-47B2-9C0E-50EB9AB540D9}" type="pres">
      <dgm:prSet presAssocID="{E28188C1-C1B6-4D8C-AA83-F50665C8D34A}" presName="node" presStyleLbl="node1" presStyleIdx="6" presStyleCnt="7">
        <dgm:presLayoutVars>
          <dgm:bulletEnabled val="1"/>
        </dgm:presLayoutVars>
      </dgm:prSet>
      <dgm:spPr/>
    </dgm:pt>
  </dgm:ptLst>
  <dgm:cxnLst>
    <dgm:cxn modelId="{FEF09C12-F4EB-4CF2-A05A-9B018113E541}" type="presOf" srcId="{2B175DDA-3730-4A75-9668-D055C9D82531}" destId="{EDBBCAAD-6A06-4309-B163-7EDB64AB39E1}" srcOrd="0" destOrd="0" presId="urn:microsoft.com/office/officeart/2005/8/layout/process5"/>
    <dgm:cxn modelId="{E626F829-0460-45F3-A979-36EE14B4414A}" type="presOf" srcId="{D826D6E7-649F-4014-8A19-401E14F02396}" destId="{5AECA9AC-4F06-42CD-9BD9-09850F280E0C}" srcOrd="0" destOrd="0" presId="urn:microsoft.com/office/officeart/2005/8/layout/process5"/>
    <dgm:cxn modelId="{3A7E942F-71DD-4558-9971-D581B45D0292}" type="presOf" srcId="{F4F0C544-96EA-418E-83E7-224B2910B481}" destId="{D7624A2D-898F-416A-9610-7B400DD8B461}" srcOrd="0" destOrd="0" presId="urn:microsoft.com/office/officeart/2005/8/layout/process5"/>
    <dgm:cxn modelId="{9F9C4936-8590-4BE3-80BC-3DA07A4585FD}" srcId="{31CF04FD-CDA1-442B-B939-DF1377C94F53}" destId="{8AA976ED-CC0A-471D-8270-56C015E0DB80}" srcOrd="5" destOrd="0" parTransId="{6FF37854-F152-4BBF-9A67-59702F248CED}" sibTransId="{F3799D15-D440-43FA-B72A-16ACB9FB5DF1}"/>
    <dgm:cxn modelId="{AAD4D037-B6F6-4D7C-9C70-654F232F928C}" type="presOf" srcId="{31CF04FD-CDA1-442B-B939-DF1377C94F53}" destId="{DE16D389-B881-4FC8-AA7C-8F1AC5B098EE}" srcOrd="0" destOrd="0" presId="urn:microsoft.com/office/officeart/2005/8/layout/process5"/>
    <dgm:cxn modelId="{B8C1163C-84A4-436B-82AE-AC4D92CF54FF}" type="presOf" srcId="{A2490A4E-7A45-4DB8-A886-9B7727D14B76}" destId="{56135CF7-0A17-4BD5-814F-A5171CEA2559}" srcOrd="0" destOrd="0" presId="urn:microsoft.com/office/officeart/2005/8/layout/process5"/>
    <dgm:cxn modelId="{8EEB0F3F-1223-4BEB-ADBD-77E2DD4D453C}" type="presOf" srcId="{F3799D15-D440-43FA-B72A-16ACB9FB5DF1}" destId="{D4FE2EFD-7AAC-45C2-A926-0C6C85E290F8}" srcOrd="1" destOrd="0" presId="urn:microsoft.com/office/officeart/2005/8/layout/process5"/>
    <dgm:cxn modelId="{78FCC663-86C9-41FE-8FEC-4020C09CAE34}" type="presOf" srcId="{D826D6E7-649F-4014-8A19-401E14F02396}" destId="{CAE13C66-20E9-443D-AAA5-2E89456B5290}" srcOrd="1" destOrd="0" presId="urn:microsoft.com/office/officeart/2005/8/layout/process5"/>
    <dgm:cxn modelId="{D56F0245-6D24-420C-8CAF-C124B6A7223E}" srcId="{31CF04FD-CDA1-442B-B939-DF1377C94F53}" destId="{F4F0C544-96EA-418E-83E7-224B2910B481}" srcOrd="0" destOrd="0" parTransId="{D9DBC7CD-270E-4C67-87DA-6BCF26A7E3C2}" sibTransId="{8618954B-F7C5-418A-91F9-7694E8D647DB}"/>
    <dgm:cxn modelId="{68F3C46E-6CC7-4475-A739-54B525F510E9}" type="presOf" srcId="{369891C3-24E9-4760-A043-64D7FF20732A}" destId="{5FC36601-09E0-481E-9184-2105FCADC972}" srcOrd="0" destOrd="0" presId="urn:microsoft.com/office/officeart/2005/8/layout/process5"/>
    <dgm:cxn modelId="{33D10054-E9A3-4AF3-8E8F-37718B4CAC2B}" type="presOf" srcId="{86FE4459-E1B2-4D0F-90E0-285A049CE000}" destId="{D0E21384-7297-4D67-9EB4-94EBBA03A926}" srcOrd="0" destOrd="0" presId="urn:microsoft.com/office/officeart/2005/8/layout/process5"/>
    <dgm:cxn modelId="{17523583-3E87-41A6-BC30-01A6C9EB9F86}" type="presOf" srcId="{44F6E1AF-B737-4028-BD42-5E4E5F8B8ECB}" destId="{05F2D02D-CC83-4C44-B25D-B47E83EBB969}" srcOrd="0" destOrd="0" presId="urn:microsoft.com/office/officeart/2005/8/layout/process5"/>
    <dgm:cxn modelId="{369ECA8B-B68F-40CE-99D5-45B15609A2D6}" type="presOf" srcId="{4EEFD133-849F-4502-8B81-4EAA79C18318}" destId="{C9A2363F-E2E4-4B2E-B0E1-D5E1F9E02F14}" srcOrd="0" destOrd="0" presId="urn:microsoft.com/office/officeart/2005/8/layout/process5"/>
    <dgm:cxn modelId="{70AADD9F-CB3C-4E16-B0C0-6BB27C289A6B}" srcId="{31CF04FD-CDA1-442B-B939-DF1377C94F53}" destId="{2B175DDA-3730-4A75-9668-D055C9D82531}" srcOrd="3" destOrd="0" parTransId="{F72219AE-35C3-42D1-96BD-7D524125D85D}" sibTransId="{4EEFD133-849F-4502-8B81-4EAA79C18318}"/>
    <dgm:cxn modelId="{858BC7A1-8892-4573-A7ED-F2E0E77987C4}" type="presOf" srcId="{8618954B-F7C5-418A-91F9-7694E8D647DB}" destId="{05C971D4-7477-44DE-A2D3-8D6F6A316663}" srcOrd="1" destOrd="0" presId="urn:microsoft.com/office/officeart/2005/8/layout/process5"/>
    <dgm:cxn modelId="{3EDBF9A2-5714-44A1-979B-32537615A545}" type="presOf" srcId="{F3799D15-D440-43FA-B72A-16ACB9FB5DF1}" destId="{31D72DE7-9909-4374-8739-6E33582BD8F6}" srcOrd="0" destOrd="0" presId="urn:microsoft.com/office/officeart/2005/8/layout/process5"/>
    <dgm:cxn modelId="{918FBEC6-ECD5-489A-BD08-42A785BF563B}" type="presOf" srcId="{E28188C1-C1B6-4D8C-AA83-F50665C8D34A}" destId="{483CE2A1-3174-47B2-9C0E-50EB9AB540D9}" srcOrd="0" destOrd="0" presId="urn:microsoft.com/office/officeart/2005/8/layout/process5"/>
    <dgm:cxn modelId="{97A3D9C7-09D2-427B-A79D-591CC02EFD60}" type="presOf" srcId="{8618954B-F7C5-418A-91F9-7694E8D647DB}" destId="{57F393B0-3007-4CAC-97D7-4A1D2AEB0E7D}" srcOrd="0" destOrd="0" presId="urn:microsoft.com/office/officeart/2005/8/layout/process5"/>
    <dgm:cxn modelId="{E633A8D4-9F5A-4255-9692-72DA07C54533}" type="presOf" srcId="{8DA7EDDF-4360-4C31-A32F-70AC30FCD935}" destId="{73F54225-3581-4829-BEC8-ADC57FD26A35}" srcOrd="0" destOrd="0" presId="urn:microsoft.com/office/officeart/2005/8/layout/process5"/>
    <dgm:cxn modelId="{CE9BD4DE-7F7F-4B37-AF13-5F23A8988992}" type="presOf" srcId="{8AA976ED-CC0A-471D-8270-56C015E0DB80}" destId="{3B8061F3-598E-4FF9-B1C8-5C28D789DEDA}" srcOrd="0" destOrd="0" presId="urn:microsoft.com/office/officeart/2005/8/layout/process5"/>
    <dgm:cxn modelId="{53D13BE1-934D-456D-83DA-177F113E6EC7}" type="presOf" srcId="{A2490A4E-7A45-4DB8-A886-9B7727D14B76}" destId="{48F08183-C81B-454E-B867-FC6B5CC1CB8F}" srcOrd="1" destOrd="0" presId="urn:microsoft.com/office/officeart/2005/8/layout/process5"/>
    <dgm:cxn modelId="{829800EC-D1EC-4355-BACC-A645ABDAA56D}" srcId="{31CF04FD-CDA1-442B-B939-DF1377C94F53}" destId="{44F6E1AF-B737-4028-BD42-5E4E5F8B8ECB}" srcOrd="1" destOrd="0" parTransId="{B749EF8F-FC20-4C06-976D-DC106CE392DC}" sibTransId="{A2490A4E-7A45-4DB8-A886-9B7727D14B76}"/>
    <dgm:cxn modelId="{A3F96DF4-6FA9-490F-AB0C-1C2648FD8EC2}" srcId="{31CF04FD-CDA1-442B-B939-DF1377C94F53}" destId="{E28188C1-C1B6-4D8C-AA83-F50665C8D34A}" srcOrd="6" destOrd="0" parTransId="{571F40EC-9C26-4452-83C6-33A14D6E9526}" sibTransId="{0C1B069F-2F04-49E6-9428-51202B723CE7}"/>
    <dgm:cxn modelId="{E4FEC3F6-AE2F-48D2-81E2-CBB1CA70CE16}" type="presOf" srcId="{4EEFD133-849F-4502-8B81-4EAA79C18318}" destId="{2C779911-35C2-4BA7-AA90-202C5CB68B64}" srcOrd="1" destOrd="0" presId="urn:microsoft.com/office/officeart/2005/8/layout/process5"/>
    <dgm:cxn modelId="{BE89FEF6-D7B0-4858-81D9-D6334C9EFE0C}" type="presOf" srcId="{86FE4459-E1B2-4D0F-90E0-285A049CE000}" destId="{503D7CA4-CE4C-4577-B793-408B724074C0}" srcOrd="1" destOrd="0" presId="urn:microsoft.com/office/officeart/2005/8/layout/process5"/>
    <dgm:cxn modelId="{89DB41FC-4321-4F61-9D3B-759B80201630}" srcId="{31CF04FD-CDA1-442B-B939-DF1377C94F53}" destId="{369891C3-24E9-4760-A043-64D7FF20732A}" srcOrd="4" destOrd="0" parTransId="{A0104C08-08E6-4603-96AD-7E8B6E86E969}" sibTransId="{86FE4459-E1B2-4D0F-90E0-285A049CE000}"/>
    <dgm:cxn modelId="{E787FCFD-8F00-42F2-B5D9-EB70464EA842}" srcId="{31CF04FD-CDA1-442B-B939-DF1377C94F53}" destId="{8DA7EDDF-4360-4C31-A32F-70AC30FCD935}" srcOrd="2" destOrd="0" parTransId="{036447D9-1AB3-4BF6-BD16-0F81B9F02D67}" sibTransId="{D826D6E7-649F-4014-8A19-401E14F02396}"/>
    <dgm:cxn modelId="{77E4FAC8-1DA8-4D3C-9E95-47BAC425DC55}" type="presParOf" srcId="{DE16D389-B881-4FC8-AA7C-8F1AC5B098EE}" destId="{D7624A2D-898F-416A-9610-7B400DD8B461}" srcOrd="0" destOrd="0" presId="urn:microsoft.com/office/officeart/2005/8/layout/process5"/>
    <dgm:cxn modelId="{B2ED1039-260D-4FFF-9877-CC7BBB47D300}" type="presParOf" srcId="{DE16D389-B881-4FC8-AA7C-8F1AC5B098EE}" destId="{57F393B0-3007-4CAC-97D7-4A1D2AEB0E7D}" srcOrd="1" destOrd="0" presId="urn:microsoft.com/office/officeart/2005/8/layout/process5"/>
    <dgm:cxn modelId="{91542203-595E-45EF-954F-3A292FA35F95}" type="presParOf" srcId="{57F393B0-3007-4CAC-97D7-4A1D2AEB0E7D}" destId="{05C971D4-7477-44DE-A2D3-8D6F6A316663}" srcOrd="0" destOrd="0" presId="urn:microsoft.com/office/officeart/2005/8/layout/process5"/>
    <dgm:cxn modelId="{42881809-37A4-4BE7-BB08-C8A9E7120659}" type="presParOf" srcId="{DE16D389-B881-4FC8-AA7C-8F1AC5B098EE}" destId="{05F2D02D-CC83-4C44-B25D-B47E83EBB969}" srcOrd="2" destOrd="0" presId="urn:microsoft.com/office/officeart/2005/8/layout/process5"/>
    <dgm:cxn modelId="{71CEDC82-66B5-49C1-8EBA-3811598893A9}" type="presParOf" srcId="{DE16D389-B881-4FC8-AA7C-8F1AC5B098EE}" destId="{56135CF7-0A17-4BD5-814F-A5171CEA2559}" srcOrd="3" destOrd="0" presId="urn:microsoft.com/office/officeart/2005/8/layout/process5"/>
    <dgm:cxn modelId="{414B4C5A-9C3F-4058-B3CE-CF6FDCAAEFA0}" type="presParOf" srcId="{56135CF7-0A17-4BD5-814F-A5171CEA2559}" destId="{48F08183-C81B-454E-B867-FC6B5CC1CB8F}" srcOrd="0" destOrd="0" presId="urn:microsoft.com/office/officeart/2005/8/layout/process5"/>
    <dgm:cxn modelId="{36E583F7-5786-4B28-9FC4-B9766E7E160D}" type="presParOf" srcId="{DE16D389-B881-4FC8-AA7C-8F1AC5B098EE}" destId="{73F54225-3581-4829-BEC8-ADC57FD26A35}" srcOrd="4" destOrd="0" presId="urn:microsoft.com/office/officeart/2005/8/layout/process5"/>
    <dgm:cxn modelId="{30F7CDE0-39BE-4452-80A2-055CC2B94728}" type="presParOf" srcId="{DE16D389-B881-4FC8-AA7C-8F1AC5B098EE}" destId="{5AECA9AC-4F06-42CD-9BD9-09850F280E0C}" srcOrd="5" destOrd="0" presId="urn:microsoft.com/office/officeart/2005/8/layout/process5"/>
    <dgm:cxn modelId="{13C6DBC0-77BE-4970-B7BE-CFFADF3908BB}" type="presParOf" srcId="{5AECA9AC-4F06-42CD-9BD9-09850F280E0C}" destId="{CAE13C66-20E9-443D-AAA5-2E89456B5290}" srcOrd="0" destOrd="0" presId="urn:microsoft.com/office/officeart/2005/8/layout/process5"/>
    <dgm:cxn modelId="{47768225-793C-4920-8B31-E2457ABADD35}" type="presParOf" srcId="{DE16D389-B881-4FC8-AA7C-8F1AC5B098EE}" destId="{EDBBCAAD-6A06-4309-B163-7EDB64AB39E1}" srcOrd="6" destOrd="0" presId="urn:microsoft.com/office/officeart/2005/8/layout/process5"/>
    <dgm:cxn modelId="{A571B884-B2F2-4FF2-AD56-FED046709613}" type="presParOf" srcId="{DE16D389-B881-4FC8-AA7C-8F1AC5B098EE}" destId="{C9A2363F-E2E4-4B2E-B0E1-D5E1F9E02F14}" srcOrd="7" destOrd="0" presId="urn:microsoft.com/office/officeart/2005/8/layout/process5"/>
    <dgm:cxn modelId="{5AC0C076-3862-4A74-8983-14FDD21A01B9}" type="presParOf" srcId="{C9A2363F-E2E4-4B2E-B0E1-D5E1F9E02F14}" destId="{2C779911-35C2-4BA7-AA90-202C5CB68B64}" srcOrd="0" destOrd="0" presId="urn:microsoft.com/office/officeart/2005/8/layout/process5"/>
    <dgm:cxn modelId="{AAEF61A9-0B0F-468F-A78A-7EC4FEE9727D}" type="presParOf" srcId="{DE16D389-B881-4FC8-AA7C-8F1AC5B098EE}" destId="{5FC36601-09E0-481E-9184-2105FCADC972}" srcOrd="8" destOrd="0" presId="urn:microsoft.com/office/officeart/2005/8/layout/process5"/>
    <dgm:cxn modelId="{3E7A2B73-3E33-46E4-B8E0-7FC18C527EAC}" type="presParOf" srcId="{DE16D389-B881-4FC8-AA7C-8F1AC5B098EE}" destId="{D0E21384-7297-4D67-9EB4-94EBBA03A926}" srcOrd="9" destOrd="0" presId="urn:microsoft.com/office/officeart/2005/8/layout/process5"/>
    <dgm:cxn modelId="{5FD0B5A8-3D56-4415-B6BF-B89F9C05A8AE}" type="presParOf" srcId="{D0E21384-7297-4D67-9EB4-94EBBA03A926}" destId="{503D7CA4-CE4C-4577-B793-408B724074C0}" srcOrd="0" destOrd="0" presId="urn:microsoft.com/office/officeart/2005/8/layout/process5"/>
    <dgm:cxn modelId="{B0F047AB-AF3A-48C6-95B8-9888A2B5B469}" type="presParOf" srcId="{DE16D389-B881-4FC8-AA7C-8F1AC5B098EE}" destId="{3B8061F3-598E-4FF9-B1C8-5C28D789DEDA}" srcOrd="10" destOrd="0" presId="urn:microsoft.com/office/officeart/2005/8/layout/process5"/>
    <dgm:cxn modelId="{9AF56A66-9384-45D8-AC0D-502FF055B62F}" type="presParOf" srcId="{DE16D389-B881-4FC8-AA7C-8F1AC5B098EE}" destId="{31D72DE7-9909-4374-8739-6E33582BD8F6}" srcOrd="11" destOrd="0" presId="urn:microsoft.com/office/officeart/2005/8/layout/process5"/>
    <dgm:cxn modelId="{300579D5-A733-4767-9854-1FB338E61553}" type="presParOf" srcId="{31D72DE7-9909-4374-8739-6E33582BD8F6}" destId="{D4FE2EFD-7AAC-45C2-A926-0C6C85E290F8}" srcOrd="0" destOrd="0" presId="urn:microsoft.com/office/officeart/2005/8/layout/process5"/>
    <dgm:cxn modelId="{8583E738-AC61-4CD2-B8B2-2FA189B10F9D}" type="presParOf" srcId="{DE16D389-B881-4FC8-AA7C-8F1AC5B098EE}" destId="{483CE2A1-3174-47B2-9C0E-50EB9AB540D9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24A2D-898F-416A-9610-7B400DD8B461}">
      <dsp:nvSpPr>
        <dsp:cNvPr id="0" name=""/>
        <dsp:cNvSpPr/>
      </dsp:nvSpPr>
      <dsp:spPr>
        <a:xfrm>
          <a:off x="4318" y="714776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Problema?</a:t>
          </a:r>
          <a:endParaRPr lang="en-US" sz="1700" kern="1200" dirty="0"/>
        </a:p>
      </dsp:txBody>
      <dsp:txXfrm>
        <a:off x="37498" y="747956"/>
        <a:ext cx="1821739" cy="1066499"/>
      </dsp:txXfrm>
    </dsp:sp>
    <dsp:sp modelId="{57F393B0-3007-4CAC-97D7-4A1D2AEB0E7D}">
      <dsp:nvSpPr>
        <dsp:cNvPr id="0" name=""/>
        <dsp:cNvSpPr/>
      </dsp:nvSpPr>
      <dsp:spPr>
        <a:xfrm>
          <a:off x="2058570" y="1047082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58570" y="1140732"/>
        <a:ext cx="280194" cy="280948"/>
      </dsp:txXfrm>
    </dsp:sp>
    <dsp:sp modelId="{05F2D02D-CC83-4C44-B25D-B47E83EBB969}">
      <dsp:nvSpPr>
        <dsp:cNvPr id="0" name=""/>
        <dsp:cNvSpPr/>
      </dsp:nvSpPr>
      <dsp:spPr>
        <a:xfrm>
          <a:off x="2647657" y="714776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Dados?</a:t>
          </a:r>
          <a:endParaRPr lang="en-US" sz="1700" kern="1200" dirty="0"/>
        </a:p>
      </dsp:txBody>
      <dsp:txXfrm>
        <a:off x="2680837" y="747956"/>
        <a:ext cx="1821739" cy="1066499"/>
      </dsp:txXfrm>
    </dsp:sp>
    <dsp:sp modelId="{56135CF7-0A17-4BD5-814F-A5171CEA2559}">
      <dsp:nvSpPr>
        <dsp:cNvPr id="0" name=""/>
        <dsp:cNvSpPr/>
      </dsp:nvSpPr>
      <dsp:spPr>
        <a:xfrm>
          <a:off x="4701908" y="1047082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701908" y="1140732"/>
        <a:ext cx="280194" cy="280948"/>
      </dsp:txXfrm>
    </dsp:sp>
    <dsp:sp modelId="{73F54225-3581-4829-BEC8-ADC57FD26A35}">
      <dsp:nvSpPr>
        <dsp:cNvPr id="0" name=""/>
        <dsp:cNvSpPr/>
      </dsp:nvSpPr>
      <dsp:spPr>
        <a:xfrm>
          <a:off x="5290995" y="714776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Depuração dos dados</a:t>
          </a:r>
          <a:endParaRPr lang="en-US" sz="1700" kern="1200" dirty="0"/>
        </a:p>
      </dsp:txBody>
      <dsp:txXfrm>
        <a:off x="5324175" y="747956"/>
        <a:ext cx="1821739" cy="1066499"/>
      </dsp:txXfrm>
    </dsp:sp>
    <dsp:sp modelId="{5AECA9AC-4F06-42CD-9BD9-09850F280E0C}">
      <dsp:nvSpPr>
        <dsp:cNvPr id="0" name=""/>
        <dsp:cNvSpPr/>
      </dsp:nvSpPr>
      <dsp:spPr>
        <a:xfrm>
          <a:off x="7345247" y="1047082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45247" y="1140732"/>
        <a:ext cx="280194" cy="280948"/>
      </dsp:txXfrm>
    </dsp:sp>
    <dsp:sp modelId="{EDBBCAAD-6A06-4309-B163-7EDB64AB39E1}">
      <dsp:nvSpPr>
        <dsp:cNvPr id="0" name=""/>
        <dsp:cNvSpPr/>
      </dsp:nvSpPr>
      <dsp:spPr>
        <a:xfrm>
          <a:off x="7934334" y="714776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Análise Exploratória</a:t>
          </a:r>
          <a:endParaRPr lang="en-US" sz="1700" kern="1200" dirty="0"/>
        </a:p>
      </dsp:txBody>
      <dsp:txXfrm>
        <a:off x="7967514" y="747956"/>
        <a:ext cx="1821739" cy="1066499"/>
      </dsp:txXfrm>
    </dsp:sp>
    <dsp:sp modelId="{C9A2363F-E2E4-4B2E-B0E1-D5E1F9E02F14}">
      <dsp:nvSpPr>
        <dsp:cNvPr id="0" name=""/>
        <dsp:cNvSpPr/>
      </dsp:nvSpPr>
      <dsp:spPr>
        <a:xfrm rot="5400000">
          <a:off x="8678245" y="1979803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8737910" y="2013789"/>
        <a:ext cx="280948" cy="280194"/>
      </dsp:txXfrm>
    </dsp:sp>
    <dsp:sp modelId="{5FC36601-09E0-481E-9184-2105FCADC972}">
      <dsp:nvSpPr>
        <dsp:cNvPr id="0" name=""/>
        <dsp:cNvSpPr/>
      </dsp:nvSpPr>
      <dsp:spPr>
        <a:xfrm>
          <a:off x="7934334" y="2602875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Modelagem</a:t>
          </a:r>
          <a:endParaRPr lang="en-US" sz="1700" kern="1200" dirty="0"/>
        </a:p>
      </dsp:txBody>
      <dsp:txXfrm>
        <a:off x="7967514" y="2636055"/>
        <a:ext cx="1821739" cy="1066499"/>
      </dsp:txXfrm>
    </dsp:sp>
    <dsp:sp modelId="{D0E21384-7297-4D67-9EB4-94EBBA03A926}">
      <dsp:nvSpPr>
        <dsp:cNvPr id="0" name=""/>
        <dsp:cNvSpPr/>
      </dsp:nvSpPr>
      <dsp:spPr>
        <a:xfrm rot="10800000">
          <a:off x="7367904" y="2935181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7487987" y="3028831"/>
        <a:ext cx="280194" cy="280948"/>
      </dsp:txXfrm>
    </dsp:sp>
    <dsp:sp modelId="{3B8061F3-598E-4FF9-B1C8-5C28D789DEDA}">
      <dsp:nvSpPr>
        <dsp:cNvPr id="0" name=""/>
        <dsp:cNvSpPr/>
      </dsp:nvSpPr>
      <dsp:spPr>
        <a:xfrm>
          <a:off x="5290995" y="2602875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Interpretação dos Resultados</a:t>
          </a:r>
          <a:endParaRPr lang="en-US" sz="1700" kern="1200" dirty="0"/>
        </a:p>
      </dsp:txBody>
      <dsp:txXfrm>
        <a:off x="5324175" y="2636055"/>
        <a:ext cx="1821739" cy="1066499"/>
      </dsp:txXfrm>
    </dsp:sp>
    <dsp:sp modelId="{31D72DE7-9909-4374-8739-6E33582BD8F6}">
      <dsp:nvSpPr>
        <dsp:cNvPr id="0" name=""/>
        <dsp:cNvSpPr/>
      </dsp:nvSpPr>
      <dsp:spPr>
        <a:xfrm rot="10800000">
          <a:off x="4724566" y="2935181"/>
          <a:ext cx="400277" cy="4682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4844649" y="3028831"/>
        <a:ext cx="280194" cy="280948"/>
      </dsp:txXfrm>
    </dsp:sp>
    <dsp:sp modelId="{483CE2A1-3174-47B2-9C0E-50EB9AB540D9}">
      <dsp:nvSpPr>
        <dsp:cNvPr id="0" name=""/>
        <dsp:cNvSpPr/>
      </dsp:nvSpPr>
      <dsp:spPr>
        <a:xfrm>
          <a:off x="2647657" y="2602875"/>
          <a:ext cx="1888099" cy="113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Implementação e Acompanhamento</a:t>
          </a:r>
          <a:endParaRPr lang="en-US" sz="1700" kern="1200" dirty="0"/>
        </a:p>
      </dsp:txBody>
      <dsp:txXfrm>
        <a:off x="2680837" y="2636055"/>
        <a:ext cx="1821739" cy="1066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6105-B565-6F48-9404-98C04E765FD6}" type="datetimeFigureOut"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67A31-8C3A-FF45-B048-5855BF5387C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0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62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FEB5-1B10-DF8A-55FC-57BCEE54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A65AA-CAB6-82DA-A738-605A5ED15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CF273-A8BB-D9D1-C26B-8AE228CD2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B238E-B701-3E13-D79B-101C75059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77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A0DBD-3565-7E54-471B-36461EE8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4B719-7704-F8DC-0D57-41310CEB9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D9C4A-EFED-D190-B920-8BF196C34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3F4D1-4496-3A62-6E92-DF46656E5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9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AD1-3499-DA4E-B268-1D88F4EF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62C84-274F-51E2-CDC8-B322CF361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4B0E0-3209-52AB-5C5E-99DD0538B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FE1D0-7B18-7C25-8E16-33257C29D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0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E464-2D08-343C-D5CC-B2A02AAA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6A4E8-DFA6-10F8-6B79-340A2C263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2E862-C0B9-DC07-BFDE-0DA46DF70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6E1C2-AC79-360A-6425-AD1D9A667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8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68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7F8F-98EB-BC1A-09F7-4678B262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5EDBB-19A6-64E8-4E2E-3F7249A28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26EE3-8EFF-16DF-6128-EA9583811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47F06-62D4-2F81-7063-91EC27047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4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88432-870E-2B23-3A1D-6E41CE0B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5B2B7-B85E-F3F8-5CEB-28E2359FD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365EC-AEAD-15BF-DADD-377E303FC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923EB-6CF2-77EB-AC5F-8701CC128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9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19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4259C59-51B1-4FC4-8838-23798885C0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BAAE69-B3F8-1445-8E5D-90FF0E8D9A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4606723" cy="6858000"/>
          </a:xfrm>
          <a:custGeom>
            <a:avLst/>
            <a:gdLst>
              <a:gd name="connsiteX0" fmla="*/ 0 w 4606723"/>
              <a:gd name="connsiteY0" fmla="*/ 0 h 6858000"/>
              <a:gd name="connsiteX1" fmla="*/ 4606723 w 4606723"/>
              <a:gd name="connsiteY1" fmla="*/ 0 h 6858000"/>
              <a:gd name="connsiteX2" fmla="*/ 4606723 w 4606723"/>
              <a:gd name="connsiteY2" fmla="*/ 6858000 h 6858000"/>
              <a:gd name="connsiteX3" fmla="*/ 0 w 46067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6723" h="6858000">
                <a:moveTo>
                  <a:pt x="0" y="0"/>
                </a:moveTo>
                <a:lnTo>
                  <a:pt x="4606723" y="0"/>
                </a:lnTo>
                <a:lnTo>
                  <a:pt x="460672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F7117A9-7B2A-4F09-B6E1-28DE5BBE3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8" cy="4132162"/>
          </a:xfrm>
          <a:custGeom>
            <a:avLst/>
            <a:gdLst>
              <a:gd name="connsiteX0" fmla="*/ 0 w 12191998"/>
              <a:gd name="connsiteY0" fmla="*/ 0 h 4132162"/>
              <a:gd name="connsiteX1" fmla="*/ 12191998 w 12191998"/>
              <a:gd name="connsiteY1" fmla="*/ 0 h 4132162"/>
              <a:gd name="connsiteX2" fmla="*/ 12191998 w 12191998"/>
              <a:gd name="connsiteY2" fmla="*/ 4132162 h 4132162"/>
              <a:gd name="connsiteX3" fmla="*/ 0 w 12191998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2">
                <a:moveTo>
                  <a:pt x="0" y="0"/>
                </a:moveTo>
                <a:lnTo>
                  <a:pt x="12191998" y="0"/>
                </a:lnTo>
                <a:lnTo>
                  <a:pt x="12191998" y="4132162"/>
                </a:lnTo>
                <a:lnTo>
                  <a:pt x="0" y="41321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FC6FC4-CB99-D448-9065-D91D2570C3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5188291" cy="4132162"/>
          </a:xfrm>
          <a:custGeom>
            <a:avLst/>
            <a:gdLst>
              <a:gd name="connsiteX0" fmla="*/ 0 w 5188291"/>
              <a:gd name="connsiteY0" fmla="*/ 0 h 4132162"/>
              <a:gd name="connsiteX1" fmla="*/ 5188291 w 5188291"/>
              <a:gd name="connsiteY1" fmla="*/ 0 h 4132162"/>
              <a:gd name="connsiteX2" fmla="*/ 5188291 w 5188291"/>
              <a:gd name="connsiteY2" fmla="*/ 4132162 h 4132162"/>
              <a:gd name="connsiteX3" fmla="*/ 0 w 5188291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8291" h="4132162">
                <a:moveTo>
                  <a:pt x="0" y="0"/>
                </a:moveTo>
                <a:lnTo>
                  <a:pt x="5188291" y="0"/>
                </a:lnTo>
                <a:lnTo>
                  <a:pt x="5188291" y="4132162"/>
                </a:lnTo>
                <a:lnTo>
                  <a:pt x="0" y="413216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2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B65159-50BE-7443-82BB-6E451744F8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512" y="0"/>
            <a:ext cx="5748148" cy="6858000"/>
          </a:xfrm>
          <a:custGeom>
            <a:avLst/>
            <a:gdLst>
              <a:gd name="connsiteX0" fmla="*/ 0 w 5748148"/>
              <a:gd name="connsiteY0" fmla="*/ 0 h 6858000"/>
              <a:gd name="connsiteX1" fmla="*/ 921059 w 5748148"/>
              <a:gd name="connsiteY1" fmla="*/ 0 h 6858000"/>
              <a:gd name="connsiteX2" fmla="*/ 2294058 w 5748148"/>
              <a:gd name="connsiteY2" fmla="*/ 0 h 6858000"/>
              <a:gd name="connsiteX3" fmla="*/ 4508577 w 5748148"/>
              <a:gd name="connsiteY3" fmla="*/ 0 h 6858000"/>
              <a:gd name="connsiteX4" fmla="*/ 5748148 w 5748148"/>
              <a:gd name="connsiteY4" fmla="*/ 6858000 h 6858000"/>
              <a:gd name="connsiteX5" fmla="*/ 2294058 w 5748148"/>
              <a:gd name="connsiteY5" fmla="*/ 6858000 h 6858000"/>
              <a:gd name="connsiteX6" fmla="*/ 921059 w 5748148"/>
              <a:gd name="connsiteY6" fmla="*/ 6858000 h 6858000"/>
              <a:gd name="connsiteX7" fmla="*/ 0 w 574814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48148" h="6858000">
                <a:moveTo>
                  <a:pt x="0" y="0"/>
                </a:moveTo>
                <a:lnTo>
                  <a:pt x="921059" y="0"/>
                </a:lnTo>
                <a:lnTo>
                  <a:pt x="2294058" y="0"/>
                </a:lnTo>
                <a:lnTo>
                  <a:pt x="4508577" y="0"/>
                </a:lnTo>
                <a:lnTo>
                  <a:pt x="5748148" y="6858000"/>
                </a:lnTo>
                <a:lnTo>
                  <a:pt x="2294058" y="6858000"/>
                </a:lnTo>
                <a:lnTo>
                  <a:pt x="92105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1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748304"/>
            <a:ext cx="12192000" cy="210072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81112" y="0"/>
            <a:ext cx="1410888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9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852EE8C-106F-7742-9DC8-3ABD3C47B3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777277"/>
            <a:ext cx="5346700" cy="5303446"/>
          </a:xfrm>
          <a:custGeom>
            <a:avLst/>
            <a:gdLst>
              <a:gd name="connsiteX0" fmla="*/ 0 w 5346700"/>
              <a:gd name="connsiteY0" fmla="*/ 0 h 5303446"/>
              <a:gd name="connsiteX1" fmla="*/ 5346700 w 5346700"/>
              <a:gd name="connsiteY1" fmla="*/ 0 h 5303446"/>
              <a:gd name="connsiteX2" fmla="*/ 5346700 w 5346700"/>
              <a:gd name="connsiteY2" fmla="*/ 5303446 h 5303446"/>
              <a:gd name="connsiteX3" fmla="*/ 0 w 5346700"/>
              <a:gd name="connsiteY3" fmla="*/ 5303446 h 53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6700" h="5303446">
                <a:moveTo>
                  <a:pt x="0" y="0"/>
                </a:moveTo>
                <a:lnTo>
                  <a:pt x="5346700" y="0"/>
                </a:lnTo>
                <a:lnTo>
                  <a:pt x="5346700" y="5303446"/>
                </a:lnTo>
                <a:lnTo>
                  <a:pt x="0" y="53034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6A4C288-5171-4F3F-A9E6-0B29999BAA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0493" y="0"/>
            <a:ext cx="5435505" cy="3320941"/>
          </a:xfrm>
          <a:custGeom>
            <a:avLst/>
            <a:gdLst>
              <a:gd name="connsiteX0" fmla="*/ 0 w 5435505"/>
              <a:gd name="connsiteY0" fmla="*/ 0 h 3320941"/>
              <a:gd name="connsiteX1" fmla="*/ 5435505 w 5435505"/>
              <a:gd name="connsiteY1" fmla="*/ 0 h 3320941"/>
              <a:gd name="connsiteX2" fmla="*/ 5435505 w 5435505"/>
              <a:gd name="connsiteY2" fmla="*/ 3320941 h 3320941"/>
              <a:gd name="connsiteX3" fmla="*/ 0 w 5435505"/>
              <a:gd name="connsiteY3" fmla="*/ 3320941 h 332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5" h="3320941">
                <a:moveTo>
                  <a:pt x="0" y="0"/>
                </a:moveTo>
                <a:lnTo>
                  <a:pt x="5435505" y="0"/>
                </a:lnTo>
                <a:lnTo>
                  <a:pt x="5435505" y="3320941"/>
                </a:lnTo>
                <a:lnTo>
                  <a:pt x="0" y="332094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8B228E-9D95-4393-A746-2283228148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94" y="3320940"/>
            <a:ext cx="5435506" cy="3537059"/>
          </a:xfrm>
          <a:custGeom>
            <a:avLst/>
            <a:gdLst>
              <a:gd name="connsiteX0" fmla="*/ 0 w 5435506"/>
              <a:gd name="connsiteY0" fmla="*/ 0 h 3537059"/>
              <a:gd name="connsiteX1" fmla="*/ 5435506 w 5435506"/>
              <a:gd name="connsiteY1" fmla="*/ 0 h 3537059"/>
              <a:gd name="connsiteX2" fmla="*/ 5435506 w 5435506"/>
              <a:gd name="connsiteY2" fmla="*/ 3537059 h 3537059"/>
              <a:gd name="connsiteX3" fmla="*/ 0 w 5435506"/>
              <a:gd name="connsiteY3" fmla="*/ 3537059 h 35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6" h="3537059">
                <a:moveTo>
                  <a:pt x="0" y="0"/>
                </a:moveTo>
                <a:lnTo>
                  <a:pt x="5435506" y="0"/>
                </a:lnTo>
                <a:lnTo>
                  <a:pt x="5435506" y="3537059"/>
                </a:lnTo>
                <a:lnTo>
                  <a:pt x="0" y="353705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2A0C23-107A-470E-AEA3-863F2C96E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4323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A6D0CB-A5A1-D34C-920C-59D31BBF14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587" y="628650"/>
            <a:ext cx="5854095" cy="5600700"/>
          </a:xfrm>
          <a:custGeom>
            <a:avLst/>
            <a:gdLst>
              <a:gd name="connsiteX0" fmla="*/ 306526 w 5854095"/>
              <a:gd name="connsiteY0" fmla="*/ 0 h 5600700"/>
              <a:gd name="connsiteX1" fmla="*/ 5547569 w 5854095"/>
              <a:gd name="connsiteY1" fmla="*/ 0 h 5600700"/>
              <a:gd name="connsiteX2" fmla="*/ 5854095 w 5854095"/>
              <a:gd name="connsiteY2" fmla="*/ 306526 h 5600700"/>
              <a:gd name="connsiteX3" fmla="*/ 5854095 w 5854095"/>
              <a:gd name="connsiteY3" fmla="*/ 5294174 h 5600700"/>
              <a:gd name="connsiteX4" fmla="*/ 5547569 w 5854095"/>
              <a:gd name="connsiteY4" fmla="*/ 5600700 h 5600700"/>
              <a:gd name="connsiteX5" fmla="*/ 306526 w 5854095"/>
              <a:gd name="connsiteY5" fmla="*/ 5600700 h 5600700"/>
              <a:gd name="connsiteX6" fmla="*/ 0 w 5854095"/>
              <a:gd name="connsiteY6" fmla="*/ 5294174 h 5600700"/>
              <a:gd name="connsiteX7" fmla="*/ 0 w 5854095"/>
              <a:gd name="connsiteY7" fmla="*/ 306526 h 5600700"/>
              <a:gd name="connsiteX8" fmla="*/ 306526 w 5854095"/>
              <a:gd name="connsiteY8" fmla="*/ 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54095" h="5600700">
                <a:moveTo>
                  <a:pt x="306526" y="0"/>
                </a:moveTo>
                <a:lnTo>
                  <a:pt x="5547569" y="0"/>
                </a:lnTo>
                <a:cubicBezTo>
                  <a:pt x="5716859" y="0"/>
                  <a:pt x="5854095" y="137236"/>
                  <a:pt x="5854095" y="306526"/>
                </a:cubicBezTo>
                <a:lnTo>
                  <a:pt x="5854095" y="5294174"/>
                </a:lnTo>
                <a:cubicBezTo>
                  <a:pt x="5854095" y="5463464"/>
                  <a:pt x="5716859" y="5600700"/>
                  <a:pt x="5547569" y="5600700"/>
                </a:cubicBezTo>
                <a:lnTo>
                  <a:pt x="306526" y="5600700"/>
                </a:lnTo>
                <a:cubicBezTo>
                  <a:pt x="137236" y="5600700"/>
                  <a:pt x="0" y="5463464"/>
                  <a:pt x="0" y="5294174"/>
                </a:cubicBezTo>
                <a:lnTo>
                  <a:pt x="0" y="306526"/>
                </a:lnTo>
                <a:cubicBezTo>
                  <a:pt x="0" y="137236"/>
                  <a:pt x="137236" y="0"/>
                  <a:pt x="30652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bg1">
                <a:lumMod val="95000"/>
              </a:schemeClr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8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5570F4-D21A-4EF5-B526-BBA679E51E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1074" y="5070474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83EBD6-4EA4-48DB-9B7E-FE2954652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074" y="3629376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CB70A1-1091-4927-9807-527E1E2A5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79" y="1"/>
            <a:ext cx="5189620" cy="6857999"/>
          </a:xfrm>
          <a:custGeom>
            <a:avLst/>
            <a:gdLst>
              <a:gd name="connsiteX0" fmla="*/ 0 w 5189620"/>
              <a:gd name="connsiteY0" fmla="*/ 0 h 6857999"/>
              <a:gd name="connsiteX1" fmla="*/ 5189620 w 5189620"/>
              <a:gd name="connsiteY1" fmla="*/ 0 h 6857999"/>
              <a:gd name="connsiteX2" fmla="*/ 5189620 w 5189620"/>
              <a:gd name="connsiteY2" fmla="*/ 6857999 h 6857999"/>
              <a:gd name="connsiteX3" fmla="*/ 0 w 518962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20" h="6857999">
                <a:moveTo>
                  <a:pt x="0" y="0"/>
                </a:moveTo>
                <a:lnTo>
                  <a:pt x="5189620" y="0"/>
                </a:lnTo>
                <a:lnTo>
                  <a:pt x="5189620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AC26479-6E60-B349-A914-B77FAACCF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27089" cy="6858000"/>
          </a:xfrm>
          <a:custGeom>
            <a:avLst/>
            <a:gdLst>
              <a:gd name="connsiteX0" fmla="*/ 0 w 4827089"/>
              <a:gd name="connsiteY0" fmla="*/ 0 h 6858000"/>
              <a:gd name="connsiteX1" fmla="*/ 3587518 w 4827089"/>
              <a:gd name="connsiteY1" fmla="*/ 0 h 6858000"/>
              <a:gd name="connsiteX2" fmla="*/ 4827089 w 4827089"/>
              <a:gd name="connsiteY2" fmla="*/ 6858000 h 6858000"/>
              <a:gd name="connsiteX3" fmla="*/ 0 w 48270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089" h="6858000">
                <a:moveTo>
                  <a:pt x="0" y="0"/>
                </a:moveTo>
                <a:lnTo>
                  <a:pt x="3587518" y="0"/>
                </a:lnTo>
                <a:lnTo>
                  <a:pt x="482708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40EF20-9B22-40FC-AD1B-9FF0700ACD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169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4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A14405-7D17-4DC1-8287-55E2AE678D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6110016 w 7034927"/>
              <a:gd name="connsiteY2" fmla="*/ 6853687 h 6853687"/>
              <a:gd name="connsiteX3" fmla="*/ 0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6110016" y="6853687"/>
                </a:lnTo>
                <a:lnTo>
                  <a:pt x="0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89128F8-3602-4DA7-B660-873EB8E5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52400" y="1176680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2AB0AC4-1ED9-4DB3-996D-5356C9A9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2399" y="3684759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6F4059-9BDD-4E09-94C2-8D55B3D222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1998" cy="3428999"/>
          </a:xfrm>
          <a:custGeom>
            <a:avLst/>
            <a:gdLst>
              <a:gd name="connsiteX0" fmla="*/ 0 w 12191998"/>
              <a:gd name="connsiteY0" fmla="*/ 0 h 4132161"/>
              <a:gd name="connsiteX1" fmla="*/ 12191998 w 12191998"/>
              <a:gd name="connsiteY1" fmla="*/ 0 h 4132161"/>
              <a:gd name="connsiteX2" fmla="*/ 12191998 w 12191998"/>
              <a:gd name="connsiteY2" fmla="*/ 4132161 h 4132161"/>
              <a:gd name="connsiteX3" fmla="*/ 0 w 12191998"/>
              <a:gd name="connsiteY3" fmla="*/ 4132161 h 413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1">
                <a:moveTo>
                  <a:pt x="0" y="0"/>
                </a:moveTo>
                <a:lnTo>
                  <a:pt x="12191998" y="0"/>
                </a:lnTo>
                <a:lnTo>
                  <a:pt x="12191998" y="4132161"/>
                </a:lnTo>
                <a:lnTo>
                  <a:pt x="0" y="41321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B3A1DE-93E4-B34D-9279-6DCF022E77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18102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168FEB-A068-2640-8681-04C21F864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3360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9D5025-C6DC-2A45-A5AB-C45FE73F36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844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4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AD8F01-45C5-4BF0-B0B0-93DD039441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D01BC8-6C25-804D-B64D-547CAF68F5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3443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4C3873-D70D-7241-890F-7EC54BA4F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1622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92DB8A-622C-FC45-9F73-A0ED47BDCD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5264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7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D5720D-E9A3-4F03-A355-69D7460EB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0" y="0"/>
            <a:ext cx="6872288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30F51E-62ED-4D1F-9A57-8031C559C8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57074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7034927 w 7034927"/>
              <a:gd name="connsiteY2" fmla="*/ 6853687 h 6853687"/>
              <a:gd name="connsiteX3" fmla="*/ 924911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7034927" y="6853687"/>
                </a:lnTo>
                <a:lnTo>
                  <a:pt x="924911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2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37008D-5008-4AF5-93E7-5D80C0215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0049" y="824736"/>
            <a:ext cx="3887419" cy="3118950"/>
          </a:xfrm>
          <a:custGeom>
            <a:avLst/>
            <a:gdLst>
              <a:gd name="connsiteX0" fmla="*/ 519836 w 3887419"/>
              <a:gd name="connsiteY0" fmla="*/ 0 h 3118950"/>
              <a:gd name="connsiteX1" fmla="*/ 3367584 w 3887419"/>
              <a:gd name="connsiteY1" fmla="*/ 0 h 3118950"/>
              <a:gd name="connsiteX2" fmla="*/ 3887419 w 3887419"/>
              <a:gd name="connsiteY2" fmla="*/ 519836 h 3118950"/>
              <a:gd name="connsiteX3" fmla="*/ 3887419 w 3887419"/>
              <a:gd name="connsiteY3" fmla="*/ 2599115 h 3118950"/>
              <a:gd name="connsiteX4" fmla="*/ 3367584 w 3887419"/>
              <a:gd name="connsiteY4" fmla="*/ 3118950 h 3118950"/>
              <a:gd name="connsiteX5" fmla="*/ 519836 w 3887419"/>
              <a:gd name="connsiteY5" fmla="*/ 3118950 h 3118950"/>
              <a:gd name="connsiteX6" fmla="*/ 0 w 3887419"/>
              <a:gd name="connsiteY6" fmla="*/ 2599115 h 3118950"/>
              <a:gd name="connsiteX7" fmla="*/ 0 w 3887419"/>
              <a:gd name="connsiteY7" fmla="*/ 519836 h 3118950"/>
              <a:gd name="connsiteX8" fmla="*/ 519836 w 3887419"/>
              <a:gd name="connsiteY8" fmla="*/ 0 h 311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7419" h="3118950">
                <a:moveTo>
                  <a:pt x="519836" y="0"/>
                </a:moveTo>
                <a:lnTo>
                  <a:pt x="3367584" y="0"/>
                </a:lnTo>
                <a:cubicBezTo>
                  <a:pt x="3654681" y="0"/>
                  <a:pt x="3887419" y="232738"/>
                  <a:pt x="3887419" y="519836"/>
                </a:cubicBezTo>
                <a:lnTo>
                  <a:pt x="3887419" y="2599115"/>
                </a:lnTo>
                <a:cubicBezTo>
                  <a:pt x="3887419" y="2886212"/>
                  <a:pt x="3654681" y="3118950"/>
                  <a:pt x="3367584" y="3118950"/>
                </a:cubicBezTo>
                <a:lnTo>
                  <a:pt x="519836" y="3118950"/>
                </a:lnTo>
                <a:cubicBezTo>
                  <a:pt x="232738" y="3118950"/>
                  <a:pt x="0" y="2886212"/>
                  <a:pt x="0" y="2599115"/>
                </a:cubicBezTo>
                <a:lnTo>
                  <a:pt x="0" y="519836"/>
                </a:lnTo>
                <a:cubicBezTo>
                  <a:pt x="0" y="232738"/>
                  <a:pt x="232738" y="0"/>
                  <a:pt x="5198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E28AE9-016A-4E73-BBFB-4E63358359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2645" y="2448054"/>
            <a:ext cx="2292525" cy="1839336"/>
          </a:xfrm>
          <a:custGeom>
            <a:avLst/>
            <a:gdLst>
              <a:gd name="connsiteX0" fmla="*/ 306562 w 2292525"/>
              <a:gd name="connsiteY0" fmla="*/ 0 h 1839336"/>
              <a:gd name="connsiteX1" fmla="*/ 1985963 w 2292525"/>
              <a:gd name="connsiteY1" fmla="*/ 0 h 1839336"/>
              <a:gd name="connsiteX2" fmla="*/ 2292525 w 2292525"/>
              <a:gd name="connsiteY2" fmla="*/ 306562 h 1839336"/>
              <a:gd name="connsiteX3" fmla="*/ 2292525 w 2292525"/>
              <a:gd name="connsiteY3" fmla="*/ 1532774 h 1839336"/>
              <a:gd name="connsiteX4" fmla="*/ 1985963 w 2292525"/>
              <a:gd name="connsiteY4" fmla="*/ 1839336 h 1839336"/>
              <a:gd name="connsiteX5" fmla="*/ 306562 w 2292525"/>
              <a:gd name="connsiteY5" fmla="*/ 1839336 h 1839336"/>
              <a:gd name="connsiteX6" fmla="*/ 0 w 2292525"/>
              <a:gd name="connsiteY6" fmla="*/ 1532774 h 1839336"/>
              <a:gd name="connsiteX7" fmla="*/ 0 w 2292525"/>
              <a:gd name="connsiteY7" fmla="*/ 306562 h 1839336"/>
              <a:gd name="connsiteX8" fmla="*/ 306562 w 2292525"/>
              <a:gd name="connsiteY8" fmla="*/ 0 h 183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525" h="1839336">
                <a:moveTo>
                  <a:pt x="306562" y="0"/>
                </a:moveTo>
                <a:lnTo>
                  <a:pt x="1985963" y="0"/>
                </a:lnTo>
                <a:cubicBezTo>
                  <a:pt x="2155273" y="0"/>
                  <a:pt x="2292525" y="137253"/>
                  <a:pt x="2292525" y="306562"/>
                </a:cubicBezTo>
                <a:lnTo>
                  <a:pt x="2292525" y="1532774"/>
                </a:lnTo>
                <a:cubicBezTo>
                  <a:pt x="2292525" y="1702084"/>
                  <a:pt x="2155273" y="1839336"/>
                  <a:pt x="1985963" y="1839336"/>
                </a:cubicBezTo>
                <a:lnTo>
                  <a:pt x="306562" y="1839336"/>
                </a:lnTo>
                <a:cubicBezTo>
                  <a:pt x="137253" y="1839336"/>
                  <a:pt x="0" y="1702084"/>
                  <a:pt x="0" y="1532774"/>
                </a:cubicBezTo>
                <a:lnTo>
                  <a:pt x="0" y="306562"/>
                </a:lnTo>
                <a:cubicBezTo>
                  <a:pt x="0" y="137253"/>
                  <a:pt x="137253" y="0"/>
                  <a:pt x="30656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5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9A17FE-596B-4679-A6A2-5F00C5289B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594" y="782470"/>
            <a:ext cx="4017197" cy="5293061"/>
          </a:xfrm>
          <a:custGeom>
            <a:avLst/>
            <a:gdLst>
              <a:gd name="connsiteX0" fmla="*/ 0 w 4017197"/>
              <a:gd name="connsiteY0" fmla="*/ 0 h 5293061"/>
              <a:gd name="connsiteX1" fmla="*/ 3347651 w 4017197"/>
              <a:gd name="connsiteY1" fmla="*/ 0 h 5293061"/>
              <a:gd name="connsiteX2" fmla="*/ 4017197 w 4017197"/>
              <a:gd name="connsiteY2" fmla="*/ 669546 h 5293061"/>
              <a:gd name="connsiteX3" fmla="*/ 4017197 w 4017197"/>
              <a:gd name="connsiteY3" fmla="*/ 5293061 h 5293061"/>
              <a:gd name="connsiteX4" fmla="*/ 0 w 4017197"/>
              <a:gd name="connsiteY4" fmla="*/ 5293061 h 529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7197" h="5293061">
                <a:moveTo>
                  <a:pt x="0" y="0"/>
                </a:moveTo>
                <a:lnTo>
                  <a:pt x="3347651" y="0"/>
                </a:lnTo>
                <a:lnTo>
                  <a:pt x="4017197" y="669546"/>
                </a:lnTo>
                <a:lnTo>
                  <a:pt x="4017197" y="5293061"/>
                </a:lnTo>
                <a:lnTo>
                  <a:pt x="0" y="52930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30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44A9431-D09A-4C03-B684-31D76715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890B694-2D7B-4E5E-8EDC-2CAD64FB28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98D2DC4-7146-481F-8E2B-AE2027E8DC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7143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97CF9B-1607-4A8A-A301-4B70B4548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0000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08A5DA0-8ED2-4607-BABC-23C787E09A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22857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4C6E50-B822-4AFB-B784-B89E517A0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34341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2F7DC0D-F5BD-4935-942F-68633575F0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75719" y="1884255"/>
            <a:ext cx="2441478" cy="3165687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5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51663F9-BFE8-480F-A1CF-1216E99A9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18247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C4B2A6-852E-4CBD-B981-98125D4BF0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975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3E1707-43DE-45EB-BAB0-12DB73F856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81" y="0"/>
            <a:ext cx="5189619" cy="6858000"/>
          </a:xfrm>
          <a:custGeom>
            <a:avLst/>
            <a:gdLst>
              <a:gd name="connsiteX0" fmla="*/ 0 w 5189619"/>
              <a:gd name="connsiteY0" fmla="*/ 0 h 6858000"/>
              <a:gd name="connsiteX1" fmla="*/ 5189619 w 5189619"/>
              <a:gd name="connsiteY1" fmla="*/ 0 h 6858000"/>
              <a:gd name="connsiteX2" fmla="*/ 5189619 w 5189619"/>
              <a:gd name="connsiteY2" fmla="*/ 6858000 h 6858000"/>
              <a:gd name="connsiteX3" fmla="*/ 0 w 518961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19" h="6858000">
                <a:moveTo>
                  <a:pt x="0" y="0"/>
                </a:moveTo>
                <a:lnTo>
                  <a:pt x="5189619" y="0"/>
                </a:lnTo>
                <a:lnTo>
                  <a:pt x="518961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CAABFD-F57F-F746-9119-469E99B78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106061"/>
          </a:xfrm>
          <a:custGeom>
            <a:avLst/>
            <a:gdLst>
              <a:gd name="connsiteX0" fmla="*/ 0 w 12192000"/>
              <a:gd name="connsiteY0" fmla="*/ 0 h 4106061"/>
              <a:gd name="connsiteX1" fmla="*/ 12192000 w 12192000"/>
              <a:gd name="connsiteY1" fmla="*/ 0 h 4106061"/>
              <a:gd name="connsiteX2" fmla="*/ 12192000 w 12192000"/>
              <a:gd name="connsiteY2" fmla="*/ 676160 h 4106061"/>
              <a:gd name="connsiteX3" fmla="*/ 12192000 w 12192000"/>
              <a:gd name="connsiteY3" fmla="*/ 3207981 h 4106061"/>
              <a:gd name="connsiteX4" fmla="*/ 12108385 w 12192000"/>
              <a:gd name="connsiteY4" fmla="*/ 3231647 h 4106061"/>
              <a:gd name="connsiteX5" fmla="*/ 5769059 w 12192000"/>
              <a:gd name="connsiteY5" fmla="*/ 3333328 h 4106061"/>
              <a:gd name="connsiteX6" fmla="*/ 101890 w 12192000"/>
              <a:gd name="connsiteY6" fmla="*/ 3375100 h 4106061"/>
              <a:gd name="connsiteX7" fmla="*/ 0 w 12192000"/>
              <a:gd name="connsiteY7" fmla="*/ 3306830 h 4106061"/>
              <a:gd name="connsiteX8" fmla="*/ 0 w 12192000"/>
              <a:gd name="connsiteY8" fmla="*/ 676160 h 410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106061">
                <a:moveTo>
                  <a:pt x="0" y="0"/>
                </a:moveTo>
                <a:lnTo>
                  <a:pt x="12192000" y="0"/>
                </a:lnTo>
                <a:lnTo>
                  <a:pt x="12192000" y="676160"/>
                </a:lnTo>
                <a:lnTo>
                  <a:pt x="12192000" y="3207981"/>
                </a:lnTo>
                <a:lnTo>
                  <a:pt x="12108385" y="3231647"/>
                </a:lnTo>
                <a:cubicBezTo>
                  <a:pt x="10735166" y="3516788"/>
                  <a:pt x="8009777" y="1369759"/>
                  <a:pt x="5769059" y="3333328"/>
                </a:cubicBezTo>
                <a:cubicBezTo>
                  <a:pt x="4517631" y="4430076"/>
                  <a:pt x="1550902" y="4281867"/>
                  <a:pt x="101890" y="3375100"/>
                </a:cubicBezTo>
                <a:lnTo>
                  <a:pt x="0" y="3306830"/>
                </a:lnTo>
                <a:lnTo>
                  <a:pt x="0" y="67616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68D6E1-8736-41FD-AC15-6CB223769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13177" y="1890749"/>
            <a:ext cx="5803641" cy="3695450"/>
          </a:xfrm>
          <a:custGeom>
            <a:avLst/>
            <a:gdLst>
              <a:gd name="connsiteX0" fmla="*/ 0 w 5803641"/>
              <a:gd name="connsiteY0" fmla="*/ 0 h 3695450"/>
              <a:gd name="connsiteX1" fmla="*/ 5803641 w 5803641"/>
              <a:gd name="connsiteY1" fmla="*/ 0 h 3695450"/>
              <a:gd name="connsiteX2" fmla="*/ 5803641 w 5803641"/>
              <a:gd name="connsiteY2" fmla="*/ 3695450 h 3695450"/>
              <a:gd name="connsiteX3" fmla="*/ 0 w 5803641"/>
              <a:gd name="connsiteY3" fmla="*/ 3695450 h 3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3641" h="3695450">
                <a:moveTo>
                  <a:pt x="0" y="0"/>
                </a:moveTo>
                <a:lnTo>
                  <a:pt x="5803641" y="0"/>
                </a:lnTo>
                <a:lnTo>
                  <a:pt x="5803641" y="3695450"/>
                </a:lnTo>
                <a:lnTo>
                  <a:pt x="0" y="369545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10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EA18E-FB89-47F5-8520-17E7A37D6B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3329" y="1057275"/>
            <a:ext cx="2219958" cy="4743450"/>
          </a:xfrm>
          <a:custGeom>
            <a:avLst/>
            <a:gdLst>
              <a:gd name="connsiteX0" fmla="*/ 227124 w 2219958"/>
              <a:gd name="connsiteY0" fmla="*/ 0 h 4743450"/>
              <a:gd name="connsiteX1" fmla="*/ 1992834 w 2219958"/>
              <a:gd name="connsiteY1" fmla="*/ 0 h 4743450"/>
              <a:gd name="connsiteX2" fmla="*/ 2219958 w 2219958"/>
              <a:gd name="connsiteY2" fmla="*/ 227124 h 4743450"/>
              <a:gd name="connsiteX3" fmla="*/ 2219958 w 2219958"/>
              <a:gd name="connsiteY3" fmla="*/ 4516326 h 4743450"/>
              <a:gd name="connsiteX4" fmla="*/ 1992834 w 2219958"/>
              <a:gd name="connsiteY4" fmla="*/ 4743450 h 4743450"/>
              <a:gd name="connsiteX5" fmla="*/ 227124 w 2219958"/>
              <a:gd name="connsiteY5" fmla="*/ 4743450 h 4743450"/>
              <a:gd name="connsiteX6" fmla="*/ 0 w 2219958"/>
              <a:gd name="connsiteY6" fmla="*/ 4516326 h 4743450"/>
              <a:gd name="connsiteX7" fmla="*/ 0 w 2219958"/>
              <a:gd name="connsiteY7" fmla="*/ 227124 h 4743450"/>
              <a:gd name="connsiteX8" fmla="*/ 227124 w 2219958"/>
              <a:gd name="connsiteY8" fmla="*/ 0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9958" h="4743450">
                <a:moveTo>
                  <a:pt x="227124" y="0"/>
                </a:moveTo>
                <a:lnTo>
                  <a:pt x="1992834" y="0"/>
                </a:lnTo>
                <a:cubicBezTo>
                  <a:pt x="2118271" y="0"/>
                  <a:pt x="2219958" y="101687"/>
                  <a:pt x="2219958" y="227124"/>
                </a:cubicBezTo>
                <a:lnTo>
                  <a:pt x="2219958" y="4516326"/>
                </a:lnTo>
                <a:cubicBezTo>
                  <a:pt x="2219958" y="4641763"/>
                  <a:pt x="2118271" y="4743450"/>
                  <a:pt x="1992834" y="4743450"/>
                </a:cubicBezTo>
                <a:lnTo>
                  <a:pt x="227124" y="4743450"/>
                </a:lnTo>
                <a:cubicBezTo>
                  <a:pt x="101687" y="4743450"/>
                  <a:pt x="0" y="4641763"/>
                  <a:pt x="0" y="4516326"/>
                </a:cubicBezTo>
                <a:lnTo>
                  <a:pt x="0" y="227124"/>
                </a:lnTo>
                <a:cubicBezTo>
                  <a:pt x="0" y="101687"/>
                  <a:pt x="101687" y="0"/>
                  <a:pt x="22712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3D7F8DF-3CDA-EA4E-A09E-4F67FF8CD3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67722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022485-0EAF-0743-95CD-90DAC13402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03745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3A1C4BE-0DC3-DE4C-AFEF-8E2C824B8A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83447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7FF3410-819F-F840-9748-F43CB1070A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3463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CA3232-82FF-D946-AA6E-BA07254270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5291" y="2142645"/>
            <a:ext cx="1761418" cy="3763674"/>
          </a:xfrm>
          <a:custGeom>
            <a:avLst/>
            <a:gdLst>
              <a:gd name="connsiteX0" fmla="*/ 180211 w 1761418"/>
              <a:gd name="connsiteY0" fmla="*/ 0 h 3763674"/>
              <a:gd name="connsiteX1" fmla="*/ 1581207 w 1761418"/>
              <a:gd name="connsiteY1" fmla="*/ 0 h 3763674"/>
              <a:gd name="connsiteX2" fmla="*/ 1761418 w 1761418"/>
              <a:gd name="connsiteY2" fmla="*/ 180211 h 3763674"/>
              <a:gd name="connsiteX3" fmla="*/ 1761418 w 1761418"/>
              <a:gd name="connsiteY3" fmla="*/ 3583463 h 3763674"/>
              <a:gd name="connsiteX4" fmla="*/ 1581207 w 1761418"/>
              <a:gd name="connsiteY4" fmla="*/ 3763674 h 3763674"/>
              <a:gd name="connsiteX5" fmla="*/ 180211 w 1761418"/>
              <a:gd name="connsiteY5" fmla="*/ 3763674 h 3763674"/>
              <a:gd name="connsiteX6" fmla="*/ 0 w 1761418"/>
              <a:gd name="connsiteY6" fmla="*/ 3583463 h 3763674"/>
              <a:gd name="connsiteX7" fmla="*/ 0 w 1761418"/>
              <a:gd name="connsiteY7" fmla="*/ 180211 h 3763674"/>
              <a:gd name="connsiteX8" fmla="*/ 180211 w 1761418"/>
              <a:gd name="connsiteY8" fmla="*/ 0 h 3763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418" h="3763674">
                <a:moveTo>
                  <a:pt x="180211" y="0"/>
                </a:moveTo>
                <a:lnTo>
                  <a:pt x="1581207" y="0"/>
                </a:lnTo>
                <a:cubicBezTo>
                  <a:pt x="1680735" y="0"/>
                  <a:pt x="1761418" y="80683"/>
                  <a:pt x="1761418" y="180211"/>
                </a:cubicBezTo>
                <a:lnTo>
                  <a:pt x="1761418" y="3583463"/>
                </a:lnTo>
                <a:cubicBezTo>
                  <a:pt x="1761418" y="3682991"/>
                  <a:pt x="1680735" y="3763674"/>
                  <a:pt x="1581207" y="3763674"/>
                </a:cubicBezTo>
                <a:lnTo>
                  <a:pt x="180211" y="3763674"/>
                </a:lnTo>
                <a:cubicBezTo>
                  <a:pt x="80683" y="3763674"/>
                  <a:pt x="0" y="3682991"/>
                  <a:pt x="0" y="3583463"/>
                </a:cubicBezTo>
                <a:lnTo>
                  <a:pt x="0" y="180211"/>
                </a:lnTo>
                <a:cubicBezTo>
                  <a:pt x="0" y="80683"/>
                  <a:pt x="80683" y="0"/>
                  <a:pt x="18021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9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563398"/>
            <a:ext cx="12192000" cy="3294602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7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99746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4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C3C20-3EE6-BC42-BA5A-210B9E30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F807-878D-BA4F-AEC6-598BD5B7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7162-49E7-EE4C-B21C-91E7ECD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25C4-4828-2045-91EA-D420555D5F1F}" type="datetimeFigureOut"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BF40-7FB9-2F43-B954-25C5E6B6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ADE8-7561-0042-8B49-15BA68058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62F1C-97F2-BA44-A4ED-8842C0E0023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9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antaq/pt-br/central-de-conteudos/estudos-e-pesquisas-da-antaq-1/PesquisadeSatisfaodosUsuriosdaNavegaodeTravessia2022.pdf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ntaq-my.sharepoint.com/personal/isaac_nascimento_antaq_gov_br/Documents/Curso%20forma&#231;&#227;o%20servidores/Exemplo1_SEI%201931044_Nota%20T&#233;cnica.pdf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6" Type="http://schemas.openxmlformats.org/officeDocument/2006/relationships/hyperlink" Target="https://antaq-my.sharepoint.com/:b:/g/personal/isaac_nascimento_antaq_gov_br/EVn8-Vtij95DnrKSG2CIOxUBSkEYENrt9FFbG4wUqu4NQQ?e=cxbJMv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Relationship Id="rId4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5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5.pn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5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ntaq-my.sharepoint.com/my?id=%2Fpersonal%2Fisaac%5Fnascimento%5Fantaq%5Fgov%5Fbr%2FDocuments%2FCurso%20forma%C3%A7%C3%A3o%20servidores%2FExemplo2%5FSEI%5F2130714%5FNota%20T%C3%A9cnica%2Epdf&amp;parent=%2Fpersonal%2Fisaac%5Fnascimento%5Fantaq%5Fgov%5Fbr%2FDocuments%2FCurso%20forma%C3%A7%C3%A3o%20servidores&amp;ga=1" TargetMode="Externa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hyperlink" Target="https://antaq-my.sharepoint.com/personal/isaac_nascimento_antaq_gov_br/Documents/Curso%20forma&#231;&#227;o%20servidores/Exemplo2_SEI_2130714_Nota%20T&#233;cnica.pdf" TargetMode="External"/><Relationship Id="rId4" Type="http://schemas.openxmlformats.org/officeDocument/2006/relationships/hyperlink" Target="https://antaq-my.sharepoint.com/:b:/g/personal/isaac_nascimento_antaq_gov_br/EWTjtmFTD1hDjS5TKZRsIOkB47KXQt2y1FIPa9ngc6Pnrg?e=EdU2m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ntaq-my.sharepoint.com/personal/isaac_nascimento_antaq_gov_br/Documents/Curso%20forma&#231;&#227;o%20servidores/Exemplo3_Estudo_de_Referencia_Manaus_Careiro.pdf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ntaq-my.sharepoint.com/personal/isaac_nascimento_antaq_gov_br/Documents/Curso%20forma&#231;&#227;o%20servidores/Exemplo3_Estudo_de_Referencia_Manaus_Careiro.pdf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Relationship Id="rId6" Type="http://schemas.openxmlformats.org/officeDocument/2006/relationships/hyperlink" Target="https://www.youtube.com/watch?v=qTQ1YDgyByE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ntaq-my.sharepoint.com/personal/isaac_nascimento_antaq_gov_br/Documents/Curso%20forma&#231;&#227;o%20servidores/Exemplo4_Regula&#231;&#227;o%20de%20pre&#231;os%20de%20servi&#231;os%20p&#250;blicos%20Revis&#227;o2023%20(1).pdf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hyperlink" Target="https://docs.google.com/spreadsheets/d/1iViwUOWSPq4NoI8eQlmrl8O-1iDzp511PoracftqMnc/edit?usp=sharin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antaq/pt-br/noticias/2023/divulgada-pesquisa-de-satisfacao-dos-usuarios-da-navegacao-de-travessia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DE70594-662C-4473-B1BE-CEE828227F28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8F83C28-3719-B437-F998-F4EEA054C1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50000" t="7871" r="2083" b="7871"/>
          <a:stretch>
            <a:fillRect/>
          </a:stretch>
        </p:blipFill>
        <p:spPr>
          <a:xfrm>
            <a:off x="6349999" y="0"/>
            <a:ext cx="5842000" cy="6849033"/>
          </a:xfr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D811475-31AF-4A33-9621-2CE0B0B70AF7}"/>
              </a:ext>
            </a:extLst>
          </p:cNvPr>
          <p:cNvSpPr/>
          <p:nvPr/>
        </p:nvSpPr>
        <p:spPr>
          <a:xfrm>
            <a:off x="254967" y="3739367"/>
            <a:ext cx="57333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Técnico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em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Regulação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de Serviços</a:t>
            </a:r>
          </a:p>
          <a:p>
            <a:pPr algn="r"/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de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Transportes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Aquaviários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EA8EFB-C403-F047-B962-2091D1EFEE93}"/>
              </a:ext>
            </a:extLst>
          </p:cNvPr>
          <p:cNvSpPr/>
          <p:nvPr/>
        </p:nvSpPr>
        <p:spPr>
          <a:xfrm>
            <a:off x="1501774" y="4423047"/>
            <a:ext cx="44865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400" b="1" dirty="0">
                <a:solidFill>
                  <a:schemeClr val="bg1">
                    <a:alpha val="42000"/>
                  </a:schemeClr>
                </a:solidFill>
                <a:latin typeface="Poppins" pitchFamily="2" charset="77"/>
                <a:cs typeface="Poppins" pitchFamily="2" charset="77"/>
              </a:rPr>
              <a:t>2026</a:t>
            </a:r>
            <a:endParaRPr lang="en-US" sz="6000" b="1" dirty="0">
              <a:solidFill>
                <a:schemeClr val="bg1">
                  <a:alpha val="42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agem 9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D41E351-A38D-4DDC-DDAD-FABEAEEC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38" y="1472479"/>
            <a:ext cx="5733324" cy="1858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969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FF3CCF4-09F5-406F-98F9-9759F879C87C}"/>
              </a:ext>
            </a:extLst>
          </p:cNvPr>
          <p:cNvSpPr/>
          <p:nvPr/>
        </p:nvSpPr>
        <p:spPr>
          <a:xfrm>
            <a:off x="4606723" y="0"/>
            <a:ext cx="7585275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9AD7D-2282-48EA-9AF5-21DCC7295176}"/>
              </a:ext>
            </a:extLst>
          </p:cNvPr>
          <p:cNvSpPr/>
          <p:nvPr/>
        </p:nvSpPr>
        <p:spPr>
          <a:xfrm>
            <a:off x="6419088" y="1727659"/>
            <a:ext cx="4770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Curso</a:t>
            </a:r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de </a:t>
            </a:r>
            <a:r>
              <a:rPr lang="en-US" sz="3600" b="1" dirty="0" err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Formação</a:t>
            </a:r>
            <a:endParaRPr lang="en-US" sz="3600" b="1" dirty="0">
              <a:solidFill>
                <a:schemeClr val="bg1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EA86E31A-2A06-043F-C7CF-CB75B494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53" y="250955"/>
            <a:ext cx="1156841" cy="375009"/>
          </a:xfrm>
          <a:prstGeom prst="rect">
            <a:avLst/>
          </a:prstGeom>
        </p:spPr>
      </p:pic>
      <p:pic>
        <p:nvPicPr>
          <p:cNvPr id="18" name="Imagem 17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64DAA7B1-51DA-D547-0AF9-155ABF18B3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65" r="38798" b="10150"/>
          <a:stretch>
            <a:fillRect/>
          </a:stretch>
        </p:blipFill>
        <p:spPr>
          <a:xfrm>
            <a:off x="0" y="0"/>
            <a:ext cx="4606722" cy="6858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B63C70F-EEBD-4C3A-8049-444643DC30B2}"/>
              </a:ext>
            </a:extLst>
          </p:cNvPr>
          <p:cNvSpPr/>
          <p:nvPr/>
        </p:nvSpPr>
        <p:spPr>
          <a:xfrm>
            <a:off x="3936292" y="2408440"/>
            <a:ext cx="6065135" cy="39283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BAC4E7-FDFB-4380-BFCA-E0EF955A5C0C}"/>
              </a:ext>
            </a:extLst>
          </p:cNvPr>
          <p:cNvSpPr/>
          <p:nvPr/>
        </p:nvSpPr>
        <p:spPr>
          <a:xfrm>
            <a:off x="10001427" y="2408440"/>
            <a:ext cx="1093167" cy="3368232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B6B44E7-4917-419F-8795-3AB5BC864333}"/>
              </a:ext>
            </a:extLst>
          </p:cNvPr>
          <p:cNvSpPr/>
          <p:nvPr/>
        </p:nvSpPr>
        <p:spPr>
          <a:xfrm>
            <a:off x="4242168" y="2818161"/>
            <a:ext cx="5453382" cy="2199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kern="100" dirty="0">
                <a:ea typeface="Aptos" panose="020B0004020202020204" pitchFamily="34" charset="0"/>
                <a:cs typeface="Arial" panose="020B0604020202020204" pitchFamily="34" charset="0"/>
              </a:rPr>
              <a:t>CONCURSO PÚBLICO NACIONAL UNIFICADO DO GOVERNO FEDERAL PARA PROVIMENTO DE VAGAS E FORMAÇÃO DE CADASTRO RESERVA EM CARGOS DE </a:t>
            </a:r>
            <a:r>
              <a:rPr lang="pt-BR" sz="2000" b="1" kern="100">
                <a:ea typeface="Aptos" panose="020B0004020202020204" pitchFamily="34" charset="0"/>
                <a:cs typeface="Arial" panose="020B0604020202020204" pitchFamily="34" charset="0"/>
              </a:rPr>
              <a:t>NÍVEL MÉDIO </a:t>
            </a:r>
            <a:r>
              <a:rPr lang="pt-BR" sz="2000" b="1" kern="100" dirty="0">
                <a:ea typeface="Aptos" panose="020B0004020202020204" pitchFamily="34" charset="0"/>
                <a:cs typeface="Arial" panose="020B0604020202020204" pitchFamily="34" charset="0"/>
              </a:rPr>
              <a:t>EDITAL N. º XX/20XX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2000" b="1" kern="100" dirty="0">
                <a:ea typeface="Aptos" panose="020B0004020202020204" pitchFamily="34" charset="0"/>
                <a:cs typeface="Arial" panose="020B0604020202020204" pitchFamily="34" charset="0"/>
              </a:rPr>
              <a:t>DISCIPLINA: </a:t>
            </a:r>
            <a:r>
              <a:rPr lang="pt-BR" sz="2000" kern="100" dirty="0">
                <a:ea typeface="Aptos" panose="020B0004020202020204" pitchFamily="34" charset="0"/>
                <a:cs typeface="Arial" panose="020B0604020202020204" pitchFamily="34" charset="0"/>
              </a:rPr>
              <a:t>ANÁLISE DE DADOS – BÁSICO</a:t>
            </a:r>
            <a:endParaRPr lang="en-US" sz="2000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pt-BR" sz="2000" b="1" kern="100" dirty="0">
                <a:ea typeface="Aptos" panose="020B0004020202020204" pitchFamily="34" charset="0"/>
                <a:cs typeface="Arial" panose="020B0604020202020204" pitchFamily="34" charset="0"/>
              </a:rPr>
              <a:t>CARGA HORÁRIA: </a:t>
            </a:r>
            <a:r>
              <a:rPr lang="pt-BR" sz="2000" kern="100" dirty="0">
                <a:ea typeface="Aptos" panose="020B0004020202020204" pitchFamily="34" charset="0"/>
                <a:cs typeface="Arial" panose="020B0604020202020204" pitchFamily="34" charset="0"/>
              </a:rPr>
              <a:t>2H</a:t>
            </a:r>
            <a:endParaRPr lang="en-US" sz="2000" kern="100" dirty="0"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48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1">
            <a:extLst>
              <a:ext uri="{FF2B5EF4-FFF2-40B4-BE49-F238E27FC236}">
                <a16:creationId xmlns:a16="http://schemas.microsoft.com/office/drawing/2014/main" id="{4B02309C-05BB-334A-7587-1AC1C07A6AB8}"/>
              </a:ext>
            </a:extLst>
          </p:cNvPr>
          <p:cNvSpPr/>
          <p:nvPr/>
        </p:nvSpPr>
        <p:spPr>
          <a:xfrm rot="7806294" flipH="1">
            <a:off x="-100023" y="5083537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659307C-E655-3F43-A6DE-A671F4157978}"/>
              </a:ext>
            </a:extLst>
          </p:cNvPr>
          <p:cNvSpPr/>
          <p:nvPr/>
        </p:nvSpPr>
        <p:spPr>
          <a:xfrm rot="12674045" flipH="1">
            <a:off x="1710388" y="-1305406"/>
            <a:ext cx="3911832" cy="4018012"/>
          </a:xfrm>
          <a:custGeom>
            <a:avLst/>
            <a:gdLst>
              <a:gd name="connsiteX0" fmla="*/ 0 w 3911832"/>
              <a:gd name="connsiteY0" fmla="*/ 1645740 h 4018012"/>
              <a:gd name="connsiteX1" fmla="*/ 3911832 w 3911832"/>
              <a:gd name="connsiteY1" fmla="*/ 4018012 h 4018012"/>
              <a:gd name="connsiteX2" fmla="*/ 3911832 w 3911832"/>
              <a:gd name="connsiteY2" fmla="*/ 332628 h 4018012"/>
              <a:gd name="connsiteX3" fmla="*/ 3363335 w 3911832"/>
              <a:gd name="connsiteY3" fmla="*/ 0 h 401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1832" h="4018012">
                <a:moveTo>
                  <a:pt x="0" y="1645740"/>
                </a:moveTo>
                <a:lnTo>
                  <a:pt x="3911832" y="4018012"/>
                </a:lnTo>
                <a:lnTo>
                  <a:pt x="3911832" y="332628"/>
                </a:lnTo>
                <a:lnTo>
                  <a:pt x="3363335" y="0"/>
                </a:lnTo>
                <a:close/>
              </a:path>
            </a:pathLst>
          </a:custGeom>
          <a:solidFill>
            <a:schemeClr val="bg1">
              <a:lumMod val="9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B454B81-187D-D843-93D1-98F546EE9AD3}"/>
              </a:ext>
            </a:extLst>
          </p:cNvPr>
          <p:cNvSpPr/>
          <p:nvPr/>
        </p:nvSpPr>
        <p:spPr>
          <a:xfrm rot="17258545" flipH="1">
            <a:off x="10299354" y="5064954"/>
            <a:ext cx="2474839" cy="1814534"/>
          </a:xfrm>
          <a:custGeom>
            <a:avLst/>
            <a:gdLst>
              <a:gd name="connsiteX0" fmla="*/ 0 w 2474839"/>
              <a:gd name="connsiteY0" fmla="*/ 1210984 h 1814534"/>
              <a:gd name="connsiteX1" fmla="*/ 1897756 w 2474839"/>
              <a:gd name="connsiteY1" fmla="*/ 1814534 h 1814534"/>
              <a:gd name="connsiteX2" fmla="*/ 2474839 w 2474839"/>
              <a:gd name="connsiteY2" fmla="*/ 0 h 18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4839" h="1814534">
                <a:moveTo>
                  <a:pt x="0" y="1210984"/>
                </a:moveTo>
                <a:lnTo>
                  <a:pt x="1897756" y="1814534"/>
                </a:lnTo>
                <a:lnTo>
                  <a:pt x="2474839" y="0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165A78-9A68-6242-8E20-67F08ADD7AE9}"/>
              </a:ext>
            </a:extLst>
          </p:cNvPr>
          <p:cNvGrpSpPr/>
          <p:nvPr/>
        </p:nvGrpSpPr>
        <p:grpSpPr>
          <a:xfrm>
            <a:off x="6134407" y="1424183"/>
            <a:ext cx="4984446" cy="3038293"/>
            <a:chOff x="5651807" y="1166000"/>
            <a:chExt cx="4984446" cy="30382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AD3538-66EC-44BD-9F13-E8E3DA353DD0}"/>
                </a:ext>
              </a:extLst>
            </p:cNvPr>
            <p:cNvSpPr/>
            <p:nvPr/>
          </p:nvSpPr>
          <p:spPr>
            <a:xfrm>
              <a:off x="5651808" y="1387286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S</a:t>
              </a:r>
              <a:r>
                <a:rPr lang="en-US" sz="3600" b="1" dirty="0" err="1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umário</a:t>
              </a:r>
              <a:endParaRPr lang="en-US" sz="3600" b="1" dirty="0">
                <a:solidFill>
                  <a:srgbClr val="203864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77946C-3863-4454-A69E-9BC0346B0A08}"/>
                </a:ext>
              </a:extLst>
            </p:cNvPr>
            <p:cNvSpPr/>
            <p:nvPr/>
          </p:nvSpPr>
          <p:spPr>
            <a:xfrm>
              <a:off x="5651807" y="2464586"/>
              <a:ext cx="4984446" cy="17397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pt-BR" sz="2200" dirty="0"/>
                <a:t>1. Introdução</a:t>
              </a:r>
            </a:p>
            <a:p>
              <a:pPr>
                <a:spcBef>
                  <a:spcPts val="600"/>
                </a:spcBef>
              </a:pPr>
              <a:r>
                <a:rPr lang="pt-BR" sz="2200" dirty="0"/>
                <a:t>2. Metodologias de análise de dados</a:t>
              </a:r>
            </a:p>
            <a:p>
              <a:pPr>
                <a:spcBef>
                  <a:spcPts val="600"/>
                </a:spcBef>
              </a:pPr>
              <a:r>
                <a:rPr lang="pt-BR" sz="2200" dirty="0"/>
                <a:t>3. Referências bibliográficas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en-US" sz="20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9EFA775-EC30-4F4C-9D4F-1B846ECF8BD6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2070864"/>
              <a:ext cx="1536700" cy="0"/>
            </a:xfrm>
            <a:prstGeom prst="line">
              <a:avLst/>
            </a:prstGeom>
            <a:ln w="50800">
              <a:solidFill>
                <a:srgbClr val="0744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52F15C-C2BD-924E-A3B4-7F14D8275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7720" y="1166000"/>
              <a:ext cx="962780" cy="1"/>
            </a:xfrm>
            <a:prstGeom prst="line">
              <a:avLst/>
            </a:prstGeom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Espaço Reservado para Imagem 13" descr="Uma imagem contendo água, navio, colorido, barco&#10;&#10;O conteúdo gerado por IA pode estar incorreto.">
            <a:extLst>
              <a:ext uri="{FF2B5EF4-FFF2-40B4-BE49-F238E27FC236}">
                <a16:creationId xmlns:a16="http://schemas.microsoft.com/office/drawing/2014/main" id="{26D34DCD-7E07-1259-0E20-1A6EDAC2FF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2060" r="22060"/>
          <a:stretch>
            <a:fillRect/>
          </a:stretch>
        </p:blipFill>
        <p:spPr/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E5C85B58-6FFC-CE40-ABB8-785121005475}"/>
              </a:ext>
            </a:extLst>
          </p:cNvPr>
          <p:cNvSpPr/>
          <p:nvPr/>
        </p:nvSpPr>
        <p:spPr>
          <a:xfrm rot="7806294" flipH="1">
            <a:off x="-100025" y="5077043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6F389A7-B3C7-104D-83B6-335910878E78}"/>
              </a:ext>
            </a:extLst>
          </p:cNvPr>
          <p:cNvSpPr/>
          <p:nvPr/>
        </p:nvSpPr>
        <p:spPr>
          <a:xfrm rot="7806294" flipH="1">
            <a:off x="851193" y="4628538"/>
            <a:ext cx="253973" cy="2863780"/>
          </a:xfrm>
          <a:custGeom>
            <a:avLst/>
            <a:gdLst>
              <a:gd name="connsiteX0" fmla="*/ 253973 w 253973"/>
              <a:gd name="connsiteY0" fmla="*/ 2863780 h 2863780"/>
              <a:gd name="connsiteX1" fmla="*/ 253973 w 253973"/>
              <a:gd name="connsiteY1" fmla="*/ 0 h 2863780"/>
              <a:gd name="connsiteX2" fmla="*/ 0 w 253973"/>
              <a:gd name="connsiteY2" fmla="*/ 301550 h 2863780"/>
              <a:gd name="connsiteX3" fmla="*/ 0 w 253973"/>
              <a:gd name="connsiteY3" fmla="*/ 2649878 h 286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973" h="2863780">
                <a:moveTo>
                  <a:pt x="253973" y="2863780"/>
                </a:moveTo>
                <a:lnTo>
                  <a:pt x="253973" y="0"/>
                </a:lnTo>
                <a:lnTo>
                  <a:pt x="0" y="301550"/>
                </a:lnTo>
                <a:lnTo>
                  <a:pt x="0" y="2649878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900"/>
          </a:p>
        </p:txBody>
      </p:sp>
      <p:sp>
        <p:nvSpPr>
          <p:cNvPr id="2" name="Freeform 34">
            <a:extLst>
              <a:ext uri="{FF2B5EF4-FFF2-40B4-BE49-F238E27FC236}">
                <a16:creationId xmlns:a16="http://schemas.microsoft.com/office/drawing/2014/main" id="{3EF93405-61DC-E828-F917-49BA6CD6CBA8}"/>
              </a:ext>
            </a:extLst>
          </p:cNvPr>
          <p:cNvSpPr/>
          <p:nvPr/>
        </p:nvSpPr>
        <p:spPr>
          <a:xfrm rot="17258545" flipH="1">
            <a:off x="10710913" y="5444988"/>
            <a:ext cx="1939292" cy="1421875"/>
          </a:xfrm>
          <a:custGeom>
            <a:avLst/>
            <a:gdLst>
              <a:gd name="connsiteX0" fmla="*/ 0 w 1939292"/>
              <a:gd name="connsiteY0" fmla="*/ 948931 h 1421875"/>
              <a:gd name="connsiteX1" fmla="*/ 1487088 w 1939292"/>
              <a:gd name="connsiteY1" fmla="*/ 1421875 h 1421875"/>
              <a:gd name="connsiteX2" fmla="*/ 1939292 w 1939292"/>
              <a:gd name="connsiteY2" fmla="*/ 0 h 142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9292" h="1421875">
                <a:moveTo>
                  <a:pt x="0" y="948931"/>
                </a:moveTo>
                <a:lnTo>
                  <a:pt x="1487088" y="1421875"/>
                </a:lnTo>
                <a:lnTo>
                  <a:pt x="193929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BC96F227-80A5-5A08-E526-3241F401B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40" y="247910"/>
            <a:ext cx="1156841" cy="3750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7A08006-EF1B-B246-DBA4-539E51874B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37753" y="250955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9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142938F6-96C2-B1B1-990F-9A422D1F386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14FF788-7A67-481C-A185-CB7966FBA9AA}"/>
              </a:ext>
            </a:extLst>
          </p:cNvPr>
          <p:cNvSpPr/>
          <p:nvPr/>
        </p:nvSpPr>
        <p:spPr>
          <a:xfrm>
            <a:off x="471146" y="-8967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DD188D-9A2F-7B49-A1CF-91EC0EDAB6D3}"/>
              </a:ext>
            </a:extLst>
          </p:cNvPr>
          <p:cNvGrpSpPr/>
          <p:nvPr/>
        </p:nvGrpSpPr>
        <p:grpSpPr>
          <a:xfrm>
            <a:off x="927157" y="1080120"/>
            <a:ext cx="6939586" cy="4461798"/>
            <a:chOff x="1587924" y="1265558"/>
            <a:chExt cx="6939586" cy="446179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C460EC-F3EC-5748-9410-A8884CBE8D5E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4076592"/>
              <a:chOff x="972154" y="1679962"/>
              <a:chExt cx="6939586" cy="407659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B61F4B-EA04-4F27-8605-6B119CEAF3A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7BD5FF-BE27-4C00-BC16-BA5680A958C8}"/>
                  </a:ext>
                </a:extLst>
              </p:cNvPr>
              <p:cNvSpPr/>
              <p:nvPr/>
            </p:nvSpPr>
            <p:spPr>
              <a:xfrm>
                <a:off x="972154" y="2118635"/>
                <a:ext cx="6939586" cy="3637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400" dirty="0"/>
                  <a:t>Contexto Atual das Organizações Públicas:</a:t>
                </a:r>
              </a:p>
              <a:p>
                <a:pPr marL="342900" indent="-34290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pt-BR" sz="2400" dirty="0"/>
                  <a:t>A demanda da população por serviços públicos é crescente;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2400" dirty="0"/>
                  <a:t>A capacidade de extrair recursos da sociedade para financiamento dos serviços públicos é limitada;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2400" dirty="0"/>
                  <a:t>Crescimento contínuo das despesas obrigatórias, comprimindo as despesas discricionárias;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2400" dirty="0"/>
                  <a:t>Consequência: comprometimento das funções públicas, especialmente investimentos públicos.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7C3807-0FB7-F245-8021-4E0406574EE4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2AF5CD-A350-644B-B738-4D7158AD1679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7979E29-19F8-BF40-8F24-32FD6A1D2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F61EBBA-BBBF-2421-046D-E77BDBF19F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874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9C99-28F3-4C5F-EDBE-6B36C9D6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1CF764B-CA3F-D0C2-47AF-A004A7E777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8EF398-C542-94F8-176F-46D7D11BD032}"/>
              </a:ext>
            </a:extLst>
          </p:cNvPr>
          <p:cNvSpPr/>
          <p:nvPr/>
        </p:nvSpPr>
        <p:spPr>
          <a:xfrm>
            <a:off x="471146" y="-8967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76D7F8-955B-6FEC-1F41-3DB0A836C8B3}"/>
              </a:ext>
            </a:extLst>
          </p:cNvPr>
          <p:cNvGrpSpPr/>
          <p:nvPr/>
        </p:nvGrpSpPr>
        <p:grpSpPr>
          <a:xfrm>
            <a:off x="927157" y="1080120"/>
            <a:ext cx="6939586" cy="4471031"/>
            <a:chOff x="1587924" y="1265558"/>
            <a:chExt cx="6939586" cy="447103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6491055-7134-63E0-A04B-3410691149E8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4085825"/>
              <a:chOff x="972154" y="1679962"/>
              <a:chExt cx="6939586" cy="408582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446BAE-442A-9ECE-B475-81B7FC2DCD02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12396A-EEEF-BA2A-9C71-0C4389B0FF07}"/>
                  </a:ext>
                </a:extLst>
              </p:cNvPr>
              <p:cNvSpPr/>
              <p:nvPr/>
            </p:nvSpPr>
            <p:spPr>
              <a:xfrm>
                <a:off x="972154" y="2118635"/>
                <a:ext cx="6939586" cy="3647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pt-BR" sz="2400" dirty="0"/>
                  <a:t>	Diante do cenário de escassez de recursos públicos, a administração pública tem o desafio melhorar os gastos públicos.</a:t>
                </a:r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Racionalizar e priorizar a eficiência e eficácia das políticas públicas:</a:t>
                </a:r>
              </a:p>
              <a:p>
                <a:pPr lvl="1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pt-BR" sz="2400" dirty="0"/>
                  <a:t>Fazer mais, com menos recursos e da melhor forma possível;</a:t>
                </a:r>
              </a:p>
              <a:p>
                <a:pPr lvl="1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pt-BR" sz="2400" dirty="0"/>
                  <a:t>Aumentar a quantidade e qualidade dos serviços públicos para o mesmo volume de gasto.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800819C-4052-ACA0-E220-B5E8BBC8CE13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C4625FD-7AF8-20AF-E335-912287C43F0A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8E2DDB9-5AC9-C324-F899-8158B90FF3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DDA2AEC-4DAC-68AF-FD43-6A0450A1DB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991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E8FE-708C-21DF-A73A-005E2C19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AABD260B-87B1-7C43-059E-4FAB391569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AAE2FA-A8EE-B435-8A0E-A3038FE239B1}"/>
              </a:ext>
            </a:extLst>
          </p:cNvPr>
          <p:cNvSpPr/>
          <p:nvPr/>
        </p:nvSpPr>
        <p:spPr>
          <a:xfrm>
            <a:off x="471146" y="-8967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B4D4F2-B977-6524-03B1-7EDFB6491973}"/>
              </a:ext>
            </a:extLst>
          </p:cNvPr>
          <p:cNvGrpSpPr/>
          <p:nvPr/>
        </p:nvGrpSpPr>
        <p:grpSpPr>
          <a:xfrm>
            <a:off x="927157" y="1080120"/>
            <a:ext cx="6939586" cy="4748030"/>
            <a:chOff x="1587924" y="1265558"/>
            <a:chExt cx="6939586" cy="474803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849B6C2-8621-AF6C-C879-30FA0259ABBF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4362824"/>
              <a:chOff x="972154" y="1679962"/>
              <a:chExt cx="6939586" cy="436282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516939-72F8-1C84-8628-DB1FB3306400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3614C4-E96F-E7F5-1FCA-A62716E59A0D}"/>
                  </a:ext>
                </a:extLst>
              </p:cNvPr>
              <p:cNvSpPr/>
              <p:nvPr/>
            </p:nvSpPr>
            <p:spPr>
              <a:xfrm>
                <a:off x="972154" y="2118635"/>
                <a:ext cx="6939586" cy="3924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BR" sz="2600" u="sng" dirty="0"/>
                  <a:t>Análise de dados, o que é?</a:t>
                </a:r>
              </a:p>
              <a:p>
                <a:pPr marL="342900" indent="-342900" algn="just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600" dirty="0"/>
                  <a:t>Processo de desenvolvimento de decisões ou recomendações para ações para resolver problemas reais;</a:t>
                </a:r>
              </a:p>
              <a:p>
                <a:pPr marL="342900" indent="-342900" algn="just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600" dirty="0"/>
                  <a:t>Utiliza insights gerados a partir de dados históricos;</a:t>
                </a:r>
              </a:p>
              <a:p>
                <a:pPr marL="342900" indent="-342900" algn="just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600" dirty="0"/>
                  <a:t>Realizada por meio da combinação de tecnologia, informática, técnicas de gestão e estatística.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9B200F-28A0-4293-786C-8972305DC6E6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CE1DF7B-0555-6EAD-F5E2-1525142E732A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0C41350-F196-36F4-699D-16C450EDD7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C85D3E8-5DB7-21E7-F46E-919025FBBB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32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FA6B4-775A-3E76-9FED-63D6314C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20586273-6C24-4D87-7C44-0A603ECFB3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3556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9BA3FF-A76A-F17C-6161-2E51445D8FD4}"/>
              </a:ext>
            </a:extLst>
          </p:cNvPr>
          <p:cNvSpPr/>
          <p:nvPr/>
        </p:nvSpPr>
        <p:spPr>
          <a:xfrm>
            <a:off x="471146" y="-8967"/>
            <a:ext cx="8883166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C66E70-64FF-7C45-909E-31C7BDE015C1}"/>
              </a:ext>
            </a:extLst>
          </p:cNvPr>
          <p:cNvGrpSpPr/>
          <p:nvPr/>
        </p:nvGrpSpPr>
        <p:grpSpPr>
          <a:xfrm>
            <a:off x="927156" y="1080120"/>
            <a:ext cx="8152836" cy="5834287"/>
            <a:chOff x="1587924" y="1265558"/>
            <a:chExt cx="6939586" cy="583428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C3F65D-238D-7133-A000-E14AAB96616F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5449081"/>
              <a:chOff x="972154" y="1679962"/>
              <a:chExt cx="6939586" cy="544908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6E9312-BD3A-3EE2-07C2-11080EB60CA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2BA1E8-64E0-FC5A-3E7D-6373D342893D}"/>
                  </a:ext>
                </a:extLst>
              </p:cNvPr>
              <p:cNvSpPr/>
              <p:nvPr/>
            </p:nvSpPr>
            <p:spPr>
              <a:xfrm>
                <a:off x="972154" y="2072915"/>
                <a:ext cx="6939586" cy="5056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u="sng" dirty="0"/>
                  <a:t>Análise de dados, para que serve?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dirty="0"/>
                  <a:t>	A análise de dados é uma das disciplinas habilitadoras e viabilizadoras da tomada de decisão assertiva nesse desafio da Administração Pública.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Coloca em evidência os resultados da ação governamental;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Possibilita a elaboração de diagnósticos e análises dos gastos governamentais;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Dá suporte ao planejamento e à tomada de decisão sobre a alocação de recursos;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Viabiliza a mensuração e o monitoramento dos resultados e impactos das políticas públicas;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Aprimora a transparência e o controle social;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Contribui para a detecção de indícios e evidências de atos ilícitos;</a:t>
                </a:r>
              </a:p>
              <a:p>
                <a:pPr marL="742950" lvl="1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dirty="0"/>
                  <a:t>Gera subsídios para melhorias em rotinas, atividades e processos administrativos.</a:t>
                </a:r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849E57-ECFB-3A37-0A1D-3C07FFC9934B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D74649B-DF1D-94C3-D307-76A090D6C837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754546B-30B6-3CFF-D299-2D3F025EF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D0D70E7-09E1-D061-C3D4-33FAB51547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5884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AEB1-6CFC-B849-B34D-52BC6C88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DF7DEE7D-1753-AEED-57C1-A440CE8C284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FA3650-D85D-4F39-F035-9C992D0101D1}"/>
              </a:ext>
            </a:extLst>
          </p:cNvPr>
          <p:cNvSpPr/>
          <p:nvPr/>
        </p:nvSpPr>
        <p:spPr>
          <a:xfrm>
            <a:off x="471146" y="-18111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7A14F7-E156-B7F3-BFA7-8E07D471C93B}"/>
              </a:ext>
            </a:extLst>
          </p:cNvPr>
          <p:cNvGrpSpPr/>
          <p:nvPr/>
        </p:nvGrpSpPr>
        <p:grpSpPr>
          <a:xfrm>
            <a:off x="927156" y="1080120"/>
            <a:ext cx="7320731" cy="3917480"/>
            <a:chOff x="1587924" y="1265558"/>
            <a:chExt cx="6939586" cy="391748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24B150E-15C3-D9FD-0FA5-A0BE5889EBD4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3532274"/>
              <a:chOff x="972154" y="1679962"/>
              <a:chExt cx="6939586" cy="353227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D2C3D2E-771E-9C92-9B60-E688C860215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45F4374-B0C8-FC70-592D-B5A9FB14E494}"/>
                  </a:ext>
                </a:extLst>
              </p:cNvPr>
              <p:cNvSpPr/>
              <p:nvPr/>
            </p:nvSpPr>
            <p:spPr>
              <a:xfrm>
                <a:off x="972154" y="2072915"/>
                <a:ext cx="6939586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pt-BR" sz="2400" dirty="0"/>
                  <a:t>Análise de dados nas Agências Reguladoras: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Transformar dado em informação;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Calcular estimativas (preço, tarifa, capacidade);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Descrever cenários;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Fazer previsões;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Testar hipóteses;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Auxiliar a tomada de decisão.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F274502-1C05-7A08-F5B7-D6F6C786A203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FE075B-0D01-A7F4-A139-52F0AC41884C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13546DF-415D-9B6B-6A60-C99588F939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D9523EC-BE3F-23C2-19EC-E9520CB91B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039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D2BE83D-714D-46F5-93AA-4BAFF6F53314}"/>
              </a:ext>
            </a:extLst>
          </p:cNvPr>
          <p:cNvSpPr/>
          <p:nvPr/>
        </p:nvSpPr>
        <p:spPr>
          <a:xfrm>
            <a:off x="9573521" y="0"/>
            <a:ext cx="1410888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27" name="Imagem 26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3C60A5AD-E981-EB69-1001-93B51C9739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83" r="1111"/>
          <a:stretch>
            <a:fillRect/>
          </a:stretch>
        </p:blipFill>
        <p:spPr>
          <a:xfrm>
            <a:off x="10123678" y="0"/>
            <a:ext cx="2068322" cy="6858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6E57053-F6EC-5902-FE80-5503AE832B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pSp>
        <p:nvGrpSpPr>
          <p:cNvPr id="41" name="Group 5">
            <a:extLst>
              <a:ext uri="{FF2B5EF4-FFF2-40B4-BE49-F238E27FC236}">
                <a16:creationId xmlns:a16="http://schemas.microsoft.com/office/drawing/2014/main" id="{1E350665-43AB-33C8-2D6D-0BE4713C603F}"/>
              </a:ext>
            </a:extLst>
          </p:cNvPr>
          <p:cNvGrpSpPr/>
          <p:nvPr/>
        </p:nvGrpSpPr>
        <p:grpSpPr>
          <a:xfrm>
            <a:off x="927158" y="1080120"/>
            <a:ext cx="7073841" cy="1031537"/>
            <a:chOff x="1587925" y="1265558"/>
            <a:chExt cx="7073841" cy="1031537"/>
          </a:xfrm>
        </p:grpSpPr>
        <p:sp>
          <p:nvSpPr>
            <p:cNvPr id="53" name="Rectangle 3">
              <a:extLst>
                <a:ext uri="{FF2B5EF4-FFF2-40B4-BE49-F238E27FC236}">
                  <a16:creationId xmlns:a16="http://schemas.microsoft.com/office/drawing/2014/main" id="{742CFA16-D237-3BCE-A33C-38283FAC4FD5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50" name="Group 2">
              <a:extLst>
                <a:ext uri="{FF2B5EF4-FFF2-40B4-BE49-F238E27FC236}">
                  <a16:creationId xmlns:a16="http://schemas.microsoft.com/office/drawing/2014/main" id="{67FEC8D4-6801-B8E1-6F57-9B23A7C56338}"/>
                </a:ext>
              </a:extLst>
            </p:cNvPr>
            <p:cNvGrpSpPr/>
            <p:nvPr/>
          </p:nvGrpSpPr>
          <p:grpSpPr>
            <a:xfrm>
              <a:off x="1587925" y="1265558"/>
              <a:ext cx="7073841" cy="646331"/>
              <a:chOff x="4508808" y="-2127401"/>
              <a:chExt cx="7073841" cy="646331"/>
            </a:xfrm>
          </p:grpSpPr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1E415D1D-BC78-A793-B418-D5EDBD0A8D19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707384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Etapas da análise de dados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4CB50237-45BA-D4BD-8B2D-90A04A97A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3229098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4" name="Espaço Reservado para Conteúdo 26">
            <a:extLst>
              <a:ext uri="{FF2B5EF4-FFF2-40B4-BE49-F238E27FC236}">
                <a16:creationId xmlns:a16="http://schemas.microsoft.com/office/drawing/2014/main" id="{7D174157-197A-A911-6666-2955BC0D9F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9306269"/>
              </p:ext>
            </p:extLst>
          </p:nvPr>
        </p:nvGraphicFramePr>
        <p:xfrm>
          <a:off x="155448" y="1966765"/>
          <a:ext cx="9826752" cy="4450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6314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E55A-35B4-D908-55A4-B2893A33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1EFA781A-0FCB-CB05-04E9-2B52B126D0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EB83C13-46F4-DBC4-1C5D-FAD01AF759DD}"/>
              </a:ext>
            </a:extLst>
          </p:cNvPr>
          <p:cNvSpPr/>
          <p:nvPr/>
        </p:nvSpPr>
        <p:spPr>
          <a:xfrm>
            <a:off x="471146" y="-18111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134EFF-7661-6A8F-94FE-4D1B311D4FBD}"/>
              </a:ext>
            </a:extLst>
          </p:cNvPr>
          <p:cNvGrpSpPr/>
          <p:nvPr/>
        </p:nvGrpSpPr>
        <p:grpSpPr>
          <a:xfrm>
            <a:off x="927156" y="1080120"/>
            <a:ext cx="7320731" cy="4051430"/>
            <a:chOff x="1587924" y="1265558"/>
            <a:chExt cx="6939586" cy="405143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711E86A-6728-F638-0DBC-5B2B34DD0B9C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3666224"/>
              <a:chOff x="972154" y="1679962"/>
              <a:chExt cx="6939586" cy="366622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A07408B-6590-AEDD-FADE-E0AF0BE6B0EF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C5ACD4-85CD-EA9B-4650-FF505F00B170}"/>
                  </a:ext>
                </a:extLst>
              </p:cNvPr>
              <p:cNvSpPr/>
              <p:nvPr/>
            </p:nvSpPr>
            <p:spPr>
              <a:xfrm>
                <a:off x="972154" y="2283809"/>
                <a:ext cx="6939586" cy="30623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pt-BR" sz="2800" dirty="0"/>
                  <a:t>Metodologias de análise de dados: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err="1"/>
                  <a:t>Análise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descritiva</a:t>
                </a:r>
                <a:r>
                  <a:rPr lang="en-US" sz="2800" dirty="0"/>
                  <a:t>;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err="1"/>
                  <a:t>Análise</a:t>
                </a:r>
                <a:r>
                  <a:rPr lang="en-US" sz="2800" dirty="0"/>
                  <a:t> de </a:t>
                </a:r>
                <a:r>
                  <a:rPr lang="en-US" sz="2800" dirty="0" err="1"/>
                  <a:t>associação</a:t>
                </a:r>
                <a:r>
                  <a:rPr lang="en-US" sz="2800" dirty="0"/>
                  <a:t>;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err="1"/>
                  <a:t>Análise</a:t>
                </a:r>
                <a:r>
                  <a:rPr lang="en-US" sz="2800" dirty="0"/>
                  <a:t> de </a:t>
                </a:r>
                <a:r>
                  <a:rPr lang="en-US" sz="2800" dirty="0" err="1"/>
                  <a:t>regressão</a:t>
                </a:r>
                <a:r>
                  <a:rPr lang="en-US" sz="2800" dirty="0"/>
                  <a:t>;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err="1"/>
                  <a:t>Análise</a:t>
                </a:r>
                <a:r>
                  <a:rPr lang="en-US" sz="2800" dirty="0"/>
                  <a:t> de series </a:t>
                </a:r>
                <a:r>
                  <a:rPr lang="en-US" sz="2800" dirty="0" err="1"/>
                  <a:t>temporais</a:t>
                </a:r>
                <a:r>
                  <a:rPr lang="en-US" sz="2800" dirty="0"/>
                  <a:t>;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err="1"/>
                  <a:t>Análise</a:t>
                </a:r>
                <a:r>
                  <a:rPr lang="en-US" sz="2800" dirty="0"/>
                  <a:t> de </a:t>
                </a:r>
                <a:r>
                  <a:rPr lang="en-US" sz="2800" dirty="0" err="1"/>
                  <a:t>multicritério</a:t>
                </a:r>
                <a:r>
                  <a:rPr lang="en-US" sz="2800" dirty="0"/>
                  <a:t>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58C676-D244-6DBA-739D-38AA63F9A928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B69577F-E5C5-C489-1F3A-1595A4532D28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B081ED9-EFCE-B55C-101A-ACB6D44E2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4BE2F42A-F712-FA50-FEC7-84EE2A9A26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236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3102-A303-836F-D08D-FB99FF73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C8495526-40EB-C6C6-0D47-C306A96424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3D582E-0BE3-EECA-3A18-0F7DC5E4FEDC}"/>
              </a:ext>
            </a:extLst>
          </p:cNvPr>
          <p:cNvSpPr/>
          <p:nvPr/>
        </p:nvSpPr>
        <p:spPr>
          <a:xfrm>
            <a:off x="471146" y="-18111"/>
            <a:ext cx="787877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849DA5-B9C7-9E2F-EC1A-55DF719E1FC8}"/>
              </a:ext>
            </a:extLst>
          </p:cNvPr>
          <p:cNvGrpSpPr/>
          <p:nvPr/>
        </p:nvGrpSpPr>
        <p:grpSpPr>
          <a:xfrm>
            <a:off x="927156" y="1080120"/>
            <a:ext cx="7320731" cy="5267147"/>
            <a:chOff x="1587924" y="1265558"/>
            <a:chExt cx="6939586" cy="52671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FF9120-7798-F554-7BB1-85C8BDD3A0C2}"/>
                </a:ext>
              </a:extLst>
            </p:cNvPr>
            <p:cNvGrpSpPr/>
            <p:nvPr/>
          </p:nvGrpSpPr>
          <p:grpSpPr>
            <a:xfrm>
              <a:off x="1587924" y="1650764"/>
              <a:ext cx="6939586" cy="4881941"/>
              <a:chOff x="972154" y="1679962"/>
              <a:chExt cx="6939586" cy="48819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5497FE-8D85-5522-6978-6FF5264E7E5C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0C32E86-D8CA-80AD-AC54-8322927848AD}"/>
                  </a:ext>
                </a:extLst>
              </p:cNvPr>
              <p:cNvSpPr/>
              <p:nvPr/>
            </p:nvSpPr>
            <p:spPr>
              <a:xfrm>
                <a:off x="972154" y="2283809"/>
                <a:ext cx="6939586" cy="4278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BR" sz="2800" dirty="0"/>
                  <a:t>Cuidados ao desenvolver uma análise de dados: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Problemas na qualidade do dado comprometem os resultados da análise;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Falta de representatividade dos dados;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Aplicação inadvertida de técnicas sofisticadas, em detrimento do raciocínio qualitativo e do julgamento subjetivo;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Constantes mudanças no mundo real reduzem o valor dos dados históricos.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0F0DBF-13C3-0681-1D9D-31F804AAC547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1E805B6-3A49-8E58-6457-498B0CC8826E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1.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Introdução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2A3DFF5-0DBF-E7CF-D71E-B8D176709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CE6A9EA-630C-7A0D-EB53-7DA00907F2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674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8FB4C5-4021-490F-BFF3-24967BA76BCB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BDC95EBF-3254-EA4D-B96C-944360763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25E25720-76A1-0A8B-17E5-A2F554CDD39F}"/>
              </a:ext>
            </a:extLst>
          </p:cNvPr>
          <p:cNvGrpSpPr/>
          <p:nvPr/>
        </p:nvGrpSpPr>
        <p:grpSpPr>
          <a:xfrm>
            <a:off x="297557" y="821277"/>
            <a:ext cx="7711500" cy="5360718"/>
            <a:chOff x="949501" y="554253"/>
            <a:chExt cx="7711500" cy="5360718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FD21AD21-4074-40C7-4120-2464CB8EE66B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4264207"/>
              <a:chOff x="690561" y="1679962"/>
              <a:chExt cx="7236885" cy="4264207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3919270A-699A-137C-084C-D76BCADB9CAE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601A6775-4E62-04FA-EC5E-DDD306FF29A5}"/>
                  </a:ext>
                </a:extLst>
              </p:cNvPr>
              <p:cNvSpPr/>
              <p:nvPr/>
            </p:nvSpPr>
            <p:spPr>
              <a:xfrm>
                <a:off x="690561" y="2118635"/>
                <a:ext cx="7236885" cy="3825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2.1 Análise descritiva de dados</a:t>
                </a:r>
              </a:p>
              <a:p>
                <a:pPr algn="just"/>
                <a:r>
                  <a:rPr lang="pt-BR" sz="2200" dirty="0"/>
                  <a:t>	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2200" dirty="0"/>
                  <a:t>	Conjunto de técnicas adotadas com o objetivo de </a:t>
                </a:r>
                <a:r>
                  <a:rPr lang="pt-BR" sz="2200" u="sng" dirty="0"/>
                  <a:t>organizar, resumir e descrever as principais características</a:t>
                </a:r>
                <a:r>
                  <a:rPr lang="pt-BR" sz="2200" dirty="0"/>
                  <a:t> de um conjunto de dados de forma a tornar evidente padrões, tendências e variabilidade, fornecendo uma visão geral da base de dados </a:t>
                </a:r>
                <a:r>
                  <a:rPr lang="pt-BR" sz="2200" u="sng" dirty="0"/>
                  <a:t>sem fazer inferências ou previsões</a:t>
                </a:r>
                <a:r>
                  <a:rPr lang="pt-BR" sz="2200" dirty="0"/>
                  <a:t> (BUSSAB &amp; MORETTIN, 2003).</a:t>
                </a:r>
                <a:endParaRPr lang="en-US" sz="22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7BD3EB91-A397-A401-82EA-88043233777A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BA641D07-6C4C-738E-B66C-D9B2AE5D5D4E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7C1D0F6D-0AAA-8E5A-C913-C59C2CC9A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152" y="-1638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1D820873-E177-64AF-E5EA-44CE417264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072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5E6E-9689-AFB4-1E77-307B1D0E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FB07A-0871-73E7-DBF5-DF8B9FE6DC6F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3DAB4144-FCF1-4E0A-4912-335E8C518F4D}"/>
              </a:ext>
            </a:extLst>
          </p:cNvPr>
          <p:cNvGrpSpPr/>
          <p:nvPr/>
        </p:nvGrpSpPr>
        <p:grpSpPr>
          <a:xfrm>
            <a:off x="297557" y="821277"/>
            <a:ext cx="7711500" cy="5437663"/>
            <a:chOff x="949501" y="554253"/>
            <a:chExt cx="7711500" cy="5437663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9D3B67D6-8F28-1D83-FA7D-9C916A6C2A75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4341152"/>
              <a:chOff x="690561" y="1679962"/>
              <a:chExt cx="7236885" cy="4341152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B8C06444-EAA8-D551-DCEB-DDC86B5E15D3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A0E8F3B3-B26B-2E31-EE17-A13373E3E615}"/>
                  </a:ext>
                </a:extLst>
              </p:cNvPr>
              <p:cNvSpPr/>
              <p:nvPr/>
            </p:nvSpPr>
            <p:spPr>
              <a:xfrm>
                <a:off x="690561" y="2118635"/>
                <a:ext cx="7236885" cy="39024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2.1 Análise descritiva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Média</a:t>
                </a:r>
              </a:p>
              <a:p>
                <a:r>
                  <a:rPr lang="pt-BR" sz="2400" dirty="0"/>
                  <a:t>Mediana</a:t>
                </a:r>
              </a:p>
              <a:p>
                <a:r>
                  <a:rPr lang="pt-BR" sz="2400" dirty="0"/>
                  <a:t>Variância</a:t>
                </a:r>
              </a:p>
              <a:p>
                <a:r>
                  <a:rPr lang="pt-BR" sz="2400" dirty="0"/>
                  <a:t>Desvio padrão</a:t>
                </a:r>
              </a:p>
              <a:p>
                <a:r>
                  <a:rPr lang="pt-BR" sz="2400" dirty="0"/>
                  <a:t>Coeficiente de variação</a:t>
                </a:r>
              </a:p>
              <a:p>
                <a:r>
                  <a:rPr lang="pt-BR" sz="2400" dirty="0"/>
                  <a:t>Quartil</a:t>
                </a:r>
              </a:p>
              <a:p>
                <a:r>
                  <a:rPr lang="pt-BR" sz="2400" dirty="0"/>
                  <a:t>Moda </a:t>
                </a:r>
                <a:r>
                  <a:rPr lang="pt-BR" sz="2200" dirty="0"/>
                  <a:t>	</a:t>
                </a:r>
              </a:p>
              <a:p>
                <a:pPr algn="just">
                  <a:lnSpc>
                    <a:spcPct val="150000"/>
                  </a:lnSpc>
                </a:pPr>
                <a:endParaRPr lang="en-US" sz="22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A15A6A57-7A5F-29CB-9F71-D31F86E2BB8B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07302B59-B396-10F0-1EFE-57BD58332D6E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0B8BAF25-A1F2-8682-4B42-16BB125355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152" y="-1638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8B04D5BD-A072-9250-63F5-4AFD09C3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C6FBC34-BDC3-66FA-E591-66D613B16F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457"/>
          <a:stretch/>
        </p:blipFill>
        <p:spPr>
          <a:xfrm>
            <a:off x="3704908" y="2323553"/>
            <a:ext cx="2714176" cy="104457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CF86497-3873-1932-8592-CE0DA8EACF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00" b="49467"/>
          <a:stretch/>
        </p:blipFill>
        <p:spPr>
          <a:xfrm>
            <a:off x="7746361" y="2189033"/>
            <a:ext cx="2077526" cy="104457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3B9A3F-BCB3-4AAC-65C8-BB2A52BCA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225" y="5447421"/>
            <a:ext cx="2409041" cy="8954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37FE5B6-B0F4-BD92-A787-CBD3E2A18F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2113" y="4146681"/>
            <a:ext cx="2306022" cy="110150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AEADBB5-E7B6-CEBA-445E-F3DD7C56A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8130" y="4118016"/>
            <a:ext cx="1463613" cy="8928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313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4F66-061B-2154-3C11-FDDA4AF9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605B50-CD7A-8838-8579-06C6DD8EE155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8AE7BDBE-F359-A5A5-93E5-8FE89418AE55}"/>
              </a:ext>
            </a:extLst>
          </p:cNvPr>
          <p:cNvGrpSpPr/>
          <p:nvPr/>
        </p:nvGrpSpPr>
        <p:grpSpPr>
          <a:xfrm>
            <a:off x="297557" y="821277"/>
            <a:ext cx="7711500" cy="4551394"/>
            <a:chOff x="949501" y="554253"/>
            <a:chExt cx="7711500" cy="4551394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D2B23C5D-0B91-2292-D457-3EF8045FA7AA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3454883"/>
              <a:chOff x="690561" y="1679962"/>
              <a:chExt cx="7236885" cy="3454883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3B5B6F37-ABFB-9C6D-89B2-DC483EAFA23B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75F50CA0-3F47-5D17-F9F0-1CBFF4802E19}"/>
                  </a:ext>
                </a:extLst>
              </p:cNvPr>
              <p:cNvSpPr/>
              <p:nvPr/>
            </p:nvSpPr>
            <p:spPr>
              <a:xfrm>
                <a:off x="690561" y="2118635"/>
                <a:ext cx="7236885" cy="301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2.1 Análise descritiva</a:t>
                </a:r>
              </a:p>
              <a:p>
                <a:endParaRPr lang="pt-BR" sz="2400" dirty="0"/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Gráfico de barras</a:t>
                </a:r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Gráfico de dispersão</a:t>
                </a:r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Gráfico de pizza</a:t>
                </a:r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Histograma</a:t>
                </a:r>
              </a:p>
              <a:p>
                <a:pPr>
                  <a:spcAft>
                    <a:spcPts val="600"/>
                  </a:spcAft>
                </a:pPr>
                <a:r>
                  <a:rPr lang="pt-BR" sz="2400" dirty="0"/>
                  <a:t>Box </a:t>
                </a:r>
                <a:r>
                  <a:rPr lang="pt-BR" sz="2400" dirty="0" err="1"/>
                  <a:t>plot</a:t>
                </a:r>
                <a:endParaRPr lang="pt-BR" sz="24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ED824659-274B-AE3B-C38D-BFFF6A9DC36D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2269E666-C93A-7EC8-A5A8-2A09668EBEDB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6B1B4CB0-B1E2-0636-44F6-04EE9594F3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152" y="-1638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5D8A688E-BBEE-18B4-7F5F-871527FB0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3EED732-A107-2A22-9D3D-BA87827E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704" y="229072"/>
            <a:ext cx="3676381" cy="20885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1E57A2A-A3DE-77CB-9903-C2774FB5F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34" y="1591268"/>
            <a:ext cx="3448050" cy="23050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B695764-A4DD-74B0-F808-358C5161E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975" y="4674157"/>
            <a:ext cx="3333750" cy="200025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8D6F49A-C6F6-EE35-1043-A64A79822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339" y="4164447"/>
            <a:ext cx="3668747" cy="250996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A4DA1ED-0E54-1B04-37DE-D7D04667F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6763" y="2468527"/>
            <a:ext cx="3763489" cy="22290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04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082B-A3BA-0D21-E5B0-308973E0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342F18-4853-F862-F711-767A9C127228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DA7148CE-4AC4-847F-BC6B-105C243CDC32}"/>
              </a:ext>
            </a:extLst>
          </p:cNvPr>
          <p:cNvGrpSpPr/>
          <p:nvPr/>
        </p:nvGrpSpPr>
        <p:grpSpPr>
          <a:xfrm>
            <a:off x="297557" y="821277"/>
            <a:ext cx="7711500" cy="4320562"/>
            <a:chOff x="949501" y="554253"/>
            <a:chExt cx="7711500" cy="4320562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05D91DA8-DD71-6FAA-3BC8-BDA86E6E1D25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3224051"/>
              <a:chOff x="690561" y="1679962"/>
              <a:chExt cx="7236885" cy="3224051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9497F795-E03A-A3BE-E924-436EEC56CB2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F8AE42D9-A670-3AC6-0D03-65C23588D4D8}"/>
                  </a:ext>
                </a:extLst>
              </p:cNvPr>
              <p:cNvSpPr/>
              <p:nvPr/>
            </p:nvSpPr>
            <p:spPr>
              <a:xfrm>
                <a:off x="690561" y="2118635"/>
                <a:ext cx="7236885" cy="2785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2.1 Análise descritiva: exemplos</a:t>
                </a:r>
              </a:p>
              <a:p>
                <a:endParaRPr lang="pt-BR" sz="2400" dirty="0"/>
              </a:p>
              <a:p>
                <a:pPr>
                  <a:spcAft>
                    <a:spcPts val="600"/>
                  </a:spcAft>
                </a:pPr>
                <a:r>
                  <a:rPr lang="pt-BR" sz="2400" dirty="0">
                    <a:hlinkClick r:id="rId3"/>
                  </a:rPr>
                  <a:t>https://www.gov.br/antaq/pt-br/central-de-conteudos/estudos-e-pesquisas-da-antaq-1/PesquisadeSatisfaodosUsuriosdaNavegaodeTravessia2022.pdf</a:t>
                </a:r>
                <a:endParaRPr lang="pt-BR" sz="2400" dirty="0"/>
              </a:p>
              <a:p>
                <a:pPr>
                  <a:spcAft>
                    <a:spcPts val="600"/>
                  </a:spcAft>
                </a:pPr>
                <a:endParaRPr lang="pt-BR" sz="24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5FC07F9F-C931-3245-F973-0DA4543809CC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54A33F9A-FBB4-737C-A09B-9554D27B35E6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20EB61AD-4B35-8592-D9EE-66A1293C9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152" y="-1638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A2DA22C5-67CB-5746-8338-18F1483F0E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34FBA2B-AA35-ABAE-9564-E62009AD3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057" y="1167547"/>
            <a:ext cx="3598425" cy="4869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9134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7FB4-8658-C2CF-08BB-59A676BC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659C52-E69D-2AA5-306E-35E7EF4BD9EA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9551EE95-A5AC-FCFE-6AB8-FF004CF850F2}"/>
              </a:ext>
            </a:extLst>
          </p:cNvPr>
          <p:cNvGrpSpPr/>
          <p:nvPr/>
        </p:nvGrpSpPr>
        <p:grpSpPr>
          <a:xfrm>
            <a:off x="297557" y="821277"/>
            <a:ext cx="7711500" cy="4320562"/>
            <a:chOff x="949501" y="554253"/>
            <a:chExt cx="7711500" cy="4320562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4B840152-71EA-95DB-4F08-07B6A1228061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3224051"/>
              <a:chOff x="690561" y="1679962"/>
              <a:chExt cx="7236885" cy="3224051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896CF25E-5D6A-58A1-2395-22002FA0B1F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6C7E1B29-2154-39F3-8712-E23641853E9B}"/>
                  </a:ext>
                </a:extLst>
              </p:cNvPr>
              <p:cNvSpPr/>
              <p:nvPr/>
            </p:nvSpPr>
            <p:spPr>
              <a:xfrm>
                <a:off x="690561" y="2118635"/>
                <a:ext cx="7236885" cy="2785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2.1 Análise descritiva: exemplos</a:t>
                </a:r>
              </a:p>
              <a:p>
                <a:endParaRPr lang="pt-BR" sz="2400" dirty="0"/>
              </a:p>
              <a:p>
                <a:pPr>
                  <a:spcAft>
                    <a:spcPts val="600"/>
                  </a:spcAft>
                </a:pPr>
                <a:r>
                  <a:rPr lang="pt-BR" sz="2400" dirty="0">
                    <a:hlinkClick r:id="rId3"/>
                  </a:rPr>
                  <a:t>https://antaq-my.sharepoint.com/personal/</a:t>
                </a:r>
                <a:r>
                  <a:rPr lang="pt-BR" sz="2400" dirty="0" err="1">
                    <a:hlinkClick r:id="rId3"/>
                  </a:rPr>
                  <a:t>isaac_nascimento_antaq_gov_br</a:t>
                </a:r>
                <a:r>
                  <a:rPr lang="pt-BR" sz="2400" dirty="0">
                    <a:hlinkClick r:id="rId3"/>
                  </a:rPr>
                  <a:t>/</a:t>
                </a:r>
                <a:r>
                  <a:rPr lang="pt-BR" sz="2400" dirty="0" err="1">
                    <a:hlinkClick r:id="rId3"/>
                  </a:rPr>
                  <a:t>Documents</a:t>
                </a:r>
                <a:r>
                  <a:rPr lang="pt-BR" sz="2400" dirty="0">
                    <a:hlinkClick r:id="rId3"/>
                  </a:rPr>
                  <a:t>/Curso%20formação%20servidores/Exemplo1_SEI%201931044_Nota%20Técnica.pdf</a:t>
                </a:r>
                <a:endParaRPr lang="pt-BR" sz="2400" dirty="0"/>
              </a:p>
              <a:p>
                <a:pPr>
                  <a:spcAft>
                    <a:spcPts val="600"/>
                  </a:spcAft>
                </a:pPr>
                <a:endParaRPr lang="pt-BR" sz="24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1E953E95-2D73-B635-6050-BC6ED46DB36F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82A3A053-0D92-2BC2-8C7B-A20ED038DE75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0D667C34-E80D-6EF8-6280-CDC2BDB9B5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152" y="-1638377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49DB4AF5-C2D3-8DB4-51F4-02FF7BCC55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971472C-2B14-2559-DE60-AA7AECDEF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059" y="1421441"/>
            <a:ext cx="3281554" cy="4605775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31E7117E-A325-3C03-3658-F6E97A95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87" y="5086491"/>
            <a:ext cx="56262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Exemplo1_SEI 1931044_Nota Técnica.pdf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273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7939-2F66-49CD-1FFE-34572C6D6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0BE5565A-B76C-13B3-809A-D46746CDF7E9}"/>
              </a:ext>
            </a:extLst>
          </p:cNvPr>
          <p:cNvGrpSpPr/>
          <p:nvPr/>
        </p:nvGrpSpPr>
        <p:grpSpPr>
          <a:xfrm>
            <a:off x="297556" y="821277"/>
            <a:ext cx="11377771" cy="4435887"/>
            <a:chOff x="949501" y="554253"/>
            <a:chExt cx="7711500" cy="4435887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C6A631CA-8EE5-6762-1D4D-97EC520DECD2}"/>
                </a:ext>
              </a:extLst>
            </p:cNvPr>
            <p:cNvGrpSpPr/>
            <p:nvPr/>
          </p:nvGrpSpPr>
          <p:grpSpPr>
            <a:xfrm>
              <a:off x="1306331" y="1650764"/>
              <a:ext cx="7236885" cy="3339376"/>
              <a:chOff x="690561" y="1679962"/>
              <a:chExt cx="7236885" cy="3339376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87D4E173-2D98-C956-9DCF-A2E10710EA0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A0C8EFF2-6985-C3B7-EBEF-E8FB7DC01E1A}"/>
                  </a:ext>
                </a:extLst>
              </p:cNvPr>
              <p:cNvSpPr/>
              <p:nvPr/>
            </p:nvSpPr>
            <p:spPr>
              <a:xfrm>
                <a:off x="690561" y="1679962"/>
                <a:ext cx="7236885" cy="3339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2.2 Análise Associação de Variáveis</a:t>
                </a:r>
              </a:p>
              <a:p>
                <a:pPr>
                  <a:spcAft>
                    <a:spcPts val="600"/>
                  </a:spcAft>
                </a:pPr>
                <a:endParaRPr lang="pt-BR" sz="2400" dirty="0"/>
              </a:p>
              <a:p>
                <a:pPr algn="just">
                  <a:spcAft>
                    <a:spcPts val="600"/>
                  </a:spcAft>
                </a:pPr>
                <a:r>
                  <a:rPr lang="pt-BR" sz="2400" dirty="0"/>
                  <a:t>	</a:t>
                </a:r>
                <a:r>
                  <a:rPr lang="pt-BR" sz="2600" dirty="0"/>
                  <a:t>As medidas de associação vão além da análise descritiva e buscam explorar a relação entre duas ou mais variáveis. Elas ajudam a entender se, e até que ponto, as variáveis estão associadas entre si. Essa análise é especialmente útil quando se deseja </a:t>
                </a:r>
                <a:r>
                  <a:rPr lang="pt-BR" sz="2600" u="sng" dirty="0"/>
                  <a:t>explorar se um aumento ou diminuição em uma variável está relacionado a mudanças em outra</a:t>
                </a:r>
                <a:r>
                  <a:rPr lang="pt-BR" sz="2600" dirty="0"/>
                  <a:t> (BUSSAB &amp; MORETTIN, 2003).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DB56EB33-413A-C0B6-9F25-5E68C9241FBA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1D190A31-8CDD-40FE-FC6D-E53404CEF193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294F6438-43FE-8B12-2057-BB61C6F81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648" y="-2151333"/>
                <a:ext cx="116518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E2C60975-4DA5-BE69-E889-C184BE9E0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54901" y="270729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6237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611A-ABC3-052F-FAE8-28F5B1CA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EB0E70AC-9F88-8688-007D-9AF51DB707FA}"/>
              </a:ext>
            </a:extLst>
          </p:cNvPr>
          <p:cNvGrpSpPr/>
          <p:nvPr/>
        </p:nvGrpSpPr>
        <p:grpSpPr>
          <a:xfrm>
            <a:off x="297556" y="821277"/>
            <a:ext cx="8672708" cy="5947515"/>
            <a:chOff x="949501" y="554253"/>
            <a:chExt cx="7711500" cy="5947515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0C4FC117-45E1-5E79-67CE-B9482C64BE8A}"/>
                </a:ext>
              </a:extLst>
            </p:cNvPr>
            <p:cNvGrpSpPr/>
            <p:nvPr/>
          </p:nvGrpSpPr>
          <p:grpSpPr>
            <a:xfrm>
              <a:off x="1306331" y="1515788"/>
              <a:ext cx="5456681" cy="4985980"/>
              <a:chOff x="690561" y="1544986"/>
              <a:chExt cx="5456681" cy="4985980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09B64586-3A16-914D-4FE6-9ABAA6E1BBF2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4EA7C996-258E-39DA-03C2-6D135970C420}"/>
                  </a:ext>
                </a:extLst>
              </p:cNvPr>
              <p:cNvSpPr/>
              <p:nvPr/>
            </p:nvSpPr>
            <p:spPr>
              <a:xfrm>
                <a:off x="690561" y="1544986"/>
                <a:ext cx="5456681" cy="4985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2.2 Análise Associação de Variáveis</a:t>
                </a:r>
              </a:p>
              <a:p>
                <a:pPr>
                  <a:spcAft>
                    <a:spcPts val="600"/>
                  </a:spcAft>
                </a:pPr>
                <a:endParaRPr lang="pt-BR" sz="1200" dirty="0"/>
              </a:p>
              <a:p>
                <a:pPr algn="just">
                  <a:spcAft>
                    <a:spcPts val="600"/>
                  </a:spcAft>
                </a:pPr>
                <a:r>
                  <a:rPr lang="pt-BR" sz="2300" dirty="0"/>
                  <a:t>	A forma de medir a associação depende da característica dos dados e das variáveis envolvidas. O pesquisador deve considerar a estrutura dos seus dados e o objetivo da análise antes de escolher qual a medida de associação estatística será aplicada.</a:t>
                </a:r>
              </a:p>
              <a:p>
                <a:pPr marL="971550" lvl="1" indent="-514350" algn="just">
                  <a:spcAft>
                    <a:spcPts val="600"/>
                  </a:spcAft>
                  <a:buFont typeface="+mj-lt"/>
                  <a:buAutoNum type="alphaLcPeriod"/>
                </a:pPr>
                <a:r>
                  <a:rPr lang="pt-BR" sz="2300" b="1" dirty="0"/>
                  <a:t>Duas variáveis quantitativas:</a:t>
                </a:r>
              </a:p>
              <a:p>
                <a:pPr lvl="2" algn="just">
                  <a:spcAft>
                    <a:spcPts val="600"/>
                  </a:spcAft>
                </a:pPr>
                <a:r>
                  <a:rPr lang="pt-BR" sz="2300" dirty="0"/>
                  <a:t>Observações são provenientes de mensurações. Técnicas como </a:t>
                </a:r>
                <a:r>
                  <a:rPr lang="pt-BR" sz="2300" u="sng" dirty="0"/>
                  <a:t>gráficos de dispersão</a:t>
                </a:r>
                <a:r>
                  <a:rPr lang="pt-BR" sz="2300" dirty="0"/>
                  <a:t> e o </a:t>
                </a:r>
                <a:r>
                  <a:rPr lang="pt-BR" sz="2300" u="sng" dirty="0"/>
                  <a:t>coeficiente de correlação de Pearson</a:t>
                </a:r>
                <a:r>
                  <a:rPr lang="pt-BR" sz="2300" dirty="0"/>
                  <a:t> são apropriadas.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3B0198E4-C0AB-9028-FD63-D94AF9938F8A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6BEB0FDF-F006-F6CD-668A-D52BD5779CDA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1AF5CAD1-281F-D533-FE8A-EB886E956D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C1CB4C3E-D93D-E088-A483-2C46F864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45396" y="247910"/>
            <a:ext cx="1156840" cy="375009"/>
          </a:xfrm>
          <a:prstGeom prst="rect">
            <a:avLst/>
          </a:prstGeom>
        </p:spPr>
      </p:pic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A118394-4211-75FA-87C0-89A29B77E7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425960"/>
              </p:ext>
            </p:extLst>
          </p:nvPr>
        </p:nvGraphicFramePr>
        <p:xfrm>
          <a:off x="6937990" y="1966336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95271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A7DF-3975-893A-5ECC-F7EF489F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77062E16-DEE2-69DE-4054-63023B231562}"/>
              </a:ext>
            </a:extLst>
          </p:cNvPr>
          <p:cNvGrpSpPr/>
          <p:nvPr/>
        </p:nvGrpSpPr>
        <p:grpSpPr>
          <a:xfrm>
            <a:off x="297556" y="821277"/>
            <a:ext cx="10878886" cy="3015623"/>
            <a:chOff x="949501" y="554253"/>
            <a:chExt cx="9673164" cy="3015623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8A7C69F6-719B-EB50-7A12-773DCF931F1D}"/>
                </a:ext>
              </a:extLst>
            </p:cNvPr>
            <p:cNvGrpSpPr/>
            <p:nvPr/>
          </p:nvGrpSpPr>
          <p:grpSpPr>
            <a:xfrm>
              <a:off x="1306331" y="1515788"/>
              <a:ext cx="9316334" cy="2054088"/>
              <a:chOff x="690561" y="1544986"/>
              <a:chExt cx="9316334" cy="205408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79DCCBB9-ECC3-CB00-3934-90D46169A75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3AFA5A65-61CE-573E-D9B9-90123738F174}"/>
                  </a:ext>
                </a:extLst>
              </p:cNvPr>
              <p:cNvSpPr/>
              <p:nvPr/>
            </p:nvSpPr>
            <p:spPr>
              <a:xfrm>
                <a:off x="690561" y="1544986"/>
                <a:ext cx="9316334" cy="2054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600" dirty="0"/>
                  <a:t>2.2 Análise Associação de Variáveis</a:t>
                </a:r>
              </a:p>
              <a:p>
                <a:pPr>
                  <a:spcAft>
                    <a:spcPts val="600"/>
                  </a:spcAft>
                </a:pPr>
                <a:endParaRPr lang="pt-BR" sz="1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lphaLcPeriod" startAt="2"/>
                </a:pPr>
                <a:r>
                  <a:rPr lang="pt-BR" sz="2400" b="1" dirty="0"/>
                  <a:t>Duas variáveis qualitativas: </a:t>
                </a:r>
              </a:p>
              <a:p>
                <a:pPr>
                  <a:lnSpc>
                    <a:spcPct val="120000"/>
                  </a:lnSpc>
                </a:pPr>
                <a:r>
                  <a:rPr lang="pt-BR" sz="2400" dirty="0"/>
                  <a:t>	Dados resumidos em tabelas. Medidas como </a:t>
                </a:r>
                <a:r>
                  <a:rPr lang="pt-BR" sz="2400" u="sng" dirty="0" err="1"/>
                  <a:t>Qui</a:t>
                </a:r>
                <a:r>
                  <a:rPr lang="pt-BR" sz="2400" u="sng" dirty="0"/>
                  <a:t>-quadrado de Pearson</a:t>
                </a:r>
                <a:r>
                  <a:rPr lang="pt-BR" sz="2400" dirty="0"/>
                  <a:t> e o </a:t>
                </a:r>
                <a:r>
                  <a:rPr lang="pt-BR" sz="2400" u="sng" dirty="0"/>
                  <a:t>coeficiente de contingência</a:t>
                </a:r>
                <a:r>
                  <a:rPr lang="pt-BR" sz="2400" dirty="0"/>
                  <a:t> podem ser utilizados.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5715CC7C-C5E2-5457-DCAF-DAD133B83564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F4817420-12CA-954C-23AD-6A98B12EB1C5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4B5C3838-E26D-DCE1-4C0D-BA2B57F37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73541FBE-CDB5-D0D5-5036-973720D7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45396" y="247910"/>
            <a:ext cx="1156840" cy="375009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1EEA39A-695F-5559-3543-895792C4D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694" y="4905061"/>
            <a:ext cx="3419475" cy="6000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77A5473-6C01-D994-896A-6FA898806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812" y="4093818"/>
            <a:ext cx="1717369" cy="791600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A027FED6-C3F0-9EFB-BABF-B5953E038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871179"/>
              </p:ext>
            </p:extLst>
          </p:nvPr>
        </p:nvGraphicFramePr>
        <p:xfrm>
          <a:off x="1606047" y="5403370"/>
          <a:ext cx="5948313" cy="117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readsheet" r:id="rId6" imgW="5416062" imgH="1070708" progId="STATISTICA.Spreadsheet">
                  <p:embed/>
                </p:oleObj>
              </mc:Choice>
              <mc:Fallback>
                <p:oleObj name="Spreadsheet" r:id="rId6" imgW="5416062" imgH="1070708" progId="STATISTICA.Spreadsheet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A027FED6-C3F0-9EFB-BABF-B5953E038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047" y="5403370"/>
                        <a:ext cx="5948313" cy="11759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B6873ACB-F1AE-1B82-9BA1-119FB07DA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927318"/>
              </p:ext>
            </p:extLst>
          </p:nvPr>
        </p:nvGraphicFramePr>
        <p:xfrm>
          <a:off x="1606047" y="3979906"/>
          <a:ext cx="5948313" cy="1201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readsheet" r:id="rId8" imgW="5390984" imgH="1089329" progId="STATISTICA.Spreadsheet">
                  <p:embed/>
                </p:oleObj>
              </mc:Choice>
              <mc:Fallback>
                <p:oleObj name="Spreadsheet" r:id="rId8" imgW="5390984" imgH="1089329" progId="STATISTICA.Spreadsheet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B6873ACB-F1AE-1B82-9BA1-119FB07DA9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047" y="3979906"/>
                        <a:ext cx="5948313" cy="1201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547F613E-5994-671A-A32C-6A1848C1EB3A}"/>
              </a:ext>
            </a:extLst>
          </p:cNvPr>
          <p:cNvSpPr txBox="1"/>
          <p:nvPr/>
        </p:nvSpPr>
        <p:spPr>
          <a:xfrm>
            <a:off x="440535" y="46886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Obtido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BA36E7-0837-AEB6-2582-EDA821C2CE9E}"/>
              </a:ext>
            </a:extLst>
          </p:cNvPr>
          <p:cNvSpPr txBox="1"/>
          <p:nvPr/>
        </p:nvSpPr>
        <p:spPr>
          <a:xfrm>
            <a:off x="345119" y="5915734"/>
            <a:ext cx="121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Esperado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EB190C5-CECF-F11C-C89E-357D888D43EB}"/>
              </a:ext>
            </a:extLst>
          </p:cNvPr>
          <p:cNvSpPr txBox="1"/>
          <p:nvPr/>
        </p:nvSpPr>
        <p:spPr>
          <a:xfrm>
            <a:off x="8026018" y="5640073"/>
            <a:ext cx="3596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</a:t>
            </a:r>
            <a:r>
              <a:rPr lang="pt-BR" dirty="0"/>
              <a:t> varia entre [0;1]. </a:t>
            </a:r>
          </a:p>
          <a:p>
            <a:r>
              <a:rPr lang="pt-BR" dirty="0"/>
              <a:t>No exemplo, C=0,065 indicando uma baixa associação entre as variáveis.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068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AA6F-81EA-2820-F1B8-74CB8828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A5F0FDD3-5BCD-2C13-A2B6-83567F26825A}"/>
              </a:ext>
            </a:extLst>
          </p:cNvPr>
          <p:cNvGrpSpPr/>
          <p:nvPr/>
        </p:nvGrpSpPr>
        <p:grpSpPr>
          <a:xfrm>
            <a:off x="297556" y="821277"/>
            <a:ext cx="8672708" cy="4904794"/>
            <a:chOff x="949501" y="554253"/>
            <a:chExt cx="7711500" cy="4904794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909F5FAB-A418-5451-CBF3-BCC61F5A4072}"/>
                </a:ext>
              </a:extLst>
            </p:cNvPr>
            <p:cNvGrpSpPr/>
            <p:nvPr/>
          </p:nvGrpSpPr>
          <p:grpSpPr>
            <a:xfrm>
              <a:off x="1306331" y="1515788"/>
              <a:ext cx="5544808" cy="3943259"/>
              <a:chOff x="690561" y="1544986"/>
              <a:chExt cx="5544808" cy="3943259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1D02E64E-BCC5-87C8-40EB-60D6FFFAC35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F143B5E4-697D-5EB3-C459-72834EFA41A1}"/>
                  </a:ext>
                </a:extLst>
              </p:cNvPr>
              <p:cNvSpPr/>
              <p:nvPr/>
            </p:nvSpPr>
            <p:spPr>
              <a:xfrm>
                <a:off x="690561" y="1544986"/>
                <a:ext cx="5544808" cy="39432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600" dirty="0"/>
                  <a:t>2.2 Análise Associação de Variáveis</a:t>
                </a:r>
                <a:endParaRPr lang="pt-BR" sz="1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lphaLcPeriod" startAt="3"/>
                </a:pPr>
                <a:r>
                  <a:rPr lang="pt-BR" sz="2400" b="1" dirty="0"/>
                  <a:t>Uma variável qualitativa e outra quantitativa.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200" dirty="0"/>
                  <a:t>	Em geral, analisamos o que acontece com a variável quantitativa quando os dados são categorizados de acordo com os diversos atributos da variável qualitativa. Nessa hipótese, podem ser adotados testes de médias, análise de variância, entre outros.</a:t>
                </a:r>
                <a:endParaRPr lang="en-US" sz="22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7D9B84CB-AB90-6207-FA6E-6D2837A7447A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AF404401-2E1B-7322-33EC-FB4B0EE05647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3332C1D2-B1FF-8535-6CC0-B37BB8677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350E3D54-817D-9BA3-2C34-182E7A29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45396" y="247910"/>
            <a:ext cx="1156840" cy="375009"/>
          </a:xfrm>
          <a:prstGeom prst="rect">
            <a:avLst/>
          </a:prstGeom>
        </p:spPr>
      </p:pic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DEC546CB-51AA-C3C5-9260-A539C40C4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41579"/>
              </p:ext>
            </p:extLst>
          </p:nvPr>
        </p:nvGraphicFramePr>
        <p:xfrm>
          <a:off x="7055345" y="1718322"/>
          <a:ext cx="4839099" cy="3629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5943600" imgH="4457880" progId="STATISTICA.Graph">
                  <p:embed/>
                </p:oleObj>
              </mc:Choice>
              <mc:Fallback>
                <p:oleObj name="Graph" r:id="rId4" imgW="5943600" imgH="4457880" progId="STATISTICA.Graph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DEC546CB-51AA-C3C5-9260-A539C40C46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5345" y="1718322"/>
                        <a:ext cx="4839099" cy="3629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95F6CEB9-76C7-AF18-1E4C-097CAD918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469606"/>
              </p:ext>
            </p:extLst>
          </p:nvPr>
        </p:nvGraphicFramePr>
        <p:xfrm>
          <a:off x="152666" y="5734240"/>
          <a:ext cx="6229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readsheet" r:id="rId6" imgW="5387546" imgH="716692" progId="STATISTICA.Spreadsheet">
                  <p:embed/>
                </p:oleObj>
              </mc:Choice>
              <mc:Fallback>
                <p:oleObj name="Spreadsheet" r:id="rId6" imgW="5387546" imgH="716692" progId="STATISTICA.Spreadsheet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95F6CEB9-76C7-AF18-1E4C-097CAD9183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66" y="5734240"/>
                        <a:ext cx="622935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773A04A3-7330-AC9F-C8B9-2B5824024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814941"/>
              </p:ext>
            </p:extLst>
          </p:nvPr>
        </p:nvGraphicFramePr>
        <p:xfrm>
          <a:off x="6828090" y="5606225"/>
          <a:ext cx="5136022" cy="968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preadsheet" r:id="rId8" imgW="5385732" imgH="1015068" progId="STATISTICA.Spreadsheet">
                  <p:embed/>
                </p:oleObj>
              </mc:Choice>
              <mc:Fallback>
                <p:oleObj name="Spreadsheet" r:id="rId8" imgW="5385732" imgH="1015068" progId="STATISTICA.Spreadsheet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773A04A3-7330-AC9F-C8B9-2B5824024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8090" y="5606225"/>
                        <a:ext cx="5136022" cy="9680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55888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9BDC-6DB2-F0DF-2572-05563CCE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E7F8D43C-B277-3335-76A7-00987F6E6A22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1FF52B21-16B5-DC27-906C-F492E09D0ED9}"/>
              </a:ext>
            </a:extLst>
          </p:cNvPr>
          <p:cNvGrpSpPr/>
          <p:nvPr/>
        </p:nvGrpSpPr>
        <p:grpSpPr>
          <a:xfrm>
            <a:off x="297556" y="821277"/>
            <a:ext cx="8672708" cy="4362847"/>
            <a:chOff x="949501" y="554253"/>
            <a:chExt cx="7711500" cy="4362847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E27CCCB8-9817-5EAA-C809-199D108380ED}"/>
                </a:ext>
              </a:extLst>
            </p:cNvPr>
            <p:cNvGrpSpPr/>
            <p:nvPr/>
          </p:nvGrpSpPr>
          <p:grpSpPr>
            <a:xfrm>
              <a:off x="1306331" y="1650764"/>
              <a:ext cx="5544808" cy="3266336"/>
              <a:chOff x="690561" y="1679962"/>
              <a:chExt cx="5544808" cy="3266336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9A3A5A3C-74C1-BF55-707A-4FC3E648BD63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25B26C9C-DBAA-728F-077D-161193BD5920}"/>
                  </a:ext>
                </a:extLst>
              </p:cNvPr>
              <p:cNvSpPr/>
              <p:nvPr/>
            </p:nvSpPr>
            <p:spPr>
              <a:xfrm>
                <a:off x="690561" y="1899310"/>
                <a:ext cx="5544808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600" dirty="0"/>
                  <a:t>2.2 Análise Associação de Variáveis</a:t>
                </a:r>
              </a:p>
              <a:p>
                <a:r>
                  <a:rPr lang="pt-BR" sz="2400" u="sng" dirty="0"/>
                  <a:t>Exemplos: </a:t>
                </a:r>
                <a:r>
                  <a:rPr lang="pt-BR" sz="2200" dirty="0"/>
                  <a:t>Nota Técnica de caracterização dos pontos de atracação.</a:t>
                </a:r>
              </a:p>
              <a:p>
                <a:r>
                  <a:rPr lang="en-US" sz="2200" dirty="0">
                    <a:hlinkClick r:id="rId3"/>
                  </a:rPr>
                  <a:t>OneDrive</a:t>
                </a:r>
                <a:endParaRPr lang="en-US" sz="2200" dirty="0"/>
              </a:p>
              <a:p>
                <a:endParaRPr lang="en-US" sz="2200" dirty="0"/>
              </a:p>
              <a:p>
                <a:r>
                  <a:rPr lang="pt-BR" sz="2200" dirty="0">
                    <a:hlinkClick r:id="rId4"/>
                  </a:rPr>
                  <a:t>Exemplo 2</a:t>
                </a:r>
                <a:endParaRPr lang="en-US" sz="2200" dirty="0"/>
              </a:p>
              <a:p>
                <a:endParaRPr lang="en-US" sz="2200" dirty="0"/>
              </a:p>
              <a:p>
                <a:r>
                  <a:rPr lang="en-US" altLang="en-US" sz="2200" dirty="0">
                    <a:latin typeface="Arial" panose="020B0604020202020204" pitchFamily="34" charset="0"/>
                    <a:hlinkClick r:id="rId5"/>
                  </a:rPr>
                  <a:t>Exemplo2_SEI_2130714_Nota Técnica.pdf</a:t>
                </a:r>
                <a:endParaRPr lang="en-US" altLang="en-US" sz="2200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847EFEFA-E579-6B65-5B72-EA88A93B9A80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A54F9CE9-88A0-6B0B-F865-2E7350020851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26A07DEB-1551-646D-A8E9-5E2692DFFC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B6D7B52B-93BC-F5B7-58A0-211BAA862E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9643" y="200999"/>
            <a:ext cx="1156840" cy="375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F9D301E-3D77-349F-415A-324C0BCC1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9630" y="1421441"/>
            <a:ext cx="3794657" cy="52868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3316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863F-8B35-E47C-482A-F6A8B1E3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9E10B346-D4F7-B4BE-AA2A-D422756D827D}"/>
              </a:ext>
            </a:extLst>
          </p:cNvPr>
          <p:cNvGrpSpPr/>
          <p:nvPr/>
        </p:nvGrpSpPr>
        <p:grpSpPr>
          <a:xfrm>
            <a:off x="297556" y="821277"/>
            <a:ext cx="10483219" cy="3920075"/>
            <a:chOff x="949501" y="554253"/>
            <a:chExt cx="9321350" cy="3920075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89D79566-BBB0-30A8-B2B1-2F7D1B704299}"/>
                </a:ext>
              </a:extLst>
            </p:cNvPr>
            <p:cNvGrpSpPr/>
            <p:nvPr/>
          </p:nvGrpSpPr>
          <p:grpSpPr>
            <a:xfrm>
              <a:off x="1306330" y="1650764"/>
              <a:ext cx="8964521" cy="2823564"/>
              <a:chOff x="690560" y="1679962"/>
              <a:chExt cx="8964521" cy="2823564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F1B6E0F5-D1A5-EE59-A1CA-CA312017DBCD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40C208CA-0F5A-8EC8-BF54-999608BEFE62}"/>
                  </a:ext>
                </a:extLst>
              </p:cNvPr>
              <p:cNvSpPr/>
              <p:nvPr/>
            </p:nvSpPr>
            <p:spPr>
              <a:xfrm>
                <a:off x="690560" y="1792656"/>
                <a:ext cx="8964521" cy="2710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2.3 Análise de regressão multivariada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800" dirty="0"/>
                  <a:t>	A análise de regressão multivariada permite analisar a relação entre uma </a:t>
                </a:r>
                <a:r>
                  <a:rPr lang="pt-BR" sz="2800" u="sng" dirty="0"/>
                  <a:t>variável dependente</a:t>
                </a:r>
                <a:r>
                  <a:rPr lang="pt-BR" sz="2800" dirty="0"/>
                  <a:t> e várias </a:t>
                </a:r>
                <a:r>
                  <a:rPr lang="pt-BR" sz="2800" u="sng" dirty="0"/>
                  <a:t>variáveis independentes</a:t>
                </a:r>
                <a:r>
                  <a:rPr lang="pt-BR" sz="2800" dirty="0"/>
                  <a:t>. Além disso, a técnica permite prever resultados e quantificar o impacto de fatores (JOHNSON &amp; WICHERN, 2007).</a:t>
                </a:r>
                <a:endParaRPr lang="en-US" sz="28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778CD846-AD2E-B924-2254-EB8AFA9C00F9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01DB3326-C1AD-DBBD-B06F-814E62CDEF37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F26F7C02-755B-7753-0FC3-4EE36905B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D6BA8E97-7D65-F354-6346-7FD29D78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45396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7783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FA1B-59F5-5AB5-A186-07947459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05FFD1F-5D5D-762C-9BEF-83502DE4988A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96E98EB5-F2B6-AB4A-13FB-6D1952C23319}"/>
              </a:ext>
            </a:extLst>
          </p:cNvPr>
          <p:cNvGrpSpPr/>
          <p:nvPr/>
        </p:nvGrpSpPr>
        <p:grpSpPr>
          <a:xfrm>
            <a:off x="297556" y="821277"/>
            <a:ext cx="8672708" cy="5471269"/>
            <a:chOff x="949501" y="554253"/>
            <a:chExt cx="7711500" cy="5471269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BA5E5D2F-023B-0B2F-66FA-4CB4047DC279}"/>
                </a:ext>
              </a:extLst>
            </p:cNvPr>
            <p:cNvGrpSpPr/>
            <p:nvPr/>
          </p:nvGrpSpPr>
          <p:grpSpPr>
            <a:xfrm>
              <a:off x="1306331" y="1650764"/>
              <a:ext cx="6135088" cy="4374758"/>
              <a:chOff x="690561" y="1679962"/>
              <a:chExt cx="6135088" cy="437475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EE0C1D35-A33E-25F2-25DA-5F16D48FEDA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4">
                    <a:extLst>
                      <a:ext uri="{FF2B5EF4-FFF2-40B4-BE49-F238E27FC236}">
                        <a16:creationId xmlns:a16="http://schemas.microsoft.com/office/drawing/2014/main" id="{22C7D4E5-AD2D-D7B0-6503-7379C2F29EF3}"/>
                      </a:ext>
                    </a:extLst>
                  </p:cNvPr>
                  <p:cNvSpPr/>
                  <p:nvPr/>
                </p:nvSpPr>
                <p:spPr>
                  <a:xfrm>
                    <a:off x="690561" y="1792656"/>
                    <a:ext cx="6135088" cy="426206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>
                      <a:spcAft>
                        <a:spcPts val="1200"/>
                      </a:spcAft>
                    </a:pPr>
                    <a:r>
                      <a:rPr lang="pt-BR" sz="2800" dirty="0"/>
                      <a:t>2.3 Análise de regressão multivariada</a:t>
                    </a:r>
                  </a:p>
                  <a:p>
                    <a:pPr algn="just">
                      <a:lnSpc>
                        <a:spcPct val="120000"/>
                      </a:lnSpc>
                    </a:pPr>
                    <a:r>
                      <a:rPr lang="pt-BR" sz="2800" dirty="0"/>
                      <a:t>	Um tipo especial de análise de regressão multivariada é a análise de regressão linear. Representada pela equação (1):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14:m>
                      <m:oMath xmlns:m="http://schemas.openxmlformats.org/officeDocument/2006/math"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oMath>
                    </a14:m>
                    <a:r>
                      <a:rPr lang="pt-BR" sz="2800" dirty="0"/>
                      <a:t>	(1)</a:t>
                    </a:r>
                  </a:p>
                  <a:p>
                    <a:pPr algn="just">
                      <a:lnSpc>
                        <a:spcPct val="120000"/>
                      </a:lnSpc>
                    </a:pPr>
                    <a:r>
                      <a:rPr lang="pt-BR" sz="2800" dirty="0"/>
                      <a:t>linear nos coeficientes</a:t>
                    </a:r>
                    <a14:m>
                      <m:oMath xmlns:m="http://schemas.openxmlformats.org/officeDocument/2006/math"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a14:m>
                    <a:r>
                      <a:rPr lang="pt-BR" sz="2800" dirty="0"/>
                      <a:t>e </a:t>
                    </a:r>
                    <a14:m>
                      <m:oMath xmlns:m="http://schemas.openxmlformats.org/officeDocument/2006/math"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oMath>
                    </a14:m>
                    <a:r>
                      <a:rPr lang="pt-BR" sz="2800" dirty="0"/>
                      <a:t>.</a:t>
                    </a:r>
                  </a:p>
                  <a:p>
                    <a:pPr algn="just">
                      <a:lnSpc>
                        <a:spcPct val="120000"/>
                      </a:lnSpc>
                    </a:pPr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0" name="Rectangle 4">
                    <a:extLst>
                      <a:ext uri="{FF2B5EF4-FFF2-40B4-BE49-F238E27FC236}">
                        <a16:creationId xmlns:a16="http://schemas.microsoft.com/office/drawing/2014/main" id="{22C7D4E5-AD2D-D7B0-6503-7379C2F29E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561" y="1792656"/>
                    <a:ext cx="6135088" cy="42620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55" t="-1288" r="-17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FDE49350-2F54-5961-582A-67CD58E330C6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D3EFE8C0-FE86-1D9F-C752-586DDEF3D475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39526562-A6FD-4AE3-75D7-E210E572CE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0DCECF46-0712-4D46-BA0A-35CCC0CC80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3" name="Imagem 2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879E025A-8A81-DF8C-2E04-3D78885194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96" r="19561"/>
          <a:stretch>
            <a:fillRect/>
          </a:stretch>
        </p:blipFill>
        <p:spPr>
          <a:xfrm>
            <a:off x="8141269" y="1582565"/>
            <a:ext cx="3396344" cy="47425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4293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52133-3F90-4674-3783-4DCDF9F3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F686AEC-33A4-3C3B-017E-3582CB3FC027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E8F1338A-9DA3-DE86-F13A-D536160C46D9}"/>
              </a:ext>
            </a:extLst>
          </p:cNvPr>
          <p:cNvGrpSpPr/>
          <p:nvPr/>
        </p:nvGrpSpPr>
        <p:grpSpPr>
          <a:xfrm>
            <a:off x="297556" y="821277"/>
            <a:ext cx="8672708" cy="5556229"/>
            <a:chOff x="949501" y="554253"/>
            <a:chExt cx="7711500" cy="5556229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A3343734-EEDD-6A53-3890-0F4C9B4FCFF1}"/>
                </a:ext>
              </a:extLst>
            </p:cNvPr>
            <p:cNvGrpSpPr/>
            <p:nvPr/>
          </p:nvGrpSpPr>
          <p:grpSpPr>
            <a:xfrm>
              <a:off x="1306331" y="1650764"/>
              <a:ext cx="6135088" cy="4459718"/>
              <a:chOff x="690561" y="1679962"/>
              <a:chExt cx="6135088" cy="445971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A31A947B-455D-5964-148D-1F86C32B453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1B418AB8-E6DC-D615-6BE6-01C493620A20}"/>
                  </a:ext>
                </a:extLst>
              </p:cNvPr>
              <p:cNvSpPr/>
              <p:nvPr/>
            </p:nvSpPr>
            <p:spPr>
              <a:xfrm>
                <a:off x="690561" y="1792656"/>
                <a:ext cx="6135088" cy="4347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2.3 Análise de regressão multivariada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400" dirty="0"/>
                  <a:t>Pressupostos do modelo de regressão linear:</a:t>
                </a:r>
              </a:p>
              <a:p>
                <a:pPr marL="800100" lvl="1" indent="-3429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normalidade dos resíduos; </a:t>
                </a:r>
              </a:p>
              <a:p>
                <a:pPr marL="800100" lvl="1" indent="-3429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dados não correlacionados;</a:t>
                </a:r>
              </a:p>
              <a:p>
                <a:pPr marL="800100" lvl="1" indent="-3429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 err="1"/>
                  <a:t>homocedasticidade</a:t>
                </a:r>
                <a:r>
                  <a:rPr lang="pt-BR" sz="2400" dirty="0"/>
                  <a:t> (variância constante) dos resíduos; e </a:t>
                </a:r>
              </a:p>
              <a:p>
                <a:pPr marL="800100" lvl="1" indent="-3429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ausência de observações influentes (</a:t>
                </a:r>
                <a:r>
                  <a:rPr lang="pt-BR" sz="2400" dirty="0" err="1"/>
                  <a:t>outlires</a:t>
                </a:r>
                <a:r>
                  <a:rPr lang="pt-BR" sz="2400" dirty="0"/>
                  <a:t>).</a:t>
                </a:r>
              </a:p>
              <a:p>
                <a:pPr algn="just"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pt-BR" sz="2400" dirty="0"/>
                  <a:t>Recomenda-se incluir no procedimento de análise a realização de um diagnóstico do modelo escolhido.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F35A7A8E-8950-BC52-7B49-62E8CB9A2DC6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3E521EEA-C192-F9F9-BAEF-44CA1A43B151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962C0BD3-2B12-0EC7-EECD-AFAB2FED5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FB716282-6317-8841-CF36-66A83A2B4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3" name="Imagem 2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8831B00A-9A33-E05E-D014-1C5AAF7DC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6" r="19561"/>
          <a:stretch>
            <a:fillRect/>
          </a:stretch>
        </p:blipFill>
        <p:spPr>
          <a:xfrm>
            <a:off x="8141269" y="1582565"/>
            <a:ext cx="3396344" cy="47425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1326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EFEF-BA6D-E21A-1CE3-777933E0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5925B7B-08B8-22CA-0F3B-94D906FC147C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2BB38612-3DFE-03D1-70A8-E5D6ACBE0E27}"/>
              </a:ext>
            </a:extLst>
          </p:cNvPr>
          <p:cNvGrpSpPr/>
          <p:nvPr/>
        </p:nvGrpSpPr>
        <p:grpSpPr>
          <a:xfrm>
            <a:off x="297556" y="821277"/>
            <a:ext cx="8672708" cy="5391119"/>
            <a:chOff x="949501" y="554253"/>
            <a:chExt cx="7711500" cy="5391119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AAD73394-8878-1968-F5B4-50DF394B2981}"/>
                </a:ext>
              </a:extLst>
            </p:cNvPr>
            <p:cNvGrpSpPr/>
            <p:nvPr/>
          </p:nvGrpSpPr>
          <p:grpSpPr>
            <a:xfrm>
              <a:off x="1306331" y="1650764"/>
              <a:ext cx="6135088" cy="4294608"/>
              <a:chOff x="690561" y="1679962"/>
              <a:chExt cx="6135088" cy="429460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57226085-C469-7D48-02E8-E6CEA79DEC99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0801CD89-6DDA-C66F-885E-6DAD2DA86888}"/>
                  </a:ext>
                </a:extLst>
              </p:cNvPr>
              <p:cNvSpPr/>
              <p:nvPr/>
            </p:nvSpPr>
            <p:spPr>
              <a:xfrm>
                <a:off x="690561" y="1792656"/>
                <a:ext cx="6135088" cy="4181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2.3 Análise de regressão multivariada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400" dirty="0"/>
                  <a:t>Exemplo: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400" dirty="0">
                    <a:hlinkClick r:id="rId3"/>
                  </a:rPr>
                  <a:t>Relatório do Estudo Referencial para Seleção de Empresas na linha de travessia Manaus/AM – Careiro da Várzea/AM (SEI nº 1892862). p. 38-48</a:t>
                </a:r>
                <a:endParaRPr lang="pt-BR" sz="2400" dirty="0"/>
              </a:p>
              <a:p>
                <a:pPr algn="just">
                  <a:lnSpc>
                    <a:spcPct val="120000"/>
                  </a:lnSpc>
                </a:pPr>
                <a:endParaRPr lang="pt-BR" sz="2400" dirty="0"/>
              </a:p>
              <a:p>
                <a:pPr algn="just">
                  <a:lnSpc>
                    <a:spcPct val="120000"/>
                  </a:lnSpc>
                </a:pPr>
                <a:endParaRPr lang="pt-BR" sz="2400" dirty="0"/>
              </a:p>
              <a:p>
                <a:pPr algn="just">
                  <a:lnSpc>
                    <a:spcPct val="120000"/>
                  </a:lnSpc>
                </a:pPr>
                <a:r>
                  <a:rPr lang="en-US" altLang="en-US" sz="2400" dirty="0">
                    <a:latin typeface="Arial" panose="020B0604020202020204" pitchFamily="34" charset="0"/>
                    <a:hlinkClick r:id="rId3"/>
                  </a:rPr>
                  <a:t>Exemplo3_Estudo_de_Referencia_Manaus_Careiro.pdf</a:t>
                </a: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220BCDBC-B7DF-1A2C-5B28-F29EAE4BBE1D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3C1B7306-6D9F-82B4-F2ED-F0FE6D9C33D1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264C6100-3020-5926-386E-19AA573C8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413D5462-BB5D-5974-E7BB-DD79AD9C05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4CF4A75-954D-625E-5FA9-75C878C46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576" y="1690688"/>
            <a:ext cx="3264748" cy="46013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7959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255A-4EC9-8D81-0D6E-04AAE93A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A73775F-51BB-1AE9-60A0-8A8B4960F467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4CF7D1E5-3E3B-1F7C-0D6A-9F6811CA2397}"/>
              </a:ext>
            </a:extLst>
          </p:cNvPr>
          <p:cNvGrpSpPr/>
          <p:nvPr/>
        </p:nvGrpSpPr>
        <p:grpSpPr>
          <a:xfrm>
            <a:off x="297556" y="821277"/>
            <a:ext cx="8672708" cy="5579632"/>
            <a:chOff x="949501" y="554253"/>
            <a:chExt cx="7711500" cy="5579632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26E07CB7-436A-4E35-DE26-3A4CFD8FC52C}"/>
                </a:ext>
              </a:extLst>
            </p:cNvPr>
            <p:cNvGrpSpPr/>
            <p:nvPr/>
          </p:nvGrpSpPr>
          <p:grpSpPr>
            <a:xfrm>
              <a:off x="1306330" y="1650764"/>
              <a:ext cx="6370873" cy="4483121"/>
              <a:chOff x="690560" y="1679962"/>
              <a:chExt cx="6370873" cy="4483121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2040D5DA-08A6-6432-46C4-907AC83A04F6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30AA7F6D-1216-78EC-946E-DDBE6571A356}"/>
                  </a:ext>
                </a:extLst>
              </p:cNvPr>
              <p:cNvSpPr/>
              <p:nvPr/>
            </p:nvSpPr>
            <p:spPr>
              <a:xfrm>
                <a:off x="690560" y="1792656"/>
                <a:ext cx="6370873" cy="4370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2.4 Análise de séries temporais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pt-BR" dirty="0"/>
                  <a:t>	</a:t>
                </a:r>
                <a:r>
                  <a:rPr lang="pt-BR" sz="2200" dirty="0"/>
                  <a:t>Uma série temporal é qualquer conjunto de observações ordenadas no tempo. São exemplos de séries temporais:</a:t>
                </a:r>
                <a:endParaRPr lang="en-US" sz="2200" dirty="0"/>
              </a:p>
              <a:p>
                <a:pPr marL="1257300" lvl="2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Valores diários de poluição na cidade de São Paulo;</a:t>
                </a:r>
                <a:endParaRPr lang="en-US" sz="2200" dirty="0"/>
              </a:p>
              <a:p>
                <a:pPr marL="1257300" lvl="2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Precipitação atmosférica anual na cidade de Fortaleza;</a:t>
                </a:r>
                <a:endParaRPr lang="en-US" sz="2200" dirty="0"/>
              </a:p>
              <a:p>
                <a:pPr marL="1257300" lvl="2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Índices diários da bolsa de valores;</a:t>
                </a:r>
                <a:endParaRPr lang="en-US" sz="2200" dirty="0"/>
              </a:p>
              <a:p>
                <a:pPr marL="1257300" lvl="2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Movimentação mensal de contêiners no porto de Santos.</a:t>
                </a:r>
                <a:endParaRPr lang="en-US" sz="22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9B3E0D41-DFAC-6D6E-C083-DFFFED8A2725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0F26BF6A-D406-7B2C-66AA-071D5778F37A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A481CCB4-FA24-5324-9BF2-73AA55BC7B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9A82162C-4CA8-BDF2-D55C-22D44D2C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3" name="Imagem 2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D5B6C1D9-2F36-DD25-2883-4E827CD671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6" r="19561"/>
          <a:stretch>
            <a:fillRect/>
          </a:stretch>
        </p:blipFill>
        <p:spPr>
          <a:xfrm>
            <a:off x="8141269" y="1582565"/>
            <a:ext cx="3396344" cy="47425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047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0748-9B29-86D0-8CAA-0B9C7D3D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55647E0-9329-EDA8-6A57-0B9077435D59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210DE308-4CFF-225E-3B95-B3D764D3A7BC}"/>
              </a:ext>
            </a:extLst>
          </p:cNvPr>
          <p:cNvGrpSpPr/>
          <p:nvPr/>
        </p:nvGrpSpPr>
        <p:grpSpPr>
          <a:xfrm>
            <a:off x="297556" y="821277"/>
            <a:ext cx="8672708" cy="5502688"/>
            <a:chOff x="949501" y="554253"/>
            <a:chExt cx="7711500" cy="5502688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A918C2ED-BBF8-EA89-9F9B-DFB2B908FF00}"/>
                </a:ext>
              </a:extLst>
            </p:cNvPr>
            <p:cNvGrpSpPr/>
            <p:nvPr/>
          </p:nvGrpSpPr>
          <p:grpSpPr>
            <a:xfrm>
              <a:off x="1306330" y="1650764"/>
              <a:ext cx="6370873" cy="4406177"/>
              <a:chOff x="690560" y="1679962"/>
              <a:chExt cx="6370873" cy="4406177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52B27844-7514-72F6-C8E7-112C8F69CB7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4A8E34EE-E06B-363B-F5D4-DB03E6B2BA54}"/>
                  </a:ext>
                </a:extLst>
              </p:cNvPr>
              <p:cNvSpPr/>
              <p:nvPr/>
            </p:nvSpPr>
            <p:spPr>
              <a:xfrm>
                <a:off x="690560" y="1792656"/>
                <a:ext cx="6370873" cy="4293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2.4 Análise de séries temporais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pt-BR" dirty="0"/>
                  <a:t>	</a:t>
                </a:r>
                <a:r>
                  <a:rPr lang="pt-BR" sz="2200" dirty="0"/>
                  <a:t>A análise de séries temporais </a:t>
                </a:r>
                <a:r>
                  <a:rPr lang="pt-BR" sz="2200" u="sng" dirty="0"/>
                  <a:t>possibilita a identificação de padrões, tendências, sazonalidades</a:t>
                </a:r>
                <a:r>
                  <a:rPr lang="pt-BR" sz="2200" dirty="0"/>
                  <a:t> e outros comportamentos em dados coletados ao longo do tempo, ajudando a entender e prever fenômenos dinâmicos. Ela fornece subsídios para:</a:t>
                </a:r>
              </a:p>
              <a:p>
                <a:pPr marL="800100" lvl="1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investigar o mecanismo gerador da série temporal;</a:t>
                </a:r>
                <a:endParaRPr lang="en-US" sz="2200" dirty="0"/>
              </a:p>
              <a:p>
                <a:pPr marL="800100" lvl="1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fazer previsões de valores futuros da série a curto, médio e longo prazo;</a:t>
                </a:r>
                <a:endParaRPr lang="en-US" sz="2200" dirty="0"/>
              </a:p>
              <a:p>
                <a:pPr marL="800100" lvl="1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pt-BR" sz="2200" dirty="0"/>
                  <a:t>descrever o comportamento da série, identificando tendências, ciclos e variações sazonais; </a:t>
                </a:r>
                <a:r>
                  <a:rPr lang="pt-BR" sz="2200" dirty="0" err="1"/>
                  <a:t>etc</a:t>
                </a:r>
                <a:endParaRPr lang="en-US" sz="22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406C13F0-C936-4167-9FEE-6C668E595CE7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7EC5DD00-00B0-4990-3FC1-AD01A04A10D2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F5C1E20B-D7DA-9D5C-A21C-5909D57A9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F4AE406C-39C5-9D0B-9727-CD26B7CA16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3" name="Imagem 2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59931159-D82C-9218-01A7-290485EE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6" r="19561"/>
          <a:stretch>
            <a:fillRect/>
          </a:stretch>
        </p:blipFill>
        <p:spPr>
          <a:xfrm>
            <a:off x="8141269" y="1582565"/>
            <a:ext cx="3396344" cy="47425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9955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A408-595D-B8D1-D784-FF2DE940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7DD78A3-9E9F-6241-2801-95FA3F1D880E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DBA1C76F-8FD8-7D1C-6D0A-6E78A82031DC}"/>
              </a:ext>
            </a:extLst>
          </p:cNvPr>
          <p:cNvGrpSpPr/>
          <p:nvPr/>
        </p:nvGrpSpPr>
        <p:grpSpPr>
          <a:xfrm>
            <a:off x="297556" y="821277"/>
            <a:ext cx="8672708" cy="5039869"/>
            <a:chOff x="949501" y="554253"/>
            <a:chExt cx="7711500" cy="5039869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F9E7E0AD-8941-3A5D-1ED7-E59083F3C802}"/>
                </a:ext>
              </a:extLst>
            </p:cNvPr>
            <p:cNvGrpSpPr/>
            <p:nvPr/>
          </p:nvGrpSpPr>
          <p:grpSpPr>
            <a:xfrm>
              <a:off x="1306330" y="1650764"/>
              <a:ext cx="6370873" cy="3943358"/>
              <a:chOff x="690560" y="1679962"/>
              <a:chExt cx="6370873" cy="394335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A62F91FB-7E81-73E7-FB59-3001D40E0211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F694AC85-F9DA-54DF-DCD7-0890C1DAEA8F}"/>
                  </a:ext>
                </a:extLst>
              </p:cNvPr>
              <p:cNvSpPr/>
              <p:nvPr/>
            </p:nvSpPr>
            <p:spPr>
              <a:xfrm>
                <a:off x="690560" y="1792656"/>
                <a:ext cx="6370873" cy="3830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2.4. Análise de séries temporais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dirty="0"/>
                  <a:t>	</a:t>
                </a:r>
                <a:r>
                  <a:rPr lang="pt-BR" sz="2400" dirty="0"/>
                  <a:t>Alguns modelos de séries temporais: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pt-BR" sz="2400" dirty="0"/>
                  <a:t>ARMA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2400" dirty="0"/>
                  <a:t>ARIMA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en-US" sz="2400" dirty="0"/>
                  <a:t>AFIRMA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sz="2400" dirty="0">
                    <a:latin typeface="Arial" panose="020B0604020202020204" pitchFamily="34" charset="0"/>
                    <a:hlinkClick r:id="rId3"/>
                  </a:rPr>
                  <a:t>Exemplo3_Estudo_de_Referencia_Manaus_Careiro.pdf</a:t>
                </a:r>
                <a:r>
                  <a:rPr lang="en-US" altLang="en-US" sz="2400" dirty="0">
                    <a:latin typeface="Arial" panose="020B0604020202020204" pitchFamily="34" charset="0"/>
                  </a:rPr>
                  <a:t> p. 26 - </a:t>
                </a:r>
                <a:endParaRPr lang="en-US" sz="24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12E20D70-5423-FB81-B3DA-60742C09FBE9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79C8BB4A-BC83-A28D-499A-2C0B9C62A5C3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FC0F8F17-92CE-236F-6307-D2975D9AD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D7FA9C80-0057-EB6A-5935-20A61DA5FB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79FF58E-2131-13D6-ED50-FD9967617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862" y="1690688"/>
            <a:ext cx="3264748" cy="4601323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65FFE56-3585-229C-A51A-685E4B04EF7A}"/>
              </a:ext>
            </a:extLst>
          </p:cNvPr>
          <p:cNvSpPr/>
          <p:nvPr/>
        </p:nvSpPr>
        <p:spPr>
          <a:xfrm>
            <a:off x="3264491" y="3813175"/>
            <a:ext cx="4110527" cy="376015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31F062-C54A-9EE3-118B-F8E19D16F989}"/>
              </a:ext>
            </a:extLst>
          </p:cNvPr>
          <p:cNvSpPr txBox="1"/>
          <p:nvPr/>
        </p:nvSpPr>
        <p:spPr>
          <a:xfrm>
            <a:off x="1807438" y="6012849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https://www.youtube.com/watch?v=qTQ1YDgyByE</a:t>
            </a:r>
            <a:r>
              <a:rPr lang="en-US" dirty="0"/>
              <a:t> </a:t>
            </a:r>
          </a:p>
          <a:p>
            <a:r>
              <a:rPr lang="en-US" dirty="0" err="1"/>
              <a:t>Cientísitca</a:t>
            </a:r>
            <a:r>
              <a:rPr lang="en-US" dirty="0"/>
              <a:t> – </a:t>
            </a:r>
            <a:r>
              <a:rPr lang="en-US" dirty="0" err="1"/>
              <a:t>Séries</a:t>
            </a:r>
            <a:r>
              <a:rPr lang="en-US" dirty="0"/>
              <a:t> </a:t>
            </a:r>
            <a:r>
              <a:rPr lang="en-US" dirty="0" err="1"/>
              <a:t>Temporais</a:t>
            </a:r>
            <a:r>
              <a:rPr lang="en-US" dirty="0"/>
              <a:t> (ARIMA) - Aula </a:t>
            </a:r>
            <a:r>
              <a:rPr lang="en-US" dirty="0" err="1"/>
              <a:t>prática</a:t>
            </a:r>
            <a:r>
              <a:rPr lang="en-US" dirty="0"/>
              <a:t> #7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3736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D2B08-F681-49ED-F970-285E3D47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D0A3F804-6D4C-D5A5-22F7-F8BD8D44C168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B7CD8057-A576-8A49-AA1D-82CC06F711E5}"/>
              </a:ext>
            </a:extLst>
          </p:cNvPr>
          <p:cNvGrpSpPr/>
          <p:nvPr/>
        </p:nvGrpSpPr>
        <p:grpSpPr>
          <a:xfrm>
            <a:off x="297556" y="821277"/>
            <a:ext cx="8672708" cy="5402341"/>
            <a:chOff x="949501" y="554253"/>
            <a:chExt cx="7711500" cy="5402341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3F919199-DCFD-E4EC-4099-A3167B2052A3}"/>
                </a:ext>
              </a:extLst>
            </p:cNvPr>
            <p:cNvGrpSpPr/>
            <p:nvPr/>
          </p:nvGrpSpPr>
          <p:grpSpPr>
            <a:xfrm>
              <a:off x="1306330" y="1650764"/>
              <a:ext cx="6370873" cy="4305830"/>
              <a:chOff x="690560" y="1679962"/>
              <a:chExt cx="6370873" cy="4305830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05C94F4E-11D9-B7EF-72A2-BD766038856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6CC70C2E-98B5-E116-100E-96ADCE9A6C72}"/>
                  </a:ext>
                </a:extLst>
              </p:cNvPr>
              <p:cNvSpPr/>
              <p:nvPr/>
            </p:nvSpPr>
            <p:spPr>
              <a:xfrm>
                <a:off x="690560" y="1792656"/>
                <a:ext cx="6370873" cy="4193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2.5 Análise de multicritério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dirty="0"/>
                  <a:t>	</a:t>
                </a:r>
                <a:r>
                  <a:rPr lang="pt-BR" sz="2400" dirty="0"/>
                  <a:t>A análise de multicritério é propícia em situações de tomada de decisão envolvendo múltiplos critérios. A técnica avalia alternativas a partir de julgamentos qualitativos, quantitativos e preferências subjetivas.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2400" dirty="0"/>
                  <a:t>	Exemplos:</a:t>
                </a:r>
              </a:p>
              <a:p>
                <a:pPr marL="1200150" lvl="2" indent="-28575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AHP (</a:t>
                </a:r>
                <a:r>
                  <a:rPr lang="pt-BR" sz="2400" dirty="0" err="1"/>
                  <a:t>Analytic</a:t>
                </a:r>
                <a:r>
                  <a:rPr lang="pt-BR" sz="2400" dirty="0"/>
                  <a:t> </a:t>
                </a:r>
                <a:r>
                  <a:rPr lang="pt-BR" sz="2400" dirty="0" err="1"/>
                  <a:t>Hierarchy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Process</a:t>
                </a:r>
                <a:r>
                  <a:rPr lang="pt-BR" sz="2400" dirty="0"/>
                  <a:t>) </a:t>
                </a:r>
              </a:p>
              <a:p>
                <a:pPr marL="1200150" lvl="2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PROMETHEE (</a:t>
                </a:r>
                <a:r>
                  <a:rPr lang="pt-BR" sz="2400" dirty="0" err="1"/>
                  <a:t>Preference</a:t>
                </a:r>
                <a:r>
                  <a:rPr lang="pt-BR" sz="2400" dirty="0"/>
                  <a:t> Ranking </a:t>
                </a:r>
                <a:r>
                  <a:rPr lang="pt-BR" sz="2400" dirty="0" err="1"/>
                  <a:t>Organization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Method</a:t>
                </a:r>
                <a:r>
                  <a:rPr lang="pt-BR" sz="2400" dirty="0"/>
                  <a:t> for </a:t>
                </a:r>
                <a:r>
                  <a:rPr lang="pt-BR" sz="2400" dirty="0" err="1"/>
                  <a:t>Enrichment</a:t>
                </a:r>
                <a:r>
                  <a:rPr lang="pt-BR" sz="2400" dirty="0"/>
                  <a:t> </a:t>
                </a:r>
                <a:r>
                  <a:rPr lang="pt-BR" sz="2400" dirty="0" err="1"/>
                  <a:t>Evaluations</a:t>
                </a:r>
                <a:r>
                  <a:rPr lang="pt-BR" sz="2400" dirty="0"/>
                  <a:t>).</a:t>
                </a:r>
                <a:endParaRPr lang="en-US" sz="24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22658898-E912-C912-845A-D944716C9195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947FF1AA-0867-BF2F-2CD4-48CF1F779F06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DAE2B022-45F4-2C46-188F-E09ECACA62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9921844A-C37A-0085-D033-A0A8ECE84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3" name="Imagem 2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CA365FAB-5020-2532-9581-A5291F0D86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6" r="19561"/>
          <a:stretch>
            <a:fillRect/>
          </a:stretch>
        </p:blipFill>
        <p:spPr>
          <a:xfrm>
            <a:off x="8141269" y="1582565"/>
            <a:ext cx="3396344" cy="47425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2803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1CFC-D089-BA0C-2240-E201FE0A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5F7581A7-38C0-0469-A2D2-77B8F46A37F4}"/>
              </a:ext>
            </a:extLst>
          </p:cNvPr>
          <p:cNvSpPr/>
          <p:nvPr/>
        </p:nvSpPr>
        <p:spPr>
          <a:xfrm>
            <a:off x="9015451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B92D4852-1D39-2A45-5B25-79031246E20A}"/>
              </a:ext>
            </a:extLst>
          </p:cNvPr>
          <p:cNvGrpSpPr/>
          <p:nvPr/>
        </p:nvGrpSpPr>
        <p:grpSpPr>
          <a:xfrm>
            <a:off x="297556" y="821277"/>
            <a:ext cx="8672708" cy="5210300"/>
            <a:chOff x="949501" y="554253"/>
            <a:chExt cx="7711500" cy="5210300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B2592C9F-676F-41A6-B6A6-AD25364F040F}"/>
                </a:ext>
              </a:extLst>
            </p:cNvPr>
            <p:cNvGrpSpPr/>
            <p:nvPr/>
          </p:nvGrpSpPr>
          <p:grpSpPr>
            <a:xfrm>
              <a:off x="1306330" y="1650764"/>
              <a:ext cx="6370873" cy="4113789"/>
              <a:chOff x="690560" y="1679962"/>
              <a:chExt cx="6370873" cy="4113789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101E7015-4B1D-4B3A-9A98-C1A76DC7A25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8F4EFD71-48AC-A1FA-BFCC-F67DBF4BA9EA}"/>
                  </a:ext>
                </a:extLst>
              </p:cNvPr>
              <p:cNvSpPr/>
              <p:nvPr/>
            </p:nvSpPr>
            <p:spPr>
              <a:xfrm>
                <a:off x="690560" y="1792656"/>
                <a:ext cx="6370873" cy="4001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800" dirty="0"/>
                  <a:t>2.5 Análise de multicritério</a:t>
                </a:r>
              </a:p>
              <a:p>
                <a:r>
                  <a:rPr lang="pt-BR" sz="2400" u="sng" dirty="0"/>
                  <a:t>Exemplo 4:</a:t>
                </a:r>
              </a:p>
              <a:p>
                <a:r>
                  <a:rPr lang="pt-BR" sz="2400" dirty="0">
                    <a:hlinkClick r:id="rId3"/>
                  </a:rPr>
                  <a:t>Guia de Regulação de Preços de Serviços Autorizados na Navegação Interior.</a:t>
                </a:r>
                <a:endParaRPr lang="pt-BR" sz="2400" dirty="0"/>
              </a:p>
              <a:p>
                <a:r>
                  <a:rPr lang="pt-BR" sz="2400" dirty="0"/>
                  <a:t>p.39</a:t>
                </a:r>
              </a:p>
              <a:p>
                <a:endParaRPr lang="pt-BR" sz="2400" dirty="0"/>
              </a:p>
              <a:p>
                <a:r>
                  <a:rPr lang="pt-BR" sz="2400" dirty="0">
                    <a:hlinkClick r:id="rId4"/>
                  </a:rPr>
                  <a:t>Planilha google:</a:t>
                </a:r>
                <a:endParaRPr lang="pt-BR" sz="2400" dirty="0"/>
              </a:p>
              <a:p>
                <a:r>
                  <a:rPr lang="en-US" sz="2400" dirty="0"/>
                  <a:t>https://docs.google.com/spreadsheets/d/1iViwUOWSPq4NoI8eQlmrl8O-1iDzp511PoracftqMnc/edit?usp=sharing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A2834ADC-09E8-52F0-2605-8F390BA430CE}"/>
                </a:ext>
              </a:extLst>
            </p:cNvPr>
            <p:cNvGrpSpPr/>
            <p:nvPr/>
          </p:nvGrpSpPr>
          <p:grpSpPr>
            <a:xfrm>
              <a:off x="949501" y="554253"/>
              <a:ext cx="7711500" cy="1200329"/>
              <a:chOff x="3870384" y="-2838706"/>
              <a:chExt cx="7711500" cy="1200329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2477C625-8439-095C-E57E-E63CEA260431}"/>
                  </a:ext>
                </a:extLst>
              </p:cNvPr>
              <p:cNvSpPr/>
              <p:nvPr/>
            </p:nvSpPr>
            <p:spPr>
              <a:xfrm>
                <a:off x="3870384" y="-2838706"/>
                <a:ext cx="77115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2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Metodologias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dados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11F3C8A2-E10D-B0A8-33BF-EA0B24F7F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849" y="-216248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F61021AB-4A2F-5B57-F4A6-34691E47F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9643" y="236124"/>
            <a:ext cx="1156840" cy="375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095493E-7A67-0185-DF1E-27102C3B2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535" y="1574867"/>
            <a:ext cx="3490470" cy="49123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6492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009C-F291-CDA3-71C4-8F908C76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5">
            <a:extLst>
              <a:ext uri="{FF2B5EF4-FFF2-40B4-BE49-F238E27FC236}">
                <a16:creationId xmlns:a16="http://schemas.microsoft.com/office/drawing/2014/main" id="{178AABE9-4624-20C4-B74C-AF361AE4A52C}"/>
              </a:ext>
            </a:extLst>
          </p:cNvPr>
          <p:cNvGrpSpPr/>
          <p:nvPr/>
        </p:nvGrpSpPr>
        <p:grpSpPr>
          <a:xfrm>
            <a:off x="297555" y="400653"/>
            <a:ext cx="11141589" cy="6040440"/>
            <a:chOff x="949500" y="133629"/>
            <a:chExt cx="9906752" cy="6040440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83C55AE1-1AAC-AE39-1F04-1590FC914E14}"/>
                </a:ext>
              </a:extLst>
            </p:cNvPr>
            <p:cNvGrpSpPr/>
            <p:nvPr/>
          </p:nvGrpSpPr>
          <p:grpSpPr>
            <a:xfrm>
              <a:off x="1306330" y="1157311"/>
              <a:ext cx="9316336" cy="5016758"/>
              <a:chOff x="690560" y="1186509"/>
              <a:chExt cx="9316336" cy="5016758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4E7F2377-ABFA-FE44-E7BD-52B18C7AF648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A11C8486-6F57-D047-28E8-791DDFB357CC}"/>
                  </a:ext>
                </a:extLst>
              </p:cNvPr>
              <p:cNvSpPr/>
              <p:nvPr/>
            </p:nvSpPr>
            <p:spPr>
              <a:xfrm>
                <a:off x="690560" y="1186509"/>
                <a:ext cx="9316336" cy="5016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ANTAQ. </a:t>
                </a:r>
                <a:r>
                  <a:rPr lang="pt-BR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Divulgada pesquisa de satisfação dos usuários da navegação de travessia</a:t>
                </a: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. Portal da ANTAQ: </a:t>
                </a: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  <a:hlinkClick r:id="rId3"/>
                  </a:rPr>
                  <a:t>https://www.gov.br/</a:t>
                </a:r>
                <a:r>
                  <a:rPr lang="pt-BR" altLang="en-US" sz="1600" dirty="0" err="1">
                    <a:ea typeface="Aptos" panose="020B0004020202020204" pitchFamily="34" charset="0"/>
                    <a:cs typeface="Arial" panose="020B0604020202020204" pitchFamily="34" charset="0"/>
                    <a:hlinkClick r:id="rId3"/>
                  </a:rPr>
                  <a:t>antaq</a:t>
                </a: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  <a:hlinkClick r:id="rId3"/>
                  </a:rPr>
                  <a:t>/</a:t>
                </a:r>
                <a:r>
                  <a:rPr lang="pt-BR" altLang="en-US" sz="1600" dirty="0" err="1">
                    <a:ea typeface="Aptos" panose="020B0004020202020204" pitchFamily="34" charset="0"/>
                    <a:cs typeface="Arial" panose="020B0604020202020204" pitchFamily="34" charset="0"/>
                    <a:hlinkClick r:id="rId3"/>
                  </a:rPr>
                  <a:t>pt-br</a:t>
                </a: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  <a:hlinkClick r:id="rId3"/>
                  </a:rPr>
                  <a:t>/noticias/2023/divulgada-pesquisa-de-satisfacao-dos-usuarios-da-navegacao-de-travessia</a:t>
                </a:r>
                <a:r>
                  <a:rPr lang="pt-BR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. Acesso em 8 de janeiro de 2025a.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_____.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Regulação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preços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serviços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públicos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autorizados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na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navegação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interior.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Portal da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Antaq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Disponível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: https://www.gov.br/antaq/pt-br/assuntos/navegacao/interior/regulacao-de-precos-1.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Acesso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08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janeiro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2025b.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BRASIL.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Decreto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nº 10.411, de 30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junho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2020.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Regulamenta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a 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análise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impacto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regulatório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,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tratam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o art. 5º da Lei nº 13.874, de 20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setembro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2019, e o art. 6º da Lei nº 13.848, de 25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junho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2019.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Disponível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https://www.planalto.gov.br/ccivil_03/_Ato2019-2022/2020/Decreto/D10411.htm.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Acesso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08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janeiro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2025.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BUSSAB, W. d.; MORETTIN, P. A.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Estatística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Básica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(5ª ed ed.). São Paulo: Saraiva, 2003.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CONOVER, W. J.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Pratical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Nonparametric Statistics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(3ª ed.). New York: John Wiley &amp; Sons, 1999.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Escola Nacional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Administração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Pública - ENAP.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Curso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Fundamentos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da Teoria da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Regulação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Módulo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Equilíbrio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Tarifário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Disponível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https://www.escolavirtual.gov.br/catalogo?query=Fundamentos+da+Teoria+da+Regula%C3%A7%C3%A3o+&amp;carga_horaria=.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Acesso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em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08 de </a:t>
                </a:r>
                <a:r>
                  <a:rPr lang="en-US" altLang="en-US" sz="1600" dirty="0" err="1">
                    <a:ea typeface="Aptos" panose="020B0004020202020204" pitchFamily="34" charset="0"/>
                    <a:cs typeface="Arial" panose="020B0604020202020204" pitchFamily="34" charset="0"/>
                  </a:rPr>
                  <a:t>janeiro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de 2025.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JOHNSON, R. A.; WICHERN, D. W. 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Applied Multivariate Statistica Analysis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(6ª ed.). Pearson Prentice Hall, 2007.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MORETTIN, P. A.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Análise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Séries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Temporais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(2ª ed.). São Paulo: Edgard Bulcher, 2006.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MORETTIN, P. A.; BUSSAB, W. d.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Estatística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1600" i="1" dirty="0" err="1">
                    <a:ea typeface="Aptos" panose="020B0004020202020204" pitchFamily="34" charset="0"/>
                    <a:cs typeface="Arial" panose="020B0604020202020204" pitchFamily="34" charset="0"/>
                  </a:rPr>
                  <a:t>Básica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(5ª ed.). São Paulo: Saraiva, 2003.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WICHERN, D. W. </a:t>
                </a:r>
                <a:r>
                  <a:rPr lang="en-US" altLang="en-US" sz="1600" i="1" dirty="0">
                    <a:ea typeface="Aptos" panose="020B0004020202020204" pitchFamily="34" charset="0"/>
                    <a:cs typeface="Arial" panose="020B0604020202020204" pitchFamily="34" charset="0"/>
                  </a:rPr>
                  <a:t>Applied Multivariate Statistical Analysis.</a:t>
                </a:r>
                <a:r>
                  <a:rPr lang="en-US" altLang="en-US" sz="1600" dirty="0">
                    <a:ea typeface="Aptos" panose="020B0004020202020204" pitchFamily="34" charset="0"/>
                    <a:cs typeface="Arial" panose="020B0604020202020204" pitchFamily="34" charset="0"/>
                  </a:rPr>
                  <a:t> New Jersey: Pearson Prentice Hall, 2007.</a:t>
                </a:r>
                <a:endParaRPr lang="en-US" altLang="en-US" sz="1600" dirty="0"/>
              </a:p>
              <a:p>
                <a:endParaRPr lang="en-US" sz="1600" dirty="0"/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7CC35BE5-B1CE-B3F2-9D43-4D93CF465E31}"/>
                </a:ext>
              </a:extLst>
            </p:cNvPr>
            <p:cNvGrpSpPr/>
            <p:nvPr/>
          </p:nvGrpSpPr>
          <p:grpSpPr>
            <a:xfrm>
              <a:off x="949500" y="133629"/>
              <a:ext cx="9906752" cy="844847"/>
              <a:chOff x="3870383" y="-3259330"/>
              <a:chExt cx="9906752" cy="844847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D2F859C8-BB87-E0D8-F5AF-F814042A1897}"/>
                  </a:ext>
                </a:extLst>
              </p:cNvPr>
              <p:cNvSpPr/>
              <p:nvPr/>
            </p:nvSpPr>
            <p:spPr>
              <a:xfrm>
                <a:off x="3870383" y="-3259330"/>
                <a:ext cx="9906752" cy="8448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3.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Referências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bibliográficas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0621ABAE-06E4-03CB-BB29-12275D3B64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7502" y="-2436804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07D8DB0C-9949-0AED-EFD7-AA0FAD5069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7075" y="226812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4481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 descr="Navio no mar&#10;&#10;O conteúdo gerado por IA pode estar incorreto.">
            <a:extLst>
              <a:ext uri="{FF2B5EF4-FFF2-40B4-BE49-F238E27FC236}">
                <a16:creationId xmlns:a16="http://schemas.microsoft.com/office/drawing/2014/main" id="{31E70E60-A487-7F97-2C8D-97AA5105C0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62F431-CAF1-4971-978B-41B51C85A147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C9D92-ACC7-974D-B80F-B4B04D69326D}"/>
              </a:ext>
            </a:extLst>
          </p:cNvPr>
          <p:cNvGrpSpPr/>
          <p:nvPr/>
        </p:nvGrpSpPr>
        <p:grpSpPr>
          <a:xfrm>
            <a:off x="5391442" y="2747684"/>
            <a:ext cx="5140666" cy="1362632"/>
            <a:chOff x="1618758" y="2747684"/>
            <a:chExt cx="5140666" cy="13626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5BB046-74A8-A849-A8A1-34DD2EF678F8}"/>
                </a:ext>
              </a:extLst>
            </p:cNvPr>
            <p:cNvSpPr/>
            <p:nvPr/>
          </p:nvSpPr>
          <p:spPr>
            <a:xfrm>
              <a:off x="1618758" y="2747684"/>
              <a:ext cx="5140666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6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OBRIGADO</a:t>
              </a:r>
              <a:endParaRPr lang="en-US" sz="6600" b="1" dirty="0">
                <a:gradFill>
                  <a:gsLst>
                    <a:gs pos="0">
                      <a:srgbClr val="00C4FF">
                        <a:alpha val="94000"/>
                      </a:srgbClr>
                    </a:gs>
                    <a:gs pos="100000">
                      <a:srgbClr val="57FFE3">
                        <a:lumMod val="85000"/>
                        <a:lumOff val="15000"/>
                      </a:srgbClr>
                    </a:gs>
                  </a:gsLst>
                  <a:lin ang="15000000" scaled="0"/>
                </a:gra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5EB1C0-D3E8-4242-B0C9-3B221807263C}"/>
                </a:ext>
              </a:extLst>
            </p:cNvPr>
            <p:cNvSpPr/>
            <p:nvPr/>
          </p:nvSpPr>
          <p:spPr>
            <a:xfrm>
              <a:off x="3539717" y="3710206"/>
              <a:ext cx="31214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spc="1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PELA SUA ATENÇÃO</a:t>
              </a:r>
            </a:p>
          </p:txBody>
        </p:sp>
      </p:grp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3ACBC56-1AD2-F16E-188E-17C2ABFF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4519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D3CA421C-1F06-42AF-9382-4DC1EDE431A9}"/>
</file>

<file path=customXml/itemProps2.xml><?xml version="1.0" encoding="utf-8"?>
<ds:datastoreItem xmlns:ds="http://schemas.openxmlformats.org/officeDocument/2006/customXml" ds:itemID="{864A8B6B-C4B2-4EC2-A7F9-5BB65FF12C2A}"/>
</file>

<file path=customXml/itemProps3.xml><?xml version="1.0" encoding="utf-8"?>
<ds:datastoreItem xmlns:ds="http://schemas.openxmlformats.org/officeDocument/2006/customXml" ds:itemID="{5966F877-3F25-4DD9-A3FD-42BADB070D37}"/>
</file>

<file path=docMetadata/LabelInfo.xml><?xml version="1.0" encoding="utf-8"?>
<clbl:labelList xmlns:clbl="http://schemas.microsoft.com/office/2020/mipLabelMetadata">
  <clbl:label id="{c632428a-d21a-4e8a-8f6d-703bd1f18d65}" enabled="1" method="Privileged" siteId="{bd3d8f22-e492-46a1-bfce-0ef9a284415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4160</TotalTime>
  <Words>1979</Words>
  <Application>Microsoft Office PowerPoint</Application>
  <PresentationFormat>Widescreen</PresentationFormat>
  <Paragraphs>213</Paragraphs>
  <Slides>32</Slides>
  <Notes>11</Notes>
  <HiddenSlides>0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32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Cambria Math</vt:lpstr>
      <vt:lpstr>Lato</vt:lpstr>
      <vt:lpstr>Poppins</vt:lpstr>
      <vt:lpstr>Poppins Medium</vt:lpstr>
      <vt:lpstr>Poppins SemiBold</vt:lpstr>
      <vt:lpstr>Symbol</vt:lpstr>
      <vt:lpstr>Wingdings</vt:lpstr>
      <vt:lpstr>Office Theme</vt:lpstr>
      <vt:lpstr>Spreadsheet</vt:lpstr>
      <vt:lpstr>Graph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Swandi</dc:creator>
  <cp:lastModifiedBy>Isaac Monteiro do Nascimento</cp:lastModifiedBy>
  <cp:revision>100</cp:revision>
  <dcterms:created xsi:type="dcterms:W3CDTF">2020-10-15T00:10:07Z</dcterms:created>
  <dcterms:modified xsi:type="dcterms:W3CDTF">2026-04-29T01:05:44Z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AFFC69A9-5425-4172-A865-A7C4DE645EAA</vt:lpwstr>
  </property>
  <property fmtid="{D5CDD505-2E9C-101B-9397-08002B2CF9AE}" pid="3" name="ArticulatePath">
    <vt:lpwstr>Power Proposal - PowerPoint</vt:lpwstr>
  </property>
  <property fmtid="{D5CDD505-2E9C-101B-9397-08002B2CF9AE}" pid="4" name="ContentTypeId">
    <vt:lpwstr>0x0101000A66A7F107A78542809C04863AAF6904</vt:lpwstr>
  </property>
</Properties>
</file>