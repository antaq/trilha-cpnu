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9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11.xml" ContentType="application/vnd.openxmlformats-officedocument.presentationml.tags+xml"/>
  <Override PartName="/ppt/tags/tag13.xml" ContentType="application/vnd.openxmlformats-officedocument.presentationml.tags+xml"/>
  <Override PartName="/ppt/tags/tag12.xml" ContentType="application/vnd.openxmlformats-officedocument.presentationml.tags+xml"/>
  <Override PartName="/ppt/tags/tag14.xml" ContentType="application/vnd.openxmlformats-officedocument.presentationml.tags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10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ppt/tags/tag8.xml" ContentType="application/vnd.openxmlformats-officedocument.presentationml.tags+xml"/>
  <Override PartName="/docProps/app.xml" ContentType="application/vnd.openxmlformats-officedocument.extended-properties+xml"/>
  <Override PartName="/ppt/tags/tag7.xml" ContentType="application/vnd.openxmlformats-officedocument.presentationml.tags+xml"/>
  <Override PartName="/ppt/tags/tag6.xml" ContentType="application/vnd.openxmlformats-officedocument.presentationml.tag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tags/tag15.xml" ContentType="application/vnd.openxmlformats-officedocument.presentationml.tags+xml"/>
  <Override PartName="/ppt/tags/tag5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03" r:id="rId2"/>
    <p:sldId id="301" r:id="rId3"/>
    <p:sldId id="302" r:id="rId4"/>
    <p:sldId id="256" r:id="rId5"/>
    <p:sldId id="258" r:id="rId6"/>
    <p:sldId id="259" r:id="rId7"/>
    <p:sldId id="260" r:id="rId8"/>
    <p:sldId id="261" r:id="rId9"/>
    <p:sldId id="292" r:id="rId10"/>
    <p:sldId id="293" r:id="rId11"/>
    <p:sldId id="294" r:id="rId12"/>
    <p:sldId id="295" r:id="rId13"/>
    <p:sldId id="262" r:id="rId14"/>
    <p:sldId id="296" r:id="rId15"/>
    <p:sldId id="297" r:id="rId16"/>
    <p:sldId id="266" r:id="rId17"/>
    <p:sldId id="298" r:id="rId18"/>
    <p:sldId id="299" r:id="rId19"/>
    <p:sldId id="300" r:id="rId20"/>
    <p:sldId id="291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B69"/>
    <a:srgbClr val="203864"/>
    <a:srgbClr val="074462"/>
    <a:srgbClr val="2B426C"/>
    <a:srgbClr val="57FFE3"/>
    <a:srgbClr val="00C4FF"/>
    <a:srgbClr val="15FFD8"/>
    <a:srgbClr val="20D5FE"/>
    <a:srgbClr val="54B9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97" autoAdjust="0"/>
    <p:restoredTop sz="96327" autoAdjust="0"/>
  </p:normalViewPr>
  <p:slideViewPr>
    <p:cSldViewPr snapToGrid="0" snapToObjects="1">
      <p:cViewPr varScale="1">
        <p:scale>
          <a:sx n="70" d="100"/>
          <a:sy n="70" d="100"/>
        </p:scale>
        <p:origin x="60" y="894"/>
      </p:cViewPr>
      <p:guideLst>
        <p:guide pos="3840"/>
        <p:guide orient="horz"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C72F34-0303-4A80-86C6-5A0B362578C0}" type="doc">
      <dgm:prSet loTypeId="urn:microsoft.com/office/officeart/2005/8/layout/h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639FD0E-D0B3-4601-8D37-565E07079B04}">
      <dgm:prSet phldrT="[Text]" phldr="0" custT="1"/>
      <dgm:spPr/>
      <dgm:t>
        <a:bodyPr/>
        <a:lstStyle/>
        <a:p>
          <a:r>
            <a:rPr lang="pt-BR" sz="1400" dirty="0">
              <a:latin typeface="Lato "/>
            </a:rPr>
            <a:t>Participação social</a:t>
          </a:r>
        </a:p>
      </dgm:t>
    </dgm:pt>
    <dgm:pt modelId="{748D2598-8D3E-4C8F-AFD3-B8ECF541D1E9}" type="parTrans" cxnId="{F3488464-5B94-428B-B2F3-FD56AAA29630}">
      <dgm:prSet/>
      <dgm:spPr/>
      <dgm:t>
        <a:bodyPr/>
        <a:lstStyle/>
        <a:p>
          <a:endParaRPr lang="pt-BR"/>
        </a:p>
      </dgm:t>
    </dgm:pt>
    <dgm:pt modelId="{BED153FC-CDBB-4B08-BD8E-D57E94C6870E}" type="sibTrans" cxnId="{F3488464-5B94-428B-B2F3-FD56AAA29630}">
      <dgm:prSet/>
      <dgm:spPr/>
      <dgm:t>
        <a:bodyPr/>
        <a:lstStyle/>
        <a:p>
          <a:endParaRPr lang="pt-BR"/>
        </a:p>
      </dgm:t>
    </dgm:pt>
    <dgm:pt modelId="{503A622E-E7A5-4C69-9FFA-176441014689}">
      <dgm:prSet phldrT="[Text]" phldr="0" custT="1"/>
      <dgm:spPr/>
      <dgm:t>
        <a:bodyPr/>
        <a:lstStyle/>
        <a:p>
          <a:r>
            <a:rPr lang="pt-BR" sz="1200" dirty="0">
              <a:latin typeface="Lato "/>
            </a:rPr>
            <a:t>Conceito amplo;</a:t>
          </a:r>
        </a:p>
      </dgm:t>
    </dgm:pt>
    <dgm:pt modelId="{E3F65422-5260-4EFB-82B8-F93222F6AA3F}" type="parTrans" cxnId="{A42EF671-8B0F-45AF-AD9B-287199AA32C3}">
      <dgm:prSet/>
      <dgm:spPr/>
      <dgm:t>
        <a:bodyPr/>
        <a:lstStyle/>
        <a:p>
          <a:endParaRPr lang="pt-BR"/>
        </a:p>
      </dgm:t>
    </dgm:pt>
    <dgm:pt modelId="{05D1ABEA-F2B4-4089-96DB-19AE5C6B0869}" type="sibTrans" cxnId="{A42EF671-8B0F-45AF-AD9B-287199AA32C3}">
      <dgm:prSet/>
      <dgm:spPr/>
      <dgm:t>
        <a:bodyPr/>
        <a:lstStyle/>
        <a:p>
          <a:endParaRPr lang="pt-BR"/>
        </a:p>
      </dgm:t>
    </dgm:pt>
    <dgm:pt modelId="{193454B0-BB4F-4E6E-939B-715A45040E1C}">
      <dgm:prSet phldrT="[Text]" phldr="0" custT="1"/>
      <dgm:spPr/>
      <dgm:t>
        <a:bodyPr/>
        <a:lstStyle/>
        <a:p>
          <a:r>
            <a:rPr lang="pt-BR" sz="1400" dirty="0">
              <a:latin typeface="Lato "/>
            </a:rPr>
            <a:t>Consulta Pública</a:t>
          </a:r>
        </a:p>
      </dgm:t>
    </dgm:pt>
    <dgm:pt modelId="{233484B3-E21D-4AC7-9ABA-D4B02587071B}" type="parTrans" cxnId="{9C8D903F-3220-4D87-ABA6-D20694277FE3}">
      <dgm:prSet/>
      <dgm:spPr/>
      <dgm:t>
        <a:bodyPr/>
        <a:lstStyle/>
        <a:p>
          <a:endParaRPr lang="pt-BR"/>
        </a:p>
      </dgm:t>
    </dgm:pt>
    <dgm:pt modelId="{29EFFB70-A697-480F-88B6-AE75E2214052}" type="sibTrans" cxnId="{9C8D903F-3220-4D87-ABA6-D20694277FE3}">
      <dgm:prSet/>
      <dgm:spPr/>
      <dgm:t>
        <a:bodyPr/>
        <a:lstStyle/>
        <a:p>
          <a:endParaRPr lang="pt-BR"/>
        </a:p>
      </dgm:t>
    </dgm:pt>
    <dgm:pt modelId="{2FEE59B5-A5BD-42D9-AA3A-0A0635C47932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sz="1200" dirty="0">
              <a:latin typeface="Lato "/>
            </a:rPr>
            <a:t>Receber contribuições escritas sobre minuta de ato normativo;</a:t>
          </a:r>
        </a:p>
      </dgm:t>
    </dgm:pt>
    <dgm:pt modelId="{FBE994BC-409D-4705-9A4C-B31AED781CFB}" type="parTrans" cxnId="{533E1B95-1C5D-4321-B1FC-08837F072C00}">
      <dgm:prSet/>
      <dgm:spPr/>
      <dgm:t>
        <a:bodyPr/>
        <a:lstStyle/>
        <a:p>
          <a:endParaRPr lang="pt-BR"/>
        </a:p>
      </dgm:t>
    </dgm:pt>
    <dgm:pt modelId="{BE7347C3-1ED8-49EB-A798-612E673F849E}" type="sibTrans" cxnId="{533E1B95-1C5D-4321-B1FC-08837F072C00}">
      <dgm:prSet/>
      <dgm:spPr/>
      <dgm:t>
        <a:bodyPr/>
        <a:lstStyle/>
        <a:p>
          <a:endParaRPr lang="pt-BR"/>
        </a:p>
      </dgm:t>
    </dgm:pt>
    <dgm:pt modelId="{4A0E7E6B-2C9A-4DBC-8F87-5A770C5183A5}">
      <dgm:prSet phldrT="[Text]" phldr="0" custT="1"/>
      <dgm:spPr/>
      <dgm:t>
        <a:bodyPr/>
        <a:lstStyle/>
        <a:p>
          <a:r>
            <a:rPr lang="pt-BR" sz="1400" dirty="0">
              <a:latin typeface="Lato "/>
            </a:rPr>
            <a:t>Audiência Pública</a:t>
          </a:r>
        </a:p>
      </dgm:t>
    </dgm:pt>
    <dgm:pt modelId="{52869799-6B2F-4628-B6F2-D2CE67FBD36B}" type="parTrans" cxnId="{6CBB86E3-B131-4647-BDF8-48099851C42E}">
      <dgm:prSet/>
      <dgm:spPr/>
      <dgm:t>
        <a:bodyPr/>
        <a:lstStyle/>
        <a:p>
          <a:endParaRPr lang="pt-BR"/>
        </a:p>
      </dgm:t>
    </dgm:pt>
    <dgm:pt modelId="{948F4CE0-E46C-4766-8485-A3AD474F95B1}" type="sibTrans" cxnId="{6CBB86E3-B131-4647-BDF8-48099851C42E}">
      <dgm:prSet/>
      <dgm:spPr/>
      <dgm:t>
        <a:bodyPr/>
        <a:lstStyle/>
        <a:p>
          <a:endParaRPr lang="pt-BR"/>
        </a:p>
      </dgm:t>
    </dgm:pt>
    <dgm:pt modelId="{5BF18052-1854-498C-BA39-42B834897747}">
      <dgm:prSet phldrT="[Text]" phldr="0" custT="1"/>
      <dgm:spPr/>
      <dgm:t>
        <a:bodyPr/>
        <a:lstStyle/>
        <a:p>
          <a:r>
            <a:rPr lang="pt-BR" sz="1200" dirty="0">
              <a:latin typeface="Lato "/>
            </a:rPr>
            <a:t>Debater publicamente tema ou proposta normativa;</a:t>
          </a:r>
        </a:p>
      </dgm:t>
    </dgm:pt>
    <dgm:pt modelId="{510F4B62-7FE4-41E1-ADD6-DC24447D0EAE}" type="parTrans" cxnId="{1B148F4A-34B0-4C4E-9BFC-68391A056D0F}">
      <dgm:prSet/>
      <dgm:spPr/>
      <dgm:t>
        <a:bodyPr/>
        <a:lstStyle/>
        <a:p>
          <a:endParaRPr lang="pt-BR"/>
        </a:p>
      </dgm:t>
    </dgm:pt>
    <dgm:pt modelId="{92E66ED8-8932-49FD-ACC3-CC7AE4AC8DA5}" type="sibTrans" cxnId="{1B148F4A-34B0-4C4E-9BFC-68391A056D0F}">
      <dgm:prSet/>
      <dgm:spPr/>
      <dgm:t>
        <a:bodyPr/>
        <a:lstStyle/>
        <a:p>
          <a:endParaRPr lang="pt-BR"/>
        </a:p>
      </dgm:t>
    </dgm:pt>
    <dgm:pt modelId="{62F7B982-ABFD-4868-99CA-F41397AFD1BA}">
      <dgm:prSet phldrT="[Text]" phldr="0" custT="1"/>
      <dgm:spPr/>
      <dgm:t>
        <a:bodyPr/>
        <a:lstStyle/>
        <a:p>
          <a:r>
            <a:rPr lang="pt-BR" sz="1200" dirty="0">
              <a:latin typeface="Lato "/>
            </a:rPr>
            <a:t>Engloba todos os mecanismos de interação com a sociedade;</a:t>
          </a:r>
        </a:p>
      </dgm:t>
    </dgm:pt>
    <dgm:pt modelId="{8D13ABF4-2F74-469E-A505-F906AB3978DC}" type="parTrans" cxnId="{C3D89BC2-EA12-4ACA-AAF9-CCA7314D0225}">
      <dgm:prSet/>
      <dgm:spPr/>
      <dgm:t>
        <a:bodyPr/>
        <a:lstStyle/>
        <a:p>
          <a:endParaRPr lang="pt-BR"/>
        </a:p>
      </dgm:t>
    </dgm:pt>
    <dgm:pt modelId="{ACD1DD9E-E7CC-44DB-967F-540BFF934164}" type="sibTrans" cxnId="{C3D89BC2-EA12-4ACA-AAF9-CCA7314D0225}">
      <dgm:prSet/>
      <dgm:spPr/>
      <dgm:t>
        <a:bodyPr/>
        <a:lstStyle/>
        <a:p>
          <a:endParaRPr lang="pt-BR"/>
        </a:p>
      </dgm:t>
    </dgm:pt>
    <dgm:pt modelId="{6F2AC562-2342-4FDB-B593-CF49E584BE2F}">
      <dgm:prSet phldrT="[Text]" phldr="0" custT="1"/>
      <dgm:spPr/>
      <dgm:t>
        <a:bodyPr/>
        <a:lstStyle/>
        <a:p>
          <a:r>
            <a:rPr lang="pt-BR" sz="1200" dirty="0">
              <a:latin typeface="Lato "/>
            </a:rPr>
            <a:t>Pode ocorrer em diferentes fases do ciclo regulatório.</a:t>
          </a:r>
        </a:p>
      </dgm:t>
    </dgm:pt>
    <dgm:pt modelId="{7F141E60-B604-4213-A4AD-C32398C261C5}" type="parTrans" cxnId="{FDB75A9C-A5AC-446B-917E-3167AEB17873}">
      <dgm:prSet/>
      <dgm:spPr/>
      <dgm:t>
        <a:bodyPr/>
        <a:lstStyle/>
        <a:p>
          <a:endParaRPr lang="pt-BR"/>
        </a:p>
      </dgm:t>
    </dgm:pt>
    <dgm:pt modelId="{1D3B78F3-6CBB-4D31-8CD7-323D059059C5}" type="sibTrans" cxnId="{FDB75A9C-A5AC-446B-917E-3167AEB17873}">
      <dgm:prSet/>
      <dgm:spPr/>
      <dgm:t>
        <a:bodyPr/>
        <a:lstStyle/>
        <a:p>
          <a:endParaRPr lang="pt-BR"/>
        </a:p>
      </dgm:t>
    </dgm:pt>
    <dgm:pt modelId="{1195E84C-9981-41F7-A4BB-BB4BF603B1A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sz="1200" dirty="0">
              <a:latin typeface="Lato "/>
            </a:rPr>
            <a:t>Formal, com prazo e regras definidas;</a:t>
          </a:r>
        </a:p>
      </dgm:t>
    </dgm:pt>
    <dgm:pt modelId="{0769A235-4140-4C58-A651-87EB7223F35B}" type="parTrans" cxnId="{CF712D5A-AB84-46CF-A2F1-DB159FA41AFA}">
      <dgm:prSet/>
      <dgm:spPr/>
      <dgm:t>
        <a:bodyPr/>
        <a:lstStyle/>
        <a:p>
          <a:endParaRPr lang="pt-BR"/>
        </a:p>
      </dgm:t>
    </dgm:pt>
    <dgm:pt modelId="{A2D2B5AA-3BCA-480D-9E2E-7340DA235120}" type="sibTrans" cxnId="{CF712D5A-AB84-46CF-A2F1-DB159FA41AFA}">
      <dgm:prSet/>
      <dgm:spPr/>
      <dgm:t>
        <a:bodyPr/>
        <a:lstStyle/>
        <a:p>
          <a:endParaRPr lang="pt-BR"/>
        </a:p>
      </dgm:t>
    </dgm:pt>
    <dgm:pt modelId="{F3E529B5-4943-4AE1-B372-21AEF8BE6C1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sz="1200" dirty="0">
              <a:latin typeface="Lato "/>
            </a:rPr>
            <a:t>Não vincula a decisão final;</a:t>
          </a:r>
        </a:p>
      </dgm:t>
    </dgm:pt>
    <dgm:pt modelId="{08DCB056-C516-4EF4-AE33-E943F6FEEF18}" type="parTrans" cxnId="{6F6B19D3-A262-4C07-8612-05D4287AAE6D}">
      <dgm:prSet/>
      <dgm:spPr/>
      <dgm:t>
        <a:bodyPr/>
        <a:lstStyle/>
        <a:p>
          <a:endParaRPr lang="pt-BR"/>
        </a:p>
      </dgm:t>
    </dgm:pt>
    <dgm:pt modelId="{18C81A10-6F37-40E1-B279-2A417B42039D}" type="sibTrans" cxnId="{6F6B19D3-A262-4C07-8612-05D4287AAE6D}">
      <dgm:prSet/>
      <dgm:spPr/>
      <dgm:t>
        <a:bodyPr/>
        <a:lstStyle/>
        <a:p>
          <a:endParaRPr lang="pt-BR"/>
        </a:p>
      </dgm:t>
    </dgm:pt>
    <dgm:pt modelId="{BA7BB4D5-08A7-48DF-A9EA-0CC74A7FB8E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sz="1200" dirty="0">
              <a:latin typeface="Lato "/>
            </a:rPr>
            <a:t>Aperfeiçoar a proposta normativa.</a:t>
          </a:r>
        </a:p>
      </dgm:t>
    </dgm:pt>
    <dgm:pt modelId="{65D8D843-7E46-445A-82BC-A9885B85F3CC}" type="parTrans" cxnId="{D616B192-ED24-4027-AC29-FC3AD128A3B5}">
      <dgm:prSet/>
      <dgm:spPr/>
      <dgm:t>
        <a:bodyPr/>
        <a:lstStyle/>
        <a:p>
          <a:endParaRPr lang="pt-BR"/>
        </a:p>
      </dgm:t>
    </dgm:pt>
    <dgm:pt modelId="{5F473E63-6347-416E-8AAA-ABC8F81C97B5}" type="sibTrans" cxnId="{D616B192-ED24-4027-AC29-FC3AD128A3B5}">
      <dgm:prSet/>
      <dgm:spPr/>
      <dgm:t>
        <a:bodyPr/>
        <a:lstStyle/>
        <a:p>
          <a:endParaRPr lang="pt-BR"/>
        </a:p>
      </dgm:t>
    </dgm:pt>
    <dgm:pt modelId="{821ABD58-0127-4F7D-97DF-1976B9ADBBDC}">
      <dgm:prSet phldrT="[Text]" phldr="0" custT="1"/>
      <dgm:spPr/>
      <dgm:t>
        <a:bodyPr/>
        <a:lstStyle/>
        <a:p>
          <a:r>
            <a:rPr lang="pt-BR" sz="1200" dirty="0">
              <a:latin typeface="Lato "/>
            </a:rPr>
            <a:t>Oral;</a:t>
          </a:r>
        </a:p>
      </dgm:t>
    </dgm:pt>
    <dgm:pt modelId="{AE43A219-7727-4D5E-AEA5-2795A3E491DB}" type="parTrans" cxnId="{634815EA-C226-4B6E-B621-27E294BD538C}">
      <dgm:prSet/>
      <dgm:spPr/>
      <dgm:t>
        <a:bodyPr/>
        <a:lstStyle/>
        <a:p>
          <a:endParaRPr lang="pt-BR"/>
        </a:p>
      </dgm:t>
    </dgm:pt>
    <dgm:pt modelId="{C10F2F59-3916-4B6A-847D-66FADFCFCA18}" type="sibTrans" cxnId="{634815EA-C226-4B6E-B621-27E294BD538C}">
      <dgm:prSet/>
      <dgm:spPr/>
      <dgm:t>
        <a:bodyPr/>
        <a:lstStyle/>
        <a:p>
          <a:endParaRPr lang="pt-BR"/>
        </a:p>
      </dgm:t>
    </dgm:pt>
    <dgm:pt modelId="{D2E6F69E-9C9F-422E-B5B8-B91A742142AD}">
      <dgm:prSet phldrT="[Text]" phldr="0" custT="1"/>
      <dgm:spPr/>
      <dgm:t>
        <a:bodyPr/>
        <a:lstStyle/>
        <a:p>
          <a:r>
            <a:rPr lang="pt-BR" sz="1200" dirty="0">
              <a:latin typeface="Lato "/>
            </a:rPr>
            <a:t>Formal, com sessão pública;</a:t>
          </a:r>
        </a:p>
      </dgm:t>
    </dgm:pt>
    <dgm:pt modelId="{0D9A0009-71D1-4033-8B75-07B90DF681C8}" type="parTrans" cxnId="{F4C5D62E-6C76-4383-9304-80815C07D7A6}">
      <dgm:prSet/>
      <dgm:spPr/>
      <dgm:t>
        <a:bodyPr/>
        <a:lstStyle/>
        <a:p>
          <a:endParaRPr lang="pt-BR"/>
        </a:p>
      </dgm:t>
    </dgm:pt>
    <dgm:pt modelId="{21960ACF-6E44-41C3-A1D2-273C7F537A48}" type="sibTrans" cxnId="{F4C5D62E-6C76-4383-9304-80815C07D7A6}">
      <dgm:prSet/>
      <dgm:spPr/>
      <dgm:t>
        <a:bodyPr/>
        <a:lstStyle/>
        <a:p>
          <a:endParaRPr lang="pt-BR"/>
        </a:p>
      </dgm:t>
    </dgm:pt>
    <dgm:pt modelId="{7734F954-4AF2-43F2-9AB6-47D9EB762ACE}">
      <dgm:prSet phldrT="[Text]" phldr="0" custT="1"/>
      <dgm:spPr/>
      <dgm:t>
        <a:bodyPr/>
        <a:lstStyle/>
        <a:p>
          <a:r>
            <a:rPr lang="pt-BR" sz="1200" dirty="0">
              <a:latin typeface="Lato "/>
            </a:rPr>
            <a:t>Ampliar debate e transparência.</a:t>
          </a:r>
        </a:p>
      </dgm:t>
    </dgm:pt>
    <dgm:pt modelId="{318DBD66-1FDD-45B1-A386-E9574B4E66D6}" type="parTrans" cxnId="{2973647C-9E29-4C45-8637-745AEA20F50E}">
      <dgm:prSet/>
      <dgm:spPr/>
      <dgm:t>
        <a:bodyPr/>
        <a:lstStyle/>
        <a:p>
          <a:endParaRPr lang="pt-BR"/>
        </a:p>
      </dgm:t>
    </dgm:pt>
    <dgm:pt modelId="{8B14D5B2-58E2-4779-B812-9F607B807B66}" type="sibTrans" cxnId="{2973647C-9E29-4C45-8637-745AEA20F50E}">
      <dgm:prSet/>
      <dgm:spPr/>
      <dgm:t>
        <a:bodyPr/>
        <a:lstStyle/>
        <a:p>
          <a:endParaRPr lang="pt-BR"/>
        </a:p>
      </dgm:t>
    </dgm:pt>
    <dgm:pt modelId="{9F4F389A-2E03-4FA3-90A6-C142C326AA42}" type="pres">
      <dgm:prSet presAssocID="{5AC72F34-0303-4A80-86C6-5A0B362578C0}" presName="Name0" presStyleCnt="0">
        <dgm:presLayoutVars>
          <dgm:dir/>
          <dgm:animLvl val="lvl"/>
          <dgm:resizeHandles val="exact"/>
        </dgm:presLayoutVars>
      </dgm:prSet>
      <dgm:spPr/>
    </dgm:pt>
    <dgm:pt modelId="{61051C8F-C776-4768-98C3-290C17124D4F}" type="pres">
      <dgm:prSet presAssocID="{5639FD0E-D0B3-4601-8D37-565E07079B04}" presName="composite" presStyleCnt="0"/>
      <dgm:spPr/>
    </dgm:pt>
    <dgm:pt modelId="{0245EAF6-856A-4E3C-A455-3A6E06D628C7}" type="pres">
      <dgm:prSet presAssocID="{5639FD0E-D0B3-4601-8D37-565E07079B0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40107F7-2C8D-4398-B8E6-F0ED3C6FC145}" type="pres">
      <dgm:prSet presAssocID="{5639FD0E-D0B3-4601-8D37-565E07079B04}" presName="desTx" presStyleLbl="alignAccFollowNode1" presStyleIdx="0" presStyleCnt="3">
        <dgm:presLayoutVars>
          <dgm:bulletEnabled val="1"/>
        </dgm:presLayoutVars>
      </dgm:prSet>
      <dgm:spPr/>
    </dgm:pt>
    <dgm:pt modelId="{52B5B81B-3AE5-41D4-B60B-CC970DE0BA6D}" type="pres">
      <dgm:prSet presAssocID="{BED153FC-CDBB-4B08-BD8E-D57E94C6870E}" presName="space" presStyleCnt="0"/>
      <dgm:spPr/>
    </dgm:pt>
    <dgm:pt modelId="{FFC0AFBB-EE1E-4F02-A7D3-325ED6FBF51C}" type="pres">
      <dgm:prSet presAssocID="{193454B0-BB4F-4E6E-939B-715A45040E1C}" presName="composite" presStyleCnt="0"/>
      <dgm:spPr/>
    </dgm:pt>
    <dgm:pt modelId="{8094103A-DE7B-44B7-BF58-4B0376434FF6}" type="pres">
      <dgm:prSet presAssocID="{193454B0-BB4F-4E6E-939B-715A45040E1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F7BF815-995F-4595-B9F5-F114D3D7A5A1}" type="pres">
      <dgm:prSet presAssocID="{193454B0-BB4F-4E6E-939B-715A45040E1C}" presName="desTx" presStyleLbl="alignAccFollowNode1" presStyleIdx="1" presStyleCnt="3">
        <dgm:presLayoutVars>
          <dgm:bulletEnabled val="1"/>
        </dgm:presLayoutVars>
      </dgm:prSet>
      <dgm:spPr/>
    </dgm:pt>
    <dgm:pt modelId="{2D2A511E-71EE-47BB-BD5F-0B42D0BB4CFA}" type="pres">
      <dgm:prSet presAssocID="{29EFFB70-A697-480F-88B6-AE75E2214052}" presName="space" presStyleCnt="0"/>
      <dgm:spPr/>
    </dgm:pt>
    <dgm:pt modelId="{1B6896F2-AAB1-40BE-A66E-036CF26D81CA}" type="pres">
      <dgm:prSet presAssocID="{4A0E7E6B-2C9A-4DBC-8F87-5A770C5183A5}" presName="composite" presStyleCnt="0"/>
      <dgm:spPr/>
    </dgm:pt>
    <dgm:pt modelId="{8CB4EAB4-2677-4C87-9CB1-764077C57B14}" type="pres">
      <dgm:prSet presAssocID="{4A0E7E6B-2C9A-4DBC-8F87-5A770C5183A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60EB582-F698-4D51-A680-A3C9DA3369C9}" type="pres">
      <dgm:prSet presAssocID="{4A0E7E6B-2C9A-4DBC-8F87-5A770C5183A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B4E300E-CE3E-4CC2-9F4E-33695B281BF9}" type="presOf" srcId="{2FEE59B5-A5BD-42D9-AA3A-0A0635C47932}" destId="{AF7BF815-995F-4595-B9F5-F114D3D7A5A1}" srcOrd="0" destOrd="0" presId="urn:microsoft.com/office/officeart/2005/8/layout/hList1"/>
    <dgm:cxn modelId="{C9CDCA0E-0999-46F6-BBD4-015B4B616FAD}" type="presOf" srcId="{193454B0-BB4F-4E6E-939B-715A45040E1C}" destId="{8094103A-DE7B-44B7-BF58-4B0376434FF6}" srcOrd="0" destOrd="0" presId="urn:microsoft.com/office/officeart/2005/8/layout/hList1"/>
    <dgm:cxn modelId="{025F9C14-C3D8-4F22-894A-9C8D9A2F0271}" type="presOf" srcId="{5AC72F34-0303-4A80-86C6-5A0B362578C0}" destId="{9F4F389A-2E03-4FA3-90A6-C142C326AA42}" srcOrd="0" destOrd="0" presId="urn:microsoft.com/office/officeart/2005/8/layout/hList1"/>
    <dgm:cxn modelId="{A0046326-E375-4E66-9B48-77BBCFBEE1D0}" type="presOf" srcId="{D2E6F69E-9C9F-422E-B5B8-B91A742142AD}" destId="{260EB582-F698-4D51-A680-A3C9DA3369C9}" srcOrd="0" destOrd="2" presId="urn:microsoft.com/office/officeart/2005/8/layout/hList1"/>
    <dgm:cxn modelId="{F4C5D62E-6C76-4383-9304-80815C07D7A6}" srcId="{4A0E7E6B-2C9A-4DBC-8F87-5A770C5183A5}" destId="{D2E6F69E-9C9F-422E-B5B8-B91A742142AD}" srcOrd="2" destOrd="0" parTransId="{0D9A0009-71D1-4033-8B75-07B90DF681C8}" sibTransId="{21960ACF-6E44-41C3-A1D2-273C7F537A48}"/>
    <dgm:cxn modelId="{50E32A33-E741-4771-A6D0-5D2A2466CCC2}" type="presOf" srcId="{6F2AC562-2342-4FDB-B593-CF49E584BE2F}" destId="{E40107F7-2C8D-4398-B8E6-F0ED3C6FC145}" srcOrd="0" destOrd="2" presId="urn:microsoft.com/office/officeart/2005/8/layout/hList1"/>
    <dgm:cxn modelId="{9C8D903F-3220-4D87-ABA6-D20694277FE3}" srcId="{5AC72F34-0303-4A80-86C6-5A0B362578C0}" destId="{193454B0-BB4F-4E6E-939B-715A45040E1C}" srcOrd="1" destOrd="0" parTransId="{233484B3-E21D-4AC7-9ABA-D4B02587071B}" sibTransId="{29EFFB70-A697-480F-88B6-AE75E2214052}"/>
    <dgm:cxn modelId="{F3488464-5B94-428B-B2F3-FD56AAA29630}" srcId="{5AC72F34-0303-4A80-86C6-5A0B362578C0}" destId="{5639FD0E-D0B3-4601-8D37-565E07079B04}" srcOrd="0" destOrd="0" parTransId="{748D2598-8D3E-4C8F-AFD3-B8ECF541D1E9}" sibTransId="{BED153FC-CDBB-4B08-BD8E-D57E94C6870E}"/>
    <dgm:cxn modelId="{1B148F4A-34B0-4C4E-9BFC-68391A056D0F}" srcId="{4A0E7E6B-2C9A-4DBC-8F87-5A770C5183A5}" destId="{5BF18052-1854-498C-BA39-42B834897747}" srcOrd="0" destOrd="0" parTransId="{510F4B62-7FE4-41E1-ADD6-DC24447D0EAE}" sibTransId="{92E66ED8-8932-49FD-ACC3-CC7AE4AC8DA5}"/>
    <dgm:cxn modelId="{A42EF671-8B0F-45AF-AD9B-287199AA32C3}" srcId="{5639FD0E-D0B3-4601-8D37-565E07079B04}" destId="{503A622E-E7A5-4C69-9FFA-176441014689}" srcOrd="0" destOrd="0" parTransId="{E3F65422-5260-4EFB-82B8-F93222F6AA3F}" sibTransId="{05D1ABEA-F2B4-4089-96DB-19AE5C6B0869}"/>
    <dgm:cxn modelId="{C41A3F75-F45E-4DE8-803B-307A7364C228}" type="presOf" srcId="{821ABD58-0127-4F7D-97DF-1976B9ADBBDC}" destId="{260EB582-F698-4D51-A680-A3C9DA3369C9}" srcOrd="0" destOrd="1" presId="urn:microsoft.com/office/officeart/2005/8/layout/hList1"/>
    <dgm:cxn modelId="{CF712D5A-AB84-46CF-A2F1-DB159FA41AFA}" srcId="{193454B0-BB4F-4E6E-939B-715A45040E1C}" destId="{1195E84C-9981-41F7-A4BB-BB4BF603B1A4}" srcOrd="1" destOrd="0" parTransId="{0769A235-4140-4C58-A651-87EB7223F35B}" sibTransId="{A2D2B5AA-3BCA-480D-9E2E-7340DA235120}"/>
    <dgm:cxn modelId="{2973647C-9E29-4C45-8637-745AEA20F50E}" srcId="{4A0E7E6B-2C9A-4DBC-8F87-5A770C5183A5}" destId="{7734F954-4AF2-43F2-9AB6-47D9EB762ACE}" srcOrd="3" destOrd="0" parTransId="{318DBD66-1FDD-45B1-A386-E9574B4E66D6}" sibTransId="{8B14D5B2-58E2-4779-B812-9F607B807B66}"/>
    <dgm:cxn modelId="{D27FC084-5554-4D65-A841-67490D341876}" type="presOf" srcId="{503A622E-E7A5-4C69-9FFA-176441014689}" destId="{E40107F7-2C8D-4398-B8E6-F0ED3C6FC145}" srcOrd="0" destOrd="0" presId="urn:microsoft.com/office/officeart/2005/8/layout/hList1"/>
    <dgm:cxn modelId="{8B6AF890-21F4-4754-9B17-003AC406A192}" type="presOf" srcId="{5639FD0E-D0B3-4601-8D37-565E07079B04}" destId="{0245EAF6-856A-4E3C-A455-3A6E06D628C7}" srcOrd="0" destOrd="0" presId="urn:microsoft.com/office/officeart/2005/8/layout/hList1"/>
    <dgm:cxn modelId="{D616B192-ED24-4027-AC29-FC3AD128A3B5}" srcId="{193454B0-BB4F-4E6E-939B-715A45040E1C}" destId="{BA7BB4D5-08A7-48DF-A9EA-0CC74A7FB8E8}" srcOrd="3" destOrd="0" parTransId="{65D8D843-7E46-445A-82BC-A9885B85F3CC}" sibTransId="{5F473E63-6347-416E-8AAA-ABC8F81C97B5}"/>
    <dgm:cxn modelId="{533E1B95-1C5D-4321-B1FC-08837F072C00}" srcId="{193454B0-BB4F-4E6E-939B-715A45040E1C}" destId="{2FEE59B5-A5BD-42D9-AA3A-0A0635C47932}" srcOrd="0" destOrd="0" parTransId="{FBE994BC-409D-4705-9A4C-B31AED781CFB}" sibTransId="{BE7347C3-1ED8-49EB-A798-612E673F849E}"/>
    <dgm:cxn modelId="{FDB75A9C-A5AC-446B-917E-3167AEB17873}" srcId="{5639FD0E-D0B3-4601-8D37-565E07079B04}" destId="{6F2AC562-2342-4FDB-B593-CF49E584BE2F}" srcOrd="2" destOrd="0" parTransId="{7F141E60-B604-4213-A4AD-C32398C261C5}" sibTransId="{1D3B78F3-6CBB-4D31-8CD7-323D059059C5}"/>
    <dgm:cxn modelId="{9872899C-E1D7-417A-88BE-326EB4D1A786}" type="presOf" srcId="{BA7BB4D5-08A7-48DF-A9EA-0CC74A7FB8E8}" destId="{AF7BF815-995F-4595-B9F5-F114D3D7A5A1}" srcOrd="0" destOrd="3" presId="urn:microsoft.com/office/officeart/2005/8/layout/hList1"/>
    <dgm:cxn modelId="{D760DAA8-8286-4905-A837-79C50C1B40DD}" type="presOf" srcId="{4A0E7E6B-2C9A-4DBC-8F87-5A770C5183A5}" destId="{8CB4EAB4-2677-4C87-9CB1-764077C57B14}" srcOrd="0" destOrd="0" presId="urn:microsoft.com/office/officeart/2005/8/layout/hList1"/>
    <dgm:cxn modelId="{5B2B25AE-9F4E-4B84-8F79-A6CA6D83CB07}" type="presOf" srcId="{62F7B982-ABFD-4868-99CA-F41397AFD1BA}" destId="{E40107F7-2C8D-4398-B8E6-F0ED3C6FC145}" srcOrd="0" destOrd="1" presId="urn:microsoft.com/office/officeart/2005/8/layout/hList1"/>
    <dgm:cxn modelId="{C3D89BC2-EA12-4ACA-AAF9-CCA7314D0225}" srcId="{5639FD0E-D0B3-4601-8D37-565E07079B04}" destId="{62F7B982-ABFD-4868-99CA-F41397AFD1BA}" srcOrd="1" destOrd="0" parTransId="{8D13ABF4-2F74-469E-A505-F906AB3978DC}" sibTransId="{ACD1DD9E-E7CC-44DB-967F-540BFF934164}"/>
    <dgm:cxn modelId="{5D90B7D1-2A84-45DF-B807-D0E26A72F46A}" type="presOf" srcId="{1195E84C-9981-41F7-A4BB-BB4BF603B1A4}" destId="{AF7BF815-995F-4595-B9F5-F114D3D7A5A1}" srcOrd="0" destOrd="1" presId="urn:microsoft.com/office/officeart/2005/8/layout/hList1"/>
    <dgm:cxn modelId="{6F6B19D3-A262-4C07-8612-05D4287AAE6D}" srcId="{193454B0-BB4F-4E6E-939B-715A45040E1C}" destId="{F3E529B5-4943-4AE1-B372-21AEF8BE6C1C}" srcOrd="2" destOrd="0" parTransId="{08DCB056-C516-4EF4-AE33-E943F6FEEF18}" sibTransId="{18C81A10-6F37-40E1-B279-2A417B42039D}"/>
    <dgm:cxn modelId="{17B1F8E2-FBAD-419B-8436-74DB2D6B24C3}" type="presOf" srcId="{5BF18052-1854-498C-BA39-42B834897747}" destId="{260EB582-F698-4D51-A680-A3C9DA3369C9}" srcOrd="0" destOrd="0" presId="urn:microsoft.com/office/officeart/2005/8/layout/hList1"/>
    <dgm:cxn modelId="{6CBB86E3-B131-4647-BDF8-48099851C42E}" srcId="{5AC72F34-0303-4A80-86C6-5A0B362578C0}" destId="{4A0E7E6B-2C9A-4DBC-8F87-5A770C5183A5}" srcOrd="2" destOrd="0" parTransId="{52869799-6B2F-4628-B6F2-D2CE67FBD36B}" sibTransId="{948F4CE0-E46C-4766-8485-A3AD474F95B1}"/>
    <dgm:cxn modelId="{634815EA-C226-4B6E-B621-27E294BD538C}" srcId="{4A0E7E6B-2C9A-4DBC-8F87-5A770C5183A5}" destId="{821ABD58-0127-4F7D-97DF-1976B9ADBBDC}" srcOrd="1" destOrd="0" parTransId="{AE43A219-7727-4D5E-AEA5-2795A3E491DB}" sibTransId="{C10F2F59-3916-4B6A-847D-66FADFCFCA18}"/>
    <dgm:cxn modelId="{98B211F8-B76D-4279-B2CC-80DCD9E08EA8}" type="presOf" srcId="{7734F954-4AF2-43F2-9AB6-47D9EB762ACE}" destId="{260EB582-F698-4D51-A680-A3C9DA3369C9}" srcOrd="0" destOrd="3" presId="urn:microsoft.com/office/officeart/2005/8/layout/hList1"/>
    <dgm:cxn modelId="{167654FE-5A71-4490-93CB-91DBEC0C0380}" type="presOf" srcId="{F3E529B5-4943-4AE1-B372-21AEF8BE6C1C}" destId="{AF7BF815-995F-4595-B9F5-F114D3D7A5A1}" srcOrd="0" destOrd="2" presId="urn:microsoft.com/office/officeart/2005/8/layout/hList1"/>
    <dgm:cxn modelId="{04176A9F-CAB9-45EB-ACA4-FFFA7687CA5A}" type="presParOf" srcId="{9F4F389A-2E03-4FA3-90A6-C142C326AA42}" destId="{61051C8F-C776-4768-98C3-290C17124D4F}" srcOrd="0" destOrd="0" presId="urn:microsoft.com/office/officeart/2005/8/layout/hList1"/>
    <dgm:cxn modelId="{3BBA1516-FBE0-47F6-99EF-4312EE4463FA}" type="presParOf" srcId="{61051C8F-C776-4768-98C3-290C17124D4F}" destId="{0245EAF6-856A-4E3C-A455-3A6E06D628C7}" srcOrd="0" destOrd="0" presId="urn:microsoft.com/office/officeart/2005/8/layout/hList1"/>
    <dgm:cxn modelId="{BB1DCE88-9281-4160-97C3-A5E02E7FDBF5}" type="presParOf" srcId="{61051C8F-C776-4768-98C3-290C17124D4F}" destId="{E40107F7-2C8D-4398-B8E6-F0ED3C6FC145}" srcOrd="1" destOrd="0" presId="urn:microsoft.com/office/officeart/2005/8/layout/hList1"/>
    <dgm:cxn modelId="{7AE8A6A5-E53D-45F7-A23E-E176BA65870E}" type="presParOf" srcId="{9F4F389A-2E03-4FA3-90A6-C142C326AA42}" destId="{52B5B81B-3AE5-41D4-B60B-CC970DE0BA6D}" srcOrd="1" destOrd="0" presId="urn:microsoft.com/office/officeart/2005/8/layout/hList1"/>
    <dgm:cxn modelId="{7318530D-9C9A-4F48-B9D9-457CB18FE7B4}" type="presParOf" srcId="{9F4F389A-2E03-4FA3-90A6-C142C326AA42}" destId="{FFC0AFBB-EE1E-4F02-A7D3-325ED6FBF51C}" srcOrd="2" destOrd="0" presId="urn:microsoft.com/office/officeart/2005/8/layout/hList1"/>
    <dgm:cxn modelId="{468F16C5-E3EA-46C1-B893-B313072FAD9C}" type="presParOf" srcId="{FFC0AFBB-EE1E-4F02-A7D3-325ED6FBF51C}" destId="{8094103A-DE7B-44B7-BF58-4B0376434FF6}" srcOrd="0" destOrd="0" presId="urn:microsoft.com/office/officeart/2005/8/layout/hList1"/>
    <dgm:cxn modelId="{B2AAC822-12CB-4B2A-BD59-A236C303437F}" type="presParOf" srcId="{FFC0AFBB-EE1E-4F02-A7D3-325ED6FBF51C}" destId="{AF7BF815-995F-4595-B9F5-F114D3D7A5A1}" srcOrd="1" destOrd="0" presId="urn:microsoft.com/office/officeart/2005/8/layout/hList1"/>
    <dgm:cxn modelId="{D7CDB9C4-4655-4601-8827-0617EF01407A}" type="presParOf" srcId="{9F4F389A-2E03-4FA3-90A6-C142C326AA42}" destId="{2D2A511E-71EE-47BB-BD5F-0B42D0BB4CFA}" srcOrd="3" destOrd="0" presId="urn:microsoft.com/office/officeart/2005/8/layout/hList1"/>
    <dgm:cxn modelId="{4FBFE093-2C4E-4CC2-8908-F292B63E3BFC}" type="presParOf" srcId="{9F4F389A-2E03-4FA3-90A6-C142C326AA42}" destId="{1B6896F2-AAB1-40BE-A66E-036CF26D81CA}" srcOrd="4" destOrd="0" presId="urn:microsoft.com/office/officeart/2005/8/layout/hList1"/>
    <dgm:cxn modelId="{7605D75C-707A-4E40-A479-D7A1686D2B0F}" type="presParOf" srcId="{1B6896F2-AAB1-40BE-A66E-036CF26D81CA}" destId="{8CB4EAB4-2677-4C87-9CB1-764077C57B14}" srcOrd="0" destOrd="0" presId="urn:microsoft.com/office/officeart/2005/8/layout/hList1"/>
    <dgm:cxn modelId="{2CC7C55C-C901-4043-B8C1-D71FEE7BD7B7}" type="presParOf" srcId="{1B6896F2-AAB1-40BE-A66E-036CF26D81CA}" destId="{260EB582-F698-4D51-A680-A3C9DA3369C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5EAF6-856A-4E3C-A455-3A6E06D628C7}">
      <dsp:nvSpPr>
        <dsp:cNvPr id="0" name=""/>
        <dsp:cNvSpPr/>
      </dsp:nvSpPr>
      <dsp:spPr>
        <a:xfrm>
          <a:off x="2808" y="198"/>
          <a:ext cx="2737917" cy="720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Lato "/>
            </a:rPr>
            <a:t>Participação social</a:t>
          </a:r>
        </a:p>
      </dsp:txBody>
      <dsp:txXfrm>
        <a:off x="2808" y="198"/>
        <a:ext cx="2737917" cy="720000"/>
      </dsp:txXfrm>
    </dsp:sp>
    <dsp:sp modelId="{E40107F7-2C8D-4398-B8E6-F0ED3C6FC145}">
      <dsp:nvSpPr>
        <dsp:cNvPr id="0" name=""/>
        <dsp:cNvSpPr/>
      </dsp:nvSpPr>
      <dsp:spPr>
        <a:xfrm>
          <a:off x="2808" y="720198"/>
          <a:ext cx="2737917" cy="12352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>
              <a:latin typeface="Lato "/>
            </a:rPr>
            <a:t>Conceito amplo;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>
              <a:latin typeface="Lato "/>
            </a:rPr>
            <a:t>Engloba todos os mecanismos de interação com a sociedade;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>
              <a:latin typeface="Lato "/>
            </a:rPr>
            <a:t>Pode ocorrer em diferentes fases do ciclo regulatório.</a:t>
          </a:r>
        </a:p>
      </dsp:txBody>
      <dsp:txXfrm>
        <a:off x="2808" y="720198"/>
        <a:ext cx="2737917" cy="1235250"/>
      </dsp:txXfrm>
    </dsp:sp>
    <dsp:sp modelId="{8094103A-DE7B-44B7-BF58-4B0376434FF6}">
      <dsp:nvSpPr>
        <dsp:cNvPr id="0" name=""/>
        <dsp:cNvSpPr/>
      </dsp:nvSpPr>
      <dsp:spPr>
        <a:xfrm>
          <a:off x="3124033" y="198"/>
          <a:ext cx="2737917" cy="720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Lato "/>
            </a:rPr>
            <a:t>Consulta Pública</a:t>
          </a:r>
        </a:p>
      </dsp:txBody>
      <dsp:txXfrm>
        <a:off x="3124033" y="198"/>
        <a:ext cx="2737917" cy="720000"/>
      </dsp:txXfrm>
    </dsp:sp>
    <dsp:sp modelId="{AF7BF815-995F-4595-B9F5-F114D3D7A5A1}">
      <dsp:nvSpPr>
        <dsp:cNvPr id="0" name=""/>
        <dsp:cNvSpPr/>
      </dsp:nvSpPr>
      <dsp:spPr>
        <a:xfrm>
          <a:off x="3124033" y="720198"/>
          <a:ext cx="2737917" cy="12352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200" kern="1200" dirty="0">
              <a:latin typeface="Lato "/>
            </a:rPr>
            <a:t>Receber contribuições escritas sobre minuta de ato normativo;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200" kern="1200" dirty="0">
              <a:latin typeface="Lato "/>
            </a:rPr>
            <a:t>Formal, com prazo e regras definidas;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200" kern="1200" dirty="0">
              <a:latin typeface="Lato "/>
            </a:rPr>
            <a:t>Não vincula a decisão final;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200" kern="1200" dirty="0">
              <a:latin typeface="Lato "/>
            </a:rPr>
            <a:t>Aperfeiçoar a proposta normativa.</a:t>
          </a:r>
        </a:p>
      </dsp:txBody>
      <dsp:txXfrm>
        <a:off x="3124033" y="720198"/>
        <a:ext cx="2737917" cy="1235250"/>
      </dsp:txXfrm>
    </dsp:sp>
    <dsp:sp modelId="{8CB4EAB4-2677-4C87-9CB1-764077C57B14}">
      <dsp:nvSpPr>
        <dsp:cNvPr id="0" name=""/>
        <dsp:cNvSpPr/>
      </dsp:nvSpPr>
      <dsp:spPr>
        <a:xfrm>
          <a:off x="6245259" y="198"/>
          <a:ext cx="2737917" cy="720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Lato "/>
            </a:rPr>
            <a:t>Audiência Pública</a:t>
          </a:r>
        </a:p>
      </dsp:txBody>
      <dsp:txXfrm>
        <a:off x="6245259" y="198"/>
        <a:ext cx="2737917" cy="720000"/>
      </dsp:txXfrm>
    </dsp:sp>
    <dsp:sp modelId="{260EB582-F698-4D51-A680-A3C9DA3369C9}">
      <dsp:nvSpPr>
        <dsp:cNvPr id="0" name=""/>
        <dsp:cNvSpPr/>
      </dsp:nvSpPr>
      <dsp:spPr>
        <a:xfrm>
          <a:off x="6245259" y="720198"/>
          <a:ext cx="2737917" cy="12352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>
              <a:latin typeface="Lato "/>
            </a:rPr>
            <a:t>Debater publicamente tema ou proposta normativa;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>
              <a:latin typeface="Lato "/>
            </a:rPr>
            <a:t>Oral;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>
              <a:latin typeface="Lato "/>
            </a:rPr>
            <a:t>Formal, com sessão pública;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>
              <a:latin typeface="Lato "/>
            </a:rPr>
            <a:t>Ampliar debate e transparência.</a:t>
          </a:r>
        </a:p>
      </dsp:txBody>
      <dsp:txXfrm>
        <a:off x="6245259" y="720198"/>
        <a:ext cx="2737917" cy="1235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E6105-B565-6F48-9404-98C04E765FD6}" type="datetimeFigureOut">
              <a:t>11/06/2026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67A31-8C3A-FF45-B048-5855BF5387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4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12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7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23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0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62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4725F-5EE8-1E9F-ABB2-9632B856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B2B9F-0B38-02CE-8F7B-557D0356D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363B6-A015-56D9-0C6B-0E335DB32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A4E60-4BC9-FEE6-5128-F793F2193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51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46C4-A85D-EB95-6520-BDE5A889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313FA-69CA-BBA7-288B-D096E7B34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CCB0D-ADF4-E678-C96C-89DD8510E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3896A-0243-48D1-393B-4FEFA1906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95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0C3D-55EC-7939-5F77-473104EF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3AD92-8561-E659-B4E6-8C90C9FB9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BB386-5AF3-661D-CDD6-53E9B52D8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DE142-F24F-3809-28CE-BF13EC741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91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29240-7CD2-078F-D8BE-CD8054215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424AD-C337-E8CF-4383-86F17F729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C001C-D49F-B53A-FC6C-219C84CD4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16F29-63E1-0B52-90C9-6ABAB8F32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89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68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C8611-9874-3E1C-5C6B-A0919AA5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2042E-0DE4-169A-AE6B-49D9402AF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71239-AC8C-CFA1-5A10-D1FD8108F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33089-CDF4-A466-3A99-883701946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30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894A-121C-054C-FEDC-2F954BC26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4ECA0-DE78-EF6C-F51A-A43BA3E69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EDB8D-DB61-51D1-2D70-6C10025E0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5E04F-F8FD-F66E-2966-FEC195C52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67A31-8C3A-FF45-B048-5855BF5387C9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58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19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4259C59-51B1-4FC4-8838-23798885C0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3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6BAAE69-B3F8-1445-8E5D-90FF0E8D9A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4606723" cy="6858000"/>
          </a:xfrm>
          <a:custGeom>
            <a:avLst/>
            <a:gdLst>
              <a:gd name="connsiteX0" fmla="*/ 0 w 4606723"/>
              <a:gd name="connsiteY0" fmla="*/ 0 h 6858000"/>
              <a:gd name="connsiteX1" fmla="*/ 4606723 w 4606723"/>
              <a:gd name="connsiteY1" fmla="*/ 0 h 6858000"/>
              <a:gd name="connsiteX2" fmla="*/ 4606723 w 4606723"/>
              <a:gd name="connsiteY2" fmla="*/ 6858000 h 6858000"/>
              <a:gd name="connsiteX3" fmla="*/ 0 w 46067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6723" h="6858000">
                <a:moveTo>
                  <a:pt x="0" y="0"/>
                </a:moveTo>
                <a:lnTo>
                  <a:pt x="4606723" y="0"/>
                </a:lnTo>
                <a:lnTo>
                  <a:pt x="4606723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F7117A9-7B2A-4F09-B6E1-28DE5BBE33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8" cy="4132162"/>
          </a:xfrm>
          <a:custGeom>
            <a:avLst/>
            <a:gdLst>
              <a:gd name="connsiteX0" fmla="*/ 0 w 12191998"/>
              <a:gd name="connsiteY0" fmla="*/ 0 h 4132162"/>
              <a:gd name="connsiteX1" fmla="*/ 12191998 w 12191998"/>
              <a:gd name="connsiteY1" fmla="*/ 0 h 4132162"/>
              <a:gd name="connsiteX2" fmla="*/ 12191998 w 12191998"/>
              <a:gd name="connsiteY2" fmla="*/ 4132162 h 4132162"/>
              <a:gd name="connsiteX3" fmla="*/ 0 w 12191998"/>
              <a:gd name="connsiteY3" fmla="*/ 4132162 h 413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4132162">
                <a:moveTo>
                  <a:pt x="0" y="0"/>
                </a:moveTo>
                <a:lnTo>
                  <a:pt x="12191998" y="0"/>
                </a:lnTo>
                <a:lnTo>
                  <a:pt x="12191998" y="4132162"/>
                </a:lnTo>
                <a:lnTo>
                  <a:pt x="0" y="41321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0FC6FC4-CB99-D448-9065-D91D2570C3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0"/>
            <a:ext cx="5188291" cy="4132162"/>
          </a:xfrm>
          <a:custGeom>
            <a:avLst/>
            <a:gdLst>
              <a:gd name="connsiteX0" fmla="*/ 0 w 5188291"/>
              <a:gd name="connsiteY0" fmla="*/ 0 h 4132162"/>
              <a:gd name="connsiteX1" fmla="*/ 5188291 w 5188291"/>
              <a:gd name="connsiteY1" fmla="*/ 0 h 4132162"/>
              <a:gd name="connsiteX2" fmla="*/ 5188291 w 5188291"/>
              <a:gd name="connsiteY2" fmla="*/ 4132162 h 4132162"/>
              <a:gd name="connsiteX3" fmla="*/ 0 w 5188291"/>
              <a:gd name="connsiteY3" fmla="*/ 4132162 h 413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8291" h="4132162">
                <a:moveTo>
                  <a:pt x="0" y="0"/>
                </a:moveTo>
                <a:lnTo>
                  <a:pt x="5188291" y="0"/>
                </a:lnTo>
                <a:lnTo>
                  <a:pt x="5188291" y="4132162"/>
                </a:lnTo>
                <a:lnTo>
                  <a:pt x="0" y="4132162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2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B65159-50BE-7443-82BB-6E451744F8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512" y="0"/>
            <a:ext cx="5748148" cy="6858000"/>
          </a:xfrm>
          <a:custGeom>
            <a:avLst/>
            <a:gdLst>
              <a:gd name="connsiteX0" fmla="*/ 0 w 5748148"/>
              <a:gd name="connsiteY0" fmla="*/ 0 h 6858000"/>
              <a:gd name="connsiteX1" fmla="*/ 921059 w 5748148"/>
              <a:gd name="connsiteY1" fmla="*/ 0 h 6858000"/>
              <a:gd name="connsiteX2" fmla="*/ 2294058 w 5748148"/>
              <a:gd name="connsiteY2" fmla="*/ 0 h 6858000"/>
              <a:gd name="connsiteX3" fmla="*/ 4508577 w 5748148"/>
              <a:gd name="connsiteY3" fmla="*/ 0 h 6858000"/>
              <a:gd name="connsiteX4" fmla="*/ 5748148 w 5748148"/>
              <a:gd name="connsiteY4" fmla="*/ 6858000 h 6858000"/>
              <a:gd name="connsiteX5" fmla="*/ 2294058 w 5748148"/>
              <a:gd name="connsiteY5" fmla="*/ 6858000 h 6858000"/>
              <a:gd name="connsiteX6" fmla="*/ 921059 w 5748148"/>
              <a:gd name="connsiteY6" fmla="*/ 6858000 h 6858000"/>
              <a:gd name="connsiteX7" fmla="*/ 0 w 5748148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48148" h="6858000">
                <a:moveTo>
                  <a:pt x="0" y="0"/>
                </a:moveTo>
                <a:lnTo>
                  <a:pt x="921059" y="0"/>
                </a:lnTo>
                <a:lnTo>
                  <a:pt x="2294058" y="0"/>
                </a:lnTo>
                <a:lnTo>
                  <a:pt x="4508577" y="0"/>
                </a:lnTo>
                <a:lnTo>
                  <a:pt x="5748148" y="6858000"/>
                </a:lnTo>
                <a:lnTo>
                  <a:pt x="2294058" y="6858000"/>
                </a:lnTo>
                <a:lnTo>
                  <a:pt x="92105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1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748304"/>
            <a:ext cx="12192000" cy="2100729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81112" y="0"/>
            <a:ext cx="1410888" cy="68490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7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F4B83B-E447-410B-B6DD-D3CA58D338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490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9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852EE8C-106F-7742-9DC8-3ABD3C47B3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777277"/>
            <a:ext cx="5346700" cy="5303446"/>
          </a:xfrm>
          <a:custGeom>
            <a:avLst/>
            <a:gdLst>
              <a:gd name="connsiteX0" fmla="*/ 0 w 5346700"/>
              <a:gd name="connsiteY0" fmla="*/ 0 h 5303446"/>
              <a:gd name="connsiteX1" fmla="*/ 5346700 w 5346700"/>
              <a:gd name="connsiteY1" fmla="*/ 0 h 5303446"/>
              <a:gd name="connsiteX2" fmla="*/ 5346700 w 5346700"/>
              <a:gd name="connsiteY2" fmla="*/ 5303446 h 5303446"/>
              <a:gd name="connsiteX3" fmla="*/ 0 w 5346700"/>
              <a:gd name="connsiteY3" fmla="*/ 5303446 h 53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6700" h="5303446">
                <a:moveTo>
                  <a:pt x="0" y="0"/>
                </a:moveTo>
                <a:lnTo>
                  <a:pt x="5346700" y="0"/>
                </a:lnTo>
                <a:lnTo>
                  <a:pt x="5346700" y="5303446"/>
                </a:lnTo>
                <a:lnTo>
                  <a:pt x="0" y="5303446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2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6A4C288-5171-4F3F-A9E6-0B29999BAA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0493" y="0"/>
            <a:ext cx="5435505" cy="3320941"/>
          </a:xfrm>
          <a:custGeom>
            <a:avLst/>
            <a:gdLst>
              <a:gd name="connsiteX0" fmla="*/ 0 w 5435505"/>
              <a:gd name="connsiteY0" fmla="*/ 0 h 3320941"/>
              <a:gd name="connsiteX1" fmla="*/ 5435505 w 5435505"/>
              <a:gd name="connsiteY1" fmla="*/ 0 h 3320941"/>
              <a:gd name="connsiteX2" fmla="*/ 5435505 w 5435505"/>
              <a:gd name="connsiteY2" fmla="*/ 3320941 h 3320941"/>
              <a:gd name="connsiteX3" fmla="*/ 0 w 5435505"/>
              <a:gd name="connsiteY3" fmla="*/ 3320941 h 332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505" h="3320941">
                <a:moveTo>
                  <a:pt x="0" y="0"/>
                </a:moveTo>
                <a:lnTo>
                  <a:pt x="5435505" y="0"/>
                </a:lnTo>
                <a:lnTo>
                  <a:pt x="5435505" y="3320941"/>
                </a:lnTo>
                <a:lnTo>
                  <a:pt x="0" y="332094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8B228E-9D95-4393-A746-2283228148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94" y="3320940"/>
            <a:ext cx="5435506" cy="3537059"/>
          </a:xfrm>
          <a:custGeom>
            <a:avLst/>
            <a:gdLst>
              <a:gd name="connsiteX0" fmla="*/ 0 w 5435506"/>
              <a:gd name="connsiteY0" fmla="*/ 0 h 3537059"/>
              <a:gd name="connsiteX1" fmla="*/ 5435506 w 5435506"/>
              <a:gd name="connsiteY1" fmla="*/ 0 h 3537059"/>
              <a:gd name="connsiteX2" fmla="*/ 5435506 w 5435506"/>
              <a:gd name="connsiteY2" fmla="*/ 3537059 h 3537059"/>
              <a:gd name="connsiteX3" fmla="*/ 0 w 5435506"/>
              <a:gd name="connsiteY3" fmla="*/ 3537059 h 3537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506" h="3537059">
                <a:moveTo>
                  <a:pt x="0" y="0"/>
                </a:moveTo>
                <a:lnTo>
                  <a:pt x="5435506" y="0"/>
                </a:lnTo>
                <a:lnTo>
                  <a:pt x="5435506" y="3537059"/>
                </a:lnTo>
                <a:lnTo>
                  <a:pt x="0" y="353705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14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2A0C23-107A-470E-AEA3-863F2C96E4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4323" y="1047972"/>
            <a:ext cx="4594646" cy="4594646"/>
          </a:xfrm>
          <a:custGeom>
            <a:avLst/>
            <a:gdLst>
              <a:gd name="connsiteX0" fmla="*/ 2297323 w 4594646"/>
              <a:gd name="connsiteY0" fmla="*/ 0 h 4594646"/>
              <a:gd name="connsiteX1" fmla="*/ 4594646 w 4594646"/>
              <a:gd name="connsiteY1" fmla="*/ 2297323 h 4594646"/>
              <a:gd name="connsiteX2" fmla="*/ 2297323 w 4594646"/>
              <a:gd name="connsiteY2" fmla="*/ 4594646 h 4594646"/>
              <a:gd name="connsiteX3" fmla="*/ 0 w 4594646"/>
              <a:gd name="connsiteY3" fmla="*/ 2297323 h 4594646"/>
              <a:gd name="connsiteX4" fmla="*/ 2297323 w 4594646"/>
              <a:gd name="connsiteY4" fmla="*/ 0 h 459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4646" h="4594646">
                <a:moveTo>
                  <a:pt x="2297323" y="0"/>
                </a:moveTo>
                <a:cubicBezTo>
                  <a:pt x="3566099" y="0"/>
                  <a:pt x="4594646" y="1028547"/>
                  <a:pt x="4594646" y="2297323"/>
                </a:cubicBezTo>
                <a:cubicBezTo>
                  <a:pt x="4594646" y="3566099"/>
                  <a:pt x="3566099" y="4594646"/>
                  <a:pt x="2297323" y="4594646"/>
                </a:cubicBezTo>
                <a:cubicBezTo>
                  <a:pt x="1028547" y="4594646"/>
                  <a:pt x="0" y="3566099"/>
                  <a:pt x="0" y="2297323"/>
                </a:cubicBezTo>
                <a:cubicBezTo>
                  <a:pt x="0" y="1028547"/>
                  <a:pt x="1028547" y="0"/>
                  <a:pt x="229732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70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A6D0CB-A5A1-D34C-920C-59D31BBF14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587" y="628650"/>
            <a:ext cx="5854095" cy="5600700"/>
          </a:xfrm>
          <a:custGeom>
            <a:avLst/>
            <a:gdLst>
              <a:gd name="connsiteX0" fmla="*/ 306526 w 5854095"/>
              <a:gd name="connsiteY0" fmla="*/ 0 h 5600700"/>
              <a:gd name="connsiteX1" fmla="*/ 5547569 w 5854095"/>
              <a:gd name="connsiteY1" fmla="*/ 0 h 5600700"/>
              <a:gd name="connsiteX2" fmla="*/ 5854095 w 5854095"/>
              <a:gd name="connsiteY2" fmla="*/ 306526 h 5600700"/>
              <a:gd name="connsiteX3" fmla="*/ 5854095 w 5854095"/>
              <a:gd name="connsiteY3" fmla="*/ 5294174 h 5600700"/>
              <a:gd name="connsiteX4" fmla="*/ 5547569 w 5854095"/>
              <a:gd name="connsiteY4" fmla="*/ 5600700 h 5600700"/>
              <a:gd name="connsiteX5" fmla="*/ 306526 w 5854095"/>
              <a:gd name="connsiteY5" fmla="*/ 5600700 h 5600700"/>
              <a:gd name="connsiteX6" fmla="*/ 0 w 5854095"/>
              <a:gd name="connsiteY6" fmla="*/ 5294174 h 5600700"/>
              <a:gd name="connsiteX7" fmla="*/ 0 w 5854095"/>
              <a:gd name="connsiteY7" fmla="*/ 306526 h 5600700"/>
              <a:gd name="connsiteX8" fmla="*/ 306526 w 5854095"/>
              <a:gd name="connsiteY8" fmla="*/ 0 h 560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54095" h="5600700">
                <a:moveTo>
                  <a:pt x="306526" y="0"/>
                </a:moveTo>
                <a:lnTo>
                  <a:pt x="5547569" y="0"/>
                </a:lnTo>
                <a:cubicBezTo>
                  <a:pt x="5716859" y="0"/>
                  <a:pt x="5854095" y="137236"/>
                  <a:pt x="5854095" y="306526"/>
                </a:cubicBezTo>
                <a:lnTo>
                  <a:pt x="5854095" y="5294174"/>
                </a:lnTo>
                <a:cubicBezTo>
                  <a:pt x="5854095" y="5463464"/>
                  <a:pt x="5716859" y="5600700"/>
                  <a:pt x="5547569" y="5600700"/>
                </a:cubicBezTo>
                <a:lnTo>
                  <a:pt x="306526" y="5600700"/>
                </a:lnTo>
                <a:cubicBezTo>
                  <a:pt x="137236" y="5600700"/>
                  <a:pt x="0" y="5463464"/>
                  <a:pt x="0" y="5294174"/>
                </a:cubicBezTo>
                <a:lnTo>
                  <a:pt x="0" y="306526"/>
                </a:lnTo>
                <a:cubicBezTo>
                  <a:pt x="0" y="137236"/>
                  <a:pt x="137236" y="0"/>
                  <a:pt x="30652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solidFill>
              <a:schemeClr val="bg1">
                <a:lumMod val="95000"/>
              </a:schemeClr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8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85570F4-D21A-4EF5-B526-BBA679E51E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31074" y="5070474"/>
            <a:ext cx="900296" cy="900296"/>
          </a:xfrm>
          <a:custGeom>
            <a:avLst/>
            <a:gdLst>
              <a:gd name="connsiteX0" fmla="*/ 450148 w 900296"/>
              <a:gd name="connsiteY0" fmla="*/ 0 h 900296"/>
              <a:gd name="connsiteX1" fmla="*/ 900296 w 900296"/>
              <a:gd name="connsiteY1" fmla="*/ 450148 h 900296"/>
              <a:gd name="connsiteX2" fmla="*/ 450148 w 900296"/>
              <a:gd name="connsiteY2" fmla="*/ 900296 h 900296"/>
              <a:gd name="connsiteX3" fmla="*/ 0 w 900296"/>
              <a:gd name="connsiteY3" fmla="*/ 450148 h 900296"/>
              <a:gd name="connsiteX4" fmla="*/ 450148 w 900296"/>
              <a:gd name="connsiteY4" fmla="*/ 0 h 90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296" h="900296">
                <a:moveTo>
                  <a:pt x="450148" y="0"/>
                </a:moveTo>
                <a:cubicBezTo>
                  <a:pt x="698758" y="0"/>
                  <a:pt x="900296" y="201538"/>
                  <a:pt x="900296" y="450148"/>
                </a:cubicBezTo>
                <a:cubicBezTo>
                  <a:pt x="900296" y="698758"/>
                  <a:pt x="698758" y="900296"/>
                  <a:pt x="450148" y="900296"/>
                </a:cubicBezTo>
                <a:cubicBezTo>
                  <a:pt x="201538" y="900296"/>
                  <a:pt x="0" y="698758"/>
                  <a:pt x="0" y="450148"/>
                </a:cubicBezTo>
                <a:cubicBezTo>
                  <a:pt x="0" y="201538"/>
                  <a:pt x="201538" y="0"/>
                  <a:pt x="45014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gradFill>
              <a:gsLst>
                <a:gs pos="0">
                  <a:srgbClr val="57FFE3"/>
                </a:gs>
                <a:gs pos="100000">
                  <a:srgbClr val="00C4FF"/>
                </a:gs>
              </a:gsLst>
              <a:lin ang="5400000" scaled="1"/>
            </a:gra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D83EBD6-4EA4-48DB-9B7E-FE2954652F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074" y="3629376"/>
            <a:ext cx="900296" cy="900296"/>
          </a:xfrm>
          <a:custGeom>
            <a:avLst/>
            <a:gdLst>
              <a:gd name="connsiteX0" fmla="*/ 450148 w 900296"/>
              <a:gd name="connsiteY0" fmla="*/ 0 h 900296"/>
              <a:gd name="connsiteX1" fmla="*/ 900296 w 900296"/>
              <a:gd name="connsiteY1" fmla="*/ 450148 h 900296"/>
              <a:gd name="connsiteX2" fmla="*/ 450148 w 900296"/>
              <a:gd name="connsiteY2" fmla="*/ 900296 h 900296"/>
              <a:gd name="connsiteX3" fmla="*/ 0 w 900296"/>
              <a:gd name="connsiteY3" fmla="*/ 450148 h 900296"/>
              <a:gd name="connsiteX4" fmla="*/ 450148 w 900296"/>
              <a:gd name="connsiteY4" fmla="*/ 0 h 90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296" h="900296">
                <a:moveTo>
                  <a:pt x="450148" y="0"/>
                </a:moveTo>
                <a:cubicBezTo>
                  <a:pt x="698758" y="0"/>
                  <a:pt x="900296" y="201538"/>
                  <a:pt x="900296" y="450148"/>
                </a:cubicBezTo>
                <a:cubicBezTo>
                  <a:pt x="900296" y="698758"/>
                  <a:pt x="698758" y="900296"/>
                  <a:pt x="450148" y="900296"/>
                </a:cubicBezTo>
                <a:cubicBezTo>
                  <a:pt x="201538" y="900296"/>
                  <a:pt x="0" y="698758"/>
                  <a:pt x="0" y="450148"/>
                </a:cubicBezTo>
                <a:cubicBezTo>
                  <a:pt x="0" y="201538"/>
                  <a:pt x="201538" y="0"/>
                  <a:pt x="45014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50800">
            <a:gradFill>
              <a:gsLst>
                <a:gs pos="0">
                  <a:srgbClr val="57FFE3"/>
                </a:gs>
                <a:gs pos="100000">
                  <a:srgbClr val="00C4FF"/>
                </a:gs>
              </a:gsLst>
              <a:lin ang="5400000" scaled="1"/>
            </a:gra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CB70A1-1091-4927-9807-527E1E2A5A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2379" y="1"/>
            <a:ext cx="5189620" cy="6857999"/>
          </a:xfrm>
          <a:custGeom>
            <a:avLst/>
            <a:gdLst>
              <a:gd name="connsiteX0" fmla="*/ 0 w 5189620"/>
              <a:gd name="connsiteY0" fmla="*/ 0 h 6857999"/>
              <a:gd name="connsiteX1" fmla="*/ 5189620 w 5189620"/>
              <a:gd name="connsiteY1" fmla="*/ 0 h 6857999"/>
              <a:gd name="connsiteX2" fmla="*/ 5189620 w 5189620"/>
              <a:gd name="connsiteY2" fmla="*/ 6857999 h 6857999"/>
              <a:gd name="connsiteX3" fmla="*/ 0 w 518962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620" h="6857999">
                <a:moveTo>
                  <a:pt x="0" y="0"/>
                </a:moveTo>
                <a:lnTo>
                  <a:pt x="5189620" y="0"/>
                </a:lnTo>
                <a:lnTo>
                  <a:pt x="5189620" y="6857999"/>
                </a:lnTo>
                <a:lnTo>
                  <a:pt x="0" y="6857999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0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AC26479-6E60-B349-A914-B77FAACCF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827089" cy="6858000"/>
          </a:xfrm>
          <a:custGeom>
            <a:avLst/>
            <a:gdLst>
              <a:gd name="connsiteX0" fmla="*/ 0 w 4827089"/>
              <a:gd name="connsiteY0" fmla="*/ 0 h 6858000"/>
              <a:gd name="connsiteX1" fmla="*/ 3587518 w 4827089"/>
              <a:gd name="connsiteY1" fmla="*/ 0 h 6858000"/>
              <a:gd name="connsiteX2" fmla="*/ 4827089 w 4827089"/>
              <a:gd name="connsiteY2" fmla="*/ 6858000 h 6858000"/>
              <a:gd name="connsiteX3" fmla="*/ 0 w 48270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089" h="6858000">
                <a:moveTo>
                  <a:pt x="0" y="0"/>
                </a:moveTo>
                <a:lnTo>
                  <a:pt x="3587518" y="0"/>
                </a:lnTo>
                <a:lnTo>
                  <a:pt x="482708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40EF20-9B22-40FC-AD1B-9FF0700ACD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169" y="1047972"/>
            <a:ext cx="4594646" cy="4594646"/>
          </a:xfrm>
          <a:custGeom>
            <a:avLst/>
            <a:gdLst>
              <a:gd name="connsiteX0" fmla="*/ 2297323 w 4594646"/>
              <a:gd name="connsiteY0" fmla="*/ 0 h 4594646"/>
              <a:gd name="connsiteX1" fmla="*/ 4594646 w 4594646"/>
              <a:gd name="connsiteY1" fmla="*/ 2297323 h 4594646"/>
              <a:gd name="connsiteX2" fmla="*/ 2297323 w 4594646"/>
              <a:gd name="connsiteY2" fmla="*/ 4594646 h 4594646"/>
              <a:gd name="connsiteX3" fmla="*/ 0 w 4594646"/>
              <a:gd name="connsiteY3" fmla="*/ 2297323 h 4594646"/>
              <a:gd name="connsiteX4" fmla="*/ 2297323 w 4594646"/>
              <a:gd name="connsiteY4" fmla="*/ 0 h 459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4646" h="4594646">
                <a:moveTo>
                  <a:pt x="2297323" y="0"/>
                </a:moveTo>
                <a:cubicBezTo>
                  <a:pt x="3566099" y="0"/>
                  <a:pt x="4594646" y="1028547"/>
                  <a:pt x="4594646" y="2297323"/>
                </a:cubicBezTo>
                <a:cubicBezTo>
                  <a:pt x="4594646" y="3566099"/>
                  <a:pt x="3566099" y="4594646"/>
                  <a:pt x="2297323" y="4594646"/>
                </a:cubicBezTo>
                <a:cubicBezTo>
                  <a:pt x="1028547" y="4594646"/>
                  <a:pt x="0" y="3566099"/>
                  <a:pt x="0" y="2297323"/>
                </a:cubicBezTo>
                <a:cubicBezTo>
                  <a:pt x="0" y="1028547"/>
                  <a:pt x="1028547" y="0"/>
                  <a:pt x="229732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44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8A14405-7D17-4DC1-8287-55E2AE678D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034927" cy="6853687"/>
          </a:xfrm>
          <a:custGeom>
            <a:avLst/>
            <a:gdLst>
              <a:gd name="connsiteX0" fmla="*/ 0 w 7034927"/>
              <a:gd name="connsiteY0" fmla="*/ 0 h 6853687"/>
              <a:gd name="connsiteX1" fmla="*/ 7034927 w 7034927"/>
              <a:gd name="connsiteY1" fmla="*/ 0 h 6853687"/>
              <a:gd name="connsiteX2" fmla="*/ 6110016 w 7034927"/>
              <a:gd name="connsiteY2" fmla="*/ 6853687 h 6853687"/>
              <a:gd name="connsiteX3" fmla="*/ 0 w 7034927"/>
              <a:gd name="connsiteY3" fmla="*/ 6853687 h 685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34927" h="6853687">
                <a:moveTo>
                  <a:pt x="0" y="0"/>
                </a:moveTo>
                <a:lnTo>
                  <a:pt x="7034927" y="0"/>
                </a:lnTo>
                <a:lnTo>
                  <a:pt x="6110016" y="6853687"/>
                </a:lnTo>
                <a:lnTo>
                  <a:pt x="0" y="685368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89128F8-3602-4DA7-B660-873EB8E50C7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52400" y="1176680"/>
            <a:ext cx="1990553" cy="1990553"/>
          </a:xfrm>
          <a:custGeom>
            <a:avLst/>
            <a:gdLst>
              <a:gd name="connsiteX0" fmla="*/ 331765 w 1990553"/>
              <a:gd name="connsiteY0" fmla="*/ 0 h 1990553"/>
              <a:gd name="connsiteX1" fmla="*/ 1658788 w 1990553"/>
              <a:gd name="connsiteY1" fmla="*/ 0 h 1990553"/>
              <a:gd name="connsiteX2" fmla="*/ 1990553 w 1990553"/>
              <a:gd name="connsiteY2" fmla="*/ 331765 h 1990553"/>
              <a:gd name="connsiteX3" fmla="*/ 1990553 w 1990553"/>
              <a:gd name="connsiteY3" fmla="*/ 1658788 h 1990553"/>
              <a:gd name="connsiteX4" fmla="*/ 1658788 w 1990553"/>
              <a:gd name="connsiteY4" fmla="*/ 1990553 h 1990553"/>
              <a:gd name="connsiteX5" fmla="*/ 331765 w 1990553"/>
              <a:gd name="connsiteY5" fmla="*/ 1990553 h 1990553"/>
              <a:gd name="connsiteX6" fmla="*/ 0 w 1990553"/>
              <a:gd name="connsiteY6" fmla="*/ 1658788 h 1990553"/>
              <a:gd name="connsiteX7" fmla="*/ 0 w 1990553"/>
              <a:gd name="connsiteY7" fmla="*/ 331765 h 1990553"/>
              <a:gd name="connsiteX8" fmla="*/ 331765 w 1990553"/>
              <a:gd name="connsiteY8" fmla="*/ 0 h 199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0553" h="1990553">
                <a:moveTo>
                  <a:pt x="331765" y="0"/>
                </a:moveTo>
                <a:lnTo>
                  <a:pt x="1658788" y="0"/>
                </a:lnTo>
                <a:cubicBezTo>
                  <a:pt x="1842017" y="0"/>
                  <a:pt x="1990553" y="148536"/>
                  <a:pt x="1990553" y="331765"/>
                </a:cubicBezTo>
                <a:lnTo>
                  <a:pt x="1990553" y="1658788"/>
                </a:lnTo>
                <a:cubicBezTo>
                  <a:pt x="1990553" y="1842017"/>
                  <a:pt x="1842017" y="1990553"/>
                  <a:pt x="1658788" y="1990553"/>
                </a:cubicBezTo>
                <a:lnTo>
                  <a:pt x="331765" y="1990553"/>
                </a:lnTo>
                <a:cubicBezTo>
                  <a:pt x="148536" y="1990553"/>
                  <a:pt x="0" y="1842017"/>
                  <a:pt x="0" y="1658788"/>
                </a:cubicBezTo>
                <a:lnTo>
                  <a:pt x="0" y="331765"/>
                </a:lnTo>
                <a:cubicBezTo>
                  <a:pt x="0" y="148536"/>
                  <a:pt x="148536" y="0"/>
                  <a:pt x="331765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2AB0AC4-1ED9-4DB3-996D-5356C9A921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2399" y="3684759"/>
            <a:ext cx="1990553" cy="1990553"/>
          </a:xfrm>
          <a:custGeom>
            <a:avLst/>
            <a:gdLst>
              <a:gd name="connsiteX0" fmla="*/ 331765 w 1990553"/>
              <a:gd name="connsiteY0" fmla="*/ 0 h 1990553"/>
              <a:gd name="connsiteX1" fmla="*/ 1658788 w 1990553"/>
              <a:gd name="connsiteY1" fmla="*/ 0 h 1990553"/>
              <a:gd name="connsiteX2" fmla="*/ 1990553 w 1990553"/>
              <a:gd name="connsiteY2" fmla="*/ 331765 h 1990553"/>
              <a:gd name="connsiteX3" fmla="*/ 1990553 w 1990553"/>
              <a:gd name="connsiteY3" fmla="*/ 1658788 h 1990553"/>
              <a:gd name="connsiteX4" fmla="*/ 1658788 w 1990553"/>
              <a:gd name="connsiteY4" fmla="*/ 1990553 h 1990553"/>
              <a:gd name="connsiteX5" fmla="*/ 331765 w 1990553"/>
              <a:gd name="connsiteY5" fmla="*/ 1990553 h 1990553"/>
              <a:gd name="connsiteX6" fmla="*/ 0 w 1990553"/>
              <a:gd name="connsiteY6" fmla="*/ 1658788 h 1990553"/>
              <a:gd name="connsiteX7" fmla="*/ 0 w 1990553"/>
              <a:gd name="connsiteY7" fmla="*/ 331765 h 1990553"/>
              <a:gd name="connsiteX8" fmla="*/ 331765 w 1990553"/>
              <a:gd name="connsiteY8" fmla="*/ 0 h 199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0553" h="1990553">
                <a:moveTo>
                  <a:pt x="331765" y="0"/>
                </a:moveTo>
                <a:lnTo>
                  <a:pt x="1658788" y="0"/>
                </a:lnTo>
                <a:cubicBezTo>
                  <a:pt x="1842017" y="0"/>
                  <a:pt x="1990553" y="148536"/>
                  <a:pt x="1990553" y="331765"/>
                </a:cubicBezTo>
                <a:lnTo>
                  <a:pt x="1990553" y="1658788"/>
                </a:lnTo>
                <a:cubicBezTo>
                  <a:pt x="1990553" y="1842017"/>
                  <a:pt x="1842017" y="1990553"/>
                  <a:pt x="1658788" y="1990553"/>
                </a:cubicBezTo>
                <a:lnTo>
                  <a:pt x="331765" y="1990553"/>
                </a:lnTo>
                <a:cubicBezTo>
                  <a:pt x="148536" y="1990553"/>
                  <a:pt x="0" y="1842017"/>
                  <a:pt x="0" y="1658788"/>
                </a:cubicBezTo>
                <a:lnTo>
                  <a:pt x="0" y="331765"/>
                </a:lnTo>
                <a:cubicBezTo>
                  <a:pt x="0" y="148536"/>
                  <a:pt x="148536" y="0"/>
                  <a:pt x="331765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72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6F4059-9BDD-4E09-94C2-8D55B3D222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1998" cy="3428999"/>
          </a:xfrm>
          <a:custGeom>
            <a:avLst/>
            <a:gdLst>
              <a:gd name="connsiteX0" fmla="*/ 0 w 12191998"/>
              <a:gd name="connsiteY0" fmla="*/ 0 h 4132161"/>
              <a:gd name="connsiteX1" fmla="*/ 12191998 w 12191998"/>
              <a:gd name="connsiteY1" fmla="*/ 0 h 4132161"/>
              <a:gd name="connsiteX2" fmla="*/ 12191998 w 12191998"/>
              <a:gd name="connsiteY2" fmla="*/ 4132161 h 4132161"/>
              <a:gd name="connsiteX3" fmla="*/ 0 w 12191998"/>
              <a:gd name="connsiteY3" fmla="*/ 4132161 h 4132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4132161">
                <a:moveTo>
                  <a:pt x="0" y="0"/>
                </a:moveTo>
                <a:lnTo>
                  <a:pt x="12191998" y="0"/>
                </a:lnTo>
                <a:lnTo>
                  <a:pt x="12191998" y="4132161"/>
                </a:lnTo>
                <a:lnTo>
                  <a:pt x="0" y="413216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B3A1DE-93E4-B34D-9279-6DCF022E77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18102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3168FEB-A068-2640-8681-04C21F864C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63360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19D5025-C6DC-2A45-A5AB-C45FE73F36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72844" y="2433723"/>
            <a:ext cx="2000744" cy="2000744"/>
          </a:xfrm>
          <a:custGeom>
            <a:avLst/>
            <a:gdLst>
              <a:gd name="connsiteX0" fmla="*/ 1080334 w 2160668"/>
              <a:gd name="connsiteY0" fmla="*/ 0 h 2160668"/>
              <a:gd name="connsiteX1" fmla="*/ 2160668 w 2160668"/>
              <a:gd name="connsiteY1" fmla="*/ 1080334 h 2160668"/>
              <a:gd name="connsiteX2" fmla="*/ 1080334 w 2160668"/>
              <a:gd name="connsiteY2" fmla="*/ 2160668 h 2160668"/>
              <a:gd name="connsiteX3" fmla="*/ 0 w 2160668"/>
              <a:gd name="connsiteY3" fmla="*/ 1080334 h 2160668"/>
              <a:gd name="connsiteX4" fmla="*/ 1080334 w 2160668"/>
              <a:gd name="connsiteY4" fmla="*/ 0 h 216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668" h="2160668">
                <a:moveTo>
                  <a:pt x="1080334" y="0"/>
                </a:moveTo>
                <a:cubicBezTo>
                  <a:pt x="1676986" y="0"/>
                  <a:pt x="2160668" y="483682"/>
                  <a:pt x="2160668" y="1080334"/>
                </a:cubicBezTo>
                <a:cubicBezTo>
                  <a:pt x="2160668" y="1676986"/>
                  <a:pt x="1676986" y="2160668"/>
                  <a:pt x="1080334" y="2160668"/>
                </a:cubicBezTo>
                <a:cubicBezTo>
                  <a:pt x="483682" y="2160668"/>
                  <a:pt x="0" y="1676986"/>
                  <a:pt x="0" y="1080334"/>
                </a:cubicBezTo>
                <a:cubicBezTo>
                  <a:pt x="0" y="483682"/>
                  <a:pt x="483682" y="0"/>
                  <a:pt x="108033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635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04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9AD8F01-45C5-4BF0-B0B0-93DD039441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5D01BC8-6C25-804D-B64D-547CAF68F5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33443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4C3873-D70D-7241-890F-7EC54BA4FE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41622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392DB8A-622C-FC45-9F73-A0ED47BDCD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5264" y="3539110"/>
            <a:ext cx="1547135" cy="1547134"/>
          </a:xfrm>
          <a:custGeom>
            <a:avLst/>
            <a:gdLst>
              <a:gd name="connsiteX0" fmla="*/ 257861 w 1547135"/>
              <a:gd name="connsiteY0" fmla="*/ 0 h 1547134"/>
              <a:gd name="connsiteX1" fmla="*/ 1289275 w 1547135"/>
              <a:gd name="connsiteY1" fmla="*/ 0 h 1547134"/>
              <a:gd name="connsiteX2" fmla="*/ 1547135 w 1547135"/>
              <a:gd name="connsiteY2" fmla="*/ 257861 h 1547134"/>
              <a:gd name="connsiteX3" fmla="*/ 1547135 w 1547135"/>
              <a:gd name="connsiteY3" fmla="*/ 1289274 h 1547134"/>
              <a:gd name="connsiteX4" fmla="*/ 1289275 w 1547135"/>
              <a:gd name="connsiteY4" fmla="*/ 1547134 h 1547134"/>
              <a:gd name="connsiteX5" fmla="*/ 257861 w 1547135"/>
              <a:gd name="connsiteY5" fmla="*/ 1547134 h 1547134"/>
              <a:gd name="connsiteX6" fmla="*/ 0 w 1547135"/>
              <a:gd name="connsiteY6" fmla="*/ 1289274 h 1547134"/>
              <a:gd name="connsiteX7" fmla="*/ 0 w 1547135"/>
              <a:gd name="connsiteY7" fmla="*/ 257861 h 1547134"/>
              <a:gd name="connsiteX8" fmla="*/ 257861 w 1547135"/>
              <a:gd name="connsiteY8" fmla="*/ 0 h 154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7135" h="1547134">
                <a:moveTo>
                  <a:pt x="257861" y="0"/>
                </a:moveTo>
                <a:lnTo>
                  <a:pt x="1289275" y="0"/>
                </a:lnTo>
                <a:cubicBezTo>
                  <a:pt x="1431687" y="0"/>
                  <a:pt x="1547135" y="115448"/>
                  <a:pt x="1547135" y="257861"/>
                </a:cubicBezTo>
                <a:lnTo>
                  <a:pt x="1547135" y="1289274"/>
                </a:lnTo>
                <a:cubicBezTo>
                  <a:pt x="1547135" y="1431686"/>
                  <a:pt x="1431687" y="1547134"/>
                  <a:pt x="1289275" y="1547134"/>
                </a:cubicBezTo>
                <a:lnTo>
                  <a:pt x="257861" y="1547134"/>
                </a:lnTo>
                <a:cubicBezTo>
                  <a:pt x="115448" y="1547134"/>
                  <a:pt x="0" y="1431686"/>
                  <a:pt x="0" y="1289274"/>
                </a:cubicBezTo>
                <a:lnTo>
                  <a:pt x="0" y="257861"/>
                </a:lnTo>
                <a:cubicBezTo>
                  <a:pt x="0" y="115448"/>
                  <a:pt x="115448" y="0"/>
                  <a:pt x="25786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87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9D5720D-E9A3-4F03-A355-69D7460EB9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0" y="0"/>
            <a:ext cx="6872288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30F51E-62ED-4D1F-9A57-8031C559C8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57074" y="0"/>
            <a:ext cx="7034927" cy="6853687"/>
          </a:xfrm>
          <a:custGeom>
            <a:avLst/>
            <a:gdLst>
              <a:gd name="connsiteX0" fmla="*/ 0 w 7034927"/>
              <a:gd name="connsiteY0" fmla="*/ 0 h 6853687"/>
              <a:gd name="connsiteX1" fmla="*/ 7034927 w 7034927"/>
              <a:gd name="connsiteY1" fmla="*/ 0 h 6853687"/>
              <a:gd name="connsiteX2" fmla="*/ 7034927 w 7034927"/>
              <a:gd name="connsiteY2" fmla="*/ 6853687 h 6853687"/>
              <a:gd name="connsiteX3" fmla="*/ 924911 w 7034927"/>
              <a:gd name="connsiteY3" fmla="*/ 6853687 h 685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34927" h="6853687">
                <a:moveTo>
                  <a:pt x="0" y="0"/>
                </a:moveTo>
                <a:lnTo>
                  <a:pt x="7034927" y="0"/>
                </a:lnTo>
                <a:lnTo>
                  <a:pt x="7034927" y="6853687"/>
                </a:lnTo>
                <a:lnTo>
                  <a:pt x="924911" y="685368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42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C37008D-5008-4AF5-93E7-5D80C02154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0049" y="824736"/>
            <a:ext cx="3887419" cy="3118950"/>
          </a:xfrm>
          <a:custGeom>
            <a:avLst/>
            <a:gdLst>
              <a:gd name="connsiteX0" fmla="*/ 519836 w 3887419"/>
              <a:gd name="connsiteY0" fmla="*/ 0 h 3118950"/>
              <a:gd name="connsiteX1" fmla="*/ 3367584 w 3887419"/>
              <a:gd name="connsiteY1" fmla="*/ 0 h 3118950"/>
              <a:gd name="connsiteX2" fmla="*/ 3887419 w 3887419"/>
              <a:gd name="connsiteY2" fmla="*/ 519836 h 3118950"/>
              <a:gd name="connsiteX3" fmla="*/ 3887419 w 3887419"/>
              <a:gd name="connsiteY3" fmla="*/ 2599115 h 3118950"/>
              <a:gd name="connsiteX4" fmla="*/ 3367584 w 3887419"/>
              <a:gd name="connsiteY4" fmla="*/ 3118950 h 3118950"/>
              <a:gd name="connsiteX5" fmla="*/ 519836 w 3887419"/>
              <a:gd name="connsiteY5" fmla="*/ 3118950 h 3118950"/>
              <a:gd name="connsiteX6" fmla="*/ 0 w 3887419"/>
              <a:gd name="connsiteY6" fmla="*/ 2599115 h 3118950"/>
              <a:gd name="connsiteX7" fmla="*/ 0 w 3887419"/>
              <a:gd name="connsiteY7" fmla="*/ 519836 h 3118950"/>
              <a:gd name="connsiteX8" fmla="*/ 519836 w 3887419"/>
              <a:gd name="connsiteY8" fmla="*/ 0 h 311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7419" h="3118950">
                <a:moveTo>
                  <a:pt x="519836" y="0"/>
                </a:moveTo>
                <a:lnTo>
                  <a:pt x="3367584" y="0"/>
                </a:lnTo>
                <a:cubicBezTo>
                  <a:pt x="3654681" y="0"/>
                  <a:pt x="3887419" y="232738"/>
                  <a:pt x="3887419" y="519836"/>
                </a:cubicBezTo>
                <a:lnTo>
                  <a:pt x="3887419" y="2599115"/>
                </a:lnTo>
                <a:cubicBezTo>
                  <a:pt x="3887419" y="2886212"/>
                  <a:pt x="3654681" y="3118950"/>
                  <a:pt x="3367584" y="3118950"/>
                </a:cubicBezTo>
                <a:lnTo>
                  <a:pt x="519836" y="3118950"/>
                </a:lnTo>
                <a:cubicBezTo>
                  <a:pt x="232738" y="3118950"/>
                  <a:pt x="0" y="2886212"/>
                  <a:pt x="0" y="2599115"/>
                </a:cubicBezTo>
                <a:lnTo>
                  <a:pt x="0" y="519836"/>
                </a:lnTo>
                <a:cubicBezTo>
                  <a:pt x="0" y="232738"/>
                  <a:pt x="232738" y="0"/>
                  <a:pt x="51983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FE28AE9-016A-4E73-BBFB-4E63358359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32645" y="2448054"/>
            <a:ext cx="2292525" cy="1839336"/>
          </a:xfrm>
          <a:custGeom>
            <a:avLst/>
            <a:gdLst>
              <a:gd name="connsiteX0" fmla="*/ 306562 w 2292525"/>
              <a:gd name="connsiteY0" fmla="*/ 0 h 1839336"/>
              <a:gd name="connsiteX1" fmla="*/ 1985963 w 2292525"/>
              <a:gd name="connsiteY1" fmla="*/ 0 h 1839336"/>
              <a:gd name="connsiteX2" fmla="*/ 2292525 w 2292525"/>
              <a:gd name="connsiteY2" fmla="*/ 306562 h 1839336"/>
              <a:gd name="connsiteX3" fmla="*/ 2292525 w 2292525"/>
              <a:gd name="connsiteY3" fmla="*/ 1532774 h 1839336"/>
              <a:gd name="connsiteX4" fmla="*/ 1985963 w 2292525"/>
              <a:gd name="connsiteY4" fmla="*/ 1839336 h 1839336"/>
              <a:gd name="connsiteX5" fmla="*/ 306562 w 2292525"/>
              <a:gd name="connsiteY5" fmla="*/ 1839336 h 1839336"/>
              <a:gd name="connsiteX6" fmla="*/ 0 w 2292525"/>
              <a:gd name="connsiteY6" fmla="*/ 1532774 h 1839336"/>
              <a:gd name="connsiteX7" fmla="*/ 0 w 2292525"/>
              <a:gd name="connsiteY7" fmla="*/ 306562 h 1839336"/>
              <a:gd name="connsiteX8" fmla="*/ 306562 w 2292525"/>
              <a:gd name="connsiteY8" fmla="*/ 0 h 1839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2525" h="1839336">
                <a:moveTo>
                  <a:pt x="306562" y="0"/>
                </a:moveTo>
                <a:lnTo>
                  <a:pt x="1985963" y="0"/>
                </a:lnTo>
                <a:cubicBezTo>
                  <a:pt x="2155273" y="0"/>
                  <a:pt x="2292525" y="137253"/>
                  <a:pt x="2292525" y="306562"/>
                </a:cubicBezTo>
                <a:lnTo>
                  <a:pt x="2292525" y="1532774"/>
                </a:lnTo>
                <a:cubicBezTo>
                  <a:pt x="2292525" y="1702084"/>
                  <a:pt x="2155273" y="1839336"/>
                  <a:pt x="1985963" y="1839336"/>
                </a:cubicBezTo>
                <a:lnTo>
                  <a:pt x="306562" y="1839336"/>
                </a:lnTo>
                <a:cubicBezTo>
                  <a:pt x="137253" y="1839336"/>
                  <a:pt x="0" y="1702084"/>
                  <a:pt x="0" y="1532774"/>
                </a:cubicBezTo>
                <a:lnTo>
                  <a:pt x="0" y="306562"/>
                </a:lnTo>
                <a:cubicBezTo>
                  <a:pt x="0" y="137253"/>
                  <a:pt x="137253" y="0"/>
                  <a:pt x="30656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5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9A17FE-596B-4679-A6A2-5F00C5289B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594" y="782470"/>
            <a:ext cx="4017197" cy="5293061"/>
          </a:xfrm>
          <a:custGeom>
            <a:avLst/>
            <a:gdLst>
              <a:gd name="connsiteX0" fmla="*/ 0 w 4017197"/>
              <a:gd name="connsiteY0" fmla="*/ 0 h 5293061"/>
              <a:gd name="connsiteX1" fmla="*/ 3347651 w 4017197"/>
              <a:gd name="connsiteY1" fmla="*/ 0 h 5293061"/>
              <a:gd name="connsiteX2" fmla="*/ 4017197 w 4017197"/>
              <a:gd name="connsiteY2" fmla="*/ 669546 h 5293061"/>
              <a:gd name="connsiteX3" fmla="*/ 4017197 w 4017197"/>
              <a:gd name="connsiteY3" fmla="*/ 5293061 h 5293061"/>
              <a:gd name="connsiteX4" fmla="*/ 0 w 4017197"/>
              <a:gd name="connsiteY4" fmla="*/ 5293061 h 529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7197" h="5293061">
                <a:moveTo>
                  <a:pt x="0" y="0"/>
                </a:moveTo>
                <a:lnTo>
                  <a:pt x="3347651" y="0"/>
                </a:lnTo>
                <a:lnTo>
                  <a:pt x="4017197" y="669546"/>
                </a:lnTo>
                <a:lnTo>
                  <a:pt x="4017197" y="5293061"/>
                </a:lnTo>
                <a:lnTo>
                  <a:pt x="0" y="529306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30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44A9431-D09A-4C03-B684-31D76715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890B694-2D7B-4E5E-8EDC-2CAD64FB28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70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98D2DC4-7146-481F-8E2B-AE2027E8DC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7143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B97CF9B-1607-4A8A-A301-4B70B4548B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70000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08A5DA0-8ED2-4607-BABC-23C787E09A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22857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44C6E50-B822-4AFB-B784-B89E517A0A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34341" y="2424470"/>
            <a:ext cx="1635714" cy="2321462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2F7DC0D-F5BD-4935-942F-68633575F0F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75719" y="1884255"/>
            <a:ext cx="2441478" cy="3165687"/>
          </a:xfrm>
          <a:custGeom>
            <a:avLst/>
            <a:gdLst>
              <a:gd name="connsiteX0" fmla="*/ 0 w 1635714"/>
              <a:gd name="connsiteY0" fmla="*/ 0 h 2321462"/>
              <a:gd name="connsiteX1" fmla="*/ 1635714 w 1635714"/>
              <a:gd name="connsiteY1" fmla="*/ 0 h 2321462"/>
              <a:gd name="connsiteX2" fmla="*/ 1635714 w 1635714"/>
              <a:gd name="connsiteY2" fmla="*/ 2321462 h 2321462"/>
              <a:gd name="connsiteX3" fmla="*/ 0 w 1635714"/>
              <a:gd name="connsiteY3" fmla="*/ 2321462 h 232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5714" h="2321462">
                <a:moveTo>
                  <a:pt x="0" y="0"/>
                </a:moveTo>
                <a:lnTo>
                  <a:pt x="1635714" y="0"/>
                </a:lnTo>
                <a:lnTo>
                  <a:pt x="1635714" y="2321462"/>
                </a:lnTo>
                <a:lnTo>
                  <a:pt x="0" y="232146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95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51663F9-BFE8-480F-A1CF-1216E99A92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18247" y="3177187"/>
            <a:ext cx="2580631" cy="1521894"/>
          </a:xfrm>
          <a:custGeom>
            <a:avLst/>
            <a:gdLst>
              <a:gd name="connsiteX0" fmla="*/ 0 w 2580631"/>
              <a:gd name="connsiteY0" fmla="*/ 0 h 1521894"/>
              <a:gd name="connsiteX1" fmla="*/ 2580631 w 2580631"/>
              <a:gd name="connsiteY1" fmla="*/ 0 h 1521894"/>
              <a:gd name="connsiteX2" fmla="*/ 2580631 w 2580631"/>
              <a:gd name="connsiteY2" fmla="*/ 1521894 h 1521894"/>
              <a:gd name="connsiteX3" fmla="*/ 0 w 2580631"/>
              <a:gd name="connsiteY3" fmla="*/ 1521894 h 152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0631" h="1521894">
                <a:moveTo>
                  <a:pt x="0" y="0"/>
                </a:moveTo>
                <a:lnTo>
                  <a:pt x="2580631" y="0"/>
                </a:lnTo>
                <a:lnTo>
                  <a:pt x="2580631" y="1521894"/>
                </a:lnTo>
                <a:lnTo>
                  <a:pt x="0" y="152189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3C4B2A6-852E-4CBD-B981-98125D4BF0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975" y="3177187"/>
            <a:ext cx="2580631" cy="1521894"/>
          </a:xfrm>
          <a:custGeom>
            <a:avLst/>
            <a:gdLst>
              <a:gd name="connsiteX0" fmla="*/ 0 w 2580631"/>
              <a:gd name="connsiteY0" fmla="*/ 0 h 1521894"/>
              <a:gd name="connsiteX1" fmla="*/ 2580631 w 2580631"/>
              <a:gd name="connsiteY1" fmla="*/ 0 h 1521894"/>
              <a:gd name="connsiteX2" fmla="*/ 2580631 w 2580631"/>
              <a:gd name="connsiteY2" fmla="*/ 1521894 h 1521894"/>
              <a:gd name="connsiteX3" fmla="*/ 0 w 2580631"/>
              <a:gd name="connsiteY3" fmla="*/ 1521894 h 152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0631" h="1521894">
                <a:moveTo>
                  <a:pt x="0" y="0"/>
                </a:moveTo>
                <a:lnTo>
                  <a:pt x="2580631" y="0"/>
                </a:lnTo>
                <a:lnTo>
                  <a:pt x="2580631" y="1521894"/>
                </a:lnTo>
                <a:lnTo>
                  <a:pt x="0" y="152189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3E1707-43DE-45EB-BAB0-12DB73F856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2381" y="0"/>
            <a:ext cx="5189619" cy="6858000"/>
          </a:xfrm>
          <a:custGeom>
            <a:avLst/>
            <a:gdLst>
              <a:gd name="connsiteX0" fmla="*/ 0 w 5189619"/>
              <a:gd name="connsiteY0" fmla="*/ 0 h 6858000"/>
              <a:gd name="connsiteX1" fmla="*/ 5189619 w 5189619"/>
              <a:gd name="connsiteY1" fmla="*/ 0 h 6858000"/>
              <a:gd name="connsiteX2" fmla="*/ 5189619 w 5189619"/>
              <a:gd name="connsiteY2" fmla="*/ 6858000 h 6858000"/>
              <a:gd name="connsiteX3" fmla="*/ 0 w 518961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619" h="6858000">
                <a:moveTo>
                  <a:pt x="0" y="0"/>
                </a:moveTo>
                <a:lnTo>
                  <a:pt x="5189619" y="0"/>
                </a:lnTo>
                <a:lnTo>
                  <a:pt x="5189619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657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CAABFD-F57F-F746-9119-469E99B78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106061"/>
          </a:xfrm>
          <a:custGeom>
            <a:avLst/>
            <a:gdLst>
              <a:gd name="connsiteX0" fmla="*/ 0 w 12192000"/>
              <a:gd name="connsiteY0" fmla="*/ 0 h 4106061"/>
              <a:gd name="connsiteX1" fmla="*/ 12192000 w 12192000"/>
              <a:gd name="connsiteY1" fmla="*/ 0 h 4106061"/>
              <a:gd name="connsiteX2" fmla="*/ 12192000 w 12192000"/>
              <a:gd name="connsiteY2" fmla="*/ 676160 h 4106061"/>
              <a:gd name="connsiteX3" fmla="*/ 12192000 w 12192000"/>
              <a:gd name="connsiteY3" fmla="*/ 3207981 h 4106061"/>
              <a:gd name="connsiteX4" fmla="*/ 12108385 w 12192000"/>
              <a:gd name="connsiteY4" fmla="*/ 3231647 h 4106061"/>
              <a:gd name="connsiteX5" fmla="*/ 5769059 w 12192000"/>
              <a:gd name="connsiteY5" fmla="*/ 3333328 h 4106061"/>
              <a:gd name="connsiteX6" fmla="*/ 101890 w 12192000"/>
              <a:gd name="connsiteY6" fmla="*/ 3375100 h 4106061"/>
              <a:gd name="connsiteX7" fmla="*/ 0 w 12192000"/>
              <a:gd name="connsiteY7" fmla="*/ 3306830 h 4106061"/>
              <a:gd name="connsiteX8" fmla="*/ 0 w 12192000"/>
              <a:gd name="connsiteY8" fmla="*/ 676160 h 4106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106061">
                <a:moveTo>
                  <a:pt x="0" y="0"/>
                </a:moveTo>
                <a:lnTo>
                  <a:pt x="12192000" y="0"/>
                </a:lnTo>
                <a:lnTo>
                  <a:pt x="12192000" y="676160"/>
                </a:lnTo>
                <a:lnTo>
                  <a:pt x="12192000" y="3207981"/>
                </a:lnTo>
                <a:lnTo>
                  <a:pt x="12108385" y="3231647"/>
                </a:lnTo>
                <a:cubicBezTo>
                  <a:pt x="10735166" y="3516788"/>
                  <a:pt x="8009777" y="1369759"/>
                  <a:pt x="5769059" y="3333328"/>
                </a:cubicBezTo>
                <a:cubicBezTo>
                  <a:pt x="4517631" y="4430076"/>
                  <a:pt x="1550902" y="4281867"/>
                  <a:pt x="101890" y="3375100"/>
                </a:cubicBezTo>
                <a:lnTo>
                  <a:pt x="0" y="3306830"/>
                </a:lnTo>
                <a:lnTo>
                  <a:pt x="0" y="67616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68D6E1-8736-41FD-AC15-6CB223769B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13177" y="1890749"/>
            <a:ext cx="5803641" cy="3695450"/>
          </a:xfrm>
          <a:custGeom>
            <a:avLst/>
            <a:gdLst>
              <a:gd name="connsiteX0" fmla="*/ 0 w 5803641"/>
              <a:gd name="connsiteY0" fmla="*/ 0 h 3695450"/>
              <a:gd name="connsiteX1" fmla="*/ 5803641 w 5803641"/>
              <a:gd name="connsiteY1" fmla="*/ 0 h 3695450"/>
              <a:gd name="connsiteX2" fmla="*/ 5803641 w 5803641"/>
              <a:gd name="connsiteY2" fmla="*/ 3695450 h 3695450"/>
              <a:gd name="connsiteX3" fmla="*/ 0 w 5803641"/>
              <a:gd name="connsiteY3" fmla="*/ 3695450 h 369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03641" h="3695450">
                <a:moveTo>
                  <a:pt x="0" y="0"/>
                </a:moveTo>
                <a:lnTo>
                  <a:pt x="5803641" y="0"/>
                </a:lnTo>
                <a:lnTo>
                  <a:pt x="5803641" y="3695450"/>
                </a:lnTo>
                <a:lnTo>
                  <a:pt x="0" y="369545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010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9CEA18E-FB89-47F5-8520-17E7A37D6B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3329" y="1057275"/>
            <a:ext cx="2219958" cy="4743450"/>
          </a:xfrm>
          <a:custGeom>
            <a:avLst/>
            <a:gdLst>
              <a:gd name="connsiteX0" fmla="*/ 227124 w 2219958"/>
              <a:gd name="connsiteY0" fmla="*/ 0 h 4743450"/>
              <a:gd name="connsiteX1" fmla="*/ 1992834 w 2219958"/>
              <a:gd name="connsiteY1" fmla="*/ 0 h 4743450"/>
              <a:gd name="connsiteX2" fmla="*/ 2219958 w 2219958"/>
              <a:gd name="connsiteY2" fmla="*/ 227124 h 4743450"/>
              <a:gd name="connsiteX3" fmla="*/ 2219958 w 2219958"/>
              <a:gd name="connsiteY3" fmla="*/ 4516326 h 4743450"/>
              <a:gd name="connsiteX4" fmla="*/ 1992834 w 2219958"/>
              <a:gd name="connsiteY4" fmla="*/ 4743450 h 4743450"/>
              <a:gd name="connsiteX5" fmla="*/ 227124 w 2219958"/>
              <a:gd name="connsiteY5" fmla="*/ 4743450 h 4743450"/>
              <a:gd name="connsiteX6" fmla="*/ 0 w 2219958"/>
              <a:gd name="connsiteY6" fmla="*/ 4516326 h 4743450"/>
              <a:gd name="connsiteX7" fmla="*/ 0 w 2219958"/>
              <a:gd name="connsiteY7" fmla="*/ 227124 h 4743450"/>
              <a:gd name="connsiteX8" fmla="*/ 227124 w 2219958"/>
              <a:gd name="connsiteY8" fmla="*/ 0 h 474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9958" h="4743450">
                <a:moveTo>
                  <a:pt x="227124" y="0"/>
                </a:moveTo>
                <a:lnTo>
                  <a:pt x="1992834" y="0"/>
                </a:lnTo>
                <a:cubicBezTo>
                  <a:pt x="2118271" y="0"/>
                  <a:pt x="2219958" y="101687"/>
                  <a:pt x="2219958" y="227124"/>
                </a:cubicBezTo>
                <a:lnTo>
                  <a:pt x="2219958" y="4516326"/>
                </a:lnTo>
                <a:cubicBezTo>
                  <a:pt x="2219958" y="4641763"/>
                  <a:pt x="2118271" y="4743450"/>
                  <a:pt x="1992834" y="4743450"/>
                </a:cubicBezTo>
                <a:lnTo>
                  <a:pt x="227124" y="4743450"/>
                </a:lnTo>
                <a:cubicBezTo>
                  <a:pt x="101687" y="4743450"/>
                  <a:pt x="0" y="4641763"/>
                  <a:pt x="0" y="4516326"/>
                </a:cubicBezTo>
                <a:lnTo>
                  <a:pt x="0" y="227124"/>
                </a:lnTo>
                <a:cubicBezTo>
                  <a:pt x="0" y="101687"/>
                  <a:pt x="101687" y="0"/>
                  <a:pt x="22712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805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3D7F8DF-3CDA-EA4E-A09E-4F67FF8CD3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67722" y="2530733"/>
            <a:ext cx="1398164" cy="2987498"/>
          </a:xfrm>
          <a:custGeom>
            <a:avLst/>
            <a:gdLst>
              <a:gd name="connsiteX0" fmla="*/ 143046 w 1398164"/>
              <a:gd name="connsiteY0" fmla="*/ 0 h 2987498"/>
              <a:gd name="connsiteX1" fmla="*/ 1255118 w 1398164"/>
              <a:gd name="connsiteY1" fmla="*/ 0 h 2987498"/>
              <a:gd name="connsiteX2" fmla="*/ 1398164 w 1398164"/>
              <a:gd name="connsiteY2" fmla="*/ 143046 h 2987498"/>
              <a:gd name="connsiteX3" fmla="*/ 1398164 w 1398164"/>
              <a:gd name="connsiteY3" fmla="*/ 2844452 h 2987498"/>
              <a:gd name="connsiteX4" fmla="*/ 1255118 w 1398164"/>
              <a:gd name="connsiteY4" fmla="*/ 2987498 h 2987498"/>
              <a:gd name="connsiteX5" fmla="*/ 143046 w 1398164"/>
              <a:gd name="connsiteY5" fmla="*/ 2987498 h 2987498"/>
              <a:gd name="connsiteX6" fmla="*/ 0 w 1398164"/>
              <a:gd name="connsiteY6" fmla="*/ 2844452 h 2987498"/>
              <a:gd name="connsiteX7" fmla="*/ 0 w 1398164"/>
              <a:gd name="connsiteY7" fmla="*/ 143046 h 2987498"/>
              <a:gd name="connsiteX8" fmla="*/ 143046 w 1398164"/>
              <a:gd name="connsiteY8" fmla="*/ 0 h 298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8164" h="2987498">
                <a:moveTo>
                  <a:pt x="143046" y="0"/>
                </a:moveTo>
                <a:lnTo>
                  <a:pt x="1255118" y="0"/>
                </a:lnTo>
                <a:cubicBezTo>
                  <a:pt x="1334120" y="0"/>
                  <a:pt x="1398164" y="64044"/>
                  <a:pt x="1398164" y="143046"/>
                </a:cubicBezTo>
                <a:lnTo>
                  <a:pt x="1398164" y="2844452"/>
                </a:lnTo>
                <a:cubicBezTo>
                  <a:pt x="1398164" y="2923454"/>
                  <a:pt x="1334120" y="2987498"/>
                  <a:pt x="1255118" y="2987498"/>
                </a:cubicBezTo>
                <a:lnTo>
                  <a:pt x="143046" y="2987498"/>
                </a:lnTo>
                <a:cubicBezTo>
                  <a:pt x="64044" y="2987498"/>
                  <a:pt x="0" y="2923454"/>
                  <a:pt x="0" y="2844452"/>
                </a:cubicBezTo>
                <a:lnTo>
                  <a:pt x="0" y="143046"/>
                </a:lnTo>
                <a:cubicBezTo>
                  <a:pt x="0" y="64044"/>
                  <a:pt x="64044" y="0"/>
                  <a:pt x="14304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2022485-0EAF-0743-95CD-90DAC13402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03745" y="2530733"/>
            <a:ext cx="1398164" cy="2987498"/>
          </a:xfrm>
          <a:custGeom>
            <a:avLst/>
            <a:gdLst>
              <a:gd name="connsiteX0" fmla="*/ 143046 w 1398164"/>
              <a:gd name="connsiteY0" fmla="*/ 0 h 2987498"/>
              <a:gd name="connsiteX1" fmla="*/ 1255118 w 1398164"/>
              <a:gd name="connsiteY1" fmla="*/ 0 h 2987498"/>
              <a:gd name="connsiteX2" fmla="*/ 1398164 w 1398164"/>
              <a:gd name="connsiteY2" fmla="*/ 143046 h 2987498"/>
              <a:gd name="connsiteX3" fmla="*/ 1398164 w 1398164"/>
              <a:gd name="connsiteY3" fmla="*/ 2844452 h 2987498"/>
              <a:gd name="connsiteX4" fmla="*/ 1255118 w 1398164"/>
              <a:gd name="connsiteY4" fmla="*/ 2987498 h 2987498"/>
              <a:gd name="connsiteX5" fmla="*/ 143046 w 1398164"/>
              <a:gd name="connsiteY5" fmla="*/ 2987498 h 2987498"/>
              <a:gd name="connsiteX6" fmla="*/ 0 w 1398164"/>
              <a:gd name="connsiteY6" fmla="*/ 2844452 h 2987498"/>
              <a:gd name="connsiteX7" fmla="*/ 0 w 1398164"/>
              <a:gd name="connsiteY7" fmla="*/ 143046 h 2987498"/>
              <a:gd name="connsiteX8" fmla="*/ 143046 w 1398164"/>
              <a:gd name="connsiteY8" fmla="*/ 0 h 298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98164" h="2987498">
                <a:moveTo>
                  <a:pt x="143046" y="0"/>
                </a:moveTo>
                <a:lnTo>
                  <a:pt x="1255118" y="0"/>
                </a:lnTo>
                <a:cubicBezTo>
                  <a:pt x="1334120" y="0"/>
                  <a:pt x="1398164" y="64044"/>
                  <a:pt x="1398164" y="143046"/>
                </a:cubicBezTo>
                <a:lnTo>
                  <a:pt x="1398164" y="2844452"/>
                </a:lnTo>
                <a:cubicBezTo>
                  <a:pt x="1398164" y="2923454"/>
                  <a:pt x="1334120" y="2987498"/>
                  <a:pt x="1255118" y="2987498"/>
                </a:cubicBezTo>
                <a:lnTo>
                  <a:pt x="143046" y="2987498"/>
                </a:lnTo>
                <a:cubicBezTo>
                  <a:pt x="64044" y="2987498"/>
                  <a:pt x="0" y="2923454"/>
                  <a:pt x="0" y="2844452"/>
                </a:cubicBezTo>
                <a:lnTo>
                  <a:pt x="0" y="143046"/>
                </a:lnTo>
                <a:cubicBezTo>
                  <a:pt x="0" y="64044"/>
                  <a:pt x="64044" y="0"/>
                  <a:pt x="14304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3A1C4BE-0DC3-DE4C-AFEF-8E2C824B8A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83447" y="2333558"/>
            <a:ext cx="1582722" cy="3381848"/>
          </a:xfrm>
          <a:custGeom>
            <a:avLst/>
            <a:gdLst>
              <a:gd name="connsiteX0" fmla="*/ 161929 w 1582722"/>
              <a:gd name="connsiteY0" fmla="*/ 0 h 3381848"/>
              <a:gd name="connsiteX1" fmla="*/ 1420794 w 1582722"/>
              <a:gd name="connsiteY1" fmla="*/ 0 h 3381848"/>
              <a:gd name="connsiteX2" fmla="*/ 1582722 w 1582722"/>
              <a:gd name="connsiteY2" fmla="*/ 161928 h 3381848"/>
              <a:gd name="connsiteX3" fmla="*/ 1582722 w 1582722"/>
              <a:gd name="connsiteY3" fmla="*/ 3219920 h 3381848"/>
              <a:gd name="connsiteX4" fmla="*/ 1420794 w 1582722"/>
              <a:gd name="connsiteY4" fmla="*/ 3381848 h 3381848"/>
              <a:gd name="connsiteX5" fmla="*/ 161929 w 1582722"/>
              <a:gd name="connsiteY5" fmla="*/ 3381848 h 3381848"/>
              <a:gd name="connsiteX6" fmla="*/ 0 w 1582722"/>
              <a:gd name="connsiteY6" fmla="*/ 3219920 h 3381848"/>
              <a:gd name="connsiteX7" fmla="*/ 0 w 1582722"/>
              <a:gd name="connsiteY7" fmla="*/ 161928 h 3381848"/>
              <a:gd name="connsiteX8" fmla="*/ 161929 w 1582722"/>
              <a:gd name="connsiteY8" fmla="*/ 0 h 3381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2722" h="3381848">
                <a:moveTo>
                  <a:pt x="161929" y="0"/>
                </a:moveTo>
                <a:lnTo>
                  <a:pt x="1420794" y="0"/>
                </a:lnTo>
                <a:cubicBezTo>
                  <a:pt x="1510224" y="0"/>
                  <a:pt x="1582722" y="72498"/>
                  <a:pt x="1582722" y="161928"/>
                </a:cubicBezTo>
                <a:lnTo>
                  <a:pt x="1582722" y="3219920"/>
                </a:lnTo>
                <a:cubicBezTo>
                  <a:pt x="1582722" y="3309350"/>
                  <a:pt x="1510224" y="3381848"/>
                  <a:pt x="1420794" y="3381848"/>
                </a:cubicBezTo>
                <a:lnTo>
                  <a:pt x="161929" y="3381848"/>
                </a:lnTo>
                <a:cubicBezTo>
                  <a:pt x="72498" y="3381848"/>
                  <a:pt x="0" y="3309350"/>
                  <a:pt x="0" y="3219920"/>
                </a:cubicBezTo>
                <a:lnTo>
                  <a:pt x="0" y="161928"/>
                </a:lnTo>
                <a:cubicBezTo>
                  <a:pt x="0" y="72498"/>
                  <a:pt x="72498" y="0"/>
                  <a:pt x="16192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7FF3410-819F-F840-9748-F43CB1070A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03463" y="2333558"/>
            <a:ext cx="1582722" cy="3381848"/>
          </a:xfrm>
          <a:custGeom>
            <a:avLst/>
            <a:gdLst>
              <a:gd name="connsiteX0" fmla="*/ 161929 w 1582722"/>
              <a:gd name="connsiteY0" fmla="*/ 0 h 3381848"/>
              <a:gd name="connsiteX1" fmla="*/ 1420794 w 1582722"/>
              <a:gd name="connsiteY1" fmla="*/ 0 h 3381848"/>
              <a:gd name="connsiteX2" fmla="*/ 1582722 w 1582722"/>
              <a:gd name="connsiteY2" fmla="*/ 161928 h 3381848"/>
              <a:gd name="connsiteX3" fmla="*/ 1582722 w 1582722"/>
              <a:gd name="connsiteY3" fmla="*/ 3219920 h 3381848"/>
              <a:gd name="connsiteX4" fmla="*/ 1420794 w 1582722"/>
              <a:gd name="connsiteY4" fmla="*/ 3381848 h 3381848"/>
              <a:gd name="connsiteX5" fmla="*/ 161929 w 1582722"/>
              <a:gd name="connsiteY5" fmla="*/ 3381848 h 3381848"/>
              <a:gd name="connsiteX6" fmla="*/ 0 w 1582722"/>
              <a:gd name="connsiteY6" fmla="*/ 3219920 h 3381848"/>
              <a:gd name="connsiteX7" fmla="*/ 0 w 1582722"/>
              <a:gd name="connsiteY7" fmla="*/ 161928 h 3381848"/>
              <a:gd name="connsiteX8" fmla="*/ 161929 w 1582722"/>
              <a:gd name="connsiteY8" fmla="*/ 0 h 3381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2722" h="3381848">
                <a:moveTo>
                  <a:pt x="161929" y="0"/>
                </a:moveTo>
                <a:lnTo>
                  <a:pt x="1420794" y="0"/>
                </a:lnTo>
                <a:cubicBezTo>
                  <a:pt x="1510224" y="0"/>
                  <a:pt x="1582722" y="72498"/>
                  <a:pt x="1582722" y="161928"/>
                </a:cubicBezTo>
                <a:lnTo>
                  <a:pt x="1582722" y="3219920"/>
                </a:lnTo>
                <a:cubicBezTo>
                  <a:pt x="1582722" y="3309350"/>
                  <a:pt x="1510224" y="3381848"/>
                  <a:pt x="1420794" y="3381848"/>
                </a:cubicBezTo>
                <a:lnTo>
                  <a:pt x="161929" y="3381848"/>
                </a:lnTo>
                <a:cubicBezTo>
                  <a:pt x="72498" y="3381848"/>
                  <a:pt x="0" y="3309350"/>
                  <a:pt x="0" y="3219920"/>
                </a:cubicBezTo>
                <a:lnTo>
                  <a:pt x="0" y="161928"/>
                </a:lnTo>
                <a:cubicBezTo>
                  <a:pt x="0" y="72498"/>
                  <a:pt x="72498" y="0"/>
                  <a:pt x="16192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71500" dist="38100" dir="2400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2CA3232-82FF-D946-AA6E-BA07254270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15291" y="2142645"/>
            <a:ext cx="1761418" cy="3763674"/>
          </a:xfrm>
          <a:custGeom>
            <a:avLst/>
            <a:gdLst>
              <a:gd name="connsiteX0" fmla="*/ 180211 w 1761418"/>
              <a:gd name="connsiteY0" fmla="*/ 0 h 3763674"/>
              <a:gd name="connsiteX1" fmla="*/ 1581207 w 1761418"/>
              <a:gd name="connsiteY1" fmla="*/ 0 h 3763674"/>
              <a:gd name="connsiteX2" fmla="*/ 1761418 w 1761418"/>
              <a:gd name="connsiteY2" fmla="*/ 180211 h 3763674"/>
              <a:gd name="connsiteX3" fmla="*/ 1761418 w 1761418"/>
              <a:gd name="connsiteY3" fmla="*/ 3583463 h 3763674"/>
              <a:gd name="connsiteX4" fmla="*/ 1581207 w 1761418"/>
              <a:gd name="connsiteY4" fmla="*/ 3763674 h 3763674"/>
              <a:gd name="connsiteX5" fmla="*/ 180211 w 1761418"/>
              <a:gd name="connsiteY5" fmla="*/ 3763674 h 3763674"/>
              <a:gd name="connsiteX6" fmla="*/ 0 w 1761418"/>
              <a:gd name="connsiteY6" fmla="*/ 3583463 h 3763674"/>
              <a:gd name="connsiteX7" fmla="*/ 0 w 1761418"/>
              <a:gd name="connsiteY7" fmla="*/ 180211 h 3763674"/>
              <a:gd name="connsiteX8" fmla="*/ 180211 w 1761418"/>
              <a:gd name="connsiteY8" fmla="*/ 0 h 3763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61418" h="3763674">
                <a:moveTo>
                  <a:pt x="180211" y="0"/>
                </a:moveTo>
                <a:lnTo>
                  <a:pt x="1581207" y="0"/>
                </a:lnTo>
                <a:cubicBezTo>
                  <a:pt x="1680735" y="0"/>
                  <a:pt x="1761418" y="80683"/>
                  <a:pt x="1761418" y="180211"/>
                </a:cubicBezTo>
                <a:lnTo>
                  <a:pt x="1761418" y="3583463"/>
                </a:lnTo>
                <a:cubicBezTo>
                  <a:pt x="1761418" y="3682991"/>
                  <a:pt x="1680735" y="3763674"/>
                  <a:pt x="1581207" y="3763674"/>
                </a:cubicBezTo>
                <a:lnTo>
                  <a:pt x="180211" y="3763674"/>
                </a:lnTo>
                <a:cubicBezTo>
                  <a:pt x="80683" y="3763674"/>
                  <a:pt x="0" y="3682991"/>
                  <a:pt x="0" y="3583463"/>
                </a:cubicBezTo>
                <a:lnTo>
                  <a:pt x="0" y="180211"/>
                </a:lnTo>
                <a:cubicBezTo>
                  <a:pt x="0" y="80683"/>
                  <a:pt x="80683" y="0"/>
                  <a:pt x="18021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797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FBB5CE-527E-6744-8BF5-FC4333E7FC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563398"/>
            <a:ext cx="12192000" cy="3294602"/>
          </a:xfrm>
          <a:custGeom>
            <a:avLst/>
            <a:gdLst>
              <a:gd name="connsiteX0" fmla="*/ 0 w 12192000"/>
              <a:gd name="connsiteY0" fmla="*/ 0 h 3294602"/>
              <a:gd name="connsiteX1" fmla="*/ 12192000 w 12192000"/>
              <a:gd name="connsiteY1" fmla="*/ 0 h 3294602"/>
              <a:gd name="connsiteX2" fmla="*/ 12192000 w 12192000"/>
              <a:gd name="connsiteY2" fmla="*/ 3294602 h 3294602"/>
              <a:gd name="connsiteX3" fmla="*/ 0 w 12192000"/>
              <a:gd name="connsiteY3" fmla="*/ 3294602 h 329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94602">
                <a:moveTo>
                  <a:pt x="0" y="0"/>
                </a:moveTo>
                <a:lnTo>
                  <a:pt x="12192000" y="0"/>
                </a:lnTo>
                <a:lnTo>
                  <a:pt x="12192000" y="3294602"/>
                </a:lnTo>
                <a:lnTo>
                  <a:pt x="0" y="329460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679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FBB5CE-527E-6744-8BF5-FC4333E7FC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599746"/>
          </a:xfrm>
          <a:custGeom>
            <a:avLst/>
            <a:gdLst>
              <a:gd name="connsiteX0" fmla="*/ 0 w 12192000"/>
              <a:gd name="connsiteY0" fmla="*/ 0 h 3294602"/>
              <a:gd name="connsiteX1" fmla="*/ 12192000 w 12192000"/>
              <a:gd name="connsiteY1" fmla="*/ 0 h 3294602"/>
              <a:gd name="connsiteX2" fmla="*/ 12192000 w 12192000"/>
              <a:gd name="connsiteY2" fmla="*/ 3294602 h 3294602"/>
              <a:gd name="connsiteX3" fmla="*/ 0 w 12192000"/>
              <a:gd name="connsiteY3" fmla="*/ 3294602 h 3294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94602">
                <a:moveTo>
                  <a:pt x="0" y="0"/>
                </a:moveTo>
                <a:lnTo>
                  <a:pt x="12192000" y="0"/>
                </a:lnTo>
                <a:lnTo>
                  <a:pt x="12192000" y="3294602"/>
                </a:lnTo>
                <a:lnTo>
                  <a:pt x="0" y="329460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4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C3C20-3EE6-BC42-BA5A-210B9E30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CF807-878D-BA4F-AEC6-598BD5B78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E7162-49E7-EE4C-B21C-91E7ECDE5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625C4-4828-2045-91EA-D420555D5F1F}" type="datetimeFigureOut">
              <a:t>11/06/2026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BF40-7FB9-2F43-B954-25C5E6B6E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DADE8-7561-0042-8B49-15BA68058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62F1C-97F2-BA44-A4ED-8842C0E002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1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diagramColors" Target="../diagrams/colors1.xml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8.svg"/><Relationship Id="rId12" Type="http://schemas.openxmlformats.org/officeDocument/2006/relationships/diagramQuickStyle" Target="../diagrams/quickStyl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image" Target="../media/image17.svg"/><Relationship Id="rId11" Type="http://schemas.openxmlformats.org/officeDocument/2006/relationships/diagramLayout" Target="../diagrams/layout1.xml"/><Relationship Id="rId5" Type="http://schemas.openxmlformats.org/officeDocument/2006/relationships/image" Target="../media/image9.png"/><Relationship Id="rId10" Type="http://schemas.openxmlformats.org/officeDocument/2006/relationships/diagramData" Target="../diagrams/data1.xml"/><Relationship Id="rId4" Type="http://schemas.openxmlformats.org/officeDocument/2006/relationships/image" Target="../media/image6.png"/><Relationship Id="rId9" Type="http://schemas.openxmlformats.org/officeDocument/2006/relationships/image" Target="../media/image20.svg"/><Relationship Id="rId14" Type="http://schemas.microsoft.com/office/2007/relationships/diagramDrawing" Target="../diagrams/drawing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4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5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6.xml"/><Relationship Id="rId5" Type="http://schemas.openxmlformats.org/officeDocument/2006/relationships/image" Target="../media/image20.sv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02683257-31AC-5F29-E6F3-8D4810E643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  <a:pattFill prst="pct5">
            <a:fgClr>
              <a:srgbClr val="4472C4"/>
            </a:fgClr>
            <a:bgClr>
              <a:prstClr val="white"/>
            </a:bgClr>
          </a:pattFill>
        </p:spPr>
      </p:pic>
    </p:spTree>
    <p:extLst>
      <p:ext uri="{BB962C8B-B14F-4D97-AF65-F5344CB8AC3E}">
        <p14:creationId xmlns:p14="http://schemas.microsoft.com/office/powerpoint/2010/main" val="288090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B84FD5-EEAC-FAD0-0F9D-F298D65A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091D89-4CA4-512F-3D94-4F8EAF0DE636}"/>
              </a:ext>
            </a:extLst>
          </p:cNvPr>
          <p:cNvSpPr txBox="1"/>
          <p:nvPr/>
        </p:nvSpPr>
        <p:spPr>
          <a:xfrm>
            <a:off x="3036627" y="3247745"/>
            <a:ext cx="6127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5717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A9BDF61-CD59-E2A8-86EA-132D9B8E70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65709B-E262-E054-50E0-6251497B4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125" y="-30892"/>
            <a:ext cx="12342125" cy="700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3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DE70594-662C-4473-B1BE-CEE828227F28}"/>
              </a:ext>
            </a:extLst>
          </p:cNvPr>
          <p:cNvSpPr/>
          <p:nvPr/>
        </p:nvSpPr>
        <p:spPr>
          <a:xfrm>
            <a:off x="1" y="0"/>
            <a:ext cx="12191998" cy="6858000"/>
          </a:xfrm>
          <a:prstGeom prst="rect">
            <a:avLst/>
          </a:pr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13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F8F83C28-3719-B437-F998-F4EEA054C1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50000" t="7871" r="2083" b="7871"/>
          <a:stretch>
            <a:fillRect/>
          </a:stretch>
        </p:blipFill>
        <p:spPr>
          <a:xfrm>
            <a:off x="6349999" y="0"/>
            <a:ext cx="5842000" cy="6849033"/>
          </a:xfr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77EA8EFB-C403-F047-B962-2091D1EFEE93}"/>
              </a:ext>
            </a:extLst>
          </p:cNvPr>
          <p:cNvSpPr/>
          <p:nvPr/>
        </p:nvSpPr>
        <p:spPr>
          <a:xfrm>
            <a:off x="1501774" y="4340751"/>
            <a:ext cx="44865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400" b="1" dirty="0">
                <a:solidFill>
                  <a:schemeClr val="bg1">
                    <a:alpha val="42000"/>
                  </a:schemeClr>
                </a:solidFill>
                <a:latin typeface="Poppins" pitchFamily="2" charset="77"/>
                <a:cs typeface="Poppins" pitchFamily="2" charset="77"/>
              </a:rPr>
              <a:t>2026</a:t>
            </a:r>
            <a:endParaRPr lang="en-US" sz="6000" b="1" dirty="0">
              <a:solidFill>
                <a:schemeClr val="bg1">
                  <a:alpha val="42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0" name="Imagem 9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7D41E351-A38D-4DDC-DDAD-FABEAEEC6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38" y="1472479"/>
            <a:ext cx="5733324" cy="18585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9694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FF3CCF4-09F5-406F-98F9-9759F879C87C}"/>
              </a:ext>
            </a:extLst>
          </p:cNvPr>
          <p:cNvSpPr/>
          <p:nvPr/>
        </p:nvSpPr>
        <p:spPr>
          <a:xfrm>
            <a:off x="4606723" y="0"/>
            <a:ext cx="7585275" cy="6858000"/>
          </a:xfrm>
          <a:prstGeom prst="rect">
            <a:avLst/>
          </a:pr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A9AD7D-2282-48EA-9AF5-21DCC7295176}"/>
              </a:ext>
            </a:extLst>
          </p:cNvPr>
          <p:cNvSpPr/>
          <p:nvPr/>
        </p:nvSpPr>
        <p:spPr>
          <a:xfrm>
            <a:off x="7886701" y="1727659"/>
            <a:ext cx="3302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INTRODUÇÃO</a:t>
            </a:r>
          </a:p>
        </p:txBody>
      </p: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EA86E31A-2A06-043F-C7CF-CB75B4945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753" y="250955"/>
            <a:ext cx="1156841" cy="375009"/>
          </a:xfrm>
          <a:prstGeom prst="rect">
            <a:avLst/>
          </a:prstGeom>
        </p:spPr>
      </p:pic>
      <p:pic>
        <p:nvPicPr>
          <p:cNvPr id="18" name="Imagem 17" descr="Guindaste ao lado de barco na água&#10;&#10;O conteúdo gerado por IA pode estar incorreto.">
            <a:extLst>
              <a:ext uri="{FF2B5EF4-FFF2-40B4-BE49-F238E27FC236}">
                <a16:creationId xmlns:a16="http://schemas.microsoft.com/office/drawing/2014/main" id="{64DAA7B1-51DA-D547-0AF9-155ABF18B3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65" r="38798" b="10150"/>
          <a:stretch>
            <a:fillRect/>
          </a:stretch>
        </p:blipFill>
        <p:spPr>
          <a:xfrm>
            <a:off x="0" y="0"/>
            <a:ext cx="4606722" cy="6858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B63C70F-EEBD-4C3A-8049-444643DC30B2}"/>
              </a:ext>
            </a:extLst>
          </p:cNvPr>
          <p:cNvSpPr/>
          <p:nvPr/>
        </p:nvSpPr>
        <p:spPr>
          <a:xfrm>
            <a:off x="3936292" y="2408440"/>
            <a:ext cx="7158302" cy="33682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BAC4E7-FDFB-4380-BFCA-E0EF955A5C0C}"/>
              </a:ext>
            </a:extLst>
          </p:cNvPr>
          <p:cNvSpPr/>
          <p:nvPr/>
        </p:nvSpPr>
        <p:spPr>
          <a:xfrm>
            <a:off x="10516173" y="2373990"/>
            <a:ext cx="1093167" cy="3477875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B6B44E7-4917-419F-8795-3AB5BC864333}"/>
              </a:ext>
            </a:extLst>
          </p:cNvPr>
          <p:cNvSpPr/>
          <p:nvPr/>
        </p:nvSpPr>
        <p:spPr>
          <a:xfrm>
            <a:off x="4089242" y="3143431"/>
            <a:ext cx="629390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Poppins Medium" pitchFamily="2" charset="77"/>
              </a:rPr>
              <a:t>A regulação é instrumento fundamental para assegurar eficiência de mercado, promover segurança jurídica, estimular investimentos e garantir bem-estar social. </a:t>
            </a:r>
          </a:p>
          <a:p>
            <a:pPr algn="just"/>
            <a:endParaRPr lang="pt-BR" sz="20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Poppins Medium" pitchFamily="2" charset="77"/>
            </a:endParaRPr>
          </a:p>
          <a:p>
            <a:pPr algn="just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Poppins Medium" pitchFamily="2" charset="77"/>
              </a:rPr>
              <a:t>Quando mal estruturada, pode gerar barreiras à inovação, aumento de custos e distorções de mercado.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Poppins Medium" pitchFamily="2" charset="7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0480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570606-C28A-D42F-F6F4-A568CBC51DA6}"/>
              </a:ext>
            </a:extLst>
          </p:cNvPr>
          <p:cNvSpPr/>
          <p:nvPr/>
        </p:nvSpPr>
        <p:spPr>
          <a:xfrm>
            <a:off x="9241838" y="4536390"/>
            <a:ext cx="2656288" cy="2202676"/>
          </a:xfrm>
          <a:prstGeom prst="rect">
            <a:avLst/>
          </a:prstGeom>
          <a:solidFill>
            <a:srgbClr val="203864"/>
          </a:solidFill>
          <a:ln>
            <a:noFill/>
          </a:ln>
          <a:effectLst>
            <a:outerShdw blurRad="508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A2B5C2-50D8-7144-BEDC-7F4DDEB3FF33}"/>
              </a:ext>
            </a:extLst>
          </p:cNvPr>
          <p:cNvSpPr/>
          <p:nvPr/>
        </p:nvSpPr>
        <p:spPr>
          <a:xfrm>
            <a:off x="0" y="-23372"/>
            <a:ext cx="12191998" cy="4399001"/>
          </a:xfrm>
          <a:prstGeom prst="rect">
            <a:avLst/>
          </a:prstGeom>
          <a:solidFill>
            <a:srgbClr val="194B6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9752625-AC6A-EA4D-976D-300A2A04FAD3}"/>
              </a:ext>
            </a:extLst>
          </p:cNvPr>
          <p:cNvSpPr/>
          <p:nvPr/>
        </p:nvSpPr>
        <p:spPr>
          <a:xfrm rot="19694568" flipH="1">
            <a:off x="7058642" y="-1653021"/>
            <a:ext cx="5029500" cy="4401137"/>
          </a:xfrm>
          <a:custGeom>
            <a:avLst/>
            <a:gdLst>
              <a:gd name="connsiteX0" fmla="*/ 5029500 w 5029500"/>
              <a:gd name="connsiteY0" fmla="*/ 0 h 4401137"/>
              <a:gd name="connsiteX1" fmla="*/ 0 w 5029500"/>
              <a:gd name="connsiteY1" fmla="*/ 3113223 h 4401137"/>
              <a:gd name="connsiteX2" fmla="*/ 797209 w 5029500"/>
              <a:gd name="connsiteY2" fmla="*/ 4401137 h 4401137"/>
              <a:gd name="connsiteX3" fmla="*/ 5029500 w 5029500"/>
              <a:gd name="connsiteY3" fmla="*/ 4401137 h 440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9500" h="4401137">
                <a:moveTo>
                  <a:pt x="5029500" y="0"/>
                </a:moveTo>
                <a:lnTo>
                  <a:pt x="0" y="3113223"/>
                </a:lnTo>
                <a:lnTo>
                  <a:pt x="797209" y="4401137"/>
                </a:lnTo>
                <a:lnTo>
                  <a:pt x="5029500" y="4401137"/>
                </a:lnTo>
                <a:close/>
              </a:path>
            </a:pathLst>
          </a:cu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pic>
        <p:nvPicPr>
          <p:cNvPr id="7" name="Espaço Reservado para Imagem 6" descr="Uma imagem contendo navio, jetski, água, colorido&#10;&#10;O conteúdo gerado por IA pode estar incorreto.">
            <a:extLst>
              <a:ext uri="{FF2B5EF4-FFF2-40B4-BE49-F238E27FC236}">
                <a16:creationId xmlns:a16="http://schemas.microsoft.com/office/drawing/2014/main" id="{E38150EB-E04E-77BC-A450-D322EEE12D7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2468" r="22468"/>
          <a:stretch>
            <a:fillRect/>
          </a:stretch>
        </p:blipFill>
        <p:spPr>
          <a:xfrm>
            <a:off x="6096001" y="0"/>
            <a:ext cx="5188291" cy="3722644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875D81B-9F54-9D44-BA61-594242A464D4}"/>
              </a:ext>
            </a:extLst>
          </p:cNvPr>
          <p:cNvGrpSpPr/>
          <p:nvPr/>
        </p:nvGrpSpPr>
        <p:grpSpPr>
          <a:xfrm>
            <a:off x="135012" y="4418641"/>
            <a:ext cx="10376585" cy="2328456"/>
            <a:chOff x="907707" y="3716742"/>
            <a:chExt cx="10376585" cy="232845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3C5F3B2-A079-4CB3-A855-1373D218AC45}"/>
                </a:ext>
              </a:extLst>
            </p:cNvPr>
            <p:cNvSpPr/>
            <p:nvPr/>
          </p:nvSpPr>
          <p:spPr>
            <a:xfrm rot="16200000">
              <a:off x="2454454" y="2169996"/>
              <a:ext cx="125780" cy="3219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50F38E2-AB72-4AB5-B75B-2A97F1295AD2}"/>
                </a:ext>
              </a:extLst>
            </p:cNvPr>
            <p:cNvSpPr/>
            <p:nvPr/>
          </p:nvSpPr>
          <p:spPr>
            <a:xfrm rot="16200000">
              <a:off x="6033111" y="2169996"/>
              <a:ext cx="125780" cy="3219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4934107-0F58-41A8-9CF5-98702C3C038D}"/>
                </a:ext>
              </a:extLst>
            </p:cNvPr>
            <p:cNvSpPr/>
            <p:nvPr/>
          </p:nvSpPr>
          <p:spPr>
            <a:xfrm rot="16200000">
              <a:off x="9611766" y="2169996"/>
              <a:ext cx="125780" cy="3219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7A85713-F392-41DF-8215-5D7C4C8E9C28}"/>
                </a:ext>
              </a:extLst>
            </p:cNvPr>
            <p:cNvSpPr/>
            <p:nvPr/>
          </p:nvSpPr>
          <p:spPr>
            <a:xfrm>
              <a:off x="6984371" y="3829696"/>
              <a:ext cx="2823744" cy="2202676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  <a:effectLst>
              <a:outerShdw blurRad="5080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2ED4AC3-BAAB-4A54-8CD4-2486C2432B5A}"/>
                </a:ext>
              </a:extLst>
            </p:cNvPr>
            <p:cNvSpPr/>
            <p:nvPr/>
          </p:nvSpPr>
          <p:spPr>
            <a:xfrm>
              <a:off x="3954209" y="3842522"/>
              <a:ext cx="2823744" cy="2202676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  <a:effectLst>
              <a:outerShdw blurRad="5080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v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565C94E-F324-4BA1-B8BE-21EEC06AEE49}"/>
                </a:ext>
              </a:extLst>
            </p:cNvPr>
            <p:cNvSpPr/>
            <p:nvPr/>
          </p:nvSpPr>
          <p:spPr>
            <a:xfrm>
              <a:off x="907707" y="3842522"/>
              <a:ext cx="2840084" cy="2202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607702B-1C23-47F6-B36E-C73EB0A94A40}"/>
                </a:ext>
              </a:extLst>
            </p:cNvPr>
            <p:cNvSpPr/>
            <p:nvPr/>
          </p:nvSpPr>
          <p:spPr>
            <a:xfrm>
              <a:off x="4587008" y="4350760"/>
              <a:ext cx="1742125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spc="100" dirty="0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rPr>
                <a:t>Lei nº 13874/2019 – Liberdade </a:t>
              </a:r>
              <a:r>
                <a:rPr lang="en-US" sz="1600" b="1" spc="100" dirty="0" err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rPr>
                <a:t>Econômica</a:t>
              </a:r>
              <a:r>
                <a:rPr lang="en-US" sz="1600" b="1" spc="100" dirty="0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rPr>
                <a:t> 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C630545-04EF-4168-ADA6-5E65E418B5A5}"/>
                </a:ext>
              </a:extLst>
            </p:cNvPr>
            <p:cNvSpPr/>
            <p:nvPr/>
          </p:nvSpPr>
          <p:spPr>
            <a:xfrm>
              <a:off x="7442477" y="4638646"/>
              <a:ext cx="2110943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spc="100" dirty="0" err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rPr>
                <a:t>Decreto</a:t>
              </a:r>
              <a:r>
                <a:rPr lang="en-US" sz="1600" b="1" spc="100" dirty="0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rPr>
                <a:t> nº 10.411/2020 - AIR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E4D8FD6-F1EB-4BC2-9A99-D6EFAC2D034E}"/>
                </a:ext>
              </a:extLst>
            </p:cNvPr>
            <p:cNvSpPr/>
            <p:nvPr/>
          </p:nvSpPr>
          <p:spPr>
            <a:xfrm>
              <a:off x="1283191" y="4552789"/>
              <a:ext cx="2105457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spc="100" dirty="0">
                  <a:solidFill>
                    <a:schemeClr val="bg1">
                      <a:lumMod val="95000"/>
                    </a:schemeClr>
                  </a:solidFill>
                  <a:latin typeface="Poppins SemiBold" pitchFamily="2" charset="77"/>
                  <a:cs typeface="Poppins SemiBold" pitchFamily="2" charset="77"/>
                </a:rPr>
                <a:t>Lei nº 13.848/2019 - Lei das </a:t>
              </a:r>
              <a:r>
                <a:rPr lang="en-US" sz="1600" b="1" spc="100" dirty="0" err="1">
                  <a:solidFill>
                    <a:schemeClr val="bg1">
                      <a:lumMod val="95000"/>
                    </a:schemeClr>
                  </a:solidFill>
                  <a:latin typeface="Poppins SemiBold" pitchFamily="2" charset="77"/>
                  <a:cs typeface="Poppins SemiBold" pitchFamily="2" charset="77"/>
                </a:rPr>
                <a:t>Agências</a:t>
              </a:r>
              <a:endParaRPr lang="en-US" sz="1600" b="1" spc="100" dirty="0">
                <a:solidFill>
                  <a:schemeClr val="bg1">
                    <a:lumMod val="95000"/>
                  </a:schemeClr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CBA5DF6-E485-3949-95A8-36E174B188C5}"/>
              </a:ext>
            </a:extLst>
          </p:cNvPr>
          <p:cNvGrpSpPr/>
          <p:nvPr/>
        </p:nvGrpSpPr>
        <p:grpSpPr>
          <a:xfrm>
            <a:off x="849538" y="852138"/>
            <a:ext cx="5035892" cy="2875973"/>
            <a:chOff x="849538" y="1327958"/>
            <a:chExt cx="5035892" cy="211315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483921B-7337-4828-AB85-7B889C70BBDB}"/>
                </a:ext>
              </a:extLst>
            </p:cNvPr>
            <p:cNvSpPr/>
            <p:nvPr/>
          </p:nvSpPr>
          <p:spPr>
            <a:xfrm>
              <a:off x="849538" y="1327958"/>
              <a:ext cx="5035892" cy="4748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rPr>
                <a:t>BOA REGULAÇÃO</a:t>
              </a:r>
              <a:endParaRPr lang="en-US" sz="3600" b="1" dirty="0">
                <a:gradFill>
                  <a:gsLst>
                    <a:gs pos="0">
                      <a:srgbClr val="00C4FF"/>
                    </a:gs>
                    <a:gs pos="100000">
                      <a:srgbClr val="57FFE3">
                        <a:alpha val="69539"/>
                      </a:srgbClr>
                    </a:gs>
                  </a:gsLst>
                  <a:lin ang="5400000" scaled="1"/>
                </a:gradFill>
                <a:latin typeface="Poppins SemiBold" pitchFamily="2" charset="77"/>
                <a:cs typeface="Poppins SemiBold" pitchFamily="2" charset="77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4F29FBB-A4B7-F841-A010-E006D80FDA5A}"/>
                </a:ext>
              </a:extLst>
            </p:cNvPr>
            <p:cNvSpPr/>
            <p:nvPr/>
          </p:nvSpPr>
          <p:spPr>
            <a:xfrm>
              <a:off x="849538" y="1771851"/>
              <a:ext cx="4810932" cy="16692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pt-BR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77"/>
                </a:rPr>
                <a:t>Segundo a Organização para a Cooperação e Desenvolvimento Econômico (OCDE):</a:t>
              </a:r>
            </a:p>
            <a:p>
              <a:pPr marL="17145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77"/>
                </a:rPr>
                <a:t>Baseada em evidências</a:t>
              </a:r>
            </a:p>
            <a:p>
              <a:pPr marL="17145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77"/>
                </a:rPr>
                <a:t>Proporcional ao problema</a:t>
              </a:r>
            </a:p>
            <a:p>
              <a:pPr marL="17145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77"/>
                </a:rPr>
                <a:t>Benefícios superiores aos custos</a:t>
              </a:r>
            </a:p>
            <a:p>
              <a:pPr marL="17145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77"/>
                </a:rPr>
                <a:t>Transparente</a:t>
              </a:r>
            </a:p>
            <a:p>
              <a:pPr marL="17145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77"/>
                </a:rPr>
                <a:t>Participativa</a:t>
              </a:r>
            </a:p>
            <a:p>
              <a:pPr marL="171450" indent="-1714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77"/>
                </a:rPr>
                <a:t>Consistente com outras políticas</a:t>
              </a:r>
              <a:endParaRPr lang="en-US" sz="1200" dirty="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77"/>
              </a:endParaRPr>
            </a:p>
          </p:txBody>
        </p:sp>
      </p:grpSp>
      <p:pic>
        <p:nvPicPr>
          <p:cNvPr id="8" name="Imagem 7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26F03B08-04B3-CE54-130C-573AD066C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40" y="247910"/>
            <a:ext cx="1156841" cy="3750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0A53F3-BA09-BC9C-9382-4B99872C3DBD}"/>
              </a:ext>
            </a:extLst>
          </p:cNvPr>
          <p:cNvSpPr/>
          <p:nvPr/>
        </p:nvSpPr>
        <p:spPr>
          <a:xfrm>
            <a:off x="2934269" y="3772310"/>
            <a:ext cx="64690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MARCO LEGAL BRASILEIRO</a:t>
            </a:r>
            <a:endParaRPr lang="en-US" sz="3600" b="1" dirty="0">
              <a:gradFill>
                <a:gsLst>
                  <a:gs pos="0">
                    <a:srgbClr val="00C4FF"/>
                  </a:gs>
                  <a:gs pos="100000">
                    <a:srgbClr val="57FFE3">
                      <a:alpha val="69539"/>
                    </a:srgbClr>
                  </a:gs>
                </a:gsLst>
                <a:lin ang="5400000" scaled="1"/>
              </a:gra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1DA702-9B01-6139-A28E-64F179805A97}"/>
              </a:ext>
            </a:extLst>
          </p:cNvPr>
          <p:cNvSpPr/>
          <p:nvPr/>
        </p:nvSpPr>
        <p:spPr>
          <a:xfrm>
            <a:off x="9573392" y="5008467"/>
            <a:ext cx="21109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spc="100" dirty="0" err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Decreto</a:t>
            </a:r>
            <a:r>
              <a:rPr lang="en-US" sz="1600" b="1" spc="100" dirty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nº 12.002/2024 – Técnica </a:t>
            </a:r>
            <a:r>
              <a:rPr lang="en-US" sz="1600" b="1" spc="100" dirty="0" err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normativa</a:t>
            </a:r>
            <a:endParaRPr lang="en-US" sz="1600" b="1" spc="100" dirty="0">
              <a:solidFill>
                <a:schemeClr val="bg1"/>
              </a:solidFill>
              <a:latin typeface="Poppins SemiBold" pitchFamily="2" charset="77"/>
              <a:cs typeface="Poppins SemiBold" pitchFamily="2" charset="7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9429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36">
            <a:extLst>
              <a:ext uri="{FF2B5EF4-FFF2-40B4-BE49-F238E27FC236}">
                <a16:creationId xmlns:a16="http://schemas.microsoft.com/office/drawing/2014/main" id="{BB454B81-187D-D843-93D1-98F546EE9AD3}"/>
              </a:ext>
            </a:extLst>
          </p:cNvPr>
          <p:cNvSpPr/>
          <p:nvPr/>
        </p:nvSpPr>
        <p:spPr>
          <a:xfrm rot="17258545" flipH="1">
            <a:off x="10299354" y="5064954"/>
            <a:ext cx="2474839" cy="1814534"/>
          </a:xfrm>
          <a:custGeom>
            <a:avLst/>
            <a:gdLst>
              <a:gd name="connsiteX0" fmla="*/ 0 w 2474839"/>
              <a:gd name="connsiteY0" fmla="*/ 1210984 h 1814534"/>
              <a:gd name="connsiteX1" fmla="*/ 1897756 w 2474839"/>
              <a:gd name="connsiteY1" fmla="*/ 1814534 h 1814534"/>
              <a:gd name="connsiteX2" fmla="*/ 2474839 w 2474839"/>
              <a:gd name="connsiteY2" fmla="*/ 0 h 18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4839" h="1814534">
                <a:moveTo>
                  <a:pt x="0" y="1210984"/>
                </a:moveTo>
                <a:lnTo>
                  <a:pt x="1897756" y="1814534"/>
                </a:lnTo>
                <a:lnTo>
                  <a:pt x="2474839" y="0"/>
                </a:lnTo>
                <a:close/>
              </a:path>
            </a:pathLst>
          </a:cu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 dirty="0"/>
          </a:p>
        </p:txBody>
      </p:sp>
      <p:sp>
        <p:nvSpPr>
          <p:cNvPr id="4" name="Freeform 21">
            <a:extLst>
              <a:ext uri="{FF2B5EF4-FFF2-40B4-BE49-F238E27FC236}">
                <a16:creationId xmlns:a16="http://schemas.microsoft.com/office/drawing/2014/main" id="{4B02309C-05BB-334A-7587-1AC1C07A6AB8}"/>
              </a:ext>
            </a:extLst>
          </p:cNvPr>
          <p:cNvSpPr/>
          <p:nvPr/>
        </p:nvSpPr>
        <p:spPr>
          <a:xfrm rot="7806294" flipH="1">
            <a:off x="-100023" y="5083537"/>
            <a:ext cx="1411038" cy="2863782"/>
          </a:xfrm>
          <a:custGeom>
            <a:avLst/>
            <a:gdLst>
              <a:gd name="connsiteX0" fmla="*/ 1411038 w 1411038"/>
              <a:gd name="connsiteY0" fmla="*/ 2863782 h 2863782"/>
              <a:gd name="connsiteX1" fmla="*/ 1411038 w 1411038"/>
              <a:gd name="connsiteY1" fmla="*/ 0 h 2863782"/>
              <a:gd name="connsiteX2" fmla="*/ 0 w 1411038"/>
              <a:gd name="connsiteY2" fmla="*/ 1675371 h 28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1038" h="2863782">
                <a:moveTo>
                  <a:pt x="1411038" y="2863782"/>
                </a:moveTo>
                <a:lnTo>
                  <a:pt x="1411038" y="0"/>
                </a:lnTo>
                <a:lnTo>
                  <a:pt x="0" y="1675371"/>
                </a:lnTo>
                <a:close/>
              </a:path>
            </a:pathLst>
          </a:custGeom>
          <a:solidFill>
            <a:srgbClr val="19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8659307C-E655-3F43-A6DE-A671F4157978}"/>
              </a:ext>
            </a:extLst>
          </p:cNvPr>
          <p:cNvSpPr/>
          <p:nvPr/>
        </p:nvSpPr>
        <p:spPr>
          <a:xfrm rot="12674045" flipH="1">
            <a:off x="1710388" y="-1305406"/>
            <a:ext cx="3911832" cy="4018012"/>
          </a:xfrm>
          <a:custGeom>
            <a:avLst/>
            <a:gdLst>
              <a:gd name="connsiteX0" fmla="*/ 0 w 3911832"/>
              <a:gd name="connsiteY0" fmla="*/ 1645740 h 4018012"/>
              <a:gd name="connsiteX1" fmla="*/ 3911832 w 3911832"/>
              <a:gd name="connsiteY1" fmla="*/ 4018012 h 4018012"/>
              <a:gd name="connsiteX2" fmla="*/ 3911832 w 3911832"/>
              <a:gd name="connsiteY2" fmla="*/ 332628 h 4018012"/>
              <a:gd name="connsiteX3" fmla="*/ 3363335 w 3911832"/>
              <a:gd name="connsiteY3" fmla="*/ 0 h 4018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1832" h="4018012">
                <a:moveTo>
                  <a:pt x="0" y="1645740"/>
                </a:moveTo>
                <a:lnTo>
                  <a:pt x="3911832" y="4018012"/>
                </a:lnTo>
                <a:lnTo>
                  <a:pt x="3911832" y="332628"/>
                </a:lnTo>
                <a:lnTo>
                  <a:pt x="3363335" y="0"/>
                </a:lnTo>
                <a:close/>
              </a:path>
            </a:pathLst>
          </a:custGeom>
          <a:solidFill>
            <a:schemeClr val="bg1">
              <a:lumMod val="9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165A78-9A68-6242-8E20-67F08ADD7AE9}"/>
              </a:ext>
            </a:extLst>
          </p:cNvPr>
          <p:cNvGrpSpPr/>
          <p:nvPr/>
        </p:nvGrpSpPr>
        <p:grpSpPr>
          <a:xfrm>
            <a:off x="5782240" y="236513"/>
            <a:ext cx="4984446" cy="2572845"/>
            <a:chOff x="5651807" y="902848"/>
            <a:chExt cx="4984446" cy="257284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AD3538-66EC-44BD-9F13-E8E3DA353DD0}"/>
                </a:ext>
              </a:extLst>
            </p:cNvPr>
            <p:cNvSpPr/>
            <p:nvPr/>
          </p:nvSpPr>
          <p:spPr>
            <a:xfrm>
              <a:off x="5651808" y="1387286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rPr>
                <a:t>Ciclo </a:t>
              </a:r>
              <a:r>
                <a:rPr lang="en-US" sz="3600" b="1" dirty="0" err="1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rPr>
                <a:t>Regulatório</a:t>
              </a:r>
              <a:endParaRPr lang="en-US" sz="3600" b="1" dirty="0">
                <a:solidFill>
                  <a:srgbClr val="203864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377946C-3863-4454-A69E-9BC0346B0A08}"/>
                </a:ext>
              </a:extLst>
            </p:cNvPr>
            <p:cNvSpPr/>
            <p:nvPr/>
          </p:nvSpPr>
          <p:spPr>
            <a:xfrm>
              <a:off x="5651807" y="2311849"/>
              <a:ext cx="4984446" cy="11638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pt-BR" sz="1200" dirty="0">
                  <a:solidFill>
                    <a:srgbClr val="203864"/>
                  </a:solidFill>
                  <a:latin typeface="Lato" panose="020F0502020204030203" pitchFamily="34" charset="77"/>
                  <a:ea typeface="Open Sans Light" panose="020B0306030504020204" pitchFamily="34" charset="0"/>
                  <a:cs typeface="Open Sans Light" panose="020B0306030504020204" pitchFamily="34" charset="0"/>
                </a:rPr>
                <a:t>O ciclo regulatório é um processo contínuo que se inicia, em regra, com a AIR para fundamentar a edição, revisão ou revogação de normas e se completa com a revisão do estoque regulatório, em dinâmica de retroalimentação.</a:t>
              </a:r>
              <a:endParaRPr lang="en-US" sz="1200" dirty="0">
                <a:solidFill>
                  <a:srgbClr val="203864"/>
                </a:solidFill>
                <a:latin typeface="Lato" panose="020F0502020204030203" pitchFamily="34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9EFA775-EC30-4F4C-9D4F-1B846ECF8BD6}"/>
                </a:ext>
              </a:extLst>
            </p:cNvPr>
            <p:cNvCxnSpPr>
              <a:cxnSpLocks/>
            </p:cNvCxnSpPr>
            <p:nvPr/>
          </p:nvCxnSpPr>
          <p:spPr>
            <a:xfrm>
              <a:off x="5765800" y="2070864"/>
              <a:ext cx="1536700" cy="0"/>
            </a:xfrm>
            <a:prstGeom prst="line">
              <a:avLst/>
            </a:prstGeom>
            <a:ln w="50800">
              <a:solidFill>
                <a:srgbClr val="0744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52F15C-C2BD-924E-A3B4-7F14D8275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3728" y="902848"/>
              <a:ext cx="962780" cy="1"/>
            </a:xfrm>
            <a:prstGeom prst="line">
              <a:avLst/>
            </a:prstGeom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Espaço Reservado para Imagem 13" descr="Uma imagem contendo água, navio, colorido, barco&#10;&#10;O conteúdo gerado por IA pode estar incorreto.">
            <a:extLst>
              <a:ext uri="{FF2B5EF4-FFF2-40B4-BE49-F238E27FC236}">
                <a16:creationId xmlns:a16="http://schemas.microsoft.com/office/drawing/2014/main" id="{26D34DCD-7E07-1259-0E20-1A6EDAC2FFE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22060" r="22060"/>
          <a:stretch>
            <a:fillRect/>
          </a:stretch>
        </p:blipFill>
        <p:spPr/>
      </p:pic>
      <p:sp>
        <p:nvSpPr>
          <p:cNvPr id="22" name="Freeform 21">
            <a:extLst>
              <a:ext uri="{FF2B5EF4-FFF2-40B4-BE49-F238E27FC236}">
                <a16:creationId xmlns:a16="http://schemas.microsoft.com/office/drawing/2014/main" id="{E5C85B58-6FFC-CE40-ABB8-785121005475}"/>
              </a:ext>
            </a:extLst>
          </p:cNvPr>
          <p:cNvSpPr/>
          <p:nvPr/>
        </p:nvSpPr>
        <p:spPr>
          <a:xfrm rot="7806294" flipH="1">
            <a:off x="-100025" y="5077043"/>
            <a:ext cx="1411038" cy="2863782"/>
          </a:xfrm>
          <a:custGeom>
            <a:avLst/>
            <a:gdLst>
              <a:gd name="connsiteX0" fmla="*/ 1411038 w 1411038"/>
              <a:gd name="connsiteY0" fmla="*/ 2863782 h 2863782"/>
              <a:gd name="connsiteX1" fmla="*/ 1411038 w 1411038"/>
              <a:gd name="connsiteY1" fmla="*/ 0 h 2863782"/>
              <a:gd name="connsiteX2" fmla="*/ 0 w 1411038"/>
              <a:gd name="connsiteY2" fmla="*/ 1675371 h 286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1038" h="2863782">
                <a:moveTo>
                  <a:pt x="1411038" y="2863782"/>
                </a:moveTo>
                <a:lnTo>
                  <a:pt x="1411038" y="0"/>
                </a:lnTo>
                <a:lnTo>
                  <a:pt x="0" y="1675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6F389A7-B3C7-104D-83B6-335910878E78}"/>
              </a:ext>
            </a:extLst>
          </p:cNvPr>
          <p:cNvSpPr/>
          <p:nvPr/>
        </p:nvSpPr>
        <p:spPr>
          <a:xfrm rot="7806294" flipH="1">
            <a:off x="851193" y="4628538"/>
            <a:ext cx="253973" cy="2863780"/>
          </a:xfrm>
          <a:custGeom>
            <a:avLst/>
            <a:gdLst>
              <a:gd name="connsiteX0" fmla="*/ 253973 w 253973"/>
              <a:gd name="connsiteY0" fmla="*/ 2863780 h 2863780"/>
              <a:gd name="connsiteX1" fmla="*/ 253973 w 253973"/>
              <a:gd name="connsiteY1" fmla="*/ 0 h 2863780"/>
              <a:gd name="connsiteX2" fmla="*/ 0 w 253973"/>
              <a:gd name="connsiteY2" fmla="*/ 301550 h 2863780"/>
              <a:gd name="connsiteX3" fmla="*/ 0 w 253973"/>
              <a:gd name="connsiteY3" fmla="*/ 2649878 h 2863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973" h="2863780">
                <a:moveTo>
                  <a:pt x="253973" y="2863780"/>
                </a:moveTo>
                <a:lnTo>
                  <a:pt x="253973" y="0"/>
                </a:lnTo>
                <a:lnTo>
                  <a:pt x="0" y="301550"/>
                </a:lnTo>
                <a:lnTo>
                  <a:pt x="0" y="2649878"/>
                </a:lnTo>
                <a:close/>
              </a:path>
            </a:pathLst>
          </a:cu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900"/>
          </a:p>
        </p:txBody>
      </p:sp>
      <p:sp>
        <p:nvSpPr>
          <p:cNvPr id="2" name="Freeform 34">
            <a:extLst>
              <a:ext uri="{FF2B5EF4-FFF2-40B4-BE49-F238E27FC236}">
                <a16:creationId xmlns:a16="http://schemas.microsoft.com/office/drawing/2014/main" id="{3EF93405-61DC-E828-F917-49BA6CD6CBA8}"/>
              </a:ext>
            </a:extLst>
          </p:cNvPr>
          <p:cNvSpPr/>
          <p:nvPr/>
        </p:nvSpPr>
        <p:spPr>
          <a:xfrm rot="17258545" flipH="1">
            <a:off x="10710913" y="5444988"/>
            <a:ext cx="1939292" cy="1421875"/>
          </a:xfrm>
          <a:custGeom>
            <a:avLst/>
            <a:gdLst>
              <a:gd name="connsiteX0" fmla="*/ 0 w 1939292"/>
              <a:gd name="connsiteY0" fmla="*/ 948931 h 1421875"/>
              <a:gd name="connsiteX1" fmla="*/ 1487088 w 1939292"/>
              <a:gd name="connsiteY1" fmla="*/ 1421875 h 1421875"/>
              <a:gd name="connsiteX2" fmla="*/ 1939292 w 1939292"/>
              <a:gd name="connsiteY2" fmla="*/ 0 h 142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9292" h="1421875">
                <a:moveTo>
                  <a:pt x="0" y="948931"/>
                </a:moveTo>
                <a:lnTo>
                  <a:pt x="1487088" y="1421875"/>
                </a:lnTo>
                <a:lnTo>
                  <a:pt x="193929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7000"/>
          </a:p>
        </p:txBody>
      </p: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BC96F227-80A5-5A08-E526-3241F401B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40" y="247910"/>
            <a:ext cx="1156841" cy="37500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7A08006-EF1B-B246-DBA4-539E51874B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37753" y="250955"/>
            <a:ext cx="1156840" cy="3750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2ED6FF-42C2-4E38-9B2F-3A313BB84C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673" y="2809358"/>
            <a:ext cx="4117967" cy="40073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1989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142938F6-96C2-B1B1-990F-9A422D1F386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14FF788-7A67-481C-A185-CB7966FBA9AA}"/>
              </a:ext>
            </a:extLst>
          </p:cNvPr>
          <p:cNvSpPr/>
          <p:nvPr/>
        </p:nvSpPr>
        <p:spPr>
          <a:xfrm>
            <a:off x="337515" y="-8967"/>
            <a:ext cx="7646426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DD188D-9A2F-7B49-A1CF-91EC0EDAB6D3}"/>
              </a:ext>
            </a:extLst>
          </p:cNvPr>
          <p:cNvGrpSpPr/>
          <p:nvPr/>
        </p:nvGrpSpPr>
        <p:grpSpPr>
          <a:xfrm>
            <a:off x="409430" y="858129"/>
            <a:ext cx="7574511" cy="4763016"/>
            <a:chOff x="1429296" y="1265558"/>
            <a:chExt cx="5869281" cy="542672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EC460EC-F3EC-5748-9410-A8884CBE8D5E}"/>
                </a:ext>
              </a:extLst>
            </p:cNvPr>
            <p:cNvGrpSpPr/>
            <p:nvPr/>
          </p:nvGrpSpPr>
          <p:grpSpPr>
            <a:xfrm>
              <a:off x="1544200" y="1650764"/>
              <a:ext cx="5583747" cy="5041522"/>
              <a:chOff x="928430" y="1679962"/>
              <a:chExt cx="5583747" cy="504152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1B61F4B-EA04-4F27-8605-6B119CEAF3A4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B7BD5FF-BE27-4C00-BC16-BA5680A958C8}"/>
                  </a:ext>
                </a:extLst>
              </p:cNvPr>
              <p:cNvSpPr/>
              <p:nvPr/>
            </p:nvSpPr>
            <p:spPr>
              <a:xfrm>
                <a:off x="928430" y="2870678"/>
                <a:ext cx="5583747" cy="3850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77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Segundo as Diretrizes Gerais e Guia Orientativo Para Elaboração de Análise de Impacto Regulatório (BRASIL, 2018) a AIR consiste “num processo sistemático de análise baseado em evidências que busca avaliar, a partir da definição de um problema regulatório, os possíveis impactos das alternativas de ação disponíveis para o alcance dos objetivos pretendidos”. </a:t>
                </a:r>
              </a:p>
              <a:p>
                <a:pPr algn="just">
                  <a:lnSpc>
                    <a:spcPct val="150000"/>
                  </a:lnSpc>
                </a:pPr>
                <a:endParaRPr lang="pt-BR" sz="1200" dirty="0">
                  <a:solidFill>
                    <a:srgbClr val="203864"/>
                  </a:solidFill>
                  <a:latin typeface="Lato" panose="020F0502020204030203" pitchFamily="34" charset="77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77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Objetivos:</a:t>
                </a: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77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Identificar o problema regulatório;</a:t>
                </a: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77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Avaliar alternativas (inclusive não ação);</a:t>
                </a: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77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Mensurar impactos;</a:t>
                </a: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77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Fundamentar decisão da autoridade.</a:t>
                </a:r>
              </a:p>
              <a:p>
                <a:pPr marL="171450" indent="-1714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1200" dirty="0">
                  <a:solidFill>
                    <a:srgbClr val="203864"/>
                  </a:solidFill>
                  <a:latin typeface="Lato" panose="020F0502020204030203" pitchFamily="34" charset="77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sz="1200" dirty="0">
                  <a:solidFill>
                    <a:srgbClr val="203864"/>
                  </a:solidFill>
                  <a:latin typeface="Lato" panose="020F0502020204030203" pitchFamily="34" charset="77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C7C3807-0FB7-F245-8021-4E0406574EE4}"/>
                </a:ext>
              </a:extLst>
            </p:cNvPr>
            <p:cNvGrpSpPr/>
            <p:nvPr/>
          </p:nvGrpSpPr>
          <p:grpSpPr>
            <a:xfrm>
              <a:off x="1429296" y="1265558"/>
              <a:ext cx="5869281" cy="1367591"/>
              <a:chOff x="4350179" y="-2127401"/>
              <a:chExt cx="5869281" cy="136759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92AF5CD-A350-644B-B738-4D7158AD1679}"/>
                  </a:ext>
                </a:extLst>
              </p:cNvPr>
              <p:cNvSpPr/>
              <p:nvPr/>
            </p:nvSpPr>
            <p:spPr>
              <a:xfrm>
                <a:off x="4350179" y="-2127401"/>
                <a:ext cx="5869281" cy="1367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Impacto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Regulatório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(AIR)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7979E29-19F8-BF40-8F24-32FD6A1D21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2F61EBBA-BBBF-2421-046D-E77BDBF19F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28749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6EE60-7E6B-F326-4F25-FE50A9AA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82AC9FCA-4358-25B9-8752-451BE2F325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ECF165D-E0E9-3CE5-E419-C61D9C9FDB11}"/>
              </a:ext>
            </a:extLst>
          </p:cNvPr>
          <p:cNvSpPr/>
          <p:nvPr/>
        </p:nvSpPr>
        <p:spPr>
          <a:xfrm>
            <a:off x="337514" y="-8967"/>
            <a:ext cx="8970259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BA1224-F5B2-9828-938E-B1E11A71B2BE}"/>
              </a:ext>
            </a:extLst>
          </p:cNvPr>
          <p:cNvGrpSpPr/>
          <p:nvPr/>
        </p:nvGrpSpPr>
        <p:grpSpPr>
          <a:xfrm>
            <a:off x="409430" y="858129"/>
            <a:ext cx="8816455" cy="905376"/>
            <a:chOff x="1429296" y="1265558"/>
            <a:chExt cx="6831629" cy="10315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FA2BCB-200A-5EBC-D8BC-386DE5D90031}"/>
                </a:ext>
              </a:extLst>
            </p:cNvPr>
            <p:cNvSpPr/>
            <p:nvPr/>
          </p:nvSpPr>
          <p:spPr>
            <a:xfrm>
              <a:off x="1587926" y="1650764"/>
              <a:ext cx="498444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BD6C4DB-1F61-5228-DA86-B795E6943E5F}"/>
                </a:ext>
              </a:extLst>
            </p:cNvPr>
            <p:cNvGrpSpPr/>
            <p:nvPr/>
          </p:nvGrpSpPr>
          <p:grpSpPr>
            <a:xfrm>
              <a:off x="1429296" y="1265558"/>
              <a:ext cx="6831629" cy="736395"/>
              <a:chOff x="4350179" y="-2127401"/>
              <a:chExt cx="6831629" cy="73639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8198460-A79E-3A00-8FB4-9BED83FB5A72}"/>
                  </a:ext>
                </a:extLst>
              </p:cNvPr>
              <p:cNvSpPr/>
              <p:nvPr/>
            </p:nvSpPr>
            <p:spPr>
              <a:xfrm>
                <a:off x="4350179" y="-2127401"/>
                <a:ext cx="6831629" cy="7363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Impacto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Regulatório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(AIR)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421B27E-C5BA-83DB-6B58-C4EFBFB5F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18CDFDC9-5E9A-CDA3-A85D-8985FB410A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8EB2BE-E5A1-3861-44E7-72DFBAA08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48" y="1479863"/>
            <a:ext cx="8294586" cy="54035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4239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0ABFF-5314-5242-2D01-467963C9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F0C117C9-9A41-3358-AA26-C5A1D6D518A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C10D4D6-DACD-94E5-C7CC-3E70F1038A54}"/>
              </a:ext>
            </a:extLst>
          </p:cNvPr>
          <p:cNvSpPr/>
          <p:nvPr/>
        </p:nvSpPr>
        <p:spPr>
          <a:xfrm>
            <a:off x="337514" y="-8967"/>
            <a:ext cx="1144505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B743ED-0315-909E-71B8-B1A085E4AA80}"/>
              </a:ext>
            </a:extLst>
          </p:cNvPr>
          <p:cNvGrpSpPr/>
          <p:nvPr/>
        </p:nvGrpSpPr>
        <p:grpSpPr>
          <a:xfrm>
            <a:off x="409430" y="858129"/>
            <a:ext cx="6637317" cy="1200329"/>
            <a:chOff x="1429296" y="1265558"/>
            <a:chExt cx="5143075" cy="136759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FA864F7-BABB-5FF6-EF94-1A032BA6A803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BDA563C-A7F3-C89C-F83F-83B046BA517E}"/>
                </a:ext>
              </a:extLst>
            </p:cNvPr>
            <p:cNvGrpSpPr/>
            <p:nvPr/>
          </p:nvGrpSpPr>
          <p:grpSpPr>
            <a:xfrm>
              <a:off x="1429296" y="1265558"/>
              <a:ext cx="3733075" cy="1367591"/>
              <a:chOff x="4350179" y="-2127401"/>
              <a:chExt cx="3733075" cy="136759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D488BD-986D-1016-0BD7-62A5B9278F0E}"/>
                  </a:ext>
                </a:extLst>
              </p:cNvPr>
              <p:cNvSpPr/>
              <p:nvPr/>
            </p:nvSpPr>
            <p:spPr>
              <a:xfrm>
                <a:off x="4350179" y="-2127401"/>
                <a:ext cx="3733075" cy="1367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Impacto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Regulatório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(AIR)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1C67D44-1434-94B4-B6AE-3300D879F8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5422C874-A12A-C731-A249-E397C2D9CA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E465A3-A974-EED1-12C2-55F3D9C69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9799" y="-140499"/>
            <a:ext cx="8270944" cy="69857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DB9805-2E5B-08AA-1231-E8B95D1314C0}"/>
              </a:ext>
            </a:extLst>
          </p:cNvPr>
          <p:cNvSpPr txBox="1"/>
          <p:nvPr/>
        </p:nvSpPr>
        <p:spPr>
          <a:xfrm>
            <a:off x="761257" y="3992925"/>
            <a:ext cx="3715209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OBS1: </a:t>
            </a:r>
            <a:r>
              <a:rPr lang="pt-BR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dispensa de AIR exige nota técnica fundamentada;</a:t>
            </a:r>
          </a:p>
          <a:p>
            <a:pPr algn="just"/>
            <a:endParaRPr lang="pt-BR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pt-BR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OBS2: </a:t>
            </a:r>
            <a:r>
              <a:rPr lang="pt-BR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 dispensa em situação de urgência a nota técnica deverá </a:t>
            </a:r>
            <a:r>
              <a:rPr lang="pt-BR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identificar o problema regulatório </a:t>
            </a:r>
            <a:r>
              <a:rPr lang="pt-BR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 </a:t>
            </a:r>
            <a:r>
              <a:rPr lang="pt-BR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os objetivos </a:t>
            </a:r>
            <a:r>
              <a:rPr lang="pt-BR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 se pretendem alcançar, de modo a </a:t>
            </a:r>
            <a:r>
              <a:rPr lang="pt-BR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subsidiar a ARR </a:t>
            </a:r>
            <a:r>
              <a:rPr lang="pt-BR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 até 3 anos da entrada em vigor do ato normativo.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0936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275E2-6FAD-F7A0-4FB5-0AF76E62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E37331BB-2A80-853F-94BB-2218E4BA34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D18B525-8EB6-50B2-F5A6-9B2BF5F7C1EC}"/>
              </a:ext>
            </a:extLst>
          </p:cNvPr>
          <p:cNvSpPr/>
          <p:nvPr/>
        </p:nvSpPr>
        <p:spPr>
          <a:xfrm>
            <a:off x="337514" y="-8967"/>
            <a:ext cx="1144505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EDEEE9-6464-9841-1249-23C3F8A7624E}"/>
              </a:ext>
            </a:extLst>
          </p:cNvPr>
          <p:cNvGrpSpPr/>
          <p:nvPr/>
        </p:nvGrpSpPr>
        <p:grpSpPr>
          <a:xfrm>
            <a:off x="409430" y="724125"/>
            <a:ext cx="9730857" cy="1039380"/>
            <a:chOff x="1429296" y="1112881"/>
            <a:chExt cx="7540174" cy="118421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446A425-D832-C54E-EF60-D8BD26D5ACBA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F14D12C-842C-8DCD-F2D6-DF882F87112D}"/>
                </a:ext>
              </a:extLst>
            </p:cNvPr>
            <p:cNvGrpSpPr/>
            <p:nvPr/>
          </p:nvGrpSpPr>
          <p:grpSpPr>
            <a:xfrm>
              <a:off x="1429296" y="1112881"/>
              <a:ext cx="7540174" cy="736395"/>
              <a:chOff x="4350179" y="-2280078"/>
              <a:chExt cx="7540174" cy="73639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84C823F-57D2-CE02-DB1E-FA87C1BCFFB2}"/>
                  </a:ext>
                </a:extLst>
              </p:cNvPr>
              <p:cNvSpPr/>
              <p:nvPr/>
            </p:nvSpPr>
            <p:spPr>
              <a:xfrm>
                <a:off x="4350179" y="-2280078"/>
                <a:ext cx="7540174" cy="7363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Impacto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Regulatório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(AIR)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03B805C-3875-3275-3E95-CB0E0F3875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57608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1410B71F-3B67-292B-5E53-C7DFD00B0D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0EA112-B75E-755F-33C9-B463DE2FF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058520"/>
              </p:ext>
            </p:extLst>
          </p:nvPr>
        </p:nvGraphicFramePr>
        <p:xfrm>
          <a:off x="409430" y="1432233"/>
          <a:ext cx="11168422" cy="5298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168422">
                  <a:extLst>
                    <a:ext uri="{9D8B030D-6E8A-4147-A177-3AD203B41FA5}">
                      <a16:colId xmlns:a16="http://schemas.microsoft.com/office/drawing/2014/main" val="1240777163"/>
                    </a:ext>
                  </a:extLst>
                </a:gridCol>
              </a:tblGrid>
              <a:tr h="22483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Relatório de AIR: art. 6º do Decreto nº 10.411/2020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653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 – Sumário executivo;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432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II – Identificação do problema regulatório;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824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III – Identificação dos atores e grupos afetados;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546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IV – Identificação da fundamentação legal;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301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 – Definição dos objetivos a serem alcançados;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175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VI - 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 Descrição das alternativas possíveis, consideradas as opções de não ação, de soluções normativas e de, sempre que possível, soluções não normativas;</a:t>
                      </a:r>
                      <a:endParaRPr lang="pt-BR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1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VII - 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Exposição dos possíveis impactos das alternativas identificadas, inclusive quanto aos seus custos regulatórios;</a:t>
                      </a:r>
                      <a:endParaRPr lang="pt-BR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04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VII-A - 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Os impactos sobre as microempresas e as empresas de pequeno porte;</a:t>
                      </a:r>
                      <a:endParaRPr lang="pt-BR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161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VIII - C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onsiderações referentes às informações e às manifestações recebidas para a AIR em eventuais processos de participação social; </a:t>
                      </a:r>
                      <a:endParaRPr lang="pt-BR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168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IX - 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Mapeamento da experiência internacional quanto às medidas adotadas para a resolução do problema regulatório identificado;</a:t>
                      </a:r>
                      <a:endParaRPr lang="pt-BR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48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 - 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Identificação e definição dos efeitos e riscos decorrentes da edição, da alteração ou da revogação do ato normativo;</a:t>
                      </a:r>
                      <a:endParaRPr lang="pt-BR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461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XI - C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omparação das alternativas consideradas, acompanhada de análise fundamentada que contenha a metodologia específica escolhida para o caso concreto e a alternativa ou a combinação de alternativas sugerida; </a:t>
                      </a:r>
                      <a:endParaRPr lang="pt-BR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849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2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XII - 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Descrição da estratégia para implementação, monitoramento e avaliação a serem adotadas e, quando couber, avaliação quanto à necessidade de alteração ou de revogação de normas vigentes.</a:t>
                      </a:r>
                      <a:endParaRPr lang="pt-BR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59468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18622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D39B6-D69C-5672-4802-CC54DAA7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 descr="Corpo de água&#10;&#10;O conteúdo gerado por IA pode estar incorreto.">
            <a:extLst>
              <a:ext uri="{FF2B5EF4-FFF2-40B4-BE49-F238E27FC236}">
                <a16:creationId xmlns:a16="http://schemas.microsoft.com/office/drawing/2014/main" id="{BD7167BE-C849-D953-951F-6D8F2824537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871" b="7871"/>
          <a:stretch>
            <a:fillRect/>
          </a:stretch>
        </p:blipFill>
        <p:spPr>
          <a:xfrm>
            <a:off x="0" y="12700"/>
            <a:ext cx="12192000" cy="684903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DF66DB-2297-75DF-0B55-741F5E6943F0}"/>
              </a:ext>
            </a:extLst>
          </p:cNvPr>
          <p:cNvSpPr/>
          <p:nvPr/>
        </p:nvSpPr>
        <p:spPr>
          <a:xfrm>
            <a:off x="337514" y="-8967"/>
            <a:ext cx="1144505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8D3ACB-521C-09FB-A5C7-345320DE839A}"/>
              </a:ext>
            </a:extLst>
          </p:cNvPr>
          <p:cNvGrpSpPr/>
          <p:nvPr/>
        </p:nvGrpSpPr>
        <p:grpSpPr>
          <a:xfrm>
            <a:off x="409430" y="858129"/>
            <a:ext cx="9348719" cy="905376"/>
            <a:chOff x="1429296" y="1265558"/>
            <a:chExt cx="7244066" cy="10315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B2830D8-5FE6-DC06-7329-86E2B83B4451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9DE73E7-CF0F-D83F-A842-9330240B699B}"/>
                </a:ext>
              </a:extLst>
            </p:cNvPr>
            <p:cNvGrpSpPr/>
            <p:nvPr/>
          </p:nvGrpSpPr>
          <p:grpSpPr>
            <a:xfrm>
              <a:off x="1429296" y="1265558"/>
              <a:ext cx="7244066" cy="736395"/>
              <a:chOff x="4350179" y="-2127401"/>
              <a:chExt cx="7244066" cy="73639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E87EC2B-589D-4266-89CB-0B1CEB292749}"/>
                  </a:ext>
                </a:extLst>
              </p:cNvPr>
              <p:cNvSpPr/>
              <p:nvPr/>
            </p:nvSpPr>
            <p:spPr>
              <a:xfrm>
                <a:off x="4350179" y="-2127401"/>
                <a:ext cx="7244066" cy="7363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Análise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Impacto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Regulatório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(AIR)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41EB418-1D47-BC25-01EA-C6E3F497D9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40579A1C-5481-4DCF-C62A-B8170D3B7D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4CFF6C-D5B7-0882-8E02-EB16CFB59D62}"/>
              </a:ext>
            </a:extLst>
          </p:cNvPr>
          <p:cNvSpPr/>
          <p:nvPr/>
        </p:nvSpPr>
        <p:spPr>
          <a:xfrm>
            <a:off x="472797" y="1618068"/>
            <a:ext cx="5812688" cy="2595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rgbClr val="203864"/>
                </a:solidFill>
                <a:latin typeface="Lato" panose="020F0502020204030203" pitchFamily="34" charset="77"/>
                <a:ea typeface="Open Sans Light" panose="020B0306030504020204" pitchFamily="34" charset="0"/>
                <a:cs typeface="Open Sans Light" panose="020B0306030504020204" pitchFamily="34" charset="0"/>
              </a:rPr>
              <a:t>Participação Social e Transparência:</a:t>
            </a:r>
          </a:p>
          <a:p>
            <a:pPr algn="just">
              <a:lnSpc>
                <a:spcPct val="150000"/>
              </a:lnSpc>
            </a:pPr>
            <a:endParaRPr lang="pt-BR" sz="1200" dirty="0">
              <a:solidFill>
                <a:srgbClr val="203864"/>
              </a:solidFill>
              <a:latin typeface="Lato" panose="020F0502020204030203" pitchFamily="34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203864"/>
                </a:solidFill>
                <a:latin typeface="Lato" panose="020F0502020204030203" pitchFamily="34" charset="77"/>
                <a:ea typeface="Open Sans Light" panose="020B0306030504020204" pitchFamily="34" charset="0"/>
                <a:cs typeface="Open Sans Light" panose="020B0306030504020204" pitchFamily="34" charset="0"/>
              </a:rPr>
              <a:t>Participação social na fase de AIR não é obrigatória, mas é uma boa prática regulatória;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203864"/>
                </a:solidFill>
                <a:latin typeface="Lato" panose="020F0502020204030203" pitchFamily="34" charset="77"/>
                <a:ea typeface="Open Sans Light" panose="020B0306030504020204" pitchFamily="34" charset="0"/>
                <a:cs typeface="Open Sans Light" panose="020B0306030504020204" pitchFamily="34" charset="0"/>
              </a:rPr>
              <a:t>Na ANTAQ, realiza-se Tomada de Subsídios pelo período de 30 dias;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203864"/>
                </a:solidFill>
                <a:latin typeface="Lato" panose="020F0502020204030203" pitchFamily="34" charset="77"/>
                <a:ea typeface="Open Sans Light" panose="020B0306030504020204" pitchFamily="34" charset="0"/>
                <a:cs typeface="Open Sans Light" panose="020B0306030504020204" pitchFamily="34" charset="0"/>
              </a:rPr>
              <a:t>Site da ANTAQ: Relatórios de AIR, Documentos de Dispensa de AIR;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203864"/>
                </a:solidFill>
                <a:latin typeface="Lato" panose="020F0502020204030203" pitchFamily="34" charset="77"/>
                <a:ea typeface="Open Sans Light" panose="020B0306030504020204" pitchFamily="34" charset="0"/>
                <a:cs typeface="Open Sans Light" panose="020B0306030504020204" pitchFamily="34" charset="0"/>
              </a:rPr>
              <a:t>Painel de AIR e ARR.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 dirty="0">
              <a:solidFill>
                <a:srgbClr val="203864"/>
              </a:solidFill>
              <a:latin typeface="Lato" panose="020F0502020204030203" pitchFamily="34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solidFill>
                <a:srgbClr val="203864"/>
              </a:solidFill>
              <a:latin typeface="Lato" panose="020F0502020204030203" pitchFamily="34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3E5F1A-135F-8A67-EE7C-92DDD6192E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485" y="1526127"/>
            <a:ext cx="4787804" cy="26711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A8B9D1-1248-B73A-B216-D4EA313BC2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423" y="3704352"/>
            <a:ext cx="4918935" cy="29956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C3A449-2864-4A3D-E85C-AA99F6CDB0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4225" y="3673487"/>
            <a:ext cx="3932445" cy="29956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2878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D2BE83D-714D-46F5-93AA-4BAFF6F53314}"/>
              </a:ext>
            </a:extLst>
          </p:cNvPr>
          <p:cNvSpPr/>
          <p:nvPr/>
        </p:nvSpPr>
        <p:spPr>
          <a:xfrm>
            <a:off x="9573521" y="0"/>
            <a:ext cx="1410888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27" name="Imagem 26" descr="Guindaste ao lado de barco na água&#10;&#10;O conteúdo gerado por IA pode estar incorreto.">
            <a:extLst>
              <a:ext uri="{FF2B5EF4-FFF2-40B4-BE49-F238E27FC236}">
                <a16:creationId xmlns:a16="http://schemas.microsoft.com/office/drawing/2014/main" id="{3C60A5AD-E981-EB69-1001-93B51C9739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83" r="1111"/>
          <a:stretch>
            <a:fillRect/>
          </a:stretch>
        </p:blipFill>
        <p:spPr>
          <a:xfrm>
            <a:off x="10123678" y="0"/>
            <a:ext cx="2068322" cy="685800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46E57053-F6EC-5902-FE80-5503AE832B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grpSp>
        <p:nvGrpSpPr>
          <p:cNvPr id="41" name="Group 5">
            <a:extLst>
              <a:ext uri="{FF2B5EF4-FFF2-40B4-BE49-F238E27FC236}">
                <a16:creationId xmlns:a16="http://schemas.microsoft.com/office/drawing/2014/main" id="{1E350665-43AB-33C8-2D6D-0BE4713C603F}"/>
              </a:ext>
            </a:extLst>
          </p:cNvPr>
          <p:cNvGrpSpPr/>
          <p:nvPr/>
        </p:nvGrpSpPr>
        <p:grpSpPr>
          <a:xfrm>
            <a:off x="927157" y="1080119"/>
            <a:ext cx="4859494" cy="3307114"/>
            <a:chOff x="1587924" y="1265558"/>
            <a:chExt cx="8245872" cy="1714409"/>
          </a:xfrm>
        </p:grpSpPr>
        <p:grpSp>
          <p:nvGrpSpPr>
            <p:cNvPr id="48" name="Group 1">
              <a:extLst>
                <a:ext uri="{FF2B5EF4-FFF2-40B4-BE49-F238E27FC236}">
                  <a16:creationId xmlns:a16="http://schemas.microsoft.com/office/drawing/2014/main" id="{FC3504CD-F030-DEB3-BEC0-CD488FF87D45}"/>
                </a:ext>
              </a:extLst>
            </p:cNvPr>
            <p:cNvGrpSpPr/>
            <p:nvPr/>
          </p:nvGrpSpPr>
          <p:grpSpPr>
            <a:xfrm>
              <a:off x="1587924" y="1650764"/>
              <a:ext cx="8245872" cy="1329203"/>
              <a:chOff x="972154" y="1679962"/>
              <a:chExt cx="8245872" cy="1329203"/>
            </a:xfrm>
          </p:grpSpPr>
          <p:sp>
            <p:nvSpPr>
              <p:cNvPr id="53" name="Rectangle 3">
                <a:extLst>
                  <a:ext uri="{FF2B5EF4-FFF2-40B4-BE49-F238E27FC236}">
                    <a16:creationId xmlns:a16="http://schemas.microsoft.com/office/drawing/2014/main" id="{742CFA16-D237-3BCE-A33C-38283FAC4FD5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4" name="Rectangle 4">
                <a:extLst>
                  <a:ext uri="{FF2B5EF4-FFF2-40B4-BE49-F238E27FC236}">
                    <a16:creationId xmlns:a16="http://schemas.microsoft.com/office/drawing/2014/main" id="{6D1D39B2-8582-069C-EBB5-4AD58A83B1AC}"/>
                  </a:ext>
                </a:extLst>
              </p:cNvPr>
              <p:cNvSpPr/>
              <p:nvPr/>
            </p:nvSpPr>
            <p:spPr>
              <a:xfrm>
                <a:off x="972154" y="2118635"/>
                <a:ext cx="8245872" cy="890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77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Quando a solução é a edição ou revisão de um ato normativo:</a:t>
                </a:r>
              </a:p>
              <a:p>
                <a:pPr algn="just">
                  <a:lnSpc>
                    <a:spcPct val="150000"/>
                  </a:lnSpc>
                </a:pPr>
                <a:endParaRPr lang="pt-BR" sz="1200" dirty="0">
                  <a:solidFill>
                    <a:srgbClr val="203864"/>
                  </a:solidFill>
                  <a:latin typeface="Lato" panose="020F0502020204030203" pitchFamily="34" charset="77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77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Elaborar minuta de norma;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77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Redação conforme técnica legislativa: Decreto nº 12.002/2024;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77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Submissão à consulta pública antes da deliberação da autoridade decisória.</a:t>
                </a:r>
                <a:endParaRPr lang="en-US" sz="1200" dirty="0">
                  <a:solidFill>
                    <a:srgbClr val="203864"/>
                  </a:solidFill>
                  <a:latin typeface="Lato" panose="020F0502020204030203" pitchFamily="34" charset="77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</p:grpSp>
        <p:grpSp>
          <p:nvGrpSpPr>
            <p:cNvPr id="50" name="Group 2">
              <a:extLst>
                <a:ext uri="{FF2B5EF4-FFF2-40B4-BE49-F238E27FC236}">
                  <a16:creationId xmlns:a16="http://schemas.microsoft.com/office/drawing/2014/main" id="{67FEC8D4-6801-B8E1-6F57-9B23A7C56338}"/>
                </a:ext>
              </a:extLst>
            </p:cNvPr>
            <p:cNvGrpSpPr/>
            <p:nvPr/>
          </p:nvGrpSpPr>
          <p:grpSpPr>
            <a:xfrm>
              <a:off x="1587926" y="1265558"/>
              <a:ext cx="4216092" cy="646331"/>
              <a:chOff x="4508809" y="-2127401"/>
              <a:chExt cx="4216092" cy="646331"/>
            </a:xfrm>
          </p:grpSpPr>
          <p:sp>
            <p:nvSpPr>
              <p:cNvPr id="51" name="Rectangle 12">
                <a:extLst>
                  <a:ext uri="{FF2B5EF4-FFF2-40B4-BE49-F238E27FC236}">
                    <a16:creationId xmlns:a16="http://schemas.microsoft.com/office/drawing/2014/main" id="{1E415D1D-BC78-A793-B418-D5EDBD0A8D19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421609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Minuta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de norma</a:t>
                </a:r>
              </a:p>
            </p:txBody>
          </p:sp>
          <p:cxnSp>
            <p:nvCxnSpPr>
              <p:cNvPr id="52" name="Straight Connector 13">
                <a:extLst>
                  <a:ext uri="{FF2B5EF4-FFF2-40B4-BE49-F238E27FC236}">
                    <a16:creationId xmlns:a16="http://schemas.microsoft.com/office/drawing/2014/main" id="{4CB50237-45BA-D4BD-8B2D-90A04A97A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96DA54C-D30F-92A9-CAF0-95A8AB533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489046"/>
            <a:ext cx="3202443" cy="44978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63145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1EEA5-5E3E-5FCE-B6B3-661FCEABE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D3D655D-DED6-5A72-8CEA-C3E65F980B1C}"/>
              </a:ext>
            </a:extLst>
          </p:cNvPr>
          <p:cNvSpPr/>
          <p:nvPr/>
        </p:nvSpPr>
        <p:spPr>
          <a:xfrm>
            <a:off x="9573521" y="0"/>
            <a:ext cx="1410888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27" name="Imagem 26" descr="Guindaste ao lado de barco na água&#10;&#10;O conteúdo gerado por IA pode estar incorreto.">
            <a:extLst>
              <a:ext uri="{FF2B5EF4-FFF2-40B4-BE49-F238E27FC236}">
                <a16:creationId xmlns:a16="http://schemas.microsoft.com/office/drawing/2014/main" id="{2A7695C7-0424-B005-5FA5-F7ACF321F1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83" r="1111"/>
          <a:stretch>
            <a:fillRect/>
          </a:stretch>
        </p:blipFill>
        <p:spPr>
          <a:xfrm>
            <a:off x="10123678" y="0"/>
            <a:ext cx="2068322" cy="685800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DD05CEC7-F353-5934-D5DB-1DA8CC31ED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grpSp>
        <p:nvGrpSpPr>
          <p:cNvPr id="41" name="Group 5">
            <a:extLst>
              <a:ext uri="{FF2B5EF4-FFF2-40B4-BE49-F238E27FC236}">
                <a16:creationId xmlns:a16="http://schemas.microsoft.com/office/drawing/2014/main" id="{F8E97E43-AB0B-1697-9343-0D1E8B390B85}"/>
              </a:ext>
            </a:extLst>
          </p:cNvPr>
          <p:cNvGrpSpPr/>
          <p:nvPr/>
        </p:nvGrpSpPr>
        <p:grpSpPr>
          <a:xfrm>
            <a:off x="444617" y="746947"/>
            <a:ext cx="8985985" cy="4155406"/>
            <a:chOff x="1489135" y="1265558"/>
            <a:chExt cx="8841508" cy="2154165"/>
          </a:xfrm>
        </p:grpSpPr>
        <p:grpSp>
          <p:nvGrpSpPr>
            <p:cNvPr id="48" name="Group 1">
              <a:extLst>
                <a:ext uri="{FF2B5EF4-FFF2-40B4-BE49-F238E27FC236}">
                  <a16:creationId xmlns:a16="http://schemas.microsoft.com/office/drawing/2014/main" id="{EDC50A8E-218C-4951-3DA8-2B7EE5DBA6B0}"/>
                </a:ext>
              </a:extLst>
            </p:cNvPr>
            <p:cNvGrpSpPr/>
            <p:nvPr/>
          </p:nvGrpSpPr>
          <p:grpSpPr>
            <a:xfrm>
              <a:off x="1489135" y="1646839"/>
              <a:ext cx="8841508" cy="1772884"/>
              <a:chOff x="873365" y="1676037"/>
              <a:chExt cx="8841508" cy="1772884"/>
            </a:xfrm>
          </p:grpSpPr>
          <p:sp>
            <p:nvSpPr>
              <p:cNvPr id="53" name="Rectangle 3">
                <a:extLst>
                  <a:ext uri="{FF2B5EF4-FFF2-40B4-BE49-F238E27FC236}">
                    <a16:creationId xmlns:a16="http://schemas.microsoft.com/office/drawing/2014/main" id="{563A09F6-082C-6F70-542D-B7F15F971097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4" name="Rectangle 4">
                <a:extLst>
                  <a:ext uri="{FF2B5EF4-FFF2-40B4-BE49-F238E27FC236}">
                    <a16:creationId xmlns:a16="http://schemas.microsoft.com/office/drawing/2014/main" id="{C4306E17-0B66-1EFA-B5EE-CC25D5A6707A}"/>
                  </a:ext>
                </a:extLst>
              </p:cNvPr>
              <p:cNvSpPr/>
              <p:nvPr/>
            </p:nvSpPr>
            <p:spPr>
              <a:xfrm>
                <a:off x="873365" y="1676037"/>
                <a:ext cx="8841508" cy="177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Instrumento de apoio à decisão: permite a sociedade enviar críticas e sugestões sobre a proposta normativa.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pt-BR" sz="1200" dirty="0">
                  <a:solidFill>
                    <a:srgbClr val="20386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            </a:t>
                </a:r>
                <a:r>
                  <a:rPr lang="pt-BR" sz="1200" b="1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início: </a:t>
                </a:r>
                <a:r>
                  <a:rPr lang="pt-BR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Publicação no DOU + divulgação no site do órgão.</a:t>
                </a:r>
                <a:endParaRPr lang="pt-BR" sz="1200" dirty="0">
                  <a:solidFill>
                    <a:srgbClr val="20386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pt-BR" sz="1200" dirty="0">
                  <a:solidFill>
                    <a:srgbClr val="20386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            </a:t>
                </a:r>
                <a:r>
                  <a:rPr lang="pt-BR" sz="1200" b="1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prazo:</a:t>
                </a: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60 dias</a:t>
                </a:r>
                <a:r>
                  <a:rPr lang="pt-BR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– impacto relevante no comércio internacional e </a:t>
                </a:r>
                <a:r>
                  <a:rPr lang="pt-BR" sz="1200" b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45 dias – demais casos</a:t>
                </a:r>
                <a:r>
                  <a:rPr lang="pt-BR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</a:t>
                </a:r>
                <a:endParaRPr lang="pt-BR" sz="1200" dirty="0">
                  <a:solidFill>
                    <a:srgbClr val="20386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pt-BR" sz="1200" dirty="0">
                  <a:solidFill>
                    <a:srgbClr val="20386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            </a:t>
                </a:r>
                <a:r>
                  <a:rPr lang="pt-BR" sz="1200" b="1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documentos disponibilizados: </a:t>
                </a: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minuta do ato normativo, Relatório de AIR, estudos e dados técnicos e informações para contato institucional.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           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                                 </a:t>
                </a:r>
                <a:r>
                  <a:rPr lang="pt-BR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As contribuições </a:t>
                </a:r>
                <a:r>
                  <a:rPr lang="pt-BR" sz="1200" b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não vinculam</a:t>
                </a:r>
                <a:r>
                  <a:rPr lang="pt-BR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a decisão final da autoridade reguladora;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sz="1200" dirty="0">
                    <a:solidFill>
                      <a:srgbClr val="20386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                                 Por decisão colegiada, poderá ser convocada audiência pública.</a:t>
                </a:r>
              </a:p>
              <a:p>
                <a:pPr algn="just">
                  <a:lnSpc>
                    <a:spcPct val="150000"/>
                  </a:lnSpc>
                </a:pPr>
                <a:endParaRPr lang="pt-BR" sz="1400" dirty="0">
                  <a:solidFill>
                    <a:srgbClr val="203864"/>
                  </a:solidFill>
                  <a:latin typeface="Lato" panose="020F0502020204030203" pitchFamily="34" charset="77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</p:grpSp>
        <p:grpSp>
          <p:nvGrpSpPr>
            <p:cNvPr id="50" name="Group 2">
              <a:extLst>
                <a:ext uri="{FF2B5EF4-FFF2-40B4-BE49-F238E27FC236}">
                  <a16:creationId xmlns:a16="http://schemas.microsoft.com/office/drawing/2014/main" id="{79C89B45-AA58-A213-3EE5-854FE6F03B87}"/>
                </a:ext>
              </a:extLst>
            </p:cNvPr>
            <p:cNvGrpSpPr/>
            <p:nvPr/>
          </p:nvGrpSpPr>
          <p:grpSpPr>
            <a:xfrm>
              <a:off x="1587926" y="1265558"/>
              <a:ext cx="4216092" cy="335058"/>
              <a:chOff x="4508809" y="-2127401"/>
              <a:chExt cx="4216092" cy="335058"/>
            </a:xfrm>
          </p:grpSpPr>
          <p:sp>
            <p:nvSpPr>
              <p:cNvPr id="51" name="Rectangle 12">
                <a:extLst>
                  <a:ext uri="{FF2B5EF4-FFF2-40B4-BE49-F238E27FC236}">
                    <a16:creationId xmlns:a16="http://schemas.microsoft.com/office/drawing/2014/main" id="{3CA824B5-AFCF-BB72-FB3F-7507AB9AA96B}"/>
                  </a:ext>
                </a:extLst>
              </p:cNvPr>
              <p:cNvSpPr/>
              <p:nvPr/>
            </p:nvSpPr>
            <p:spPr>
              <a:xfrm>
                <a:off x="4508809" y="-2127401"/>
                <a:ext cx="4216092" cy="3350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Consulta Pública</a:t>
                </a:r>
              </a:p>
            </p:txBody>
          </p:sp>
          <p:cxnSp>
            <p:nvCxnSpPr>
              <p:cNvPr id="52" name="Straight Connector 13">
                <a:extLst>
                  <a:ext uri="{FF2B5EF4-FFF2-40B4-BE49-F238E27FC236}">
                    <a16:creationId xmlns:a16="http://schemas.microsoft.com/office/drawing/2014/main" id="{49E90DC5-5097-D7BE-8C00-D9A27B94B9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848556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99" name="Graphic 398" descr="Daily calendar with solid fill">
            <a:extLst>
              <a:ext uri="{FF2B5EF4-FFF2-40B4-BE49-F238E27FC236}">
                <a16:creationId xmlns:a16="http://schemas.microsoft.com/office/drawing/2014/main" id="{CA4DE719-6824-BED3-CEAE-76C0E1544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6363" y="1840090"/>
            <a:ext cx="540307" cy="540307"/>
          </a:xfrm>
          <a:prstGeom prst="rect">
            <a:avLst/>
          </a:prstGeom>
        </p:spPr>
      </p:pic>
      <p:pic>
        <p:nvPicPr>
          <p:cNvPr id="401" name="Graphic 400" descr="Hourglass 90% with solid fill">
            <a:extLst>
              <a:ext uri="{FF2B5EF4-FFF2-40B4-BE49-F238E27FC236}">
                <a16:creationId xmlns:a16="http://schemas.microsoft.com/office/drawing/2014/main" id="{B8300BD2-5666-2480-4146-A32CE183E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48325" y="2469562"/>
            <a:ext cx="416382" cy="416382"/>
          </a:xfrm>
          <a:prstGeom prst="rect">
            <a:avLst/>
          </a:prstGeom>
        </p:spPr>
      </p:pic>
      <p:pic>
        <p:nvPicPr>
          <p:cNvPr id="403" name="Graphic 402" descr="Open folder with solid fill">
            <a:extLst>
              <a:ext uri="{FF2B5EF4-FFF2-40B4-BE49-F238E27FC236}">
                <a16:creationId xmlns:a16="http://schemas.microsoft.com/office/drawing/2014/main" id="{68E58C09-3BE2-8922-532F-EF8317F61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570" y="3039416"/>
            <a:ext cx="446021" cy="446021"/>
          </a:xfrm>
          <a:prstGeom prst="rect">
            <a:avLst/>
          </a:prstGeom>
        </p:spPr>
      </p:pic>
      <p:pic>
        <p:nvPicPr>
          <p:cNvPr id="405" name="Graphic 404" descr="Comment Important with solid fill">
            <a:extLst>
              <a:ext uri="{FF2B5EF4-FFF2-40B4-BE49-F238E27FC236}">
                <a16:creationId xmlns:a16="http://schemas.microsoft.com/office/drawing/2014/main" id="{C0D7B484-160A-F5A8-AA6F-47D875754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42730" y="3966690"/>
            <a:ext cx="724650" cy="724650"/>
          </a:xfrm>
          <a:prstGeom prst="rect">
            <a:avLst/>
          </a:prstGeom>
        </p:spPr>
      </p:pic>
      <p:graphicFrame>
        <p:nvGraphicFramePr>
          <p:cNvPr id="406" name="Diagram 405">
            <a:extLst>
              <a:ext uri="{FF2B5EF4-FFF2-40B4-BE49-F238E27FC236}">
                <a16:creationId xmlns:a16="http://schemas.microsoft.com/office/drawing/2014/main" id="{5274CDDD-FE4F-ECE3-371F-02C2A089CD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7693485"/>
              </p:ext>
            </p:extLst>
          </p:nvPr>
        </p:nvGraphicFramePr>
        <p:xfrm>
          <a:off x="215262" y="4715335"/>
          <a:ext cx="8985985" cy="1955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50247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FEE82D-1E83-638C-74AF-1B0E3D95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58F2A76-B2BE-5D65-FC6B-F2F4EF05226B}"/>
              </a:ext>
            </a:extLst>
          </p:cNvPr>
          <p:cNvSpPr/>
          <p:nvPr/>
        </p:nvSpPr>
        <p:spPr>
          <a:xfrm>
            <a:off x="9573521" y="0"/>
            <a:ext cx="1410888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27" name="Imagem 26" descr="Guindaste ao lado de barco na água&#10;&#10;O conteúdo gerado por IA pode estar incorreto.">
            <a:extLst>
              <a:ext uri="{FF2B5EF4-FFF2-40B4-BE49-F238E27FC236}">
                <a16:creationId xmlns:a16="http://schemas.microsoft.com/office/drawing/2014/main" id="{2E62EC59-B7C3-2BC7-C5EF-E231B4CA14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83" r="1111"/>
          <a:stretch>
            <a:fillRect/>
          </a:stretch>
        </p:blipFill>
        <p:spPr>
          <a:xfrm>
            <a:off x="10123678" y="0"/>
            <a:ext cx="2068322" cy="685800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109394E9-3821-B582-F53C-BB23AE00CC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grpSp>
        <p:nvGrpSpPr>
          <p:cNvPr id="41" name="Group 5">
            <a:extLst>
              <a:ext uri="{FF2B5EF4-FFF2-40B4-BE49-F238E27FC236}">
                <a16:creationId xmlns:a16="http://schemas.microsoft.com/office/drawing/2014/main" id="{6FB036B8-443C-FCF1-5986-B5B8AAE65363}"/>
              </a:ext>
            </a:extLst>
          </p:cNvPr>
          <p:cNvGrpSpPr/>
          <p:nvPr/>
        </p:nvGrpSpPr>
        <p:grpSpPr>
          <a:xfrm>
            <a:off x="790680" y="1080119"/>
            <a:ext cx="8380616" cy="3608195"/>
            <a:chOff x="1453641" y="1265558"/>
            <a:chExt cx="8245872" cy="1870491"/>
          </a:xfrm>
        </p:grpSpPr>
        <p:grpSp>
          <p:nvGrpSpPr>
            <p:cNvPr id="48" name="Group 1">
              <a:extLst>
                <a:ext uri="{FF2B5EF4-FFF2-40B4-BE49-F238E27FC236}">
                  <a16:creationId xmlns:a16="http://schemas.microsoft.com/office/drawing/2014/main" id="{9E85F8BE-34DE-12DE-835E-13A4967C2E11}"/>
                </a:ext>
              </a:extLst>
            </p:cNvPr>
            <p:cNvGrpSpPr/>
            <p:nvPr/>
          </p:nvGrpSpPr>
          <p:grpSpPr>
            <a:xfrm>
              <a:off x="1453641" y="1650764"/>
              <a:ext cx="8245872" cy="1485285"/>
              <a:chOff x="837871" y="1679962"/>
              <a:chExt cx="8245872" cy="1485285"/>
            </a:xfrm>
          </p:grpSpPr>
          <p:sp>
            <p:nvSpPr>
              <p:cNvPr id="53" name="Rectangle 3">
                <a:extLst>
                  <a:ext uri="{FF2B5EF4-FFF2-40B4-BE49-F238E27FC236}">
                    <a16:creationId xmlns:a16="http://schemas.microsoft.com/office/drawing/2014/main" id="{70EF8CF8-2012-C5E9-B948-2EA3EBACE784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54" name="Rectangle 4">
                <a:extLst>
                  <a:ext uri="{FF2B5EF4-FFF2-40B4-BE49-F238E27FC236}">
                    <a16:creationId xmlns:a16="http://schemas.microsoft.com/office/drawing/2014/main" id="{96399B8F-89B9-2CA1-A898-8DAFF0541B13}"/>
                  </a:ext>
                </a:extLst>
              </p:cNvPr>
              <p:cNvSpPr/>
              <p:nvPr/>
            </p:nvSpPr>
            <p:spPr>
              <a:xfrm>
                <a:off x="837871" y="2301807"/>
                <a:ext cx="8245872" cy="8634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pt-BR" sz="1400" dirty="0">
                    <a:latin typeface="Lato "/>
                  </a:rPr>
                  <a:t>Após a análise das contribuições recebidas na consulta pública e eventuais alterações na minuta do normativo, a autoridade decisória decidirá, sempre de forma colegiada no caso das agências reguladoras, sobre a aprovação e entrada em vigor do normativo, indicando os pressupostos de fato e de direito que determinarem suas decisões, sendo as reuniões deliberativas públicas e gravadas em meio eletrônico (BRASIL, 2019b, artigo 5º, 7º e 8º). </a:t>
                </a:r>
                <a:endParaRPr lang="pt-BR" sz="1400" dirty="0">
                  <a:solidFill>
                    <a:srgbClr val="203864"/>
                  </a:solidFill>
                  <a:latin typeface="Lato 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</p:grpSp>
        <p:grpSp>
          <p:nvGrpSpPr>
            <p:cNvPr id="50" name="Group 2">
              <a:extLst>
                <a:ext uri="{FF2B5EF4-FFF2-40B4-BE49-F238E27FC236}">
                  <a16:creationId xmlns:a16="http://schemas.microsoft.com/office/drawing/2014/main" id="{81073743-9D9F-BBFA-5BF6-5913F4957BDF}"/>
                </a:ext>
              </a:extLst>
            </p:cNvPr>
            <p:cNvGrpSpPr/>
            <p:nvPr/>
          </p:nvGrpSpPr>
          <p:grpSpPr>
            <a:xfrm>
              <a:off x="1587925" y="1265558"/>
              <a:ext cx="8111588" cy="625520"/>
              <a:chOff x="4508808" y="-2127401"/>
              <a:chExt cx="8111588" cy="625520"/>
            </a:xfrm>
          </p:grpSpPr>
          <p:sp>
            <p:nvSpPr>
              <p:cNvPr id="51" name="Rectangle 12">
                <a:extLst>
                  <a:ext uri="{FF2B5EF4-FFF2-40B4-BE49-F238E27FC236}">
                    <a16:creationId xmlns:a16="http://schemas.microsoft.com/office/drawing/2014/main" id="{846E46CD-3732-0B64-AE16-6EA69EB83494}"/>
                  </a:ext>
                </a:extLst>
              </p:cNvPr>
              <p:cNvSpPr/>
              <p:nvPr/>
            </p:nvSpPr>
            <p:spPr>
              <a:xfrm>
                <a:off x="4508808" y="-2127401"/>
                <a:ext cx="8111588" cy="6222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Deliberação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da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autoridade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decisória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52" name="Straight Connector 13">
                <a:extLst>
                  <a:ext uri="{FF2B5EF4-FFF2-40B4-BE49-F238E27FC236}">
                    <a16:creationId xmlns:a16="http://schemas.microsoft.com/office/drawing/2014/main" id="{553C5E40-42EF-4AD5-CF32-CC542DD0F1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30317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8FB4C5-4021-490F-BFF3-24967BA76BCB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BDC95EBF-3254-EA4D-B96C-944360763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25E25720-76A1-0A8B-17E5-A2F554CDD39F}"/>
              </a:ext>
            </a:extLst>
          </p:cNvPr>
          <p:cNvGrpSpPr/>
          <p:nvPr/>
        </p:nvGrpSpPr>
        <p:grpSpPr>
          <a:xfrm>
            <a:off x="553844" y="1003431"/>
            <a:ext cx="7484687" cy="4225618"/>
            <a:chOff x="1587925" y="1265558"/>
            <a:chExt cx="7484687" cy="4225618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FD21AD21-4074-40C7-4120-2464CB8EE66B}"/>
                </a:ext>
              </a:extLst>
            </p:cNvPr>
            <p:cNvGrpSpPr/>
            <p:nvPr/>
          </p:nvGrpSpPr>
          <p:grpSpPr>
            <a:xfrm>
              <a:off x="1587926" y="1650764"/>
              <a:ext cx="7334563" cy="3840412"/>
              <a:chOff x="972156" y="1679962"/>
              <a:chExt cx="7334563" cy="3840412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3919270A-699A-137C-084C-D76BCADB9CAE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601A6775-4E62-04FA-EC5E-DDD306FF29A5}"/>
                  </a:ext>
                </a:extLst>
              </p:cNvPr>
              <p:cNvSpPr/>
              <p:nvPr/>
            </p:nvSpPr>
            <p:spPr>
              <a:xfrm>
                <a:off x="972156" y="2473386"/>
                <a:ext cx="7334563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1200" dirty="0">
                    <a:latin typeface="Lato "/>
                  </a:rPr>
                  <a:t>🔹 O relatório de AIR deve prever a </a:t>
                </a:r>
                <a:r>
                  <a:rPr lang="pt-BR" sz="1200" b="1" dirty="0">
                    <a:latin typeface="Lato "/>
                  </a:rPr>
                  <a:t>estratégia de implementação</a:t>
                </a:r>
                <a:r>
                  <a:rPr lang="pt-BR" sz="1200" dirty="0">
                    <a:latin typeface="Lato "/>
                  </a:rPr>
                  <a:t> da alternativa escolhida, podendo incluir cronograma até a entrada em vigor da norma.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A norma deve indicar expressamente sua </a:t>
                </a:r>
                <a:r>
                  <a:rPr lang="pt-BR" sz="1200" b="1" dirty="0">
                    <a:latin typeface="Lato "/>
                  </a:rPr>
                  <a:t>vigência</a:t>
                </a:r>
                <a:r>
                  <a:rPr lang="pt-BR" sz="1200" dirty="0">
                    <a:latin typeface="Lato "/>
                  </a:rPr>
                  <a:t>, podendo prever </a:t>
                </a:r>
                <a:r>
                  <a:rPr lang="pt-BR" sz="1200" b="1" i="1" dirty="0" err="1">
                    <a:latin typeface="Lato "/>
                  </a:rPr>
                  <a:t>vacatio</a:t>
                </a:r>
                <a:r>
                  <a:rPr lang="pt-BR" sz="1200" b="1" i="1" dirty="0">
                    <a:latin typeface="Lato "/>
                  </a:rPr>
                  <a:t> legis</a:t>
                </a:r>
                <a:r>
                  <a:rPr lang="pt-BR" sz="1200" i="1" dirty="0">
                    <a:latin typeface="Lato "/>
                  </a:rPr>
                  <a:t> </a:t>
                </a:r>
                <a:r>
                  <a:rPr lang="pt-BR" sz="1200" dirty="0">
                    <a:latin typeface="Lato "/>
                  </a:rPr>
                  <a:t>quando houver maior repercussão ou necessidade de adaptação.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A definição do prazo considera:</a:t>
                </a:r>
                <a:br>
                  <a:rPr lang="pt-BR" sz="1200" dirty="0">
                    <a:latin typeface="Lato "/>
                  </a:rPr>
                </a:br>
                <a:r>
                  <a:rPr lang="pt-BR" sz="1200" dirty="0">
                    <a:latin typeface="Lato "/>
                  </a:rPr>
                  <a:t>• tempo para conhecimento pelos destinatários;</a:t>
                </a:r>
                <a:br>
                  <a:rPr lang="pt-BR" sz="1200" dirty="0">
                    <a:latin typeface="Lato "/>
                  </a:rPr>
                </a:br>
                <a:r>
                  <a:rPr lang="pt-BR" sz="1200" dirty="0">
                    <a:latin typeface="Lato "/>
                  </a:rPr>
                  <a:t>• adaptação da Administração e dos regulados;</a:t>
                </a:r>
                <a:br>
                  <a:rPr lang="pt-BR" sz="1200" dirty="0">
                    <a:latin typeface="Lato "/>
                  </a:rPr>
                </a:br>
                <a:r>
                  <a:rPr lang="pt-BR" sz="1200" dirty="0">
                    <a:latin typeface="Lato "/>
                  </a:rPr>
                  <a:t>• momento mais adequado para início dos efeitos.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Após a edição, há </a:t>
                </a:r>
                <a:r>
                  <a:rPr lang="pt-BR" sz="1200" b="1" dirty="0">
                    <a:latin typeface="Lato "/>
                  </a:rPr>
                  <a:t>monitoramento contínuo e fiscalização</a:t>
                </a:r>
                <a:r>
                  <a:rPr lang="pt-BR" sz="1200" dirty="0">
                    <a:latin typeface="Lato "/>
                  </a:rPr>
                  <a:t>, com possibilidade de sanções em caso de descumprimento.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A fiscalização deve ser </a:t>
                </a:r>
                <a:r>
                  <a:rPr lang="pt-BR" sz="1200" b="1" dirty="0">
                    <a:latin typeface="Lato "/>
                  </a:rPr>
                  <a:t>responsiva</a:t>
                </a:r>
                <a:r>
                  <a:rPr lang="pt-BR" sz="1200" dirty="0">
                    <a:latin typeface="Lato "/>
                  </a:rPr>
                  <a:t>, priorizando maior rigor para agentes de maior risco ou baixa cooperação.</a:t>
                </a:r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7BD3EB91-A397-A401-82EA-88043233777A}"/>
                </a:ext>
              </a:extLst>
            </p:cNvPr>
            <p:cNvGrpSpPr/>
            <p:nvPr/>
          </p:nvGrpSpPr>
          <p:grpSpPr>
            <a:xfrm>
              <a:off x="1587925" y="1265558"/>
              <a:ext cx="7484687" cy="646331"/>
              <a:chOff x="4508808" y="-2127401"/>
              <a:chExt cx="7484687" cy="646331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BA641D07-6C4C-738E-B66C-D9B2AE5D5D4E}"/>
                  </a:ext>
                </a:extLst>
              </p:cNvPr>
              <p:cNvSpPr/>
              <p:nvPr/>
            </p:nvSpPr>
            <p:spPr>
              <a:xfrm>
                <a:off x="4508808" y="-2127401"/>
                <a:ext cx="74846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Implementação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e Fiscalização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7C1D0F6D-0AAA-8E5A-C913-C59C2CC9A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1D820873-E177-64AF-E5EA-44CE417264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0721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9DDDC-CB60-2060-3D7C-A579BE4F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24713A-69DF-51B7-5363-2FA959A89358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B6B00D10-004A-DF9A-6240-A9E77B47A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BD67775E-B710-A34F-5F01-FB5213CAFC45}"/>
              </a:ext>
            </a:extLst>
          </p:cNvPr>
          <p:cNvGrpSpPr/>
          <p:nvPr/>
        </p:nvGrpSpPr>
        <p:grpSpPr>
          <a:xfrm>
            <a:off x="553844" y="1003431"/>
            <a:ext cx="7484687" cy="5068522"/>
            <a:chOff x="1587925" y="1265558"/>
            <a:chExt cx="7484687" cy="5068522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9FE27A9D-6C7A-566C-C00B-DF34B88855AC}"/>
                </a:ext>
              </a:extLst>
            </p:cNvPr>
            <p:cNvGrpSpPr/>
            <p:nvPr/>
          </p:nvGrpSpPr>
          <p:grpSpPr>
            <a:xfrm>
              <a:off x="1587926" y="1650764"/>
              <a:ext cx="7334563" cy="4683316"/>
              <a:chOff x="972156" y="1679962"/>
              <a:chExt cx="7334563" cy="4683316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12EAB51C-3686-D836-922C-9750A655B00D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6FE8FE97-DD36-59AA-DFA7-F350C0218ACA}"/>
                  </a:ext>
                </a:extLst>
              </p:cNvPr>
              <p:cNvSpPr/>
              <p:nvPr/>
            </p:nvSpPr>
            <p:spPr>
              <a:xfrm>
                <a:off x="972156" y="2392960"/>
                <a:ext cx="7334563" cy="3970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1200" dirty="0">
                    <a:latin typeface="Lato "/>
                  </a:rPr>
                  <a:t>🔹 As agências realizam </a:t>
                </a:r>
                <a:r>
                  <a:rPr lang="pt-BR" sz="1200" b="1" dirty="0">
                    <a:latin typeface="Lato "/>
                  </a:rPr>
                  <a:t>monitoramento contínuo</a:t>
                </a:r>
                <a:r>
                  <a:rPr lang="pt-BR" sz="1200" dirty="0">
                    <a:latin typeface="Lato "/>
                  </a:rPr>
                  <a:t> do setor regulado, com coleta de dados e acompanhamento das práticas de mercado.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A AIR deve prever </a:t>
                </a:r>
                <a:r>
                  <a:rPr lang="pt-BR" sz="1200" b="1" dirty="0">
                    <a:latin typeface="Lato "/>
                  </a:rPr>
                  <a:t>indicadores e estratégia de acompanhamento</a:t>
                </a:r>
                <a:r>
                  <a:rPr lang="pt-BR" sz="1200" dirty="0">
                    <a:latin typeface="Lato "/>
                  </a:rPr>
                  <a:t>, permitindo verificar se os objetivos da norma foram alcançados.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A </a:t>
                </a:r>
                <a:r>
                  <a:rPr lang="pt-BR" sz="1200" b="1" dirty="0">
                    <a:latin typeface="Lato "/>
                  </a:rPr>
                  <a:t>ARR</a:t>
                </a:r>
                <a:r>
                  <a:rPr lang="pt-BR" sz="1200" dirty="0">
                    <a:latin typeface="Lato "/>
                  </a:rPr>
                  <a:t> é a avaliação </a:t>
                </a:r>
                <a:r>
                  <a:rPr lang="pt-BR" sz="1200" b="1" i="1" dirty="0" err="1">
                    <a:latin typeface="Lato "/>
                  </a:rPr>
                  <a:t>ex</a:t>
                </a:r>
                <a:r>
                  <a:rPr lang="pt-BR" sz="1200" b="1" i="1" dirty="0">
                    <a:latin typeface="Lato "/>
                  </a:rPr>
                  <a:t> post</a:t>
                </a:r>
                <a:r>
                  <a:rPr lang="pt-BR" sz="1200" dirty="0">
                    <a:latin typeface="Lato "/>
                  </a:rPr>
                  <a:t>, que analisa os efeitos da norma sobre o mercado e a sociedade e o atingimento dos objetivos regulatórios.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A ARR deve integrar a atividade normativa e as analises poderão ter caráter </a:t>
                </a:r>
                <a:r>
                  <a:rPr lang="pt-BR" sz="1200" b="1" dirty="0">
                    <a:latin typeface="Lato "/>
                  </a:rPr>
                  <a:t>temático e serem realizadas apenas quanto a partes específicas de um ou mais atos normativos</a:t>
                </a:r>
                <a:r>
                  <a:rPr lang="pt-BR" sz="1200" dirty="0">
                    <a:latin typeface="Lato "/>
                  </a:rPr>
                  <a:t>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Os órgãos devem instituir </a:t>
                </a:r>
                <a:r>
                  <a:rPr lang="pt-BR" sz="1200" b="1" dirty="0">
                    <a:latin typeface="Lato "/>
                  </a:rPr>
                  <a:t>Agenda de ARR</a:t>
                </a:r>
                <a:r>
                  <a:rPr lang="pt-BR" sz="1200" dirty="0">
                    <a:latin typeface="Lato "/>
                  </a:rPr>
                  <a:t>, divulgada no primeiro ano do mandato presidencial, com justificativa e cronograma.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Prioriza-se a avaliação de atos com:</a:t>
                </a:r>
                <a:br>
                  <a:rPr lang="pt-BR" sz="1200" dirty="0">
                    <a:latin typeface="Lato "/>
                  </a:rPr>
                </a:br>
                <a:r>
                  <a:rPr lang="pt-BR" sz="1200" dirty="0">
                    <a:latin typeface="Lato "/>
                  </a:rPr>
                  <a:t>• ampla repercussão econômica;</a:t>
                </a:r>
                <a:br>
                  <a:rPr lang="pt-BR" sz="1200" dirty="0">
                    <a:latin typeface="Lato "/>
                  </a:rPr>
                </a:br>
                <a:r>
                  <a:rPr lang="pt-BR" sz="1200" dirty="0">
                    <a:latin typeface="Lato "/>
                  </a:rPr>
                  <a:t>• problemas identificados na aplicação;</a:t>
                </a:r>
                <a:br>
                  <a:rPr lang="pt-BR" sz="1200" dirty="0">
                    <a:latin typeface="Lato "/>
                  </a:rPr>
                </a:br>
                <a:r>
                  <a:rPr lang="pt-BR" sz="1200" dirty="0">
                    <a:latin typeface="Lato "/>
                  </a:rPr>
                  <a:t>• impacto relevante em grupos específicos;</a:t>
                </a:r>
                <a:br>
                  <a:rPr lang="pt-BR" sz="1200" dirty="0">
                    <a:latin typeface="Lato "/>
                  </a:rPr>
                </a:br>
                <a:r>
                  <a:rPr lang="pt-BR" sz="1200" dirty="0">
                    <a:latin typeface="Lato "/>
                  </a:rPr>
                  <a:t>• relevância estratégica;</a:t>
                </a:r>
                <a:br>
                  <a:rPr lang="pt-BR" sz="1200" dirty="0">
                    <a:latin typeface="Lato "/>
                  </a:rPr>
                </a:br>
                <a:r>
                  <a:rPr lang="pt-BR" sz="1200" dirty="0">
                    <a:latin typeface="Lato "/>
                  </a:rPr>
                  <a:t>• vigência mínima de cinco anos.</a:t>
                </a:r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3EDCFB71-BB4E-DAC9-FA93-BB71AD62BA53}"/>
                </a:ext>
              </a:extLst>
            </p:cNvPr>
            <p:cNvGrpSpPr/>
            <p:nvPr/>
          </p:nvGrpSpPr>
          <p:grpSpPr>
            <a:xfrm>
              <a:off x="1587925" y="1265558"/>
              <a:ext cx="7484687" cy="646331"/>
              <a:chOff x="4508808" y="-2127401"/>
              <a:chExt cx="7484687" cy="646331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81DFA839-B323-DB11-11C3-862A2763B013}"/>
                  </a:ext>
                </a:extLst>
              </p:cNvPr>
              <p:cNvSpPr/>
              <p:nvPr/>
            </p:nvSpPr>
            <p:spPr>
              <a:xfrm>
                <a:off x="4508808" y="-2127401"/>
                <a:ext cx="74846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Monitoramento</a:t>
                </a:r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 e </a:t>
                </a:r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Avaliação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39E978D4-D3E3-8494-8CBC-A4E1D5A0EE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14299613-4386-995B-737C-BAA39D2D5B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195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2F259-6E27-0A9B-AB1B-2E4E06D7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AF2700E-A815-7A91-5587-B9B121B48601}"/>
              </a:ext>
            </a:extLst>
          </p:cNvPr>
          <p:cNvSpPr/>
          <p:nvPr/>
        </p:nvSpPr>
        <p:spPr>
          <a:xfrm>
            <a:off x="9004300" y="0"/>
            <a:ext cx="3187700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Navio no mar com cidade ao fundo&#10;&#10;O conteúdo gerado por IA pode estar incorreto.">
            <a:extLst>
              <a:ext uri="{FF2B5EF4-FFF2-40B4-BE49-F238E27FC236}">
                <a16:creationId xmlns:a16="http://schemas.microsoft.com/office/drawing/2014/main" id="{3BDCDA19-CA2B-3503-19C5-B8CE954082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6" r="19561"/>
          <a:stretch>
            <a:fillRect/>
          </a:stretch>
        </p:blipFill>
        <p:spPr>
          <a:xfrm>
            <a:off x="8141269" y="1289957"/>
            <a:ext cx="3396344" cy="4742543"/>
          </a:xfrm>
          <a:prstGeom prst="rect">
            <a:avLst/>
          </a:prstGeom>
        </p:spPr>
      </p:pic>
      <p:grpSp>
        <p:nvGrpSpPr>
          <p:cNvPr id="24" name="Group 5">
            <a:extLst>
              <a:ext uri="{FF2B5EF4-FFF2-40B4-BE49-F238E27FC236}">
                <a16:creationId xmlns:a16="http://schemas.microsoft.com/office/drawing/2014/main" id="{EC79B28A-61EF-21DE-9530-139C8CC3A0E8}"/>
              </a:ext>
            </a:extLst>
          </p:cNvPr>
          <p:cNvGrpSpPr/>
          <p:nvPr/>
        </p:nvGrpSpPr>
        <p:grpSpPr>
          <a:xfrm>
            <a:off x="553842" y="1003431"/>
            <a:ext cx="7484689" cy="4763752"/>
            <a:chOff x="1587923" y="1265558"/>
            <a:chExt cx="7484689" cy="4763752"/>
          </a:xfrm>
        </p:grpSpPr>
        <p:grpSp>
          <p:nvGrpSpPr>
            <p:cNvPr id="25" name="Group 1">
              <a:extLst>
                <a:ext uri="{FF2B5EF4-FFF2-40B4-BE49-F238E27FC236}">
                  <a16:creationId xmlns:a16="http://schemas.microsoft.com/office/drawing/2014/main" id="{D8AAFFA2-0F5A-17F8-ED5C-9C67BC6D6648}"/>
                </a:ext>
              </a:extLst>
            </p:cNvPr>
            <p:cNvGrpSpPr/>
            <p:nvPr/>
          </p:nvGrpSpPr>
          <p:grpSpPr>
            <a:xfrm>
              <a:off x="1587923" y="1650764"/>
              <a:ext cx="7334563" cy="4378546"/>
              <a:chOff x="972153" y="1679962"/>
              <a:chExt cx="7334563" cy="4378546"/>
            </a:xfrm>
          </p:grpSpPr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2DE22115-6C87-1F45-A75F-98407F5CC6FC}"/>
                  </a:ext>
                </a:extLst>
              </p:cNvPr>
              <p:cNvSpPr/>
              <p:nvPr/>
            </p:nvSpPr>
            <p:spPr>
              <a:xfrm>
                <a:off x="972156" y="1679962"/>
                <a:ext cx="49844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3600" b="1">
                  <a:solidFill>
                    <a:schemeClr val="bg1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EFB08A15-B498-33F7-E7CC-830BCAFACA05}"/>
                  </a:ext>
                </a:extLst>
              </p:cNvPr>
              <p:cNvSpPr/>
              <p:nvPr/>
            </p:nvSpPr>
            <p:spPr>
              <a:xfrm>
                <a:off x="972153" y="2457522"/>
                <a:ext cx="7334563" cy="36009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1200" dirty="0">
                    <a:latin typeface="Lato "/>
                  </a:rPr>
                  <a:t>🔹 A </a:t>
                </a:r>
                <a:r>
                  <a:rPr lang="pt-BR" sz="1200" b="1" dirty="0">
                    <a:latin typeface="Lato "/>
                  </a:rPr>
                  <a:t>OCDE</a:t>
                </a:r>
                <a:r>
                  <a:rPr lang="pt-BR" sz="1200" dirty="0">
                    <a:latin typeface="Lato "/>
                  </a:rPr>
                  <a:t> recomenda a revisão sistemática do estoque regulatório, com análise de custos e benefícios, para garantir normas </a:t>
                </a:r>
                <a:r>
                  <a:rPr lang="pt-BR" sz="1200" b="1" dirty="0">
                    <a:latin typeface="Lato "/>
                  </a:rPr>
                  <a:t>atualizadas, eficientes e coerentes</a:t>
                </a:r>
                <a:r>
                  <a:rPr lang="pt-BR" sz="1200" dirty="0">
                    <a:latin typeface="Lato "/>
                  </a:rPr>
                  <a:t>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A </a:t>
                </a:r>
                <a:r>
                  <a:rPr lang="pt-BR" sz="1200" b="1" dirty="0">
                    <a:latin typeface="Lato "/>
                  </a:rPr>
                  <a:t>gestão do estoque regulatório</a:t>
                </a:r>
                <a:r>
                  <a:rPr lang="pt-BR" sz="1200" dirty="0">
                    <a:latin typeface="Lato "/>
                  </a:rPr>
                  <a:t> consiste no exame periódico dos atos vigentes, podendo resultar em sua manutenção, atualização, consolidação ou revogação.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A </a:t>
                </a:r>
                <a:r>
                  <a:rPr lang="pt-BR" sz="1200" b="1" dirty="0">
                    <a:latin typeface="Lato "/>
                  </a:rPr>
                  <a:t>ARR</a:t>
                </a:r>
                <a:r>
                  <a:rPr lang="pt-BR" sz="1200" dirty="0">
                    <a:latin typeface="Lato "/>
                  </a:rPr>
                  <a:t>, aliada à gestão do estoque, assegura que as normas continuem contribuindo para os objetivos regulatórios.</a:t>
                </a: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🔹 O Decreto nº 12.002 reforça a revisão e consolidação de atos infralegais, promovendo simplificação e eliminação de normas obsoletas.</a:t>
                </a:r>
              </a:p>
              <a:p>
                <a:endParaRPr lang="pt-BR" sz="1200" dirty="0">
                  <a:latin typeface="Lato "/>
                </a:endParaRPr>
              </a:p>
              <a:p>
                <a:endParaRPr lang="pt-BR" sz="1200" dirty="0">
                  <a:latin typeface="Lato "/>
                </a:endParaRPr>
              </a:p>
              <a:p>
                <a:endParaRPr lang="pt-BR" sz="1200" dirty="0">
                  <a:latin typeface="Lato "/>
                </a:endParaRPr>
              </a:p>
              <a:p>
                <a:r>
                  <a:rPr lang="pt-BR" sz="1200" dirty="0">
                    <a:latin typeface="Lato "/>
                  </a:rPr>
                  <a:t>                                       O </a:t>
                </a:r>
                <a:r>
                  <a:rPr lang="pt-BR" sz="1200" b="1" dirty="0" err="1">
                    <a:latin typeface="Lato "/>
                  </a:rPr>
                  <a:t>Sandbox</a:t>
                </a:r>
                <a:r>
                  <a:rPr lang="pt-BR" sz="1200" b="1" dirty="0">
                    <a:latin typeface="Lato "/>
                  </a:rPr>
                  <a:t> Regulatório </a:t>
                </a:r>
                <a:r>
                  <a:rPr lang="pt-BR" sz="1200" dirty="0">
                    <a:latin typeface="Lato "/>
                  </a:rPr>
                  <a:t>que é um modelo de experimentação regulatória para testar inovações e novos produtos ou serviços em ambiente controlado </a:t>
                </a:r>
                <a:r>
                  <a:rPr lang="pt-BR" sz="1200" b="1" dirty="0">
                    <a:latin typeface="Lato "/>
                  </a:rPr>
                  <a:t>pode ser útil para aprimorar os normativos vigentes</a:t>
                </a:r>
                <a:r>
                  <a:rPr lang="pt-BR" sz="1200" dirty="0">
                    <a:latin typeface="Lato "/>
                  </a:rPr>
                  <a:t>, promovendo a inovação sem comprometer a proteção aos usuários dos serviços ou a estabilidade do mercado.</a:t>
                </a:r>
              </a:p>
              <a:p>
                <a:endParaRPr lang="pt-BR" sz="1200" dirty="0">
                  <a:latin typeface="Lato "/>
                </a:endParaRPr>
              </a:p>
            </p:txBody>
          </p:sp>
        </p:grp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34100799-FE45-C699-B6FF-4EB485DD9F62}"/>
                </a:ext>
              </a:extLst>
            </p:cNvPr>
            <p:cNvGrpSpPr/>
            <p:nvPr/>
          </p:nvGrpSpPr>
          <p:grpSpPr>
            <a:xfrm>
              <a:off x="1587925" y="1265558"/>
              <a:ext cx="7484687" cy="646331"/>
              <a:chOff x="4508808" y="-2127401"/>
              <a:chExt cx="7484687" cy="646331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C3D9AFBA-A7E5-0F5A-695C-EBB966052D3C}"/>
                  </a:ext>
                </a:extLst>
              </p:cNvPr>
              <p:cNvSpPr/>
              <p:nvPr/>
            </p:nvSpPr>
            <p:spPr>
              <a:xfrm>
                <a:off x="4508808" y="-2127401"/>
                <a:ext cx="74846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 err="1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Revisão</a:t>
                </a:r>
                <a:endParaRPr lang="en-US" sz="3600" b="1" dirty="0">
                  <a:solidFill>
                    <a:srgbClr val="203864"/>
                  </a:solidFill>
                  <a:latin typeface="Poppins SemiBold" pitchFamily="2" charset="77"/>
                  <a:cs typeface="Poppins SemiBold" pitchFamily="2" charset="77"/>
                </a:endParaRP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75052F77-B2CD-31BE-7444-938C80D27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1FECDBD2-BBD2-E5F5-572B-4C77E8EC44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pic>
        <p:nvPicPr>
          <p:cNvPr id="2" name="Graphic 1" descr="Comment Important with solid fill">
            <a:extLst>
              <a:ext uri="{FF2B5EF4-FFF2-40B4-BE49-F238E27FC236}">
                <a16:creationId xmlns:a16="http://schemas.microsoft.com/office/drawing/2014/main" id="{7EA4D182-C62F-E4D3-0249-F163330FE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8960" y="4329015"/>
            <a:ext cx="724650" cy="724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2901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B107-2D30-8D24-6DDD-90CEB281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CCA63E-B6F7-8AD6-7D88-327476572B7B}"/>
              </a:ext>
            </a:extLst>
          </p:cNvPr>
          <p:cNvSpPr/>
          <p:nvPr/>
        </p:nvSpPr>
        <p:spPr>
          <a:xfrm>
            <a:off x="11638154" y="0"/>
            <a:ext cx="553845" cy="6858000"/>
          </a:xfrm>
          <a:prstGeom prst="rect">
            <a:avLst/>
          </a:prstGeom>
          <a:solidFill>
            <a:srgbClr val="0744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EC4A41F9-BEC1-CED9-C173-00B6E56CD7AC}"/>
              </a:ext>
            </a:extLst>
          </p:cNvPr>
          <p:cNvGrpSpPr/>
          <p:nvPr/>
        </p:nvGrpSpPr>
        <p:grpSpPr>
          <a:xfrm>
            <a:off x="553844" y="1003431"/>
            <a:ext cx="7484687" cy="1031537"/>
            <a:chOff x="1587925" y="1265558"/>
            <a:chExt cx="7484687" cy="1031537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E3D66CED-5E91-1A51-8A11-EDE74BA61AED}"/>
                </a:ext>
              </a:extLst>
            </p:cNvPr>
            <p:cNvSpPr/>
            <p:nvPr/>
          </p:nvSpPr>
          <p:spPr>
            <a:xfrm>
              <a:off x="1587926" y="1650764"/>
              <a:ext cx="498444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6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endParaRPr>
            </a:p>
          </p:txBody>
        </p:sp>
        <p:grpSp>
          <p:nvGrpSpPr>
            <p:cNvPr id="26" name="Group 2">
              <a:extLst>
                <a:ext uri="{FF2B5EF4-FFF2-40B4-BE49-F238E27FC236}">
                  <a16:creationId xmlns:a16="http://schemas.microsoft.com/office/drawing/2014/main" id="{8628B1A9-A71B-3AAB-ED89-6D6CCB4E112C}"/>
                </a:ext>
              </a:extLst>
            </p:cNvPr>
            <p:cNvGrpSpPr/>
            <p:nvPr/>
          </p:nvGrpSpPr>
          <p:grpSpPr>
            <a:xfrm>
              <a:off x="1587925" y="1265558"/>
              <a:ext cx="7484687" cy="646331"/>
              <a:chOff x="4508808" y="-2127401"/>
              <a:chExt cx="7484687" cy="646331"/>
            </a:xfrm>
          </p:grpSpPr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D2090099-39DF-138F-8C99-DCC1D4D80FC6}"/>
                  </a:ext>
                </a:extLst>
              </p:cNvPr>
              <p:cNvSpPr/>
              <p:nvPr/>
            </p:nvSpPr>
            <p:spPr>
              <a:xfrm>
                <a:off x="4508808" y="-2127401"/>
                <a:ext cx="74846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rgbClr val="203864"/>
                    </a:solidFill>
                    <a:latin typeface="Poppins SemiBold" pitchFamily="2" charset="77"/>
                    <a:cs typeface="Poppins SemiBold" pitchFamily="2" charset="77"/>
                  </a:rPr>
                  <a:t>ANTAQ</a:t>
                </a:r>
              </a:p>
            </p:txBody>
          </p:sp>
          <p:cxnSp>
            <p:nvCxnSpPr>
              <p:cNvPr id="28" name="Straight Connector 13">
                <a:extLst>
                  <a:ext uri="{FF2B5EF4-FFF2-40B4-BE49-F238E27FC236}">
                    <a16:creationId xmlns:a16="http://schemas.microsoft.com/office/drawing/2014/main" id="{2E998666-0D51-D185-409F-22BBBD87D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2800" y="-1501881"/>
                <a:ext cx="1536700" cy="0"/>
              </a:xfrm>
              <a:prstGeom prst="line">
                <a:avLst/>
              </a:prstGeom>
              <a:ln w="50800">
                <a:solidFill>
                  <a:srgbClr val="20386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68EC0935-BD06-4719-50F9-745EAE1531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0540" y="247910"/>
            <a:ext cx="1156840" cy="3750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56B463-AB3B-8B14-9511-3F5B7E04D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40" y="2275282"/>
            <a:ext cx="2524458" cy="3464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5526D5-A2AE-EEA8-3D69-23FD507FD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143" y="2275282"/>
            <a:ext cx="2459987" cy="35042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CE6202-7342-1681-7C52-1C1A7CBE9E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275282"/>
            <a:ext cx="2459987" cy="3517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C573D4-C48C-44FB-DBF4-047FDC0ED6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2857" y="2275282"/>
            <a:ext cx="2503461" cy="35172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5411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 descr="Navio no mar&#10;&#10;O conteúdo gerado por IA pode estar incorreto.">
            <a:extLst>
              <a:ext uri="{FF2B5EF4-FFF2-40B4-BE49-F238E27FC236}">
                <a16:creationId xmlns:a16="http://schemas.microsoft.com/office/drawing/2014/main" id="{31E70E60-A487-7F97-2C8D-97AA5105C0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62F431-CAF1-4971-978B-41B51C85A147}"/>
              </a:ext>
            </a:extLst>
          </p:cNvPr>
          <p:cNvSpPr/>
          <p:nvPr/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rgbClr val="20386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5C9D92-ACC7-974D-B80F-B4B04D69326D}"/>
              </a:ext>
            </a:extLst>
          </p:cNvPr>
          <p:cNvGrpSpPr/>
          <p:nvPr/>
        </p:nvGrpSpPr>
        <p:grpSpPr>
          <a:xfrm>
            <a:off x="5391442" y="2747684"/>
            <a:ext cx="5140666" cy="1362632"/>
            <a:chOff x="1618758" y="2747684"/>
            <a:chExt cx="5140666" cy="13626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5BB046-74A8-A849-A8A1-34DD2EF678F8}"/>
                </a:ext>
              </a:extLst>
            </p:cNvPr>
            <p:cNvSpPr/>
            <p:nvPr/>
          </p:nvSpPr>
          <p:spPr>
            <a:xfrm>
              <a:off x="1618758" y="2747684"/>
              <a:ext cx="5140666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6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OBRIGADA</a:t>
              </a:r>
              <a:endParaRPr lang="en-US" sz="6600" b="1" dirty="0">
                <a:gradFill>
                  <a:gsLst>
                    <a:gs pos="0">
                      <a:srgbClr val="00C4FF">
                        <a:alpha val="94000"/>
                      </a:srgbClr>
                    </a:gs>
                    <a:gs pos="100000">
                      <a:srgbClr val="57FFE3">
                        <a:lumMod val="85000"/>
                        <a:lumOff val="15000"/>
                      </a:srgbClr>
                    </a:gs>
                  </a:gsLst>
                  <a:lin ang="15000000" scaled="0"/>
                </a:gradFill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5EB1C0-D3E8-4242-B0C9-3B221807263C}"/>
                </a:ext>
              </a:extLst>
            </p:cNvPr>
            <p:cNvSpPr/>
            <p:nvPr/>
          </p:nvSpPr>
          <p:spPr>
            <a:xfrm>
              <a:off x="3539717" y="3710206"/>
              <a:ext cx="31214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2000" spc="100" dirty="0">
                  <a:solidFill>
                    <a:schemeClr val="bg1"/>
                  </a:solidFill>
                  <a:latin typeface="Poppins Medium" pitchFamily="2" charset="77"/>
                  <a:cs typeface="Poppins Medium" pitchFamily="2" charset="77"/>
                </a:rPr>
                <a:t>PELA SUA ATENÇÃO</a:t>
              </a:r>
            </a:p>
          </p:txBody>
        </p:sp>
      </p:grpSp>
      <p:pic>
        <p:nvPicPr>
          <p:cNvPr id="7" name="Imagem 6" descr="Uma imagem contendo desenho&#10;&#10;O conteúdo gerado por IA pode estar incorreto.">
            <a:extLst>
              <a:ext uri="{FF2B5EF4-FFF2-40B4-BE49-F238E27FC236}">
                <a16:creationId xmlns:a16="http://schemas.microsoft.com/office/drawing/2014/main" id="{43ACBC56-1AD2-F16E-188E-17C2ABFF3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32" y="250955"/>
            <a:ext cx="1156841" cy="3750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099433-92ED-527A-2BE6-388BB873FFBB}"/>
              </a:ext>
            </a:extLst>
          </p:cNvPr>
          <p:cNvSpPr/>
          <p:nvPr/>
        </p:nvSpPr>
        <p:spPr>
          <a:xfrm>
            <a:off x="2717692" y="5156785"/>
            <a:ext cx="78486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Michely Vieira Santos</a:t>
            </a:r>
          </a:p>
          <a:p>
            <a:pPr algn="r"/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Coordenadora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-Geral de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Governança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2000" spc="100" dirty="0" err="1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Regulatória</a:t>
            </a:r>
            <a:r>
              <a:rPr lang="en-US" sz="2000" spc="10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-SRG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45198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66A7F107A78542809C04863AAF6904" ma:contentTypeVersion="19" ma:contentTypeDescription="Crie um novo documento." ma:contentTypeScope="" ma:versionID="51191a4cb565485eb463083ca7c2737a">
  <xsd:schema xmlns:xsd="http://www.w3.org/2001/XMLSchema" xmlns:xs="http://www.w3.org/2001/XMLSchema" xmlns:p="http://schemas.microsoft.com/office/2006/metadata/properties" xmlns:ns2="524b9e3a-2c6e-4caf-a4a6-9107747bc51e" xmlns:ns3="f913ff35-f7e5-46dc-a5a7-c9164ae7e8fd" targetNamespace="http://schemas.microsoft.com/office/2006/metadata/properties" ma:root="true" ma:fieldsID="13929d0489311a9f46074467b1a33de9" ns2:_="" ns3:_="">
    <xsd:import namespace="524b9e3a-2c6e-4caf-a4a6-9107747bc51e"/>
    <xsd:import namespace="f913ff35-f7e5-46dc-a5a7-c9164ae7e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4b9e3a-2c6e-4caf-a4a6-9107747b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79a47a05-30c7-4e3a-83e8-a72346a22e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3ff35-f7e5-46dc-a5a7-c9164ae7e8f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075f16c-1fcb-4655-b55f-919d5750d410}" ma:internalName="TaxCatchAll" ma:showField="CatchAllData" ma:web="f913ff35-f7e5-46dc-a5a7-c9164ae7e8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4b9e3a-2c6e-4caf-a4a6-9107747bc51e">
      <Terms xmlns="http://schemas.microsoft.com/office/infopath/2007/PartnerControls"/>
    </lcf76f155ced4ddcb4097134ff3c332f>
    <TaxCatchAll xmlns="f913ff35-f7e5-46dc-a5a7-c9164ae7e8fd" xsi:nil="true"/>
  </documentManagement>
</p:properties>
</file>

<file path=customXml/itemProps1.xml><?xml version="1.0" encoding="utf-8"?>
<ds:datastoreItem xmlns:ds="http://schemas.openxmlformats.org/officeDocument/2006/customXml" ds:itemID="{C43A88B2-444B-44E1-B7B2-4D08EFC4682A}"/>
</file>

<file path=customXml/itemProps2.xml><?xml version="1.0" encoding="utf-8"?>
<ds:datastoreItem xmlns:ds="http://schemas.openxmlformats.org/officeDocument/2006/customXml" ds:itemID="{144EF3F9-43CE-4479-920E-CF08B5EAFC83}"/>
</file>

<file path=customXml/itemProps3.xml><?xml version="1.0" encoding="utf-8"?>
<ds:datastoreItem xmlns:ds="http://schemas.openxmlformats.org/officeDocument/2006/customXml" ds:itemID="{9F98279B-165A-4E81-8F23-1EE9A1474D9C}"/>
</file>

<file path=docMetadata/LabelInfo.xml><?xml version="1.0" encoding="utf-8"?>
<clbl:labelList xmlns:clbl="http://schemas.microsoft.com/office/2020/mipLabelMetadata">
  <clbl:label id="{c632428a-d21a-4e8a-8f6d-703bd1f18d65}" enabled="1" method="Privileged" siteId="{bd3d8f22-e492-46a1-bfce-0ef9a284415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7759</TotalTime>
  <Words>1354</Words>
  <Application>Microsoft Office PowerPoint</Application>
  <PresentationFormat>Widescreen</PresentationFormat>
  <Paragraphs>140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Lato</vt:lpstr>
      <vt:lpstr>Lato </vt:lpstr>
      <vt:lpstr>Poppins</vt:lpstr>
      <vt:lpstr>Poppins Medium</vt:lpstr>
      <vt:lpstr>Poppins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Yosep Swandi</dc:creator>
  <cp:lastModifiedBy>Michely Vieira Santos</cp:lastModifiedBy>
  <cp:revision>106</cp:revision>
  <dcterms:created xsi:type="dcterms:W3CDTF">2020-10-15T00:10:07Z</dcterms:created>
  <dcterms:modified xsi:type="dcterms:W3CDTF">2026-06-11T17:21:39Z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AFFC69A9-5425-4172-A865-A7C4DE645EAA</vt:lpwstr>
  </property>
  <property fmtid="{D5CDD505-2E9C-101B-9397-08002B2CF9AE}" pid="3" name="ArticulatePath">
    <vt:lpwstr>Power Proposal - PowerPoint</vt:lpwstr>
  </property>
  <property fmtid="{D5CDD505-2E9C-101B-9397-08002B2CF9AE}" pid="4" name="ContentTypeId">
    <vt:lpwstr>0x0101000A66A7F107A78542809C04863AAF6904</vt:lpwstr>
  </property>
</Properties>
</file>